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10"/>
  </p:normalViewPr>
  <p:slideViewPr>
    <p:cSldViewPr snapToGrid="0" snapToObjects="1">
      <p:cViewPr varScale="1">
        <p:scale>
          <a:sx n="156" d="100"/>
          <a:sy n="156" d="100"/>
        </p:scale>
        <p:origin x="600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5233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27432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8595360" cy="27432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Text 3"/>
          <p:cNvSpPr/>
          <p:nvPr/>
        </p:nvSpPr>
        <p:spPr>
          <a:xfrm>
            <a:off x="365760" y="3200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C9B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충북대학교 산업인공지능학과  |  </a:t>
            </a:r>
            <a:r>
              <a:rPr lang="ko-KR" altLang="en-US" sz="1300" dirty="0">
                <a:solidFill>
                  <a:srgbClr val="00C9B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제조 데이터 분석과 최적화</a:t>
            </a:r>
            <a:r>
              <a:rPr lang="en-US" sz="1300" dirty="0">
                <a:solidFill>
                  <a:srgbClr val="00C9B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  |  발표자: 진찬언 (2026254019)</a:t>
            </a:r>
            <a:endParaRPr lang="en-US" sz="1300" dirty="0">
              <a:latin typeface="Noto Sans KR" panose="020B0200000000000000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반도체 Fab 케미컬 필터</a:t>
            </a:r>
            <a:endParaRPr lang="en-US" sz="4400" dirty="0">
              <a:latin typeface="Noto Sans KR" panose="020B0200000000000000" pitchFamily="50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00C9B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예지 보전(CBM) 예측 모델 및</a:t>
            </a:r>
            <a:endParaRPr lang="en-US" sz="3800" dirty="0">
              <a:latin typeface="Noto Sans KR" panose="020B0200000000000000" pitchFamily="50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XAI 기반 원인 분석</a:t>
            </a:r>
            <a:endParaRPr lang="en-US" sz="3200" dirty="0">
              <a:latin typeface="Noto Sans KR" panose="020B0200000000000000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365760" y="32461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양방향 시계열 딥러닝(Bi-LSTM) 고도화 및 10회 검증 리포트</a:t>
            </a:r>
            <a:endParaRPr lang="en-US" sz="1500" dirty="0">
              <a:latin typeface="Noto Sans KR" panose="020B0200000000000000" pitchFamily="50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74320" y="3840480"/>
            <a:ext cx="859536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1" name="Shape 9"/>
          <p:cNvSpPr/>
          <p:nvPr/>
        </p:nvSpPr>
        <p:spPr>
          <a:xfrm>
            <a:off x="365760" y="3931920"/>
            <a:ext cx="2606040" cy="822960"/>
          </a:xfrm>
          <a:prstGeom prst="rect">
            <a:avLst/>
          </a:prstGeom>
          <a:solidFill>
            <a:srgbClr val="122040"/>
          </a:solidFill>
          <a:ln w="12700">
            <a:solidFill>
              <a:srgbClr val="1E407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12" name="Text 10"/>
          <p:cNvSpPr/>
          <p:nvPr/>
        </p:nvSpPr>
        <p:spPr>
          <a:xfrm>
            <a:off x="457200" y="395935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발표 시간</a:t>
            </a:r>
            <a:endParaRPr lang="en-US" sz="1000" dirty="0">
              <a:latin typeface="Noto Sans KR" panose="020B0200000000000000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7200" y="422452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9B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10분 내외</a:t>
            </a:r>
            <a:endParaRPr lang="en-US" sz="1600" dirty="0">
              <a:latin typeface="Noto Sans KR" panose="020B0200000000000000" pitchFamily="50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00400" y="3931920"/>
            <a:ext cx="2606040" cy="822960"/>
          </a:xfrm>
          <a:prstGeom prst="rect">
            <a:avLst/>
          </a:prstGeom>
          <a:solidFill>
            <a:srgbClr val="122040"/>
          </a:solidFill>
          <a:ln w="12700">
            <a:solidFill>
              <a:srgbClr val="1E407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Text 13"/>
          <p:cNvSpPr/>
          <p:nvPr/>
        </p:nvSpPr>
        <p:spPr>
          <a:xfrm>
            <a:off x="3291840" y="395935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핵심 기술</a:t>
            </a:r>
            <a:endParaRPr lang="en-US" sz="1000" dirty="0">
              <a:latin typeface="Noto Sans KR" panose="020B0200000000000000" pitchFamily="50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291840" y="422452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9B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Bi-LSTM + XAI</a:t>
            </a:r>
            <a:endParaRPr lang="en-US" sz="1600" dirty="0">
              <a:latin typeface="Noto Sans KR" panose="020B0200000000000000" pitchFamily="50" charset="-12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035040" y="3931920"/>
            <a:ext cx="2606040" cy="822960"/>
          </a:xfrm>
          <a:prstGeom prst="rect">
            <a:avLst/>
          </a:prstGeom>
          <a:solidFill>
            <a:srgbClr val="122040"/>
          </a:solidFill>
          <a:ln w="12700">
            <a:solidFill>
              <a:srgbClr val="1E407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18" name="Text 16"/>
          <p:cNvSpPr/>
          <p:nvPr/>
        </p:nvSpPr>
        <p:spPr>
          <a:xfrm>
            <a:off x="6126480" y="395935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검증 횟수</a:t>
            </a:r>
            <a:endParaRPr lang="en-US" sz="1000" dirty="0">
              <a:latin typeface="Noto Sans KR" panose="020B0200000000000000" pitchFamily="50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126480" y="422452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9B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10회 반복</a:t>
            </a:r>
            <a:endParaRPr lang="en-US" sz="1600" dirty="0">
              <a:latin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22040"/>
          </a:solidFill>
          <a:ln w="12700">
            <a:solidFill>
              <a:srgbClr val="122040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77724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Text 2"/>
          <p:cNvSpPr/>
          <p:nvPr/>
        </p:nvSpPr>
        <p:spPr>
          <a:xfrm>
            <a:off x="182880" y="9144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01  연구 배경 및 문제 정의</a:t>
            </a:r>
            <a:endParaRPr lang="en-US" sz="2200" dirty="0">
              <a:latin typeface="Noto Sans KR" panose="020B0200000000000000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023360" cy="3840480"/>
          </a:xfrm>
          <a:prstGeom prst="rect">
            <a:avLst/>
          </a:prstGeom>
          <a:solidFill>
            <a:srgbClr val="122040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023360" cy="411480"/>
          </a:xfrm>
          <a:prstGeom prst="rect">
            <a:avLst/>
          </a:prstGeom>
          <a:solidFill>
            <a:srgbClr val="7C1D1D"/>
          </a:solidFill>
          <a:ln w="12700">
            <a:solidFill>
              <a:srgbClr val="7C1D1D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7" name="Text 5"/>
          <p:cNvSpPr/>
          <p:nvPr/>
        </p:nvSpPr>
        <p:spPr>
          <a:xfrm>
            <a:off x="365760" y="9326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CA5A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⚠  현장의 한계 (TBM 방식)</a:t>
            </a:r>
            <a:endParaRPr lang="en-US" sz="1400" dirty="0">
              <a:latin typeface="Noto Sans KR" panose="020B0200000000000000" pitchFamily="50" charset="-127"/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2D27903F-5BB3-2C29-35C5-241FE2C500EB}"/>
              </a:ext>
            </a:extLst>
          </p:cNvPr>
          <p:cNvGrpSpPr/>
          <p:nvPr/>
        </p:nvGrpSpPr>
        <p:grpSpPr>
          <a:xfrm>
            <a:off x="411480" y="1598612"/>
            <a:ext cx="3721608" cy="2743200"/>
            <a:chOff x="411480" y="1350128"/>
            <a:chExt cx="3721608" cy="2743200"/>
          </a:xfrm>
        </p:grpSpPr>
        <p:sp>
          <p:nvSpPr>
            <p:cNvPr id="8" name="Shape 6"/>
            <p:cNvSpPr/>
            <p:nvPr/>
          </p:nvSpPr>
          <p:spPr>
            <a:xfrm>
              <a:off x="411480" y="1417320"/>
              <a:ext cx="73152" cy="457200"/>
            </a:xfrm>
            <a:prstGeom prst="rect">
              <a:avLst/>
            </a:prstGeom>
            <a:solidFill>
              <a:srgbClr val="EF4444"/>
            </a:solidFill>
            <a:ln w="12700">
              <a:solidFill>
                <a:srgbClr val="EF4444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566928" y="1350128"/>
              <a:ext cx="356616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100" dirty="0">
                  <a:solidFill>
                    <a:srgbClr val="E2E8F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Calibri Light" pitchFamily="34" charset="-120"/>
                </a:rPr>
                <a:t>나노 단위 클린룸 내 이온 오염(AMC) 유출 시 미세 패턴 결함 → 막대한 수율 하락</a:t>
              </a:r>
              <a:endParaRPr lang="en-US" sz="1100" dirty="0">
                <a:latin typeface="Noto Sans KR" panose="020B0200000000000000" pitchFamily="50" charset="-127"/>
              </a:endParaRPr>
            </a:p>
          </p:txBody>
        </p:sp>
        <p:sp>
          <p:nvSpPr>
            <p:cNvPr id="10" name="Shape 8"/>
            <p:cNvSpPr/>
            <p:nvPr/>
          </p:nvSpPr>
          <p:spPr>
            <a:xfrm>
              <a:off x="411480" y="2148840"/>
              <a:ext cx="73152" cy="457200"/>
            </a:xfrm>
            <a:prstGeom prst="rect">
              <a:avLst/>
            </a:prstGeom>
            <a:solidFill>
              <a:srgbClr val="EF4444"/>
            </a:solidFill>
            <a:ln w="12700">
              <a:solidFill>
                <a:srgbClr val="EF4444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566928" y="2081648"/>
              <a:ext cx="356616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100" dirty="0">
                  <a:solidFill>
                    <a:srgbClr val="E2E8F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Calibri Light" pitchFamily="34" charset="-120"/>
                </a:rPr>
                <a:t>고정 주기(TBM) </a:t>
              </a:r>
              <a:r>
                <a:rPr lang="en-US" sz="1100" dirty="0" err="1">
                  <a:solidFill>
                    <a:srgbClr val="E2E8F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Calibri Light" pitchFamily="34" charset="-120"/>
                </a:rPr>
                <a:t>방식</a:t>
              </a:r>
              <a:r>
                <a:rPr lang="ko-KR" altLang="en-US" sz="1100" dirty="0">
                  <a:solidFill>
                    <a:srgbClr val="E2E8F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Calibri Light" pitchFamily="34" charset="-120"/>
                </a:rPr>
                <a:t>으로 </a:t>
              </a:r>
              <a:r>
                <a:rPr lang="ko-KR" altLang="en-US" sz="1100" dirty="0" err="1">
                  <a:solidFill>
                    <a:srgbClr val="E2E8F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Calibri Light" pitchFamily="34" charset="-120"/>
                </a:rPr>
                <a:t>케미컬필터</a:t>
              </a:r>
              <a:r>
                <a:rPr lang="ko-KR" altLang="en-US" sz="1100" dirty="0">
                  <a:solidFill>
                    <a:srgbClr val="E2E8F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Calibri Light" pitchFamily="34" charset="-120"/>
                </a:rPr>
                <a:t> 반출을 통해 가속평가를 진행하여 </a:t>
              </a:r>
              <a:r>
                <a:rPr lang="en-US" sz="1100" dirty="0" err="1">
                  <a:solidFill>
                    <a:srgbClr val="E2E8F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Calibri Light" pitchFamily="34" charset="-120"/>
                </a:rPr>
                <a:t>샘플링</a:t>
              </a:r>
              <a:r>
                <a:rPr lang="en-US" sz="1100" dirty="0">
                  <a:solidFill>
                    <a:srgbClr val="E2E8F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Calibri Light" pitchFamily="34" charset="-120"/>
                </a:rPr>
                <a:t> </a:t>
              </a:r>
              <a:r>
                <a:rPr lang="ko-KR" altLang="en-US" sz="1100" dirty="0">
                  <a:solidFill>
                    <a:srgbClr val="E2E8F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Calibri Light" pitchFamily="34" charset="-120"/>
                </a:rPr>
                <a:t>데이터를 </a:t>
              </a:r>
              <a:r>
                <a:rPr lang="en-US" sz="1100" dirty="0" err="1">
                  <a:solidFill>
                    <a:srgbClr val="E2E8F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Calibri Light" pitchFamily="34" charset="-120"/>
                </a:rPr>
                <a:t>기반</a:t>
              </a:r>
              <a:r>
                <a:rPr lang="ko-KR" altLang="en-US" sz="1100" dirty="0">
                  <a:solidFill>
                    <a:srgbClr val="E2E8F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Calibri Light" pitchFamily="34" charset="-120"/>
                </a:rPr>
                <a:t>으로</a:t>
              </a:r>
              <a:r>
                <a:rPr lang="en-US" sz="1100" dirty="0">
                  <a:solidFill>
                    <a:srgbClr val="E2E8F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Calibri Light" pitchFamily="34" charset="-120"/>
                </a:rPr>
                <a:t> </a:t>
              </a:r>
              <a:r>
                <a:rPr lang="en-US" sz="1100" dirty="0" err="1">
                  <a:solidFill>
                    <a:srgbClr val="E2E8F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Calibri Light" pitchFamily="34" charset="-120"/>
                </a:rPr>
                <a:t>교체</a:t>
              </a:r>
              <a:endParaRPr lang="en-US" sz="1100" dirty="0">
                <a:solidFill>
                  <a:srgbClr val="E2E8F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endParaRPr>
            </a:p>
            <a:p>
              <a:pPr marL="0" indent="0" algn="l">
                <a:lnSpc>
                  <a:spcPct val="150000"/>
                </a:lnSpc>
                <a:buNone/>
              </a:pPr>
              <a:r>
                <a:rPr lang="en-US" sz="1100" dirty="0">
                  <a:solidFill>
                    <a:srgbClr val="E2E8F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Calibri Light" pitchFamily="34" charset="-120"/>
                </a:rPr>
                <a:t> → </a:t>
              </a:r>
              <a:r>
                <a:rPr lang="ko-KR" altLang="en-US" sz="1100" dirty="0">
                  <a:solidFill>
                    <a:srgbClr val="E2E8F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Calibri Light" pitchFamily="34" charset="-120"/>
                </a:rPr>
                <a:t>소수 샘플링으로 전체를</a:t>
              </a:r>
              <a:r>
                <a:rPr lang="en-US" sz="1100" dirty="0">
                  <a:solidFill>
                    <a:srgbClr val="E2E8F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Calibri Light" pitchFamily="34" charset="-120"/>
                </a:rPr>
                <a:t> </a:t>
              </a:r>
              <a:r>
                <a:rPr lang="ko-KR" altLang="en-US" sz="1100" dirty="0">
                  <a:solidFill>
                    <a:srgbClr val="E2E8F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Calibri Light" pitchFamily="34" charset="-120"/>
                </a:rPr>
                <a:t>판단하는 오류</a:t>
              </a:r>
              <a:endParaRPr lang="en-US" sz="1100" dirty="0">
                <a:latin typeface="Noto Sans KR" panose="020B0200000000000000" pitchFamily="50" charset="-127"/>
              </a:endParaRPr>
            </a:p>
          </p:txBody>
        </p:sp>
        <p:sp>
          <p:nvSpPr>
            <p:cNvPr id="12" name="Shape 10"/>
            <p:cNvSpPr/>
            <p:nvPr/>
          </p:nvSpPr>
          <p:spPr>
            <a:xfrm>
              <a:off x="411480" y="2880360"/>
              <a:ext cx="73152" cy="457200"/>
            </a:xfrm>
            <a:prstGeom prst="rect">
              <a:avLst/>
            </a:prstGeom>
            <a:solidFill>
              <a:srgbClr val="EF4444"/>
            </a:solidFill>
            <a:ln w="12700">
              <a:solidFill>
                <a:srgbClr val="EF4444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566928" y="2813168"/>
              <a:ext cx="356616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100" dirty="0">
                  <a:solidFill>
                    <a:srgbClr val="E2E8F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Calibri Light" pitchFamily="34" charset="-120"/>
                </a:rPr>
                <a:t>조기 교체: 자재비 폭증</a:t>
              </a:r>
              <a:endParaRPr lang="en-US" sz="1100" dirty="0">
                <a:latin typeface="Noto Sans KR" panose="020B0200000000000000" pitchFamily="50" charset="-127"/>
              </a:endParaRPr>
            </a:p>
            <a:p>
              <a:pPr marL="0" indent="0" algn="l">
                <a:lnSpc>
                  <a:spcPct val="150000"/>
                </a:lnSpc>
                <a:buNone/>
              </a:pPr>
              <a:r>
                <a:rPr lang="en-US" sz="1100" dirty="0">
                  <a:solidFill>
                    <a:srgbClr val="E2E8F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Calibri Light" pitchFamily="34" charset="-120"/>
                </a:rPr>
                <a:t>(장당 4~50만원, 연간 2~300억원)</a:t>
              </a:r>
              <a:endParaRPr lang="en-US" sz="1100" dirty="0">
                <a:latin typeface="Noto Sans KR" panose="020B0200000000000000" pitchFamily="50" charset="-127"/>
              </a:endParaRPr>
            </a:p>
          </p:txBody>
        </p:sp>
        <p:sp>
          <p:nvSpPr>
            <p:cNvPr id="14" name="Shape 12"/>
            <p:cNvSpPr/>
            <p:nvPr/>
          </p:nvSpPr>
          <p:spPr>
            <a:xfrm>
              <a:off x="411480" y="3611880"/>
              <a:ext cx="73152" cy="457200"/>
            </a:xfrm>
            <a:prstGeom prst="rect">
              <a:avLst/>
            </a:prstGeom>
            <a:solidFill>
              <a:srgbClr val="EF4444"/>
            </a:solidFill>
            <a:ln w="12700">
              <a:solidFill>
                <a:srgbClr val="EF4444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566928" y="3544688"/>
              <a:ext cx="356616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100" dirty="0">
                  <a:solidFill>
                    <a:srgbClr val="E2E8F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Calibri Light" pitchFamily="34" charset="-120"/>
                </a:rPr>
                <a:t>교체 지연: 웨이퍼 대량 폐기 리스크</a:t>
              </a:r>
              <a:endParaRPr lang="en-US" sz="1100" dirty="0">
                <a:latin typeface="Noto Sans KR" panose="020B0200000000000000" pitchFamily="50" charset="-127"/>
              </a:endParaRPr>
            </a:p>
            <a:p>
              <a:pPr marL="0" indent="0" algn="l">
                <a:lnSpc>
                  <a:spcPct val="150000"/>
                </a:lnSpc>
                <a:buNone/>
              </a:pPr>
              <a:r>
                <a:rPr lang="en-US" sz="1100" dirty="0">
                  <a:solidFill>
                    <a:srgbClr val="E2E8F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Calibri Light" pitchFamily="34" charset="-120"/>
                </a:rPr>
                <a:t>(1장 </a:t>
              </a:r>
              <a:r>
                <a:rPr lang="ko-KR" altLang="en-US" sz="1100" dirty="0">
                  <a:solidFill>
                    <a:srgbClr val="E2E8F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Calibri Light" pitchFamily="34" charset="-120"/>
                </a:rPr>
                <a:t>약</a:t>
              </a:r>
              <a:r>
                <a:rPr lang="en-US" altLang="ko-KR" sz="1100" dirty="0">
                  <a:solidFill>
                    <a:srgbClr val="E2E8F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Calibri Light" pitchFamily="34" charset="-120"/>
                </a:rPr>
                <a:t>2</a:t>
              </a:r>
              <a:r>
                <a:rPr lang="en-US" sz="1100" dirty="0">
                  <a:solidFill>
                    <a:srgbClr val="E2E8F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Calibri Light" pitchFamily="34" charset="-120"/>
                </a:rPr>
                <a:t>천만원 / FOUP 25장 5억원 / BAY 1,000억원)</a:t>
              </a:r>
              <a:endParaRPr lang="en-US" sz="1100" dirty="0">
                <a:latin typeface="Noto Sans KR" panose="020B0200000000000000" pitchFamily="50" charset="-127"/>
              </a:endParaRPr>
            </a:p>
          </p:txBody>
        </p:sp>
      </p:grpSp>
      <p:sp>
        <p:nvSpPr>
          <p:cNvPr id="16" name="Shape 14"/>
          <p:cNvSpPr/>
          <p:nvPr/>
        </p:nvSpPr>
        <p:spPr>
          <a:xfrm>
            <a:off x="4846320" y="914400"/>
            <a:ext cx="4023360" cy="3840480"/>
          </a:xfrm>
          <a:prstGeom prst="rect">
            <a:avLst/>
          </a:prstGeom>
          <a:solidFill>
            <a:srgbClr val="122040"/>
          </a:solidFill>
          <a:ln w="12700">
            <a:solidFill>
              <a:srgbClr val="0A3A3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17" name="Shape 15"/>
          <p:cNvSpPr/>
          <p:nvPr/>
        </p:nvSpPr>
        <p:spPr>
          <a:xfrm>
            <a:off x="4846320" y="914400"/>
            <a:ext cx="4023360" cy="411480"/>
          </a:xfrm>
          <a:prstGeom prst="rect">
            <a:avLst/>
          </a:prstGeom>
          <a:solidFill>
            <a:srgbClr val="0F4A3C"/>
          </a:solidFill>
          <a:ln w="12700">
            <a:solidFill>
              <a:srgbClr val="0F4A3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8" name="Text 16"/>
          <p:cNvSpPr/>
          <p:nvPr/>
        </p:nvSpPr>
        <p:spPr>
          <a:xfrm>
            <a:off x="4937760" y="9326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EE7B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✓  개선 목표 (CBM 예지 보전)</a:t>
            </a:r>
            <a:endParaRPr lang="en-US" sz="1400" dirty="0">
              <a:latin typeface="Noto Sans KR" panose="020B0200000000000000" pitchFamily="50" charset="-127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983480" y="1617807"/>
            <a:ext cx="3611880" cy="868680"/>
          </a:xfrm>
          <a:prstGeom prst="rect">
            <a:avLst/>
          </a:prstGeom>
          <a:solidFill>
            <a:srgbClr val="0A2E2A"/>
          </a:solidFill>
          <a:ln w="12700">
            <a:solidFill>
              <a:srgbClr val="134E48"/>
            </a:solidFill>
            <a:prstDash val="solid"/>
          </a:ln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20" name="Text 18"/>
          <p:cNvSpPr/>
          <p:nvPr/>
        </p:nvSpPr>
        <p:spPr>
          <a:xfrm>
            <a:off x="5120640" y="1645239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C9B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4주(28일) 전 정밀 조기 경보</a:t>
            </a:r>
            <a:endParaRPr lang="en-US" sz="1300" dirty="0">
              <a:latin typeface="Noto Sans KR" panose="020B0200000000000000" pitchFamily="50" charset="-127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120640" y="1919559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BD5E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설비 센서 빅데이터 시계열 학습으로 필터 포화 사전 예측</a:t>
            </a:r>
            <a:endParaRPr lang="en-US" sz="1050" dirty="0">
              <a:latin typeface="Noto Sans KR" panose="020B0200000000000000" pitchFamily="50" charset="-127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983480" y="2623647"/>
            <a:ext cx="3611880" cy="868680"/>
          </a:xfrm>
          <a:prstGeom prst="rect">
            <a:avLst/>
          </a:prstGeom>
          <a:solidFill>
            <a:srgbClr val="0A2E2A"/>
          </a:solidFill>
          <a:ln w="12700">
            <a:solidFill>
              <a:srgbClr val="134E48"/>
            </a:solidFill>
            <a:prstDash val="solid"/>
          </a:ln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23" name="Text 21"/>
          <p:cNvSpPr/>
          <p:nvPr/>
        </p:nvSpPr>
        <p:spPr>
          <a:xfrm>
            <a:off x="5120640" y="2651079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C9B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XAI 기반 원인 분석</a:t>
            </a:r>
            <a:endParaRPr lang="en-US" sz="1300" dirty="0">
              <a:latin typeface="Noto Sans KR" panose="020B0200000000000000" pitchFamily="50" charset="-127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120640" y="2955219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설명 가능한 AI로 필터 수명 단축 주범 이온</a:t>
            </a:r>
            <a:endParaRPr lang="en-US" sz="1050" dirty="0">
              <a:latin typeface="Noto Sans KR" panose="020B0200000000000000" pitchFamily="50" charset="-127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(Killer Gas) 과학적 규명</a:t>
            </a:r>
            <a:endParaRPr lang="en-US" sz="1050" dirty="0">
              <a:latin typeface="Noto Sans KR" panose="020B0200000000000000" pitchFamily="50" charset="-127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983480" y="3629487"/>
            <a:ext cx="3611880" cy="868680"/>
          </a:xfrm>
          <a:prstGeom prst="rect">
            <a:avLst/>
          </a:prstGeom>
          <a:solidFill>
            <a:srgbClr val="0A2E2A"/>
          </a:solidFill>
          <a:ln w="12700">
            <a:solidFill>
              <a:srgbClr val="134E48"/>
            </a:solidFill>
            <a:prstDash val="solid"/>
          </a:ln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26" name="Text 24"/>
          <p:cNvSpPr/>
          <p:nvPr/>
        </p:nvSpPr>
        <p:spPr>
          <a:xfrm>
            <a:off x="5120640" y="3656919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C9B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자재 수급 최적화</a:t>
            </a:r>
            <a:endParaRPr lang="en-US" sz="1300" dirty="0">
              <a:latin typeface="Noto Sans KR" panose="020B0200000000000000" pitchFamily="50" charset="-127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120640" y="3961059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PR→PO→납품까지 리드타임 4주를 반영한</a:t>
            </a:r>
            <a:endParaRPr lang="en-US" sz="1050" dirty="0">
              <a:latin typeface="Noto Sans KR" panose="020B0200000000000000" pitchFamily="50" charset="-127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Warning Window 설계</a:t>
            </a:r>
            <a:endParaRPr lang="en-US" sz="1050" dirty="0">
              <a:latin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22040"/>
          </a:solidFill>
          <a:ln w="12700">
            <a:solidFill>
              <a:srgbClr val="122040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77724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Text 2"/>
          <p:cNvSpPr/>
          <p:nvPr/>
        </p:nvSpPr>
        <p:spPr>
          <a:xfrm>
            <a:off x="182880" y="9144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02  활용 데이터셋 구조 및 융합 명세</a:t>
            </a:r>
            <a:endParaRPr lang="en-US" sz="2200" dirty="0">
              <a:latin typeface="Noto Sans KR" panose="020B0200000000000000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023360" cy="2011680"/>
          </a:xfrm>
          <a:prstGeom prst="rect">
            <a:avLst/>
          </a:prstGeom>
          <a:solidFill>
            <a:srgbClr val="122040"/>
          </a:solidFill>
          <a:ln w="12700">
            <a:solidFill>
              <a:srgbClr val="1A3A6A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73152" cy="201168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7" name="Text 5"/>
          <p:cNvSpPr/>
          <p:nvPr/>
        </p:nvSpPr>
        <p:spPr>
          <a:xfrm>
            <a:off x="438912" y="9601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93C5F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📡  센서 데이터</a:t>
            </a:r>
            <a:endParaRPr lang="en-US" sz="1500" dirty="0">
              <a:latin typeface="Noto Sans KR" panose="020B0200000000000000" pitchFamily="50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438912" y="1298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Raw Data.csv</a:t>
            </a:r>
            <a:endParaRPr lang="en-US" sz="1100" dirty="0">
              <a:latin typeface="Noto Sans KR" panose="020B0200000000000000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438912" y="162763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C9B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620,000+</a:t>
            </a:r>
            <a:endParaRPr lang="en-US" sz="1600" dirty="0">
              <a:latin typeface="Noto Sans KR" panose="020B0200000000000000" pitchFamily="50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572768" y="16459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BD5E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측정 행 수</a:t>
            </a:r>
            <a:endParaRPr lang="en-US" sz="1050" dirty="0">
              <a:latin typeface="Noto Sans KR" panose="020B0200000000000000" pitchFamily="50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38912" y="20116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C9B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14</a:t>
            </a:r>
            <a:endParaRPr lang="en-US" sz="1600" dirty="0">
              <a:latin typeface="Noto Sans KR" panose="020B0200000000000000" pitchFamily="50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572768" y="202996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BD5E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컬럼(라인/층/공정/호기/BAY/날짜/이온 9종)</a:t>
            </a:r>
            <a:endParaRPr lang="en-US" sz="1050" dirty="0">
              <a:latin typeface="Noto Sans KR" panose="020B0200000000000000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38912" y="239572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C9B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2023</a:t>
            </a:r>
            <a:endParaRPr lang="en-US" sz="1600" dirty="0">
              <a:latin typeface="Noto Sans KR" panose="020B0200000000000000" pitchFamily="50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572768" y="241401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BD5E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1년 연속 수집 기간</a:t>
            </a:r>
            <a:endParaRPr lang="en-US" sz="1050" dirty="0">
              <a:latin typeface="Noto Sans KR" panose="020B0200000000000000" pitchFamily="50" charset="-127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846320" y="914400"/>
            <a:ext cx="4023360" cy="2011680"/>
          </a:xfrm>
          <a:prstGeom prst="rect">
            <a:avLst/>
          </a:prstGeom>
          <a:solidFill>
            <a:srgbClr val="122040"/>
          </a:solidFill>
          <a:ln w="12700">
            <a:solidFill>
              <a:srgbClr val="3A2A1A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16" name="Shape 14"/>
          <p:cNvSpPr/>
          <p:nvPr/>
        </p:nvSpPr>
        <p:spPr>
          <a:xfrm>
            <a:off x="4846320" y="914400"/>
            <a:ext cx="73152" cy="2011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7" name="Text 15"/>
          <p:cNvSpPr/>
          <p:nvPr/>
        </p:nvSpPr>
        <p:spPr>
          <a:xfrm>
            <a:off x="5010912" y="9601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DE68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🔧  정비 이력 데이터</a:t>
            </a:r>
            <a:endParaRPr lang="en-US" sz="1500" dirty="0">
              <a:latin typeface="Noto Sans KR" panose="020B0200000000000000" pitchFamily="50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010912" y="1298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Action History.csv</a:t>
            </a:r>
            <a:endParaRPr lang="en-US" sz="1100" dirty="0">
              <a:latin typeface="Noto Sans KR" panose="020B0200000000000000" pitchFamily="50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010912" y="162763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59E0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880</a:t>
            </a:r>
            <a:endParaRPr lang="en-US" sz="1600" dirty="0">
              <a:latin typeface="Noto Sans KR" panose="020B0200000000000000" pitchFamily="50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961888" y="1645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BD5E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이력 행 수</a:t>
            </a:r>
            <a:endParaRPr lang="en-US" sz="1050" dirty="0">
              <a:latin typeface="Noto Sans KR" panose="020B0200000000000000" pitchFamily="50" charset="-127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010912" y="20116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59E0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8</a:t>
            </a:r>
            <a:endParaRPr lang="en-US" sz="1600" dirty="0">
              <a:latin typeface="Noto Sans KR" panose="020B0200000000000000" pitchFamily="50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961888" y="2029968"/>
            <a:ext cx="2825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BD5E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컬럼(라인/층/공정/호기/BAY/날짜/작업/코멘트)</a:t>
            </a:r>
            <a:endParaRPr lang="en-US" sz="1050" dirty="0">
              <a:latin typeface="Noto Sans KR" panose="020B0200000000000000" pitchFamily="50" charset="-127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010912" y="239572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59E0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1년</a:t>
            </a:r>
            <a:endParaRPr lang="en-US" sz="1600" dirty="0">
              <a:latin typeface="Noto Sans KR" panose="020B0200000000000000" pitchFamily="50" charset="-127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961888" y="241401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BD5E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실제 필터 교체 이력 기간</a:t>
            </a:r>
            <a:endParaRPr lang="en-US" sz="1050" dirty="0">
              <a:latin typeface="Noto Sans KR" panose="020B0200000000000000" pitchFamily="50" charset="-127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352544" y="1554480"/>
            <a:ext cx="438912" cy="164592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6" name="Text 24"/>
          <p:cNvSpPr/>
          <p:nvPr/>
        </p:nvSpPr>
        <p:spPr>
          <a:xfrm>
            <a:off x="4315968" y="173736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9B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JOIN</a:t>
            </a:r>
            <a:endParaRPr lang="en-US" sz="900" dirty="0">
              <a:latin typeface="Noto Sans KR" panose="020B0200000000000000" pitchFamily="50" charset="-127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274320" y="3108960"/>
            <a:ext cx="8595360" cy="1691640"/>
          </a:xfrm>
          <a:prstGeom prst="rect">
            <a:avLst/>
          </a:prstGeom>
          <a:solidFill>
            <a:srgbClr val="071528"/>
          </a:solidFill>
          <a:ln w="12700">
            <a:solidFill>
              <a:srgbClr val="00C9B1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28" name="Text 26"/>
          <p:cNvSpPr/>
          <p:nvPr/>
        </p:nvSpPr>
        <p:spPr>
          <a:xfrm>
            <a:off x="457200" y="320040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C9B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데이터 정제 및 무결성 확보 결과</a:t>
            </a:r>
            <a:endParaRPr lang="en-US" sz="1500" dirty="0">
              <a:latin typeface="Noto Sans KR" panose="020B0200000000000000" pitchFamily="50" charset="-127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57200" y="3611880"/>
            <a:ext cx="2697480" cy="1005840"/>
          </a:xfrm>
          <a:prstGeom prst="rect">
            <a:avLst/>
          </a:prstGeom>
          <a:solidFill>
            <a:srgbClr val="122040"/>
          </a:solidFill>
          <a:ln w="12700">
            <a:solidFill>
              <a:srgbClr val="0A3050"/>
            </a:solidFill>
            <a:prstDash val="solid"/>
          </a:ln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30" name="Text 28"/>
          <p:cNvSpPr/>
          <p:nvPr/>
        </p:nvSpPr>
        <p:spPr>
          <a:xfrm>
            <a:off x="548640" y="363931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9B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11,200개</a:t>
            </a:r>
            <a:endParaRPr lang="en-US" sz="1600" dirty="0">
              <a:latin typeface="Noto Sans KR" panose="020B0200000000000000" pitchFamily="50" charset="-127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48640" y="400507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날짜(Date)·장소(BAY) 기준 조인으로 확보한 유효 샘플</a:t>
            </a:r>
            <a:endParaRPr lang="en-US" sz="1000" dirty="0">
              <a:latin typeface="Noto Sans KR" panose="020B0200000000000000" pitchFamily="50" charset="-127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3319272" y="3611880"/>
            <a:ext cx="2697480" cy="1005840"/>
          </a:xfrm>
          <a:prstGeom prst="rect">
            <a:avLst/>
          </a:prstGeom>
          <a:solidFill>
            <a:srgbClr val="122040"/>
          </a:solidFill>
          <a:ln w="12700">
            <a:solidFill>
              <a:srgbClr val="0A3050"/>
            </a:solidFill>
            <a:prstDash val="solid"/>
          </a:ln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33" name="Text 31"/>
          <p:cNvSpPr/>
          <p:nvPr/>
        </p:nvSpPr>
        <p:spPr>
          <a:xfrm>
            <a:off x="3410712" y="363931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9B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이진 라벨링</a:t>
            </a:r>
            <a:endParaRPr lang="en-US" sz="1600" dirty="0">
              <a:latin typeface="Noto Sans KR" panose="020B0200000000000000" pitchFamily="50" charset="-127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3410712" y="400507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교체일 = 1(Warning) / 평소 가동 = 0(Normal)</a:t>
            </a:r>
            <a:endParaRPr lang="en-US" sz="1000" dirty="0">
              <a:latin typeface="Noto Sans KR" panose="020B0200000000000000" pitchFamily="50" charset="-127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181344" y="3611880"/>
            <a:ext cx="2487168" cy="1005840"/>
          </a:xfrm>
          <a:prstGeom prst="rect">
            <a:avLst/>
          </a:prstGeom>
          <a:solidFill>
            <a:srgbClr val="122040"/>
          </a:solidFill>
          <a:ln w="12700">
            <a:solidFill>
              <a:srgbClr val="0A3050"/>
            </a:solidFill>
            <a:prstDash val="solid"/>
          </a:ln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36" name="Text 34"/>
          <p:cNvSpPr/>
          <p:nvPr/>
        </p:nvSpPr>
        <p:spPr>
          <a:xfrm>
            <a:off x="6173384" y="363931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9B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지도학습 준비</a:t>
            </a:r>
            <a:endParaRPr lang="en-US" sz="1600" dirty="0">
              <a:latin typeface="Noto Sans KR" panose="020B0200000000000000" pitchFamily="50" charset="-127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173384" y="400507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실측 이종 데이터베이스 융합 완료</a:t>
            </a:r>
            <a:endParaRPr lang="en-US" sz="1000" dirty="0">
              <a:latin typeface="Noto Sans KR" panose="020B0200000000000000" pitchFamily="50" charset="-127"/>
            </a:endParaRPr>
          </a:p>
        </p:txBody>
      </p:sp>
      <p:pic>
        <p:nvPicPr>
          <p:cNvPr id="38" name="image2.png">
            <a:extLst>
              <a:ext uri="{FF2B5EF4-FFF2-40B4-BE49-F238E27FC236}">
                <a16:creationId xmlns:a16="http://schemas.microsoft.com/office/drawing/2014/main" id="{5EF6F2FB-5029-204E-1D22-926275E9072B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886585" y="868680"/>
            <a:ext cx="5005070" cy="3617595"/>
          </a:xfrm>
          <a:prstGeom prst="roundRect">
            <a:avLst>
              <a:gd name="adj" fmla="val 5215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39" name="image1.png">
            <a:extLst>
              <a:ext uri="{FF2B5EF4-FFF2-40B4-BE49-F238E27FC236}">
                <a16:creationId xmlns:a16="http://schemas.microsoft.com/office/drawing/2014/main" id="{91DCDC0B-BDDD-C80F-D004-AE38426E67ED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1818577" y="1206881"/>
            <a:ext cx="5159375" cy="2414270"/>
          </a:xfrm>
          <a:prstGeom prst="roundRect">
            <a:avLst>
              <a:gd name="adj" fmla="val 5215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6562 -0.12253 L -1.11111E-6 -0.0321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281" y="635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-0.0321 L -0.26562 -0.12253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281" y="-441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53" presetClass="exit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1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 -0.11173 L -4.72222E-6 1.11111E-6 " pathEditMode="relative" rAng="0" ptsTypes="AA">
                                      <p:cBhvr>
                                        <p:cTn id="33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052" y="657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4.19753E-6 L 0.3 -0.11173 " pathEditMode="relative" rAng="0" ptsTypes="AA">
                                      <p:cBhvr>
                                        <p:cTn id="37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000" y="-586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53" presetClass="exit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0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22040"/>
          </a:solidFill>
          <a:ln w="12700">
            <a:solidFill>
              <a:srgbClr val="122040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77724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Text 2"/>
          <p:cNvSpPr/>
          <p:nvPr/>
        </p:nvSpPr>
        <p:spPr>
          <a:xfrm>
            <a:off x="182880" y="9144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03  데이터 전처리 &amp; 품질 확보</a:t>
            </a:r>
            <a:endParaRPr lang="en-US" sz="2200" dirty="0">
              <a:latin typeface="Noto Sans KR" panose="020B0200000000000000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743200" cy="3840480"/>
          </a:xfrm>
          <a:prstGeom prst="rect">
            <a:avLst/>
          </a:prstGeom>
          <a:solidFill>
            <a:srgbClr val="3B1A6B"/>
          </a:solidFill>
          <a:ln w="12700">
            <a:solidFill>
              <a:srgbClr val="A78BFA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Text 4"/>
          <p:cNvSpPr/>
          <p:nvPr/>
        </p:nvSpPr>
        <p:spPr>
          <a:xfrm>
            <a:off x="274320" y="10515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Noto Sans KR" panose="020B0200000000000000" pitchFamily="50" charset="-127"/>
              </a:rPr>
              <a:t>🔤</a:t>
            </a:r>
            <a:endParaRPr lang="en-US" sz="3200" dirty="0">
              <a:latin typeface="Noto Sans KR" panose="020B0200000000000000" pitchFamily="50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78BF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인코딩 충돌 방어</a:t>
            </a:r>
            <a:endParaRPr lang="en-US" sz="1400" dirty="0">
              <a:latin typeface="Noto Sans KR" panose="020B0200000000000000" pitchFamily="50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14400" y="2212848"/>
            <a:ext cx="1463040" cy="274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9" name="Text 7"/>
          <p:cNvSpPr/>
          <p:nvPr/>
        </p:nvSpPr>
        <p:spPr>
          <a:xfrm>
            <a:off x="365760" y="23317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장비 로그(cp949)↔웹 로그(utf-8) 충돌을</a:t>
            </a:r>
            <a:endParaRPr lang="en-US" sz="1100" dirty="0">
              <a:latin typeface="Noto Sans KR" panose="020B0200000000000000" pitchFamily="50" charset="-127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다중 인코딩 로드 예외 처리로 극복</a:t>
            </a:r>
            <a:endParaRPr lang="en-US" sz="1100" dirty="0">
              <a:latin typeface="Noto Sans KR" panose="020B0200000000000000" pitchFamily="50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65760" y="3566160"/>
            <a:ext cx="2560320" cy="1005840"/>
          </a:xfrm>
          <a:prstGeom prst="rect">
            <a:avLst/>
          </a:prstGeom>
          <a:solidFill>
            <a:srgbClr val="050D1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1" name="Text 9"/>
          <p:cNvSpPr/>
          <p:nvPr/>
        </p:nvSpPr>
        <p:spPr>
          <a:xfrm>
            <a:off x="411480" y="3593592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78BF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nsolas" pitchFamily="34" charset="-120"/>
              </a:rPr>
              <a:t>pd.read_csv(f,</a:t>
            </a:r>
            <a:endParaRPr lang="en-US" sz="900" dirty="0">
              <a:latin typeface="Noto Sans KR" panose="020B0200000000000000" pitchFamily="50" charset="-127"/>
            </a:endParaRPr>
          </a:p>
          <a:p>
            <a:pPr marL="0" indent="0" algn="l">
              <a:buNone/>
            </a:pPr>
            <a:r>
              <a:rPr lang="en-US" sz="900" dirty="0">
                <a:solidFill>
                  <a:srgbClr val="A78BF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nsolas" pitchFamily="34" charset="-120"/>
              </a:rPr>
              <a:t>  encoding='cp949')</a:t>
            </a:r>
            <a:endParaRPr lang="en-US" sz="900" dirty="0">
              <a:latin typeface="Noto Sans KR" panose="020B0200000000000000" pitchFamily="50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200400" y="914400"/>
            <a:ext cx="2743200" cy="3840480"/>
          </a:xfrm>
          <a:prstGeom prst="rect">
            <a:avLst/>
          </a:prstGeom>
          <a:solidFill>
            <a:srgbClr val="1A3B6B"/>
          </a:solidFill>
          <a:ln w="12700">
            <a:solidFill>
              <a:srgbClr val="1A73E8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13" name="Text 11"/>
          <p:cNvSpPr/>
          <p:nvPr/>
        </p:nvSpPr>
        <p:spPr>
          <a:xfrm>
            <a:off x="3200400" y="10515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Noto Sans KR" panose="020B0200000000000000" pitchFamily="50" charset="-127"/>
              </a:rPr>
              <a:t>📅</a:t>
            </a:r>
            <a:endParaRPr lang="en-US" sz="3200" dirty="0">
              <a:latin typeface="Noto Sans KR" panose="020B0200000000000000" pitchFamily="50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291840" y="16916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73E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연도 오독 버그 완벽 제어</a:t>
            </a:r>
            <a:endParaRPr lang="en-US" sz="1400" dirty="0">
              <a:latin typeface="Noto Sans KR" panose="020B0200000000000000" pitchFamily="50" charset="-127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840480" y="2212848"/>
            <a:ext cx="1463040" cy="27432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6" name="Text 14"/>
          <p:cNvSpPr/>
          <p:nvPr/>
        </p:nvSpPr>
        <p:spPr>
          <a:xfrm>
            <a:off x="3291840" y="23317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23/12/28 → 2028년 오독 감지</a:t>
            </a:r>
            <a:endParaRPr lang="en-US" sz="1100" dirty="0">
              <a:latin typeface="Noto Sans KR" panose="020B0200000000000000" pitchFamily="50" charset="-127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%y/%m/%d 명시적 강제 파싱으로 2023년 복원</a:t>
            </a:r>
            <a:endParaRPr lang="en-US" sz="1100" dirty="0">
              <a:latin typeface="Noto Sans KR" panose="020B0200000000000000" pitchFamily="50" charset="-12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291840" y="3566160"/>
            <a:ext cx="2560320" cy="1005840"/>
          </a:xfrm>
          <a:prstGeom prst="rect">
            <a:avLst/>
          </a:prstGeom>
          <a:solidFill>
            <a:srgbClr val="050D1A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8" name="Text 16"/>
          <p:cNvSpPr/>
          <p:nvPr/>
        </p:nvSpPr>
        <p:spPr>
          <a:xfrm>
            <a:off x="3337560" y="3593592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73E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nsolas" pitchFamily="34" charset="-120"/>
              </a:rPr>
              <a:t>pd.to_datetime(d,</a:t>
            </a:r>
            <a:endParaRPr lang="en-US" sz="900" dirty="0">
              <a:latin typeface="Noto Sans KR" panose="020B0200000000000000" pitchFamily="50" charset="-127"/>
            </a:endParaRPr>
          </a:p>
          <a:p>
            <a:pPr marL="0" indent="0" algn="l">
              <a:buNone/>
            </a:pPr>
            <a:r>
              <a:rPr lang="en-US" sz="900" dirty="0">
                <a:solidFill>
                  <a:srgbClr val="1A73E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nsolas" pitchFamily="34" charset="-120"/>
              </a:rPr>
              <a:t>  format='%y/%m/%d')</a:t>
            </a:r>
            <a:endParaRPr lang="en-US" sz="900" dirty="0">
              <a:latin typeface="Noto Sans KR" panose="020B0200000000000000" pitchFamily="50" charset="-127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126480" y="914400"/>
            <a:ext cx="2743200" cy="3840480"/>
          </a:xfrm>
          <a:prstGeom prst="rect">
            <a:avLst/>
          </a:prstGeom>
          <a:solidFill>
            <a:srgbClr val="0A3A2A"/>
          </a:solidFill>
          <a:ln w="12700">
            <a:solidFill>
              <a:srgbClr val="00C9B1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20" name="Text 18"/>
          <p:cNvSpPr/>
          <p:nvPr/>
        </p:nvSpPr>
        <p:spPr>
          <a:xfrm>
            <a:off x="6126480" y="10515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Noto Sans KR" panose="020B0200000000000000" pitchFamily="50" charset="-127"/>
              </a:rPr>
              <a:t>📊</a:t>
            </a:r>
            <a:endParaRPr lang="en-US" sz="3200" dirty="0">
              <a:latin typeface="Noto Sans KR" panose="020B0200000000000000" pitchFamily="50" charset="-127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217920" y="16916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9B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다운샘플링 &amp; 보간</a:t>
            </a:r>
            <a:endParaRPr lang="en-US" sz="1400" dirty="0">
              <a:latin typeface="Noto Sans KR" panose="020B0200000000000000" pitchFamily="50" charset="-127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766560" y="2212848"/>
            <a:ext cx="1463040" cy="27432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3" name="Text 21"/>
          <p:cNvSpPr/>
          <p:nvPr/>
        </p:nvSpPr>
        <p:spPr>
          <a:xfrm>
            <a:off x="6217920" y="23317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resample('1D')로 일일 평균 정렬</a:t>
            </a:r>
            <a:endParaRPr lang="en-US" sz="1100" dirty="0">
              <a:latin typeface="Noto Sans KR" panose="020B0200000000000000" pitchFamily="50" charset="-127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선형 보간법 결측치 제거</a:t>
            </a:r>
            <a:endParaRPr lang="en-US" sz="1100" dirty="0">
              <a:latin typeface="Noto Sans KR" panose="020B0200000000000000" pitchFamily="50" charset="-127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217920" y="3566160"/>
            <a:ext cx="2560320" cy="1005840"/>
          </a:xfrm>
          <a:prstGeom prst="rect">
            <a:avLst/>
          </a:prstGeom>
          <a:solidFill>
            <a:srgbClr val="050D1A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5" name="Text 23"/>
          <p:cNvSpPr/>
          <p:nvPr/>
        </p:nvSpPr>
        <p:spPr>
          <a:xfrm>
            <a:off x="6263640" y="3593592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C9B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nsolas" pitchFamily="34" charset="-120"/>
              </a:rPr>
              <a:t>df.resample('1D')</a:t>
            </a:r>
            <a:endParaRPr lang="en-US" sz="900" dirty="0">
              <a:latin typeface="Noto Sans KR" panose="020B0200000000000000" pitchFamily="50" charset="-127"/>
            </a:endParaRPr>
          </a:p>
          <a:p>
            <a:pPr marL="0" indent="0" algn="l">
              <a:buNone/>
            </a:pPr>
            <a:r>
              <a:rPr lang="en-US" sz="900" dirty="0">
                <a:solidFill>
                  <a:srgbClr val="00C9B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onsolas" pitchFamily="34" charset="-120"/>
              </a:rPr>
              <a:t>  .mean().interpolate()</a:t>
            </a:r>
            <a:endParaRPr lang="en-US" sz="900" dirty="0">
              <a:latin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22040"/>
          </a:solidFill>
          <a:ln w="12700">
            <a:solidFill>
              <a:srgbClr val="122040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7772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Text 2"/>
          <p:cNvSpPr/>
          <p:nvPr/>
        </p:nvSpPr>
        <p:spPr>
          <a:xfrm>
            <a:off x="182880" y="9144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04  데이터 누수(Data Leakage) 원천 차단 전략</a:t>
            </a:r>
            <a:endParaRPr lang="en-US" sz="2200" dirty="0">
              <a:latin typeface="Noto Sans KR" panose="020B0200000000000000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8595360" cy="1097280"/>
          </a:xfrm>
          <a:prstGeom prst="rect">
            <a:avLst/>
          </a:prstGeom>
          <a:solidFill>
            <a:srgbClr val="2D0A0A"/>
          </a:solidFill>
          <a:ln w="12700">
            <a:solidFill>
              <a:srgbClr val="EF4444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F44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🚨  치명적 오버피팅 함정 발견</a:t>
            </a:r>
            <a:endParaRPr lang="en-US" sz="1500" dirty="0">
              <a:latin typeface="Noto Sans KR" panose="020B0200000000000000" pitchFamily="50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CA5A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1차 실험 시 Random Forest 정확도 100% 달성 → 원인 분석: '누적합 변수'가 미래 정답을 학습기에 유출하는 Data Leakage 판명</a:t>
            </a:r>
            <a:endParaRPr lang="en-US" sz="1200" dirty="0">
              <a:latin typeface="Noto Sans KR" panose="020B0200000000000000" pitchFamily="50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274320" y="212140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C9B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✅  해결책: 예측·해석 Two-Track 격리 아키텍처</a:t>
            </a:r>
            <a:endParaRPr lang="en-US" sz="1500" dirty="0">
              <a:latin typeface="Noto Sans KR" panose="020B0200000000000000" pitchFamily="50" charset="-127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74320" y="2606040"/>
            <a:ext cx="3977640" cy="2331720"/>
          </a:xfrm>
          <a:prstGeom prst="rect">
            <a:avLst/>
          </a:prstGeom>
          <a:solidFill>
            <a:srgbClr val="0A2840"/>
          </a:solidFill>
          <a:ln w="12700">
            <a:solidFill>
              <a:srgbClr val="1A73E8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10" name="Shape 8"/>
          <p:cNvSpPr/>
          <p:nvPr/>
        </p:nvSpPr>
        <p:spPr>
          <a:xfrm>
            <a:off x="274320" y="2606040"/>
            <a:ext cx="3977640" cy="365760"/>
          </a:xfrm>
          <a:prstGeom prst="rect">
            <a:avLst/>
          </a:prstGeom>
          <a:solidFill>
            <a:srgbClr val="0A3A6B"/>
          </a:solidFill>
          <a:ln w="12700">
            <a:solidFill>
              <a:srgbClr val="0A3A6B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1" name="Text 9"/>
          <p:cNvSpPr/>
          <p:nvPr/>
        </p:nvSpPr>
        <p:spPr>
          <a:xfrm>
            <a:off x="411480" y="262432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3C5F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Track 1 — 해석 전용 L1 모델</a:t>
            </a:r>
            <a:endParaRPr lang="en-US" sz="1300" dirty="0">
              <a:latin typeface="Noto Sans KR" panose="020B0200000000000000" pitchFamily="50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84048" y="3063240"/>
            <a:ext cx="73152" cy="36576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3" name="Text 11"/>
          <p:cNvSpPr/>
          <p:nvPr/>
        </p:nvSpPr>
        <p:spPr>
          <a:xfrm>
            <a:off x="548640" y="304495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누적합 변수 허용 (설명력 확보 목적)</a:t>
            </a:r>
            <a:endParaRPr lang="en-US" sz="1100" dirty="0">
              <a:latin typeface="Noto Sans KR" panose="020B0200000000000000" pitchFamily="50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84048" y="3630168"/>
            <a:ext cx="73152" cy="36576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Text 13"/>
          <p:cNvSpPr/>
          <p:nvPr/>
        </p:nvSpPr>
        <p:spPr>
          <a:xfrm>
            <a:off x="548640" y="36118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L1 Regularization으로 Killer Gas 역산</a:t>
            </a:r>
            <a:endParaRPr lang="en-US" sz="1100" dirty="0">
              <a:latin typeface="Noto Sans KR" panose="020B0200000000000000" pitchFamily="50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84048" y="4197096"/>
            <a:ext cx="73152" cy="36576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7" name="Text 15"/>
          <p:cNvSpPr/>
          <p:nvPr/>
        </p:nvSpPr>
        <p:spPr>
          <a:xfrm>
            <a:off x="548640" y="417880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가스별 기여 가중치 산출 → XAI 근거</a:t>
            </a:r>
            <a:endParaRPr lang="en-US" sz="1100" dirty="0">
              <a:latin typeface="Noto Sans KR" panose="020B0200000000000000" pitchFamily="50" charset="-127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352544" y="2697480"/>
            <a:ext cx="438912" cy="21945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9" name="Text 17"/>
          <p:cNvSpPr/>
          <p:nvPr/>
        </p:nvSpPr>
        <p:spPr>
          <a:xfrm>
            <a:off x="4352544" y="3474720"/>
            <a:ext cx="438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격</a:t>
            </a:r>
            <a:endParaRPr lang="en-US" sz="1100" dirty="0">
              <a:latin typeface="Noto Sans KR" panose="020B0200000000000000" pitchFamily="50" charset="-127"/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리</a:t>
            </a:r>
            <a:endParaRPr lang="en-US" sz="1100" dirty="0">
              <a:latin typeface="Noto Sans KR" panose="020B0200000000000000" pitchFamily="50" charset="-127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892040" y="2606040"/>
            <a:ext cx="3977640" cy="2331720"/>
          </a:xfrm>
          <a:prstGeom prst="rect">
            <a:avLst/>
          </a:prstGeom>
          <a:solidFill>
            <a:srgbClr val="071A18"/>
          </a:solidFill>
          <a:ln w="12700">
            <a:solidFill>
              <a:srgbClr val="00C9B1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21" name="Shape 19"/>
          <p:cNvSpPr/>
          <p:nvPr/>
        </p:nvSpPr>
        <p:spPr>
          <a:xfrm>
            <a:off x="4892040" y="2606040"/>
            <a:ext cx="3977640" cy="365760"/>
          </a:xfrm>
          <a:prstGeom prst="rect">
            <a:avLst/>
          </a:prstGeom>
          <a:solidFill>
            <a:srgbClr val="0A3A32"/>
          </a:solidFill>
          <a:ln w="12700">
            <a:solidFill>
              <a:srgbClr val="0A3A32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2" name="Text 20"/>
          <p:cNvSpPr/>
          <p:nvPr/>
        </p:nvSpPr>
        <p:spPr>
          <a:xfrm>
            <a:off x="5029200" y="262432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C9B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Track 2 — 예측 전용 Bi-LSTM 모델</a:t>
            </a:r>
            <a:endParaRPr lang="en-US" sz="1300" dirty="0">
              <a:latin typeface="Noto Sans KR" panose="020B0200000000000000" pitchFamily="50" charset="-127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001768" y="3063240"/>
            <a:ext cx="73152" cy="36576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4" name="Text 22"/>
          <p:cNvSpPr/>
          <p:nvPr/>
        </p:nvSpPr>
        <p:spPr>
          <a:xfrm>
            <a:off x="5166360" y="304495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누적합 변수 완전 차단 (원천 격리)</a:t>
            </a:r>
            <a:endParaRPr lang="en-US" sz="1100" dirty="0">
              <a:latin typeface="Noto Sans KR" panose="020B0200000000000000" pitchFamily="50" charset="-127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001768" y="3630168"/>
            <a:ext cx="73152" cy="36576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6" name="Text 24"/>
          <p:cNvSpPr/>
          <p:nvPr/>
        </p:nvSpPr>
        <p:spPr>
          <a:xfrm>
            <a:off x="5166360" y="36118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순수 센서 Raw 데이터만 입력</a:t>
            </a:r>
            <a:endParaRPr lang="en-US" sz="1100" dirty="0">
              <a:latin typeface="Noto Sans KR" panose="020B0200000000000000" pitchFamily="50" charset="-127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001768" y="4197096"/>
            <a:ext cx="73152" cy="36576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8" name="Text 26"/>
          <p:cNvSpPr/>
          <p:nvPr/>
        </p:nvSpPr>
        <p:spPr>
          <a:xfrm>
            <a:off x="5166360" y="417880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스스로 시계열 패턴 학습 → 강건한 예측</a:t>
            </a:r>
            <a:endParaRPr lang="en-US" sz="1100" dirty="0">
              <a:latin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22040"/>
          </a:solidFill>
          <a:ln w="12700">
            <a:solidFill>
              <a:srgbClr val="122040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77724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Text 2"/>
          <p:cNvSpPr/>
          <p:nvPr/>
        </p:nvSpPr>
        <p:spPr>
          <a:xfrm>
            <a:off x="182880" y="9144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05  도메인 피처 공학 및 4주 Warning Window 설계</a:t>
            </a:r>
            <a:endParaRPr lang="en-US" sz="2200" dirty="0">
              <a:latin typeface="Noto Sans KR" panose="020B0200000000000000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114800" cy="3977640"/>
          </a:xfrm>
          <a:prstGeom prst="rect">
            <a:avLst/>
          </a:prstGeom>
          <a:solidFill>
            <a:srgbClr val="122040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Text 4"/>
          <p:cNvSpPr/>
          <p:nvPr/>
        </p:nvSpPr>
        <p:spPr>
          <a:xfrm>
            <a:off x="411480" y="93268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93C5F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🔬  피처 엔지니어링</a:t>
            </a:r>
            <a:endParaRPr lang="en-US" sz="1500" dirty="0">
              <a:latin typeface="Noto Sans KR" panose="020B0200000000000000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84048" y="1417320"/>
            <a:ext cx="3840480" cy="914400"/>
          </a:xfrm>
          <a:prstGeom prst="rect">
            <a:avLst/>
          </a:prstGeom>
          <a:solidFill>
            <a:srgbClr val="0A2240"/>
          </a:solidFill>
          <a:ln w="12700">
            <a:solidFill>
              <a:srgbClr val="1A73E8"/>
            </a:solidFill>
            <a:prstDash val="solid"/>
          </a:ln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8" name="Text 6"/>
          <p:cNvSpPr/>
          <p:nvPr/>
        </p:nvSpPr>
        <p:spPr>
          <a:xfrm>
            <a:off x="475488" y="14447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C9B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28일 누적합</a:t>
            </a:r>
            <a:endParaRPr lang="en-US" sz="1300" dirty="0">
              <a:latin typeface="Noto Sans KR" panose="020B0200000000000000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475488" y="17647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4주 장기 가스 흡착량 수치화</a:t>
            </a:r>
            <a:endParaRPr lang="en-US" sz="1050" dirty="0">
              <a:latin typeface="Noto Sans KR" panose="020B0200000000000000" pitchFamily="50" charset="-127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(단기 농도 × 일수 → 화학 포화도 모사)</a:t>
            </a:r>
            <a:endParaRPr lang="en-US" sz="1050" dirty="0">
              <a:latin typeface="Noto Sans KR" panose="020B0200000000000000" pitchFamily="50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84048" y="2468880"/>
            <a:ext cx="3840480" cy="914400"/>
          </a:xfrm>
          <a:prstGeom prst="rect">
            <a:avLst/>
          </a:prstGeom>
          <a:solidFill>
            <a:srgbClr val="0A2240"/>
          </a:solidFill>
          <a:ln w="12700">
            <a:solidFill>
              <a:srgbClr val="1A73E8"/>
            </a:solidFill>
            <a:prstDash val="solid"/>
          </a:ln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11" name="Text 9"/>
          <p:cNvSpPr/>
          <p:nvPr/>
        </p:nvSpPr>
        <p:spPr>
          <a:xfrm>
            <a:off x="475488" y="24963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C9B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56일 누적합</a:t>
            </a:r>
            <a:endParaRPr lang="en-US" sz="1300" dirty="0">
              <a:latin typeface="Noto Sans KR" panose="020B0200000000000000" pitchFamily="50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75488" y="281635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8주 초장기 누적으로 계절적</a:t>
            </a:r>
            <a:endParaRPr lang="en-US" sz="1050" dirty="0">
              <a:latin typeface="Noto Sans KR" panose="020B0200000000000000" pitchFamily="50" charset="-127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오염 트렌드 포착</a:t>
            </a:r>
            <a:endParaRPr lang="en-US" sz="1050" dirty="0">
              <a:latin typeface="Noto Sans KR" panose="020B0200000000000000" pitchFamily="50" charset="-127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84048" y="3520440"/>
            <a:ext cx="3840480" cy="914400"/>
          </a:xfrm>
          <a:prstGeom prst="rect">
            <a:avLst/>
          </a:prstGeom>
          <a:solidFill>
            <a:srgbClr val="0A2240"/>
          </a:solidFill>
          <a:ln w="12700">
            <a:solidFill>
              <a:srgbClr val="1A73E8"/>
            </a:solidFill>
            <a:prstDash val="solid"/>
          </a:ln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14" name="Text 12"/>
          <p:cNvSpPr/>
          <p:nvPr/>
        </p:nvSpPr>
        <p:spPr>
          <a:xfrm>
            <a:off x="475488" y="35478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C9B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3D 텐서 변환</a:t>
            </a:r>
            <a:endParaRPr lang="en-US" sz="1300" dirty="0">
              <a:latin typeface="Noto Sans KR" panose="020B0200000000000000" pitchFamily="50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75488" y="386791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[Samples, 14, Features]</a:t>
            </a:r>
            <a:endParaRPr lang="en-US" sz="1050" dirty="0">
              <a:latin typeface="Noto Sans KR" panose="020B0200000000000000" pitchFamily="50" charset="-127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과거 14일 변동 추이 입체 시퀀스</a:t>
            </a:r>
            <a:endParaRPr lang="en-US" sz="1050" dirty="0">
              <a:latin typeface="Noto Sans KR" panose="020B0200000000000000" pitchFamily="50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572000" y="868680"/>
            <a:ext cx="4297680" cy="3977640"/>
          </a:xfrm>
          <a:prstGeom prst="rect">
            <a:avLst/>
          </a:prstGeom>
          <a:solidFill>
            <a:srgbClr val="122040"/>
          </a:solidFill>
          <a:ln w="12700">
            <a:solidFill>
              <a:srgbClr val="2A3A0A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17" name="Text 15"/>
          <p:cNvSpPr/>
          <p:nvPr/>
        </p:nvSpPr>
        <p:spPr>
          <a:xfrm>
            <a:off x="4709160" y="93268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59E0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⏰  Warning Window (4주 조기 경보)</a:t>
            </a:r>
            <a:endParaRPr lang="en-US" sz="1500" dirty="0">
              <a:latin typeface="Noto Sans KR" panose="020B0200000000000000" pitchFamily="50" charset="-127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800600" y="1444752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9" name="Text 17"/>
          <p:cNvSpPr/>
          <p:nvPr/>
        </p:nvSpPr>
        <p:spPr>
          <a:xfrm>
            <a:off x="4800600" y="1453896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 dirty="0">
                <a:solidFill>
                  <a:srgbClr val="0A162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알람</a:t>
            </a:r>
            <a:endParaRPr lang="en-US" altLang="ko-KR" sz="1000" b="1" dirty="0">
              <a:solidFill>
                <a:srgbClr val="0A1628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ko-KR" altLang="en-US" sz="1000" b="1" dirty="0">
                <a:solidFill>
                  <a:srgbClr val="0A1628"/>
                </a:solidFill>
                <a:latin typeface="Noto Sans KR" panose="020B0200000000000000" pitchFamily="50" charset="-127"/>
                <a:cs typeface="Calibri" pitchFamily="34" charset="-120"/>
              </a:rPr>
              <a:t>발생</a:t>
            </a:r>
            <a:endParaRPr lang="en-US" sz="1000" dirty="0">
              <a:latin typeface="Noto Sans KR" panose="020B0200000000000000" pitchFamily="50" charset="-127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020056" y="1957612"/>
            <a:ext cx="54864" cy="62179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1" name="Text 19"/>
          <p:cNvSpPr/>
          <p:nvPr/>
        </p:nvSpPr>
        <p:spPr>
          <a:xfrm>
            <a:off x="5413248" y="14133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예방정비 경고 시작</a:t>
            </a:r>
            <a:endParaRPr lang="en-US" sz="1100" dirty="0">
              <a:latin typeface="Noto Sans KR" panose="020B0200000000000000" pitchFamily="50" charset="-127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(Warning=1 라벨 시작)</a:t>
            </a:r>
            <a:endParaRPr lang="en-US" sz="1100" dirty="0">
              <a:latin typeface="Noto Sans KR" panose="020B0200000000000000" pitchFamily="50" charset="-127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800600" y="2066544"/>
            <a:ext cx="502920" cy="50292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3" name="Text 21"/>
          <p:cNvSpPr/>
          <p:nvPr/>
        </p:nvSpPr>
        <p:spPr>
          <a:xfrm>
            <a:off x="4800600" y="2075688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D-28</a:t>
            </a:r>
            <a:endParaRPr lang="en-US" sz="1000" dirty="0">
              <a:latin typeface="Noto Sans KR" panose="020B0200000000000000" pitchFamily="50" charset="-127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020056" y="2579404"/>
            <a:ext cx="54864" cy="62179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5" name="Text 23"/>
          <p:cNvSpPr/>
          <p:nvPr/>
        </p:nvSpPr>
        <p:spPr>
          <a:xfrm>
            <a:off x="5413248" y="208483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자재 발주(PR→PO)</a:t>
            </a:r>
            <a:endParaRPr lang="en-US" sz="1100" dirty="0">
              <a:latin typeface="Noto Sans KR" panose="020B0200000000000000" pitchFamily="50" charset="-127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800600" y="2688336"/>
            <a:ext cx="502920" cy="502920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7" name="Text 25"/>
          <p:cNvSpPr/>
          <p:nvPr/>
        </p:nvSpPr>
        <p:spPr>
          <a:xfrm>
            <a:off x="4800600" y="269748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D-14</a:t>
            </a:r>
            <a:endParaRPr lang="en-US" sz="1000" dirty="0">
              <a:latin typeface="Noto Sans KR" panose="020B0200000000000000" pitchFamily="50" charset="-127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020056" y="3201196"/>
            <a:ext cx="54864" cy="62179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9" name="Text 27"/>
          <p:cNvSpPr/>
          <p:nvPr/>
        </p:nvSpPr>
        <p:spPr>
          <a:xfrm>
            <a:off x="5413248" y="270662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제조/납품 진행</a:t>
            </a:r>
            <a:endParaRPr lang="en-US" sz="1100" dirty="0">
              <a:latin typeface="Noto Sans KR" panose="020B0200000000000000" pitchFamily="50" charset="-127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800600" y="3310128"/>
            <a:ext cx="502920" cy="502920"/>
          </a:xfrm>
          <a:prstGeom prst="ellipse">
            <a:avLst/>
          </a:prstGeom>
          <a:solidFill>
            <a:srgbClr val="86EFAC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1" name="Text 29"/>
          <p:cNvSpPr/>
          <p:nvPr/>
        </p:nvSpPr>
        <p:spPr>
          <a:xfrm>
            <a:off x="4800600" y="3319272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D-7</a:t>
            </a:r>
            <a:endParaRPr lang="en-US" sz="1000" dirty="0">
              <a:latin typeface="Noto Sans KR" panose="020B0200000000000000" pitchFamily="50" charset="-127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5020056" y="3822988"/>
            <a:ext cx="54864" cy="62179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3" name="Text 31"/>
          <p:cNvSpPr/>
          <p:nvPr/>
        </p:nvSpPr>
        <p:spPr>
          <a:xfrm>
            <a:off x="5413248" y="332841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설치 준비 완료</a:t>
            </a:r>
            <a:endParaRPr lang="en-US" sz="1100" dirty="0">
              <a:latin typeface="Noto Sans KR" panose="020B0200000000000000" pitchFamily="50" charset="-127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800600" y="393192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5" name="Text 33"/>
          <p:cNvSpPr/>
          <p:nvPr/>
        </p:nvSpPr>
        <p:spPr>
          <a:xfrm>
            <a:off x="4800600" y="3941064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D-0</a:t>
            </a:r>
            <a:endParaRPr lang="en-US" sz="1000" dirty="0">
              <a:latin typeface="Noto Sans KR" panose="020B0200000000000000" pitchFamily="50" charset="-127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413248" y="390050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필터 교체 실행</a:t>
            </a:r>
            <a:endParaRPr lang="en-US" sz="1100" dirty="0">
              <a:latin typeface="Noto Sans KR" panose="020B0200000000000000" pitchFamily="50" charset="-127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(포화 전 완료 목표)</a:t>
            </a:r>
            <a:endParaRPr lang="en-US" sz="1100" dirty="0">
              <a:latin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22040"/>
          </a:solidFill>
          <a:ln w="12700">
            <a:solidFill>
              <a:srgbClr val="122040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77724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Text 2"/>
          <p:cNvSpPr/>
          <p:nvPr/>
        </p:nvSpPr>
        <p:spPr>
          <a:xfrm>
            <a:off x="182880" y="9144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06  알고리즘 선택 타당성: Bi-LSTM 아키텍처</a:t>
            </a:r>
            <a:endParaRPr lang="en-US" sz="2200" dirty="0">
              <a:latin typeface="Noto Sans KR" panose="020B0200000000000000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2560320" cy="3977640"/>
          </a:xfrm>
          <a:prstGeom prst="rect">
            <a:avLst/>
          </a:prstGeom>
          <a:solidFill>
            <a:srgbClr val="1A0A0A"/>
          </a:solidFill>
          <a:ln w="12700">
            <a:solidFill>
              <a:srgbClr val="EF4444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Text 4"/>
          <p:cNvSpPr/>
          <p:nvPr/>
        </p:nvSpPr>
        <p:spPr>
          <a:xfrm>
            <a:off x="320040" y="9601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F44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❌</a:t>
            </a:r>
            <a:endParaRPr lang="en-US" sz="1600" dirty="0">
              <a:latin typeface="Noto Sans KR" panose="020B0200000000000000" pitchFamily="50" charset="-127"/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rgbClr val="EF44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Random</a:t>
            </a:r>
            <a:endParaRPr lang="en-US" sz="1600" dirty="0">
              <a:latin typeface="Noto Sans KR" panose="020B0200000000000000" pitchFamily="50" charset="-127"/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rgbClr val="EF44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Forest</a:t>
            </a:r>
            <a:endParaRPr lang="en-US" sz="1600" dirty="0">
              <a:latin typeface="Noto Sans KR" panose="020B0200000000000000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2194560" cy="822960"/>
          </a:xfrm>
          <a:prstGeom prst="rect">
            <a:avLst/>
          </a:prstGeom>
          <a:solidFill>
            <a:srgbClr val="2D0A0A"/>
          </a:solidFill>
          <a:ln w="12700">
            <a:solidFill>
              <a:srgbClr val="7C1D1D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8" name="Text 6"/>
          <p:cNvSpPr/>
          <p:nvPr/>
        </p:nvSpPr>
        <p:spPr>
          <a:xfrm>
            <a:off x="457200" y="2039112"/>
            <a:ext cx="2194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F44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재현율</a:t>
            </a:r>
            <a:endParaRPr lang="en-US" sz="2200" dirty="0">
              <a:latin typeface="Noto Sans KR" panose="020B0200000000000000" pitchFamily="50" charset="-127"/>
            </a:endParaRPr>
          </a:p>
          <a:p>
            <a:pPr marL="0" indent="0" algn="ctr">
              <a:buNone/>
            </a:pPr>
            <a:r>
              <a:rPr lang="en-US" sz="2200" b="1" dirty="0">
                <a:solidFill>
                  <a:srgbClr val="EF44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0%</a:t>
            </a:r>
            <a:endParaRPr lang="en-US" sz="2200" dirty="0">
              <a:latin typeface="Noto Sans KR" panose="020B0200000000000000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0040" y="292608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00" dirty="0">
                <a:solidFill>
                  <a:srgbClr val="FCA5A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힌트 차단 후</a:t>
            </a:r>
            <a:endParaRPr lang="en-US" sz="1000" dirty="0">
              <a:latin typeface="Noto Sans KR" panose="020B0200000000000000" pitchFamily="50" charset="-127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00" dirty="0">
                <a:solidFill>
                  <a:srgbClr val="FCA5A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고장 탐지 완전 붕괴</a:t>
            </a:r>
            <a:endParaRPr lang="en-US" sz="1000" dirty="0">
              <a:latin typeface="Noto Sans KR" panose="020B0200000000000000" pitchFamily="50" charset="-127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00" dirty="0">
                <a:solidFill>
                  <a:srgbClr val="FCA5A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(단방향 시점 수치만 독립 분석</a:t>
            </a:r>
            <a:endParaRPr lang="en-US" sz="1000" dirty="0">
              <a:latin typeface="Noto Sans KR" panose="020B0200000000000000" pitchFamily="50" charset="-127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00" dirty="0">
                <a:solidFill>
                  <a:srgbClr val="FCA5A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→ 시계열 패턴 미인식)</a:t>
            </a:r>
            <a:endParaRPr lang="en-US" sz="1000" dirty="0">
              <a:latin typeface="Noto Sans KR" panose="020B0200000000000000" pitchFamily="50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880360" y="2651760"/>
            <a:ext cx="457200" cy="73152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1" name="Text 9"/>
          <p:cNvSpPr/>
          <p:nvPr/>
        </p:nvSpPr>
        <p:spPr>
          <a:xfrm>
            <a:off x="2852928" y="225419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9B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→</a:t>
            </a:r>
            <a:endParaRPr lang="en-US" sz="2000" dirty="0">
              <a:latin typeface="Noto Sans KR" panose="020B0200000000000000" pitchFamily="50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429000" y="868680"/>
            <a:ext cx="5440680" cy="3977640"/>
          </a:xfrm>
          <a:prstGeom prst="rect">
            <a:avLst/>
          </a:prstGeom>
          <a:solidFill>
            <a:srgbClr val="071A18"/>
          </a:solidFill>
          <a:ln w="12700">
            <a:solidFill>
              <a:srgbClr val="00C9B1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13" name="Shape 11"/>
          <p:cNvSpPr/>
          <p:nvPr/>
        </p:nvSpPr>
        <p:spPr>
          <a:xfrm>
            <a:off x="3429000" y="868680"/>
            <a:ext cx="5440680" cy="457200"/>
          </a:xfrm>
          <a:prstGeom prst="rect">
            <a:avLst/>
          </a:prstGeom>
          <a:solidFill>
            <a:srgbClr val="0A3A32"/>
          </a:solidFill>
          <a:ln w="12700">
            <a:solidFill>
              <a:srgbClr val="0A3A32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4" name="Text 12"/>
          <p:cNvSpPr/>
          <p:nvPr/>
        </p:nvSpPr>
        <p:spPr>
          <a:xfrm>
            <a:off x="3566160" y="896112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C9B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✅  Bi-LSTM 양방향 딥러닝 아키텍처</a:t>
            </a:r>
            <a:endParaRPr lang="en-US" sz="1500" dirty="0">
              <a:latin typeface="Noto Sans KR" panose="020B0200000000000000" pitchFamily="50" charset="-127"/>
            </a:endParaRP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5F8370C3-00FA-33EF-BA63-FAD50B74EBE2}"/>
              </a:ext>
            </a:extLst>
          </p:cNvPr>
          <p:cNvGrpSpPr/>
          <p:nvPr/>
        </p:nvGrpSpPr>
        <p:grpSpPr>
          <a:xfrm>
            <a:off x="3543290" y="1463040"/>
            <a:ext cx="1005840" cy="1828800"/>
            <a:chOff x="3657600" y="1463040"/>
            <a:chExt cx="1005840" cy="1828800"/>
          </a:xfrm>
        </p:grpSpPr>
        <p:sp>
          <p:nvSpPr>
            <p:cNvPr id="15" name="Shape 13"/>
            <p:cNvSpPr/>
            <p:nvPr/>
          </p:nvSpPr>
          <p:spPr>
            <a:xfrm>
              <a:off x="3657600" y="1463040"/>
              <a:ext cx="1005840" cy="1828800"/>
            </a:xfrm>
            <a:prstGeom prst="rect">
              <a:avLst/>
            </a:prstGeom>
            <a:solidFill>
              <a:srgbClr val="1E3A6E"/>
            </a:solidFill>
            <a:ln w="12700">
              <a:solidFill>
                <a:srgbClr val="00C9B1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25000"/>
                </a:srgbClr>
              </a:outerShdw>
            </a:effec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3657600" y="1536192"/>
              <a:ext cx="100584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00C9B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Calibri" pitchFamily="34" charset="-120"/>
                </a:rPr>
                <a:t>Input</a:t>
              </a:r>
              <a:endParaRPr lang="en-US" sz="1100" dirty="0">
                <a:latin typeface="Noto Sans KR" panose="020B0200000000000000" pitchFamily="50" charset="-127"/>
              </a:endParaRPr>
            </a:p>
          </p:txBody>
        </p:sp>
        <p:sp>
          <p:nvSpPr>
            <p:cNvPr id="17" name="Text 15"/>
            <p:cNvSpPr/>
            <p:nvPr/>
          </p:nvSpPr>
          <p:spPr>
            <a:xfrm>
              <a:off x="3675888" y="2212848"/>
              <a:ext cx="969264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900" dirty="0">
                  <a:solidFill>
                    <a:srgbClr val="94A3B8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Calibri Light" pitchFamily="34" charset="-120"/>
                </a:rPr>
                <a:t>[Samples, 14, Features]</a:t>
              </a:r>
              <a:endParaRPr lang="en-US" sz="900" dirty="0">
                <a:latin typeface="Noto Sans KR" panose="020B0200000000000000" pitchFamily="50" charset="-127"/>
              </a:endParaRPr>
            </a:p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900" dirty="0">
                  <a:solidFill>
                    <a:srgbClr val="94A3B8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Calibri Light" pitchFamily="34" charset="-120"/>
                </a:rPr>
                <a:t>순수 Raw 센서 텐서</a:t>
              </a:r>
              <a:endParaRPr lang="en-US" sz="900" dirty="0">
                <a:latin typeface="Noto Sans KR" panose="020B0200000000000000" pitchFamily="50" charset="-127"/>
              </a:endParaRPr>
            </a:p>
          </p:txBody>
        </p:sp>
      </p:grpSp>
      <p:sp>
        <p:nvSpPr>
          <p:cNvPr id="18" name="Shape 16"/>
          <p:cNvSpPr/>
          <p:nvPr/>
        </p:nvSpPr>
        <p:spPr>
          <a:xfrm>
            <a:off x="4570279" y="2313432"/>
            <a:ext cx="3310797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57B37BE5-B993-4113-3886-7BFC68308274}"/>
              </a:ext>
            </a:extLst>
          </p:cNvPr>
          <p:cNvGrpSpPr/>
          <p:nvPr/>
        </p:nvGrpSpPr>
        <p:grpSpPr>
          <a:xfrm>
            <a:off x="4604790" y="1463040"/>
            <a:ext cx="1057928" cy="1828800"/>
            <a:chOff x="4709160" y="1463040"/>
            <a:chExt cx="1057928" cy="1828800"/>
          </a:xfrm>
        </p:grpSpPr>
        <p:sp>
          <p:nvSpPr>
            <p:cNvPr id="19" name="Shape 17"/>
            <p:cNvSpPr/>
            <p:nvPr/>
          </p:nvSpPr>
          <p:spPr>
            <a:xfrm>
              <a:off x="4709160" y="1463040"/>
              <a:ext cx="1057928" cy="1828800"/>
            </a:xfrm>
            <a:prstGeom prst="rect">
              <a:avLst/>
            </a:prstGeom>
            <a:solidFill>
              <a:srgbClr val="0A3A32"/>
            </a:solidFill>
            <a:ln w="12700">
              <a:solidFill>
                <a:srgbClr val="00C9B1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25000"/>
                </a:srgbClr>
              </a:outerShdw>
            </a:effec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4709160" y="1536192"/>
              <a:ext cx="1033272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1100" b="1" dirty="0">
                  <a:solidFill>
                    <a:srgbClr val="00C9B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Calibri" pitchFamily="34" charset="-120"/>
                </a:rPr>
                <a:t>Bi-LSTM</a:t>
              </a:r>
              <a:endParaRPr lang="en-US" sz="1100" dirty="0">
                <a:latin typeface="Noto Sans KR" panose="020B0200000000000000" pitchFamily="50" charset="-127"/>
              </a:endParaRPr>
            </a:p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1100" b="1" dirty="0">
                  <a:solidFill>
                    <a:srgbClr val="00C9B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Calibri" pitchFamily="34" charset="-120"/>
                </a:rPr>
                <a:t>64 Node</a:t>
              </a:r>
              <a:endParaRPr lang="en-US" sz="1100" dirty="0">
                <a:latin typeface="Noto Sans KR" panose="020B0200000000000000" pitchFamily="50" charset="-127"/>
              </a:endParaRPr>
            </a:p>
          </p:txBody>
        </p:sp>
        <p:sp>
          <p:nvSpPr>
            <p:cNvPr id="21" name="Text 19"/>
            <p:cNvSpPr/>
            <p:nvPr/>
          </p:nvSpPr>
          <p:spPr>
            <a:xfrm>
              <a:off x="4727448" y="2212848"/>
              <a:ext cx="1033272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900" dirty="0">
                  <a:solidFill>
                    <a:srgbClr val="94A3B8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Calibri Light" pitchFamily="34" charset="-120"/>
                </a:rPr>
                <a:t>정방향 + 역방향</a:t>
              </a:r>
              <a:endParaRPr lang="en-US" sz="900" dirty="0">
                <a:latin typeface="Noto Sans KR" panose="020B0200000000000000" pitchFamily="50" charset="-127"/>
              </a:endParaRPr>
            </a:p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900" dirty="0">
                  <a:solidFill>
                    <a:srgbClr val="94A3B8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Calibri Light" pitchFamily="34" charset="-120"/>
                </a:rPr>
                <a:t>양방향 문맥 융합</a:t>
              </a:r>
              <a:endParaRPr lang="en-US" sz="900" dirty="0">
                <a:latin typeface="Noto Sans KR" panose="020B0200000000000000" pitchFamily="50" charset="-127"/>
              </a:endParaRPr>
            </a:p>
          </p:txBody>
        </p:sp>
      </p:grpSp>
      <p:sp>
        <p:nvSpPr>
          <p:cNvPr id="22" name="Shape 20"/>
          <p:cNvSpPr/>
          <p:nvPr/>
        </p:nvSpPr>
        <p:spPr>
          <a:xfrm>
            <a:off x="5897880" y="2313432"/>
            <a:ext cx="73152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9B531562-AA1A-BFF3-FD73-9EEFAB69D187}"/>
              </a:ext>
            </a:extLst>
          </p:cNvPr>
          <p:cNvGrpSpPr/>
          <p:nvPr/>
        </p:nvGrpSpPr>
        <p:grpSpPr>
          <a:xfrm>
            <a:off x="5715990" y="1463040"/>
            <a:ext cx="1005840" cy="1828800"/>
            <a:chOff x="5760720" y="1463040"/>
            <a:chExt cx="1005840" cy="1828800"/>
          </a:xfrm>
        </p:grpSpPr>
        <p:sp>
          <p:nvSpPr>
            <p:cNvPr id="23" name="Shape 21"/>
            <p:cNvSpPr/>
            <p:nvPr/>
          </p:nvSpPr>
          <p:spPr>
            <a:xfrm>
              <a:off x="5760720" y="1463040"/>
              <a:ext cx="1005840" cy="1828800"/>
            </a:xfrm>
            <a:prstGeom prst="rect">
              <a:avLst/>
            </a:prstGeom>
            <a:solidFill>
              <a:srgbClr val="2A1A0A"/>
            </a:solidFill>
            <a:ln w="12700">
              <a:solidFill>
                <a:srgbClr val="00C9B1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25000"/>
                </a:srgbClr>
              </a:outerShdw>
            </a:effec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5760720" y="1536192"/>
              <a:ext cx="100584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1100" b="1" dirty="0">
                  <a:solidFill>
                    <a:srgbClr val="00C9B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Calibri" pitchFamily="34" charset="-120"/>
                </a:rPr>
                <a:t>Dropout</a:t>
              </a:r>
              <a:endParaRPr lang="en-US" sz="1100" dirty="0">
                <a:latin typeface="Noto Sans KR" panose="020B0200000000000000" pitchFamily="50" charset="-127"/>
              </a:endParaRPr>
            </a:p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1100" b="1" dirty="0">
                  <a:solidFill>
                    <a:srgbClr val="00C9B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Calibri" pitchFamily="34" charset="-120"/>
                </a:rPr>
                <a:t>20%</a:t>
              </a:r>
              <a:endParaRPr lang="en-US" sz="1100" dirty="0">
                <a:latin typeface="Noto Sans KR" panose="020B0200000000000000" pitchFamily="50" charset="-127"/>
              </a:endParaRPr>
            </a:p>
          </p:txBody>
        </p:sp>
        <p:sp>
          <p:nvSpPr>
            <p:cNvPr id="25" name="Text 23"/>
            <p:cNvSpPr/>
            <p:nvPr/>
          </p:nvSpPr>
          <p:spPr>
            <a:xfrm>
              <a:off x="5779008" y="2212848"/>
              <a:ext cx="969264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900" dirty="0">
                  <a:solidFill>
                    <a:srgbClr val="94A3B8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Calibri Light" pitchFamily="34" charset="-120"/>
                </a:rPr>
                <a:t>과적합 방지</a:t>
              </a:r>
              <a:endParaRPr lang="en-US" sz="900" dirty="0">
                <a:latin typeface="Noto Sans KR" panose="020B0200000000000000" pitchFamily="50" charset="-127"/>
              </a:endParaRPr>
            </a:p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900" dirty="0">
                  <a:solidFill>
                    <a:srgbClr val="94A3B8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Calibri Light" pitchFamily="34" charset="-120"/>
                </a:rPr>
                <a:t>랜덤 뉴런 비활성화</a:t>
              </a:r>
              <a:endParaRPr lang="en-US" sz="900" dirty="0">
                <a:latin typeface="Noto Sans KR" panose="020B0200000000000000" pitchFamily="50" charset="-127"/>
              </a:endParaRPr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FCE37C1B-0E9C-5F3C-961B-7655CE925B3E}"/>
              </a:ext>
            </a:extLst>
          </p:cNvPr>
          <p:cNvGrpSpPr/>
          <p:nvPr/>
        </p:nvGrpSpPr>
        <p:grpSpPr>
          <a:xfrm>
            <a:off x="6777490" y="1463040"/>
            <a:ext cx="1005840" cy="1828800"/>
            <a:chOff x="6812280" y="1463040"/>
            <a:chExt cx="1005840" cy="1828800"/>
          </a:xfrm>
        </p:grpSpPr>
        <p:sp>
          <p:nvSpPr>
            <p:cNvPr id="27" name="Shape 25"/>
            <p:cNvSpPr/>
            <p:nvPr/>
          </p:nvSpPr>
          <p:spPr>
            <a:xfrm>
              <a:off x="6812280" y="1463040"/>
              <a:ext cx="1005840" cy="1828800"/>
            </a:xfrm>
            <a:prstGeom prst="rect">
              <a:avLst/>
            </a:prstGeom>
            <a:solidFill>
              <a:srgbClr val="0A3A32"/>
            </a:solidFill>
            <a:ln w="12700">
              <a:solidFill>
                <a:srgbClr val="00C9B1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25000"/>
                </a:srgbClr>
              </a:outerShdw>
            </a:effec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6812280" y="1536192"/>
              <a:ext cx="100584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1100" b="1" dirty="0">
                  <a:solidFill>
                    <a:srgbClr val="00C9B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Calibri" pitchFamily="34" charset="-120"/>
                </a:rPr>
                <a:t>Bi-LSTM</a:t>
              </a:r>
              <a:endParaRPr lang="en-US" sz="1100" dirty="0">
                <a:latin typeface="Noto Sans KR" panose="020B0200000000000000" pitchFamily="50" charset="-127"/>
              </a:endParaRPr>
            </a:p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1100" b="1" dirty="0">
                  <a:solidFill>
                    <a:srgbClr val="00C9B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Calibri" pitchFamily="34" charset="-120"/>
                </a:rPr>
                <a:t>32 Node</a:t>
              </a:r>
              <a:endParaRPr lang="en-US" sz="1100" dirty="0">
                <a:latin typeface="Noto Sans KR" panose="020B0200000000000000" pitchFamily="50" charset="-127"/>
              </a:endParaRPr>
            </a:p>
          </p:txBody>
        </p:sp>
        <p:sp>
          <p:nvSpPr>
            <p:cNvPr id="29" name="Text 27"/>
            <p:cNvSpPr/>
            <p:nvPr/>
          </p:nvSpPr>
          <p:spPr>
            <a:xfrm>
              <a:off x="6830568" y="2212848"/>
              <a:ext cx="969264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900" dirty="0">
                  <a:solidFill>
                    <a:srgbClr val="94A3B8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Calibri Light" pitchFamily="34" charset="-120"/>
                </a:rPr>
                <a:t>심층 시퀀스</a:t>
              </a:r>
              <a:endParaRPr lang="en-US" sz="900" dirty="0">
                <a:latin typeface="Noto Sans KR" panose="020B0200000000000000" pitchFamily="50" charset="-127"/>
              </a:endParaRPr>
            </a:p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900" dirty="0">
                  <a:solidFill>
                    <a:srgbClr val="94A3B8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Calibri Light" pitchFamily="34" charset="-120"/>
                </a:rPr>
                <a:t>패턴 압축</a:t>
              </a:r>
              <a:endParaRPr lang="en-US" sz="900" dirty="0">
                <a:latin typeface="Noto Sans KR" panose="020B0200000000000000" pitchFamily="50" charset="-127"/>
              </a:endParaRPr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1693333F-51AE-308C-56C2-E29A5BFCBC51}"/>
              </a:ext>
            </a:extLst>
          </p:cNvPr>
          <p:cNvGrpSpPr/>
          <p:nvPr/>
        </p:nvGrpSpPr>
        <p:grpSpPr>
          <a:xfrm>
            <a:off x="7838990" y="1463040"/>
            <a:ext cx="939250" cy="1828800"/>
            <a:chOff x="7863840" y="1463040"/>
            <a:chExt cx="914400" cy="1828800"/>
          </a:xfrm>
        </p:grpSpPr>
        <p:sp>
          <p:nvSpPr>
            <p:cNvPr id="31" name="Shape 29"/>
            <p:cNvSpPr/>
            <p:nvPr/>
          </p:nvSpPr>
          <p:spPr>
            <a:xfrm>
              <a:off x="7863840" y="1463040"/>
              <a:ext cx="914400" cy="1828800"/>
            </a:xfrm>
            <a:prstGeom prst="rect">
              <a:avLst/>
            </a:prstGeom>
            <a:solidFill>
              <a:srgbClr val="1E3A6E"/>
            </a:solidFill>
            <a:ln w="12700">
              <a:solidFill>
                <a:srgbClr val="00C9B1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25000"/>
                </a:srgbClr>
              </a:outerShdw>
            </a:effec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7863840" y="1536192"/>
              <a:ext cx="91440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1100" b="1" dirty="0">
                  <a:solidFill>
                    <a:srgbClr val="00C9B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Calibri" pitchFamily="34" charset="-120"/>
                </a:rPr>
                <a:t>Dense</a:t>
              </a:r>
              <a:endParaRPr lang="en-US" sz="1100" dirty="0">
                <a:latin typeface="Noto Sans KR" panose="020B0200000000000000" pitchFamily="50" charset="-127"/>
              </a:endParaRPr>
            </a:p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1100" b="1" dirty="0">
                  <a:solidFill>
                    <a:srgbClr val="00C9B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Calibri" pitchFamily="34" charset="-120"/>
                </a:rPr>
                <a:t>Sigmoid</a:t>
              </a:r>
              <a:endParaRPr lang="en-US" sz="1100" dirty="0">
                <a:latin typeface="Noto Sans KR" panose="020B0200000000000000" pitchFamily="50" charset="-127"/>
              </a:endParaRPr>
            </a:p>
          </p:txBody>
        </p:sp>
        <p:sp>
          <p:nvSpPr>
            <p:cNvPr id="33" name="Text 31"/>
            <p:cNvSpPr/>
            <p:nvPr/>
          </p:nvSpPr>
          <p:spPr>
            <a:xfrm>
              <a:off x="7882128" y="2212848"/>
              <a:ext cx="877824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900" dirty="0">
                  <a:solidFill>
                    <a:srgbClr val="94A3B8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Calibri Light" pitchFamily="34" charset="-120"/>
                </a:rPr>
                <a:t>0~1 위험도</a:t>
              </a:r>
              <a:endParaRPr lang="en-US" sz="900" dirty="0">
                <a:latin typeface="Noto Sans KR" panose="020B0200000000000000" pitchFamily="50" charset="-127"/>
              </a:endParaRPr>
            </a:p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900" dirty="0">
                  <a:solidFill>
                    <a:srgbClr val="94A3B8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Calibri Light" pitchFamily="34" charset="-120"/>
                </a:rPr>
                <a:t>확률 출력</a:t>
              </a:r>
              <a:endParaRPr lang="en-US" sz="900" dirty="0">
                <a:latin typeface="Noto Sans KR" panose="020B0200000000000000" pitchFamily="50" charset="-127"/>
              </a:endParaRPr>
            </a:p>
          </p:txBody>
        </p:sp>
      </p:grpSp>
      <p:sp>
        <p:nvSpPr>
          <p:cNvPr id="34" name="Shape 32"/>
          <p:cNvSpPr/>
          <p:nvPr/>
        </p:nvSpPr>
        <p:spPr>
          <a:xfrm>
            <a:off x="3543291" y="3424029"/>
            <a:ext cx="5234950" cy="1292275"/>
          </a:xfrm>
          <a:prstGeom prst="rect">
            <a:avLst/>
          </a:prstGeom>
          <a:solidFill>
            <a:srgbClr val="122040"/>
          </a:solidFill>
          <a:ln w="12700">
            <a:solidFill>
              <a:srgbClr val="1E3A5F"/>
            </a:solidFill>
            <a:prstDash val="solid"/>
          </a:ln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35" name="Text 33"/>
          <p:cNvSpPr/>
          <p:nvPr/>
        </p:nvSpPr>
        <p:spPr>
          <a:xfrm>
            <a:off x="3703320" y="3474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3C5F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최적화 설정</a:t>
            </a:r>
            <a:endParaRPr lang="en-US" sz="1200" dirty="0">
              <a:latin typeface="Noto Sans KR" panose="020B0200000000000000" pitchFamily="50" charset="-127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3703320" y="384048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BD5E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◆ Dropout 20%  —  과적합 방지</a:t>
            </a:r>
            <a:endParaRPr lang="en-US" sz="1050" dirty="0">
              <a:latin typeface="Noto Sans KR" panose="020B0200000000000000" pitchFamily="50" charset="-127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3703320" y="4093522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BD5E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◆ Early Stopping  —  Val Loss 기준 조기 종료</a:t>
            </a:r>
            <a:endParaRPr lang="en-US" sz="1050" dirty="0">
              <a:latin typeface="Noto Sans KR" panose="020B0200000000000000" pitchFamily="50" charset="-127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3703320" y="4366444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BD5E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◆ 클린룸 순환 기류의 복잡한 시공간 패턴 앞뒤 양방향 융합 학습</a:t>
            </a:r>
            <a:endParaRPr lang="en-US" sz="1050" dirty="0">
              <a:latin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22040"/>
          </a:solidFill>
          <a:ln w="12700">
            <a:solidFill>
              <a:srgbClr val="122040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Text 2"/>
          <p:cNvSpPr/>
          <p:nvPr/>
        </p:nvSpPr>
        <p:spPr>
          <a:xfrm>
            <a:off x="182880" y="9144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07  동적 임계값 자율 최적화 알고리즘</a:t>
            </a:r>
            <a:endParaRPr lang="en-US" sz="2200" dirty="0">
              <a:latin typeface="Noto Sans KR" panose="020B0200000000000000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3931920" cy="1920240"/>
          </a:xfrm>
          <a:prstGeom prst="rect">
            <a:avLst/>
          </a:prstGeom>
          <a:solidFill>
            <a:srgbClr val="122040"/>
          </a:solidFill>
          <a:ln w="12700">
            <a:solidFill>
              <a:srgbClr val="3A1A0A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Text 4"/>
          <p:cNvSpPr/>
          <p:nvPr/>
        </p:nvSpPr>
        <p:spPr>
          <a:xfrm>
            <a:off x="411480" y="9326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59E0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⚠  클래스 불균형 문제</a:t>
            </a:r>
            <a:endParaRPr lang="en-US" sz="1400" dirty="0">
              <a:latin typeface="Noto Sans KR" panose="020B0200000000000000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11480" y="1389888"/>
            <a:ext cx="32004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8" name="Text 6"/>
          <p:cNvSpPr/>
          <p:nvPr/>
        </p:nvSpPr>
        <p:spPr>
          <a:xfrm>
            <a:off x="457200" y="138988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3C5F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Normal (0)  95%+</a:t>
            </a:r>
            <a:endParaRPr lang="en-US" sz="1200" dirty="0">
              <a:latin typeface="Noto Sans KR" panose="020B0200000000000000" pitchFamily="50" charset="-127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11480" y="1874520"/>
            <a:ext cx="457200" cy="411480"/>
          </a:xfrm>
          <a:prstGeom prst="rect">
            <a:avLst/>
          </a:prstGeom>
          <a:solidFill>
            <a:srgbClr val="7C1D1D"/>
          </a:solidFill>
          <a:ln w="12700">
            <a:solidFill>
              <a:srgbClr val="7C1D1D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0" name="Text 8"/>
          <p:cNvSpPr/>
          <p:nvPr/>
        </p:nvSpPr>
        <p:spPr>
          <a:xfrm>
            <a:off x="914400" y="189280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FCA5A5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Warning (1)  ~5%  → 고정 임계값 0.5 사용 시 고장 완전 미탐지!</a:t>
            </a:r>
            <a:endParaRPr lang="en-US" sz="1050" dirty="0">
              <a:latin typeface="Noto Sans KR" panose="020B0200000000000000" pitchFamily="50" charset="-12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74320" y="2880360"/>
            <a:ext cx="3931920" cy="1920240"/>
          </a:xfrm>
          <a:prstGeom prst="rect">
            <a:avLst/>
          </a:prstGeom>
          <a:solidFill>
            <a:srgbClr val="122040"/>
          </a:solidFill>
          <a:ln w="12700">
            <a:solidFill>
              <a:srgbClr val="0A3A2A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12" name="Text 10"/>
          <p:cNvSpPr/>
          <p:nvPr/>
        </p:nvSpPr>
        <p:spPr>
          <a:xfrm>
            <a:off x="411480" y="29443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C9B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✅  F1-Score 목적함수 자율 최적화</a:t>
            </a:r>
            <a:endParaRPr lang="en-US" sz="1400" dirty="0">
              <a:latin typeface="Noto Sans KR" panose="020B0200000000000000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11480" y="335346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AI가 Validation Set을 직접 평가하며
</a:t>
            </a:r>
            <a:r>
              <a:rPr lang="en-US" sz="1150" b="1" dirty="0">
                <a:solidFill>
                  <a:srgbClr val="00C9B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정밀도(Precision) + 재현율(Recall)</a:t>
            </a:r>
            <a:r>
              <a:rPr lang="en-US" sz="1150" dirty="0">
                <a:solidFill>
                  <a:srgbClr val="CBD5E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의</a:t>
            </a:r>
            <a:endParaRPr lang="en-US" sz="1150" dirty="0">
              <a:latin typeface="Noto Sans KR" panose="020B0200000000000000" pitchFamily="50" charset="-127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균형점(F1 최대)을 자율 탐색</a:t>
            </a:r>
            <a:endParaRPr lang="en-US" sz="1150" dirty="0">
              <a:latin typeface="Noto Sans KR" panose="020B0200000000000000" pitchFamily="50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11480" y="4224528"/>
            <a:ext cx="3657600" cy="457200"/>
          </a:xfrm>
          <a:prstGeom prst="rect">
            <a:avLst/>
          </a:prstGeom>
          <a:solidFill>
            <a:srgbClr val="0A2A20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Text 13"/>
          <p:cNvSpPr/>
          <p:nvPr/>
        </p:nvSpPr>
        <p:spPr>
          <a:xfrm>
            <a:off x="457200" y="424281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9B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최적 임계값  →  0.20  (AI 자율 탐색 결과)</a:t>
            </a:r>
            <a:endParaRPr lang="en-US" sz="1300" dirty="0">
              <a:latin typeface="Noto Sans KR" panose="020B0200000000000000" pitchFamily="50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389120" y="868680"/>
            <a:ext cx="4480560" cy="3931920"/>
          </a:xfrm>
          <a:prstGeom prst="rect">
            <a:avLst/>
          </a:prstGeom>
          <a:solidFill>
            <a:srgbClr val="122040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17" name="Text 15"/>
          <p:cNvSpPr/>
          <p:nvPr/>
        </p:nvSpPr>
        <p:spPr>
          <a:xfrm>
            <a:off x="4526280" y="93268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93C5F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임계값 탐색 과정 (개념도)</a:t>
            </a:r>
            <a:endParaRPr lang="en-US" sz="1400" dirty="0">
              <a:latin typeface="Noto Sans KR" panose="020B0200000000000000" pitchFamily="50" charset="-127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572000" y="4297680"/>
            <a:ext cx="336665" cy="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9" name="Text 17"/>
          <p:cNvSpPr/>
          <p:nvPr/>
        </p:nvSpPr>
        <p:spPr>
          <a:xfrm>
            <a:off x="4526280" y="4315968"/>
            <a:ext cx="4281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0</a:t>
            </a:r>
            <a:endParaRPr lang="en-US" sz="800" dirty="0">
              <a:latin typeface="Noto Sans KR" panose="020B0200000000000000" pitchFamily="50" charset="-127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954385" y="2454250"/>
            <a:ext cx="336665" cy="184343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1" name="Text 19"/>
          <p:cNvSpPr/>
          <p:nvPr/>
        </p:nvSpPr>
        <p:spPr>
          <a:xfrm>
            <a:off x="4908665" y="4315968"/>
            <a:ext cx="4281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0.1</a:t>
            </a:r>
            <a:endParaRPr lang="en-US" sz="800" dirty="0">
              <a:latin typeface="Noto Sans KR" panose="020B0200000000000000" pitchFamily="50" charset="-127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336771" y="1942186"/>
            <a:ext cx="336665" cy="235549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3" name="Text 21"/>
          <p:cNvSpPr/>
          <p:nvPr/>
        </p:nvSpPr>
        <p:spPr>
          <a:xfrm>
            <a:off x="5291051" y="4315968"/>
            <a:ext cx="4281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C9B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0.2</a:t>
            </a:r>
            <a:endParaRPr lang="en-US" sz="800" dirty="0">
              <a:latin typeface="Noto Sans KR" panose="020B0200000000000000" pitchFamily="50" charset="-127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719156" y="2121408"/>
            <a:ext cx="336665" cy="217627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5" name="Text 23"/>
          <p:cNvSpPr/>
          <p:nvPr/>
        </p:nvSpPr>
        <p:spPr>
          <a:xfrm>
            <a:off x="5673436" y="4315968"/>
            <a:ext cx="4281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0.3</a:t>
            </a:r>
            <a:endParaRPr lang="en-US" sz="800" dirty="0">
              <a:latin typeface="Noto Sans KR" panose="020B0200000000000000" pitchFamily="50" charset="-127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101542" y="2300630"/>
            <a:ext cx="336665" cy="199705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7" name="Text 25"/>
          <p:cNvSpPr/>
          <p:nvPr/>
        </p:nvSpPr>
        <p:spPr>
          <a:xfrm>
            <a:off x="6055822" y="4315968"/>
            <a:ext cx="4281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0.4</a:t>
            </a:r>
            <a:endParaRPr lang="en-US" sz="800" dirty="0">
              <a:latin typeface="Noto Sans KR" panose="020B0200000000000000" pitchFamily="50" charset="-127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483927" y="2633472"/>
            <a:ext cx="336665" cy="166420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9" name="Text 27"/>
          <p:cNvSpPr/>
          <p:nvPr/>
        </p:nvSpPr>
        <p:spPr>
          <a:xfrm>
            <a:off x="6438207" y="4315968"/>
            <a:ext cx="4281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0.5</a:t>
            </a:r>
            <a:endParaRPr lang="en-US" sz="800" dirty="0">
              <a:latin typeface="Noto Sans KR" panose="020B0200000000000000" pitchFamily="50" charset="-127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866313" y="2966314"/>
            <a:ext cx="336665" cy="133136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1" name="Text 29"/>
          <p:cNvSpPr/>
          <p:nvPr/>
        </p:nvSpPr>
        <p:spPr>
          <a:xfrm>
            <a:off x="6820593" y="4315968"/>
            <a:ext cx="4281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0.6</a:t>
            </a:r>
            <a:endParaRPr lang="en-US" sz="800" dirty="0">
              <a:latin typeface="Noto Sans KR" panose="020B0200000000000000" pitchFamily="50" charset="-127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7248698" y="3273552"/>
            <a:ext cx="336665" cy="102412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3" name="Text 31"/>
          <p:cNvSpPr/>
          <p:nvPr/>
        </p:nvSpPr>
        <p:spPr>
          <a:xfrm>
            <a:off x="7202978" y="4315968"/>
            <a:ext cx="4281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0.7</a:t>
            </a:r>
            <a:endParaRPr lang="en-US" sz="800" dirty="0">
              <a:latin typeface="Noto Sans KR" panose="020B0200000000000000" pitchFamily="50" charset="-127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7631084" y="3657600"/>
            <a:ext cx="336665" cy="64008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5" name="Text 33"/>
          <p:cNvSpPr/>
          <p:nvPr/>
        </p:nvSpPr>
        <p:spPr>
          <a:xfrm>
            <a:off x="7585364" y="4315968"/>
            <a:ext cx="4281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0.8</a:t>
            </a:r>
            <a:endParaRPr lang="en-US" sz="800" dirty="0">
              <a:latin typeface="Noto Sans KR" panose="020B0200000000000000" pitchFamily="50" charset="-127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8013469" y="4041648"/>
            <a:ext cx="336665" cy="2560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7" name="Text 35"/>
          <p:cNvSpPr/>
          <p:nvPr/>
        </p:nvSpPr>
        <p:spPr>
          <a:xfrm>
            <a:off x="7967749" y="4315968"/>
            <a:ext cx="4281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0.9</a:t>
            </a:r>
            <a:endParaRPr lang="en-US" sz="800" dirty="0">
              <a:latin typeface="Noto Sans KR" panose="020B0200000000000000" pitchFamily="50" charset="-127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8395855" y="4297680"/>
            <a:ext cx="336665" cy="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9" name="Text 37"/>
          <p:cNvSpPr/>
          <p:nvPr/>
        </p:nvSpPr>
        <p:spPr>
          <a:xfrm>
            <a:off x="8350135" y="4315968"/>
            <a:ext cx="4281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1</a:t>
            </a:r>
            <a:endParaRPr lang="en-US" sz="800" dirty="0">
              <a:latin typeface="Noto Sans KR" panose="020B0200000000000000" pitchFamily="50" charset="-127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4526280" y="459028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→ 임계값</a:t>
            </a:r>
            <a:endParaRPr lang="en-US" sz="900" dirty="0">
              <a:latin typeface="Noto Sans KR" panose="020B0200000000000000" pitchFamily="50" charset="-127"/>
            </a:endParaRPr>
          </a:p>
        </p:txBody>
      </p:sp>
      <p:sp>
        <p:nvSpPr>
          <p:cNvPr id="41" name="Text 39"/>
          <p:cNvSpPr/>
          <p:nvPr/>
        </p:nvSpPr>
        <p:spPr>
          <a:xfrm rot="5400000">
            <a:off x="4235441" y="2609192"/>
            <a:ext cx="755703" cy="3594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F1-Score↑</a:t>
            </a:r>
            <a:endParaRPr lang="en-US" sz="900" dirty="0">
              <a:latin typeface="Noto Sans KR" panose="020B0200000000000000" pitchFamily="50" charset="-127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4510770" y="1664208"/>
            <a:ext cx="27432" cy="2633472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3" name="Text 41"/>
          <p:cNvSpPr/>
          <p:nvPr/>
        </p:nvSpPr>
        <p:spPr>
          <a:xfrm>
            <a:off x="5074920" y="1371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9B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최적 0.20</a:t>
            </a:r>
            <a:endParaRPr lang="en-US" sz="900" dirty="0">
              <a:latin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22040"/>
          </a:solidFill>
          <a:ln w="12700">
            <a:solidFill>
              <a:srgbClr val="122040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Text 2"/>
          <p:cNvSpPr/>
          <p:nvPr/>
        </p:nvSpPr>
        <p:spPr>
          <a:xfrm>
            <a:off x="182880" y="9144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08  10회 난수 교차 반복 강건성 검증 결과</a:t>
            </a:r>
            <a:endParaRPr lang="en-US" sz="2200" dirty="0">
              <a:latin typeface="Noto Sans KR" panose="020B0200000000000000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2697480" cy="1280160"/>
          </a:xfrm>
          <a:prstGeom prst="rect">
            <a:avLst/>
          </a:prstGeom>
          <a:solidFill>
            <a:srgbClr val="0A1E3C"/>
          </a:solidFill>
          <a:ln w="12700">
            <a:solidFill>
              <a:srgbClr val="1A73E8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Text 4"/>
          <p:cNvSpPr/>
          <p:nvPr/>
        </p:nvSpPr>
        <p:spPr>
          <a:xfrm>
            <a:off x="274320" y="96012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A73E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90.2%</a:t>
            </a:r>
            <a:endParaRPr lang="en-US" sz="3800" dirty="0">
              <a:latin typeface="Noto Sans KR" panose="020B0200000000000000" pitchFamily="50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274320" y="166420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평균 정밀도</a:t>
            </a:r>
            <a:endParaRPr lang="en-US" sz="1100" dirty="0">
              <a:latin typeface="Noto Sans KR" panose="020B0200000000000000" pitchFamily="50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274320" y="1920240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Precision Avg.</a:t>
            </a:r>
            <a:endParaRPr lang="en-US" sz="900" dirty="0">
              <a:latin typeface="Noto Sans KR" panose="020B0200000000000000" pitchFamily="50" charset="-127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154680" y="868680"/>
            <a:ext cx="2697480" cy="1280160"/>
          </a:xfrm>
          <a:prstGeom prst="rect">
            <a:avLst/>
          </a:prstGeom>
          <a:solidFill>
            <a:srgbClr val="071A18"/>
          </a:solidFill>
          <a:ln w="12700">
            <a:solidFill>
              <a:srgbClr val="00C9B1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10" name="Text 8"/>
          <p:cNvSpPr/>
          <p:nvPr/>
        </p:nvSpPr>
        <p:spPr>
          <a:xfrm>
            <a:off x="3154680" y="96012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0C9B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93.5%</a:t>
            </a:r>
            <a:endParaRPr lang="en-US" sz="3800" dirty="0">
              <a:latin typeface="Noto Sans KR" panose="020B0200000000000000" pitchFamily="50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154680" y="166420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평균 재현율</a:t>
            </a:r>
            <a:endParaRPr lang="en-US" sz="1100" dirty="0">
              <a:latin typeface="Noto Sans KR" panose="020B0200000000000000" pitchFamily="50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154680" y="1920240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Recall Avg.</a:t>
            </a:r>
            <a:endParaRPr lang="en-US" sz="900" dirty="0">
              <a:latin typeface="Noto Sans KR" panose="020B0200000000000000" pitchFamily="50" charset="-127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035040" y="868680"/>
            <a:ext cx="2697480" cy="1280160"/>
          </a:xfrm>
          <a:prstGeom prst="rect">
            <a:avLst/>
          </a:prstGeom>
          <a:solidFill>
            <a:srgbClr val="1A0A0A"/>
          </a:solidFill>
          <a:ln w="12700">
            <a:solidFill>
              <a:srgbClr val="EF4444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14" name="Text 12"/>
          <p:cNvSpPr/>
          <p:nvPr/>
        </p:nvSpPr>
        <p:spPr>
          <a:xfrm>
            <a:off x="6035040" y="96012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F44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0%</a:t>
            </a:r>
            <a:endParaRPr lang="en-US" sz="3800" dirty="0">
              <a:latin typeface="Noto Sans KR" panose="020B0200000000000000" pitchFamily="50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035040" y="166420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RF 재현율</a:t>
            </a:r>
            <a:endParaRPr lang="en-US" sz="1100" dirty="0">
              <a:latin typeface="Noto Sans KR" panose="020B0200000000000000" pitchFamily="50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035040" y="1920240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Random Forest (10회 모두)</a:t>
            </a:r>
            <a:endParaRPr lang="en-US" sz="900" dirty="0">
              <a:latin typeface="Noto Sans KR" panose="020B0200000000000000" pitchFamily="50" charset="-12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74320" y="2286000"/>
            <a:ext cx="8595360" cy="384048"/>
          </a:xfrm>
          <a:prstGeom prst="rect">
            <a:avLst/>
          </a:prstGeom>
          <a:solidFill>
            <a:srgbClr val="0A2840"/>
          </a:solidFill>
          <a:ln w="12700">
            <a:solidFill>
              <a:srgbClr val="0A2840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8" name="Text 16"/>
          <p:cNvSpPr/>
          <p:nvPr/>
        </p:nvSpPr>
        <p:spPr>
          <a:xfrm>
            <a:off x="365760" y="230428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B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실험</a:t>
            </a:r>
            <a:endParaRPr lang="en-US" sz="1100" dirty="0">
              <a:latin typeface="Noto Sans KR" panose="020B0200000000000000" pitchFamily="50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14400" y="23042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B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모델</a:t>
            </a:r>
            <a:endParaRPr lang="en-US" sz="1100" dirty="0">
              <a:latin typeface="Noto Sans KR" panose="020B0200000000000000" pitchFamily="50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743200" y="230428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B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Precision</a:t>
            </a:r>
            <a:endParaRPr lang="en-US" sz="1100" dirty="0">
              <a:latin typeface="Noto Sans KR" panose="020B0200000000000000" pitchFamily="50" charset="-127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023360" y="230428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B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Recall</a:t>
            </a:r>
            <a:endParaRPr lang="en-US" sz="1100" dirty="0">
              <a:latin typeface="Noto Sans KR" panose="020B0200000000000000" pitchFamily="50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303520" y="230428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B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F1-Score</a:t>
            </a:r>
            <a:endParaRPr lang="en-US" sz="1100" dirty="0">
              <a:latin typeface="Noto Sans KR" panose="020B0200000000000000" pitchFamily="50" charset="-127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583680" y="230428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B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판정</a:t>
            </a:r>
            <a:endParaRPr lang="en-US" sz="1100" dirty="0">
              <a:latin typeface="Noto Sans KR" panose="020B0200000000000000" pitchFamily="50" charset="-127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274320" y="2697480"/>
            <a:ext cx="8595360" cy="320040"/>
          </a:xfrm>
          <a:prstGeom prst="rect">
            <a:avLst/>
          </a:prstGeom>
          <a:solidFill>
            <a:srgbClr val="071828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5" name="Text 23"/>
          <p:cNvSpPr/>
          <p:nvPr/>
        </p:nvSpPr>
        <p:spPr>
          <a:xfrm>
            <a:off x="365760" y="27157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2E8F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1</a:t>
            </a:r>
            <a:endParaRPr lang="en-US" sz="1050" dirty="0">
              <a:latin typeface="Noto Sans KR" panose="020B0200000000000000" pitchFamily="50" charset="-127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914400" y="27157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2E8F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Bi-LSTM</a:t>
            </a:r>
            <a:endParaRPr lang="en-US" sz="1050" dirty="0">
              <a:latin typeface="Noto Sans KR" panose="020B0200000000000000" pitchFamily="50" charset="-127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2743200" y="27157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2E8F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91%</a:t>
            </a:r>
            <a:endParaRPr lang="en-US" sz="1050" dirty="0">
              <a:latin typeface="Noto Sans KR" panose="020B0200000000000000" pitchFamily="50" charset="-127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023360" y="27157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2E8F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94%</a:t>
            </a:r>
            <a:endParaRPr lang="en-US" sz="1050" dirty="0">
              <a:latin typeface="Noto Sans KR" panose="020B0200000000000000" pitchFamily="50" charset="-127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303520" y="27157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2E8F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92%</a:t>
            </a:r>
            <a:endParaRPr lang="en-US" sz="1050" dirty="0">
              <a:latin typeface="Noto Sans KR" panose="020B0200000000000000" pitchFamily="50" charset="-127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583680" y="2715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B98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✅ 통과</a:t>
            </a:r>
            <a:endParaRPr lang="en-US" sz="1050" dirty="0">
              <a:latin typeface="Noto Sans KR" panose="020B0200000000000000" pitchFamily="50" charset="-127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274320" y="3035808"/>
            <a:ext cx="8595360" cy="320040"/>
          </a:xfrm>
          <a:prstGeom prst="rect">
            <a:avLst/>
          </a:prstGeom>
          <a:solidFill>
            <a:srgbClr val="0A1E30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2" name="Text 30"/>
          <p:cNvSpPr/>
          <p:nvPr/>
        </p:nvSpPr>
        <p:spPr>
          <a:xfrm>
            <a:off x="365760" y="305409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2E8F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2</a:t>
            </a:r>
            <a:endParaRPr lang="en-US" sz="1050" dirty="0">
              <a:latin typeface="Noto Sans KR" panose="020B0200000000000000" pitchFamily="50" charset="-127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914400" y="30540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2E8F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Bi-LSTM</a:t>
            </a:r>
            <a:endParaRPr lang="en-US" sz="1050" dirty="0">
              <a:latin typeface="Noto Sans KR" panose="020B0200000000000000" pitchFamily="50" charset="-127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2743200" y="30540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2E8F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89%</a:t>
            </a:r>
            <a:endParaRPr lang="en-US" sz="1050" dirty="0">
              <a:latin typeface="Noto Sans KR" panose="020B0200000000000000" pitchFamily="50" charset="-127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023360" y="30540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2E8F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93%</a:t>
            </a:r>
            <a:endParaRPr lang="en-US" sz="1050" dirty="0">
              <a:latin typeface="Noto Sans KR" panose="020B0200000000000000" pitchFamily="50" charset="-127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303520" y="30540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2E8F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91%</a:t>
            </a:r>
            <a:endParaRPr lang="en-US" sz="1050" dirty="0">
              <a:latin typeface="Noto Sans KR" panose="020B0200000000000000" pitchFamily="50" charset="-127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583680" y="30540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B98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✅ 통과</a:t>
            </a:r>
            <a:endParaRPr lang="en-US" sz="1050" dirty="0">
              <a:latin typeface="Noto Sans KR" panose="020B0200000000000000" pitchFamily="50" charset="-127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274320" y="3374136"/>
            <a:ext cx="8595360" cy="320040"/>
          </a:xfrm>
          <a:prstGeom prst="rect">
            <a:avLst/>
          </a:prstGeom>
          <a:solidFill>
            <a:srgbClr val="071828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9" name="Text 37"/>
          <p:cNvSpPr/>
          <p:nvPr/>
        </p:nvSpPr>
        <p:spPr>
          <a:xfrm>
            <a:off x="365760" y="33924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2E8F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3</a:t>
            </a:r>
            <a:endParaRPr lang="en-US" sz="1050" dirty="0">
              <a:latin typeface="Noto Sans KR" panose="020B0200000000000000" pitchFamily="50" charset="-127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914400" y="33924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2E8F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Bi-LSTM</a:t>
            </a:r>
            <a:endParaRPr lang="en-US" sz="1050" dirty="0">
              <a:latin typeface="Noto Sans KR" panose="020B0200000000000000" pitchFamily="50" charset="-127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2743200" y="339242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2E8F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92%</a:t>
            </a:r>
            <a:endParaRPr lang="en-US" sz="1050" dirty="0">
              <a:latin typeface="Noto Sans KR" panose="020B0200000000000000" pitchFamily="50" charset="-127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4023360" y="339242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2E8F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95%</a:t>
            </a:r>
            <a:endParaRPr lang="en-US" sz="1050" dirty="0">
              <a:latin typeface="Noto Sans KR" panose="020B0200000000000000" pitchFamily="50" charset="-127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5303520" y="339242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2E8F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93%</a:t>
            </a:r>
            <a:endParaRPr lang="en-US" sz="1050" dirty="0">
              <a:latin typeface="Noto Sans KR" panose="020B0200000000000000" pitchFamily="50" charset="-127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6583680" y="339242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B98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✅ 통과</a:t>
            </a:r>
            <a:endParaRPr lang="en-US" sz="1050" dirty="0">
              <a:latin typeface="Noto Sans KR" panose="020B0200000000000000" pitchFamily="50" charset="-127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274320" y="3712464"/>
            <a:ext cx="8595360" cy="320040"/>
          </a:xfrm>
          <a:prstGeom prst="rect">
            <a:avLst/>
          </a:prstGeom>
          <a:solidFill>
            <a:srgbClr val="0A1E30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6" name="Text 44"/>
          <p:cNvSpPr/>
          <p:nvPr/>
        </p:nvSpPr>
        <p:spPr>
          <a:xfrm>
            <a:off x="365760" y="37307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2E8F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4</a:t>
            </a:r>
            <a:endParaRPr lang="en-US" sz="1050" dirty="0">
              <a:latin typeface="Noto Sans KR" panose="020B0200000000000000" pitchFamily="50" charset="-127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914400" y="3730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2E8F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Bi-LSTM</a:t>
            </a:r>
            <a:endParaRPr lang="en-US" sz="1050" dirty="0">
              <a:latin typeface="Noto Sans KR" panose="020B0200000000000000" pitchFamily="50" charset="-127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2743200" y="37307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2E8F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90%</a:t>
            </a:r>
            <a:endParaRPr lang="en-US" sz="1050" dirty="0">
              <a:latin typeface="Noto Sans KR" panose="020B0200000000000000" pitchFamily="50" charset="-127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4023360" y="37307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2E8F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92%</a:t>
            </a:r>
            <a:endParaRPr lang="en-US" sz="1050" dirty="0">
              <a:latin typeface="Noto Sans KR" panose="020B0200000000000000" pitchFamily="50" charset="-127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5303520" y="37307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2E8F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91%</a:t>
            </a:r>
            <a:endParaRPr lang="en-US" sz="1050" dirty="0">
              <a:latin typeface="Noto Sans KR" panose="020B0200000000000000" pitchFamily="50" charset="-127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6583680" y="37307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B98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✅ 통과</a:t>
            </a:r>
            <a:endParaRPr lang="en-US" sz="1050" dirty="0">
              <a:latin typeface="Noto Sans KR" panose="020B0200000000000000" pitchFamily="50" charset="-127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274320" y="4050792"/>
            <a:ext cx="8595360" cy="320040"/>
          </a:xfrm>
          <a:prstGeom prst="rect">
            <a:avLst/>
          </a:prstGeom>
          <a:solidFill>
            <a:srgbClr val="071828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3" name="Text 51"/>
          <p:cNvSpPr/>
          <p:nvPr/>
        </p:nvSpPr>
        <p:spPr>
          <a:xfrm>
            <a:off x="365760" y="4069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2E8F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5</a:t>
            </a:r>
            <a:endParaRPr lang="en-US" sz="1050" dirty="0">
              <a:latin typeface="Noto Sans KR" panose="020B0200000000000000" pitchFamily="50" charset="-127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914400" y="4069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2E8F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Bi-LSTM</a:t>
            </a:r>
            <a:endParaRPr lang="en-US" sz="1050" dirty="0">
              <a:latin typeface="Noto Sans KR" panose="020B0200000000000000" pitchFamily="50" charset="-127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2743200" y="4069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2E8F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88%</a:t>
            </a:r>
            <a:endParaRPr lang="en-US" sz="1050" dirty="0">
              <a:latin typeface="Noto Sans KR" panose="020B0200000000000000" pitchFamily="50" charset="-127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4023360" y="4069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2E8F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94%</a:t>
            </a:r>
            <a:endParaRPr lang="en-US" sz="1050" dirty="0">
              <a:latin typeface="Noto Sans KR" panose="020B0200000000000000" pitchFamily="50" charset="-127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5303520" y="4069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2E8F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91%</a:t>
            </a:r>
            <a:endParaRPr lang="en-US" sz="1050" dirty="0">
              <a:latin typeface="Noto Sans KR" panose="020B0200000000000000" pitchFamily="50" charset="-127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6583680" y="4069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B98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✅ 통과</a:t>
            </a:r>
            <a:endParaRPr lang="en-US" sz="1050" dirty="0">
              <a:latin typeface="Noto Sans KR" panose="020B0200000000000000" pitchFamily="50" charset="-127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274320" y="4389120"/>
            <a:ext cx="8595360" cy="320040"/>
          </a:xfrm>
          <a:prstGeom prst="rect">
            <a:avLst/>
          </a:prstGeom>
          <a:solidFill>
            <a:srgbClr val="220E0E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60" name="Text 58"/>
          <p:cNvSpPr/>
          <p:nvPr/>
        </p:nvSpPr>
        <p:spPr>
          <a:xfrm>
            <a:off x="365760" y="44074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2E8F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6</a:t>
            </a:r>
            <a:endParaRPr lang="en-US" sz="1050" dirty="0">
              <a:latin typeface="Noto Sans KR" panose="020B0200000000000000" pitchFamily="50" charset="-127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914400" y="44074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2E8F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RF</a:t>
            </a:r>
            <a:endParaRPr lang="en-US" sz="1050" dirty="0">
              <a:latin typeface="Noto Sans KR" panose="020B0200000000000000" pitchFamily="50" charset="-127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2743200" y="44074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F44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99%</a:t>
            </a:r>
            <a:endParaRPr lang="en-US" sz="1050" dirty="0">
              <a:latin typeface="Noto Sans KR" panose="020B0200000000000000" pitchFamily="50" charset="-127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4023360" y="44074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F44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0%</a:t>
            </a:r>
            <a:endParaRPr lang="en-US" sz="1050" dirty="0">
              <a:latin typeface="Noto Sans KR" panose="020B0200000000000000" pitchFamily="50" charset="-127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5303520" y="44074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F44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0%</a:t>
            </a:r>
            <a:endParaRPr lang="en-US" sz="1050" dirty="0">
              <a:latin typeface="Noto Sans KR" panose="020B0200000000000000" pitchFamily="50" charset="-127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6583680" y="44074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F44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❌ 붕괴</a:t>
            </a:r>
            <a:endParaRPr lang="en-US" sz="1050" dirty="0">
              <a:latin typeface="Noto Sans KR" panose="020B0200000000000000" pitchFamily="50" charset="-127"/>
            </a:endParaRPr>
          </a:p>
        </p:txBody>
      </p:sp>
      <p:sp>
        <p:nvSpPr>
          <p:cNvPr id="66" name="Shape 64"/>
          <p:cNvSpPr/>
          <p:nvPr/>
        </p:nvSpPr>
        <p:spPr>
          <a:xfrm>
            <a:off x="274320" y="4727448"/>
            <a:ext cx="8595360" cy="320040"/>
          </a:xfrm>
          <a:prstGeom prst="rect">
            <a:avLst/>
          </a:prstGeom>
          <a:solidFill>
            <a:srgbClr val="1A0A0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67" name="Text 65"/>
          <p:cNvSpPr/>
          <p:nvPr/>
        </p:nvSpPr>
        <p:spPr>
          <a:xfrm>
            <a:off x="365760" y="47457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2E8F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7</a:t>
            </a:r>
            <a:endParaRPr lang="en-US" sz="1050" dirty="0">
              <a:latin typeface="Noto Sans KR" panose="020B0200000000000000" pitchFamily="50" charset="-127"/>
            </a:endParaRPr>
          </a:p>
        </p:txBody>
      </p:sp>
      <p:sp>
        <p:nvSpPr>
          <p:cNvPr id="68" name="Text 66"/>
          <p:cNvSpPr/>
          <p:nvPr/>
        </p:nvSpPr>
        <p:spPr>
          <a:xfrm>
            <a:off x="914400" y="47457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2E8F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RF</a:t>
            </a:r>
            <a:endParaRPr lang="en-US" sz="1050" dirty="0">
              <a:latin typeface="Noto Sans KR" panose="020B0200000000000000" pitchFamily="50" charset="-127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2743200" y="47457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F44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0%</a:t>
            </a:r>
            <a:endParaRPr lang="en-US" sz="1050" dirty="0">
              <a:latin typeface="Noto Sans KR" panose="020B0200000000000000" pitchFamily="50" charset="-127"/>
            </a:endParaRPr>
          </a:p>
        </p:txBody>
      </p:sp>
      <p:sp>
        <p:nvSpPr>
          <p:cNvPr id="70" name="Text 68"/>
          <p:cNvSpPr/>
          <p:nvPr/>
        </p:nvSpPr>
        <p:spPr>
          <a:xfrm>
            <a:off x="4023360" y="47457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F44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0%</a:t>
            </a:r>
            <a:endParaRPr lang="en-US" sz="1050" dirty="0">
              <a:latin typeface="Noto Sans KR" panose="020B0200000000000000" pitchFamily="50" charset="-127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5303520" y="47457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F44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0%</a:t>
            </a:r>
            <a:endParaRPr lang="en-US" sz="1050" dirty="0">
              <a:latin typeface="Noto Sans KR" panose="020B0200000000000000" pitchFamily="50" charset="-127"/>
            </a:endParaRPr>
          </a:p>
        </p:txBody>
      </p:sp>
      <p:sp>
        <p:nvSpPr>
          <p:cNvPr id="72" name="Text 70"/>
          <p:cNvSpPr/>
          <p:nvPr/>
        </p:nvSpPr>
        <p:spPr>
          <a:xfrm>
            <a:off x="6583680" y="474573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F44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❌ 붕괴</a:t>
            </a:r>
            <a:endParaRPr lang="en-US" sz="1050" dirty="0">
              <a:latin typeface="Noto Sans KR" panose="020B0200000000000000" pitchFamily="50" charset="-127"/>
            </a:endParaRPr>
          </a:p>
        </p:txBody>
      </p:sp>
      <p:sp>
        <p:nvSpPr>
          <p:cNvPr id="73" name="Shape 71"/>
          <p:cNvSpPr/>
          <p:nvPr/>
        </p:nvSpPr>
        <p:spPr>
          <a:xfrm>
            <a:off x="274320" y="4681728"/>
            <a:ext cx="8595360" cy="347472"/>
          </a:xfrm>
          <a:prstGeom prst="rect">
            <a:avLst/>
          </a:prstGeom>
          <a:solidFill>
            <a:srgbClr val="071528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74" name="Text 72"/>
          <p:cNvSpPr/>
          <p:nvPr/>
        </p:nvSpPr>
        <p:spPr>
          <a:xfrm>
            <a:off x="411480" y="4700016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C9B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★  RF는 10회 전패 — Bi-LSTM은 10회 연속 F1 90%+ 철벽 방어 → 모델 강건성(Robustness) 완벽 입증</a:t>
            </a:r>
            <a:endParaRPr lang="en-US" sz="1100" dirty="0">
              <a:latin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22040"/>
          </a:solidFill>
          <a:ln w="12700">
            <a:solidFill>
              <a:srgbClr val="122040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7772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Text 2"/>
          <p:cNvSpPr/>
          <p:nvPr/>
        </p:nvSpPr>
        <p:spPr>
          <a:xfrm>
            <a:off x="182880" y="9144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09  XAI 기반 핵심 Killer Gas 규명</a:t>
            </a:r>
            <a:endParaRPr lang="en-US" sz="2200" dirty="0">
              <a:latin typeface="Noto Sans KR" panose="020B0200000000000000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769280"/>
            <a:ext cx="8595360" cy="685800"/>
          </a:xfrm>
          <a:prstGeom prst="rect">
            <a:avLst/>
          </a:prstGeom>
          <a:solidFill>
            <a:srgbClr val="122040"/>
          </a:solidFill>
          <a:ln w="12700">
            <a:solidFill>
              <a:srgbClr val="3A1A6B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7875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🔬  L1 정규화 → 기여도 없는 가스 센서 가중치 0 강제 소거 → 핵심 변수만 생존</a:t>
            </a:r>
            <a:endParaRPr lang="en-US" sz="1200" dirty="0">
              <a:latin typeface="Noto Sans KR" panose="020B0200000000000000" pitchFamily="50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274320" y="156480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3C5F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가스별 필터 수명 단축 기여도 (L1 가중치 정규화)</a:t>
            </a:r>
            <a:endParaRPr lang="en-US" sz="1300" dirty="0">
              <a:latin typeface="Noto Sans KR" panose="020B0200000000000000" pitchFamily="50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20040" y="2003720"/>
            <a:ext cx="2112264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9" name="Text 7"/>
          <p:cNvSpPr/>
          <p:nvPr/>
        </p:nvSpPr>
        <p:spPr>
          <a:xfrm>
            <a:off x="324408" y="2012864"/>
            <a:ext cx="2036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162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NOx (질산) — 외부 OAC 유입</a:t>
            </a:r>
            <a:endParaRPr lang="en-US" sz="1000" dirty="0">
              <a:latin typeface="Noto Sans KR" panose="020B0200000000000000" pitchFamily="50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523744" y="202200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F44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42%</a:t>
            </a:r>
            <a:endParaRPr lang="en-US" sz="1100" dirty="0">
              <a:latin typeface="Noto Sans KR" panose="020B0200000000000000" pitchFamily="50" charset="-12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20040" y="2552360"/>
            <a:ext cx="176022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2" name="Text 10"/>
          <p:cNvSpPr/>
          <p:nvPr/>
        </p:nvSpPr>
        <p:spPr>
          <a:xfrm>
            <a:off x="324414" y="2570648"/>
            <a:ext cx="17657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162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F (불소) — 내부 공정 설비 누출</a:t>
            </a:r>
            <a:endParaRPr lang="en-US" sz="1000" dirty="0">
              <a:latin typeface="Noto Sans KR" panose="020B0200000000000000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171700" y="257064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9E0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35%</a:t>
            </a:r>
            <a:endParaRPr lang="en-US" sz="1100" dirty="0">
              <a:latin typeface="Noto Sans KR" panose="020B0200000000000000" pitchFamily="50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0040" y="3101000"/>
            <a:ext cx="603504" cy="38404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Text 13"/>
          <p:cNvSpPr/>
          <p:nvPr/>
        </p:nvSpPr>
        <p:spPr>
          <a:xfrm>
            <a:off x="319438" y="311928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SOx (아황산) — 외부 공기 오염</a:t>
            </a:r>
            <a:endParaRPr lang="en-US" sz="1100" dirty="0">
              <a:latin typeface="Noto Sans KR" panose="020B0200000000000000" pitchFamily="50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187809" y="311928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B923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12%</a:t>
            </a:r>
            <a:endParaRPr lang="en-US" sz="1100" dirty="0">
              <a:latin typeface="Noto Sans KR" panose="020B0200000000000000" pitchFamily="50" charset="-12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20040" y="3649640"/>
            <a:ext cx="301752" cy="384048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8" name="Text 16"/>
          <p:cNvSpPr/>
          <p:nvPr/>
        </p:nvSpPr>
        <p:spPr>
          <a:xfrm>
            <a:off x="319438" y="366792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NH3 (암모니아)</a:t>
            </a:r>
            <a:endParaRPr lang="en-US" sz="1100" dirty="0">
              <a:latin typeface="Noto Sans KR" panose="020B0200000000000000" pitchFamily="50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329462" y="366792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CD34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6%</a:t>
            </a:r>
            <a:endParaRPr lang="en-US" sz="1100" dirty="0">
              <a:latin typeface="Noto Sans KR" panose="020B0200000000000000" pitchFamily="50" charset="-127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20040" y="4198280"/>
            <a:ext cx="251460" cy="38404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1" name="Text 19"/>
          <p:cNvSpPr/>
          <p:nvPr/>
        </p:nvSpPr>
        <p:spPr>
          <a:xfrm>
            <a:off x="329283" y="4216568"/>
            <a:ext cx="10835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기타 이온 5종</a:t>
            </a:r>
            <a:endParaRPr lang="en-US" sz="1100" dirty="0">
              <a:latin typeface="Noto Sans KR" panose="020B0200000000000000" pitchFamily="50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179775" y="421656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5%</a:t>
            </a:r>
            <a:endParaRPr lang="en-US" sz="1100" dirty="0">
              <a:latin typeface="Noto Sans KR" panose="020B0200000000000000" pitchFamily="50" charset="-127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943600" y="1564808"/>
            <a:ext cx="2926080" cy="3017520"/>
          </a:xfrm>
          <a:prstGeom prst="rect">
            <a:avLst/>
          </a:prstGeom>
          <a:solidFill>
            <a:srgbClr val="122040"/>
          </a:solidFill>
          <a:ln w="12700">
            <a:solidFill>
              <a:srgbClr val="2A1A6B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24" name="Text 22"/>
          <p:cNvSpPr/>
          <p:nvPr/>
        </p:nvSpPr>
        <p:spPr>
          <a:xfrm>
            <a:off x="6080760" y="1637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78BF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🎯  현장 검증 일치</a:t>
            </a:r>
            <a:endParaRPr lang="en-US" sz="1400" dirty="0">
              <a:latin typeface="Noto Sans KR" panose="020B0200000000000000" pitchFamily="50" charset="-127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080760" y="2113448"/>
            <a:ext cx="320040" cy="3200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6" name="Text 24"/>
          <p:cNvSpPr/>
          <p:nvPr/>
        </p:nvSpPr>
        <p:spPr>
          <a:xfrm>
            <a:off x="6080760" y="2122592"/>
            <a:ext cx="320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1</a:t>
            </a:r>
            <a:endParaRPr lang="en-US" sz="1100" dirty="0">
              <a:latin typeface="Noto Sans KR" panose="020B0200000000000000" pitchFamily="50" charset="-127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473952" y="2095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AI 수학적 도출 결과 vs</a:t>
            </a:r>
            <a:endParaRPr lang="en-US" sz="1050" dirty="0">
              <a:latin typeface="Noto Sans KR" panose="020B0200000000000000" pitchFamily="50" charset="-127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현장 엔지니어 경험 완벽 일치</a:t>
            </a:r>
            <a:endParaRPr lang="en-US" sz="1050" dirty="0">
              <a:latin typeface="Noto Sans KR" panose="020B0200000000000000" pitchFamily="50" charset="-127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080760" y="2982128"/>
            <a:ext cx="320040" cy="3200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9" name="Text 27"/>
          <p:cNvSpPr/>
          <p:nvPr/>
        </p:nvSpPr>
        <p:spPr>
          <a:xfrm>
            <a:off x="6080760" y="2991272"/>
            <a:ext cx="320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2</a:t>
            </a:r>
            <a:endParaRPr lang="en-US" sz="1100" dirty="0">
              <a:latin typeface="Noto Sans KR" panose="020B0200000000000000" pitchFamily="50" charset="-127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473952" y="29638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PFAS 규제로 냉매가스 변경</a:t>
            </a:r>
            <a:endParaRPr lang="en-US" sz="1050" dirty="0">
              <a:latin typeface="Noto Sans KR" panose="020B0200000000000000" pitchFamily="50" charset="-127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→ F가스 농도 상승 트렌드 포착</a:t>
            </a:r>
            <a:endParaRPr lang="en-US" sz="1050" dirty="0">
              <a:latin typeface="Noto Sans KR" panose="020B0200000000000000" pitchFamily="50" charset="-127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080760" y="3850808"/>
            <a:ext cx="320040" cy="3200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2" name="Text 30"/>
          <p:cNvSpPr/>
          <p:nvPr/>
        </p:nvSpPr>
        <p:spPr>
          <a:xfrm>
            <a:off x="6080760" y="3859952"/>
            <a:ext cx="320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3</a:t>
            </a:r>
            <a:endParaRPr lang="en-US" sz="1100" dirty="0">
              <a:latin typeface="Noto Sans KR" panose="020B0200000000000000" pitchFamily="50" charset="-127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473952" y="3832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SOx·NOx·F 집중 감시</a:t>
            </a:r>
            <a:endParaRPr lang="en-US" sz="1050" dirty="0">
              <a:latin typeface="Noto Sans KR" panose="020B0200000000000000" pitchFamily="50" charset="-127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현업 프로세스 과학적 근거 제공</a:t>
            </a:r>
            <a:endParaRPr lang="en-US" sz="1050" dirty="0">
              <a:latin typeface="Noto Sans KR" panose="020B0200000000000000" pitchFamily="50" charset="-127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274320" y="4671788"/>
            <a:ext cx="8595360" cy="347472"/>
          </a:xfrm>
          <a:prstGeom prst="rect">
            <a:avLst/>
          </a:prstGeom>
          <a:solidFill>
            <a:srgbClr val="0A0A2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5" name="Text 33"/>
          <p:cNvSpPr/>
          <p:nvPr/>
        </p:nvSpPr>
        <p:spPr>
          <a:xfrm>
            <a:off x="411480" y="4690076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A78BF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🏆  AI와 도메인 전문가 지식이 소수점 단위로 일치 — 모델의 물리적 타당성 학술적 입증</a:t>
            </a:r>
            <a:endParaRPr lang="en-US" sz="1100" dirty="0">
              <a:latin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22040"/>
          </a:solidFill>
          <a:ln w="12700">
            <a:solidFill>
              <a:srgbClr val="122040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Text 2"/>
          <p:cNvSpPr/>
          <p:nvPr/>
        </p:nvSpPr>
        <p:spPr>
          <a:xfrm>
            <a:off x="182880" y="9144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10  4주 예지보전 조기경보 시뮬레이션</a:t>
            </a:r>
            <a:endParaRPr lang="en-US" sz="2200" dirty="0">
              <a:latin typeface="Noto Sans KR" panose="020B0200000000000000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3200400"/>
          </a:xfrm>
          <a:prstGeom prst="rect">
            <a:avLst/>
          </a:prstGeom>
          <a:solidFill>
            <a:srgbClr val="050E1A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Shape 4"/>
          <p:cNvSpPr/>
          <p:nvPr/>
        </p:nvSpPr>
        <p:spPr>
          <a:xfrm>
            <a:off x="6479438" y="960120"/>
            <a:ext cx="2298802" cy="3200400"/>
          </a:xfrm>
          <a:prstGeom prst="rect">
            <a:avLst/>
          </a:prstGeom>
          <a:solidFill>
            <a:srgbClr val="2D0A0A">
              <a:alpha val="70000"/>
            </a:srgbClr>
          </a:solidFill>
          <a:ln w="12700">
            <a:solidFill>
              <a:srgbClr val="2D0A0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7" name="Shape 5"/>
          <p:cNvSpPr/>
          <p:nvPr/>
        </p:nvSpPr>
        <p:spPr>
          <a:xfrm>
            <a:off x="365760" y="3520440"/>
            <a:ext cx="8412480" cy="0"/>
          </a:xfrm>
          <a:prstGeom prst="line">
            <a:avLst/>
          </a:prstGeom>
          <a:noFill/>
          <a:ln w="25400">
            <a:solidFill>
              <a:srgbClr val="00C9B1"/>
            </a:solidFill>
            <a:prstDash val="dash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8" name="Text 6"/>
          <p:cNvSpPr/>
          <p:nvPr/>
        </p:nvSpPr>
        <p:spPr>
          <a:xfrm>
            <a:off x="502920" y="328269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C9B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예측 임계값 = 0.20</a:t>
            </a:r>
            <a:endParaRPr lang="en-US" sz="900" dirty="0">
              <a:latin typeface="Noto Sans KR" panose="020B0200000000000000" pitchFamily="50" charset="-127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457877" y="960120"/>
            <a:ext cx="0" cy="3200400"/>
          </a:xfrm>
          <a:prstGeom prst="line">
            <a:avLst/>
          </a:prstGeom>
          <a:noFill/>
          <a:ln w="25400">
            <a:solidFill>
              <a:srgbClr val="F59E0B"/>
            </a:solidFill>
            <a:prstDash val="dash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0" name="Text 8"/>
          <p:cNvSpPr/>
          <p:nvPr/>
        </p:nvSpPr>
        <p:spPr>
          <a:xfrm>
            <a:off x="4562087" y="1097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59E0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D-28 조기 경보 발령</a:t>
            </a:r>
            <a:endParaRPr lang="en-US" sz="1000" dirty="0">
              <a:latin typeface="Noto Sans KR" panose="020B0200000000000000" pitchFamily="50" charset="-12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65760" y="4010972"/>
            <a:ext cx="210312" cy="37753"/>
          </a:xfrm>
          <a:prstGeom prst="line">
            <a:avLst/>
          </a:prstGeom>
          <a:noFill/>
          <a:ln w="381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2" name="Shape 10"/>
          <p:cNvSpPr/>
          <p:nvPr/>
        </p:nvSpPr>
        <p:spPr>
          <a:xfrm>
            <a:off x="576072" y="4048725"/>
            <a:ext cx="210312" cy="0"/>
          </a:xfrm>
          <a:prstGeom prst="line">
            <a:avLst/>
          </a:prstGeom>
          <a:noFill/>
          <a:ln w="381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3" name="Shape 11"/>
          <p:cNvSpPr/>
          <p:nvPr/>
        </p:nvSpPr>
        <p:spPr>
          <a:xfrm>
            <a:off x="786384" y="3991567"/>
            <a:ext cx="210312" cy="0"/>
          </a:xfrm>
          <a:prstGeom prst="line">
            <a:avLst/>
          </a:prstGeom>
          <a:noFill/>
          <a:ln w="381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4" name="Shape 12"/>
          <p:cNvSpPr/>
          <p:nvPr/>
        </p:nvSpPr>
        <p:spPr>
          <a:xfrm>
            <a:off x="996696" y="3985368"/>
            <a:ext cx="210312" cy="35188"/>
          </a:xfrm>
          <a:prstGeom prst="line">
            <a:avLst/>
          </a:prstGeom>
          <a:noFill/>
          <a:ln w="381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Shape 13"/>
          <p:cNvSpPr/>
          <p:nvPr/>
        </p:nvSpPr>
        <p:spPr>
          <a:xfrm>
            <a:off x="1207008" y="4020556"/>
            <a:ext cx="210312" cy="0"/>
          </a:xfrm>
          <a:prstGeom prst="line">
            <a:avLst/>
          </a:prstGeom>
          <a:noFill/>
          <a:ln w="381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6" name="Shape 14"/>
          <p:cNvSpPr/>
          <p:nvPr/>
        </p:nvSpPr>
        <p:spPr>
          <a:xfrm>
            <a:off x="1417320" y="3996167"/>
            <a:ext cx="210312" cy="10070"/>
          </a:xfrm>
          <a:prstGeom prst="line">
            <a:avLst/>
          </a:prstGeom>
          <a:noFill/>
          <a:ln w="381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7" name="Shape 15"/>
          <p:cNvSpPr/>
          <p:nvPr/>
        </p:nvSpPr>
        <p:spPr>
          <a:xfrm>
            <a:off x="1627632" y="4006237"/>
            <a:ext cx="210312" cy="2453"/>
          </a:xfrm>
          <a:prstGeom prst="line">
            <a:avLst/>
          </a:prstGeom>
          <a:noFill/>
          <a:ln w="381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8" name="Shape 16"/>
          <p:cNvSpPr/>
          <p:nvPr/>
        </p:nvSpPr>
        <p:spPr>
          <a:xfrm>
            <a:off x="1837944" y="4008690"/>
            <a:ext cx="210312" cy="33898"/>
          </a:xfrm>
          <a:prstGeom prst="line">
            <a:avLst/>
          </a:prstGeom>
          <a:noFill/>
          <a:ln w="381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9" name="Shape 17"/>
          <p:cNvSpPr/>
          <p:nvPr/>
        </p:nvSpPr>
        <p:spPr>
          <a:xfrm>
            <a:off x="2048256" y="4042588"/>
            <a:ext cx="210312" cy="17275"/>
          </a:xfrm>
          <a:prstGeom prst="line">
            <a:avLst/>
          </a:prstGeom>
          <a:noFill/>
          <a:ln w="381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0" name="Shape 18"/>
          <p:cNvSpPr/>
          <p:nvPr/>
        </p:nvSpPr>
        <p:spPr>
          <a:xfrm>
            <a:off x="2258568" y="4059863"/>
            <a:ext cx="210312" cy="0"/>
          </a:xfrm>
          <a:prstGeom prst="line">
            <a:avLst/>
          </a:prstGeom>
          <a:noFill/>
          <a:ln w="381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1" name="Shape 19"/>
          <p:cNvSpPr/>
          <p:nvPr/>
        </p:nvSpPr>
        <p:spPr>
          <a:xfrm>
            <a:off x="2468880" y="3975084"/>
            <a:ext cx="210312" cy="13502"/>
          </a:xfrm>
          <a:prstGeom prst="line">
            <a:avLst/>
          </a:prstGeom>
          <a:noFill/>
          <a:ln w="381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2" name="Shape 20"/>
          <p:cNvSpPr/>
          <p:nvPr/>
        </p:nvSpPr>
        <p:spPr>
          <a:xfrm>
            <a:off x="2679192" y="3988586"/>
            <a:ext cx="210312" cy="28041"/>
          </a:xfrm>
          <a:prstGeom prst="line">
            <a:avLst/>
          </a:prstGeom>
          <a:noFill/>
          <a:ln w="381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3" name="Shape 21"/>
          <p:cNvSpPr/>
          <p:nvPr/>
        </p:nvSpPr>
        <p:spPr>
          <a:xfrm>
            <a:off x="2889504" y="4016627"/>
            <a:ext cx="210312" cy="33720"/>
          </a:xfrm>
          <a:prstGeom prst="line">
            <a:avLst/>
          </a:prstGeom>
          <a:noFill/>
          <a:ln w="381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4" name="Shape 22"/>
          <p:cNvSpPr/>
          <p:nvPr/>
        </p:nvSpPr>
        <p:spPr>
          <a:xfrm>
            <a:off x="3099816" y="4050347"/>
            <a:ext cx="210312" cy="0"/>
          </a:xfrm>
          <a:prstGeom prst="line">
            <a:avLst/>
          </a:prstGeom>
          <a:noFill/>
          <a:ln w="381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5" name="Shape 23"/>
          <p:cNvSpPr/>
          <p:nvPr/>
        </p:nvSpPr>
        <p:spPr>
          <a:xfrm>
            <a:off x="3310128" y="3993602"/>
            <a:ext cx="210312" cy="0"/>
          </a:xfrm>
          <a:prstGeom prst="line">
            <a:avLst/>
          </a:prstGeom>
          <a:noFill/>
          <a:ln w="381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6" name="Shape 24"/>
          <p:cNvSpPr/>
          <p:nvPr/>
        </p:nvSpPr>
        <p:spPr>
          <a:xfrm>
            <a:off x="3520440" y="3979316"/>
            <a:ext cx="210312" cy="18765"/>
          </a:xfrm>
          <a:prstGeom prst="line">
            <a:avLst/>
          </a:prstGeom>
          <a:noFill/>
          <a:ln w="381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7" name="Shape 25"/>
          <p:cNvSpPr/>
          <p:nvPr/>
        </p:nvSpPr>
        <p:spPr>
          <a:xfrm>
            <a:off x="3730752" y="3998081"/>
            <a:ext cx="210312" cy="2339"/>
          </a:xfrm>
          <a:prstGeom prst="line">
            <a:avLst/>
          </a:prstGeom>
          <a:noFill/>
          <a:ln w="381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8" name="Shape 26"/>
          <p:cNvSpPr/>
          <p:nvPr/>
        </p:nvSpPr>
        <p:spPr>
          <a:xfrm>
            <a:off x="3941064" y="4000420"/>
            <a:ext cx="210312" cy="10526"/>
          </a:xfrm>
          <a:prstGeom prst="line">
            <a:avLst/>
          </a:prstGeom>
          <a:noFill/>
          <a:ln w="381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9" name="Shape 27"/>
          <p:cNvSpPr/>
          <p:nvPr/>
        </p:nvSpPr>
        <p:spPr>
          <a:xfrm>
            <a:off x="4151376" y="4010946"/>
            <a:ext cx="210312" cy="20484"/>
          </a:xfrm>
          <a:prstGeom prst="line">
            <a:avLst/>
          </a:prstGeom>
          <a:noFill/>
          <a:ln w="381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0" name="Shape 28"/>
          <p:cNvSpPr/>
          <p:nvPr/>
        </p:nvSpPr>
        <p:spPr>
          <a:xfrm>
            <a:off x="4361688" y="4031430"/>
            <a:ext cx="210312" cy="0"/>
          </a:xfrm>
          <a:prstGeom prst="line">
            <a:avLst/>
          </a:prstGeom>
          <a:noFill/>
          <a:ln w="381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1" name="Shape 29"/>
          <p:cNvSpPr/>
          <p:nvPr/>
        </p:nvSpPr>
        <p:spPr>
          <a:xfrm>
            <a:off x="4572000" y="3958010"/>
            <a:ext cx="210312" cy="25955"/>
          </a:xfrm>
          <a:prstGeom prst="line">
            <a:avLst/>
          </a:prstGeom>
          <a:noFill/>
          <a:ln w="381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2" name="Shape 30"/>
          <p:cNvSpPr/>
          <p:nvPr/>
        </p:nvSpPr>
        <p:spPr>
          <a:xfrm>
            <a:off x="4782312" y="3983965"/>
            <a:ext cx="210312" cy="0"/>
          </a:xfrm>
          <a:prstGeom prst="line">
            <a:avLst/>
          </a:prstGeom>
          <a:noFill/>
          <a:ln w="381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3" name="Shape 31"/>
          <p:cNvSpPr/>
          <p:nvPr/>
        </p:nvSpPr>
        <p:spPr>
          <a:xfrm>
            <a:off x="4992624" y="3979913"/>
            <a:ext cx="210312" cy="4124"/>
          </a:xfrm>
          <a:prstGeom prst="line">
            <a:avLst/>
          </a:prstGeom>
          <a:noFill/>
          <a:ln w="381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4" name="Shape 32"/>
          <p:cNvSpPr/>
          <p:nvPr/>
        </p:nvSpPr>
        <p:spPr>
          <a:xfrm>
            <a:off x="5202936" y="3984037"/>
            <a:ext cx="210312" cy="0"/>
          </a:xfrm>
          <a:prstGeom prst="line">
            <a:avLst/>
          </a:prstGeom>
          <a:noFill/>
          <a:ln w="381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5" name="Shape 33"/>
          <p:cNvSpPr/>
          <p:nvPr/>
        </p:nvSpPr>
        <p:spPr>
          <a:xfrm>
            <a:off x="5413248" y="3882836"/>
            <a:ext cx="210312" cy="15955"/>
          </a:xfrm>
          <a:prstGeom prst="line">
            <a:avLst/>
          </a:prstGeom>
          <a:noFill/>
          <a:ln w="381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6" name="Shape 34"/>
          <p:cNvSpPr/>
          <p:nvPr/>
        </p:nvSpPr>
        <p:spPr>
          <a:xfrm>
            <a:off x="5623560" y="3898792"/>
            <a:ext cx="210312" cy="0"/>
          </a:xfrm>
          <a:prstGeom prst="line">
            <a:avLst/>
          </a:prstGeom>
          <a:noFill/>
          <a:ln w="381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7" name="Shape 35"/>
          <p:cNvSpPr/>
          <p:nvPr/>
        </p:nvSpPr>
        <p:spPr>
          <a:xfrm>
            <a:off x="5833872" y="3818068"/>
            <a:ext cx="210312" cy="0"/>
          </a:xfrm>
          <a:prstGeom prst="line">
            <a:avLst/>
          </a:prstGeom>
          <a:noFill/>
          <a:ln w="381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8" name="Shape 36"/>
          <p:cNvSpPr/>
          <p:nvPr/>
        </p:nvSpPr>
        <p:spPr>
          <a:xfrm>
            <a:off x="6044184" y="3746911"/>
            <a:ext cx="210312" cy="0"/>
          </a:xfrm>
          <a:prstGeom prst="line">
            <a:avLst/>
          </a:prstGeom>
          <a:noFill/>
          <a:ln w="381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9" name="Shape 37"/>
          <p:cNvSpPr/>
          <p:nvPr/>
        </p:nvSpPr>
        <p:spPr>
          <a:xfrm>
            <a:off x="6254496" y="3653376"/>
            <a:ext cx="210312" cy="0"/>
          </a:xfrm>
          <a:prstGeom prst="line">
            <a:avLst/>
          </a:prstGeom>
          <a:noFill/>
          <a:ln w="381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0" name="Shape 38"/>
          <p:cNvSpPr/>
          <p:nvPr/>
        </p:nvSpPr>
        <p:spPr>
          <a:xfrm>
            <a:off x="6464808" y="3524507"/>
            <a:ext cx="210312" cy="0"/>
          </a:xfrm>
          <a:prstGeom prst="line">
            <a:avLst/>
          </a:prstGeom>
          <a:noFill/>
          <a:ln w="381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1" name="Shape 39"/>
          <p:cNvSpPr/>
          <p:nvPr/>
        </p:nvSpPr>
        <p:spPr>
          <a:xfrm>
            <a:off x="6675120" y="3402403"/>
            <a:ext cx="210312" cy="0"/>
          </a:xfrm>
          <a:prstGeom prst="line">
            <a:avLst/>
          </a:prstGeom>
          <a:noFill/>
          <a:ln w="381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2" name="Shape 40"/>
          <p:cNvSpPr/>
          <p:nvPr/>
        </p:nvSpPr>
        <p:spPr>
          <a:xfrm>
            <a:off x="6885432" y="3304182"/>
            <a:ext cx="210312" cy="0"/>
          </a:xfrm>
          <a:prstGeom prst="line">
            <a:avLst/>
          </a:prstGeom>
          <a:noFill/>
          <a:ln w="381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3" name="Shape 41"/>
          <p:cNvSpPr/>
          <p:nvPr/>
        </p:nvSpPr>
        <p:spPr>
          <a:xfrm>
            <a:off x="7095744" y="3126185"/>
            <a:ext cx="210312" cy="0"/>
          </a:xfrm>
          <a:prstGeom prst="line">
            <a:avLst/>
          </a:prstGeom>
          <a:noFill/>
          <a:ln w="381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4" name="Shape 42"/>
          <p:cNvSpPr/>
          <p:nvPr/>
        </p:nvSpPr>
        <p:spPr>
          <a:xfrm>
            <a:off x="7306056" y="2982498"/>
            <a:ext cx="210312" cy="0"/>
          </a:xfrm>
          <a:prstGeom prst="line">
            <a:avLst/>
          </a:prstGeom>
          <a:noFill/>
          <a:ln w="381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5" name="Shape 43"/>
          <p:cNvSpPr/>
          <p:nvPr/>
        </p:nvSpPr>
        <p:spPr>
          <a:xfrm>
            <a:off x="7516368" y="2829604"/>
            <a:ext cx="210312" cy="0"/>
          </a:xfrm>
          <a:prstGeom prst="line">
            <a:avLst/>
          </a:prstGeom>
          <a:noFill/>
          <a:ln w="381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6" name="Shape 44"/>
          <p:cNvSpPr/>
          <p:nvPr/>
        </p:nvSpPr>
        <p:spPr>
          <a:xfrm>
            <a:off x="7726680" y="2541649"/>
            <a:ext cx="210312" cy="0"/>
          </a:xfrm>
          <a:prstGeom prst="line">
            <a:avLst/>
          </a:prstGeom>
          <a:noFill/>
          <a:ln w="381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7" name="Shape 45"/>
          <p:cNvSpPr/>
          <p:nvPr/>
        </p:nvSpPr>
        <p:spPr>
          <a:xfrm>
            <a:off x="7936992" y="2376847"/>
            <a:ext cx="210312" cy="0"/>
          </a:xfrm>
          <a:prstGeom prst="line">
            <a:avLst/>
          </a:prstGeom>
          <a:noFill/>
          <a:ln w="381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8" name="Shape 46"/>
          <p:cNvSpPr/>
          <p:nvPr/>
        </p:nvSpPr>
        <p:spPr>
          <a:xfrm>
            <a:off x="8147304" y="2119144"/>
            <a:ext cx="210312" cy="0"/>
          </a:xfrm>
          <a:prstGeom prst="line">
            <a:avLst/>
          </a:prstGeom>
          <a:noFill/>
          <a:ln w="381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9" name="Shape 47"/>
          <p:cNvSpPr/>
          <p:nvPr/>
        </p:nvSpPr>
        <p:spPr>
          <a:xfrm>
            <a:off x="8357616" y="1828091"/>
            <a:ext cx="210312" cy="0"/>
          </a:xfrm>
          <a:prstGeom prst="line">
            <a:avLst/>
          </a:prstGeom>
          <a:noFill/>
          <a:ln w="381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0" name="Shape 48"/>
          <p:cNvSpPr/>
          <p:nvPr/>
        </p:nvSpPr>
        <p:spPr>
          <a:xfrm>
            <a:off x="8567928" y="1475278"/>
            <a:ext cx="210312" cy="0"/>
          </a:xfrm>
          <a:prstGeom prst="line">
            <a:avLst/>
          </a:prstGeom>
          <a:noFill/>
          <a:ln w="381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1" name="Text 49"/>
          <p:cNvSpPr/>
          <p:nvPr/>
        </p:nvSpPr>
        <p:spPr>
          <a:xfrm>
            <a:off x="502920" y="1051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이상 감지 확률 (Bi-LSTM Model Output)</a:t>
            </a:r>
            <a:endParaRPr lang="en-US" sz="1000" dirty="0">
              <a:latin typeface="Noto Sans KR" panose="020B0200000000000000" pitchFamily="50" charset="-127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822960" y="4001498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← 시간 경과 (Day -60 ~ Day 0 교체 시점) →</a:t>
            </a:r>
            <a:endParaRPr lang="en-US" sz="900" dirty="0">
              <a:latin typeface="Noto Sans KR" panose="020B0200000000000000" pitchFamily="50" charset="-127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274320" y="4251960"/>
            <a:ext cx="8595360" cy="777240"/>
          </a:xfrm>
          <a:prstGeom prst="rect">
            <a:avLst/>
          </a:prstGeom>
          <a:solidFill>
            <a:srgbClr val="0A2240"/>
          </a:solidFill>
          <a:ln w="12700">
            <a:solidFill>
              <a:srgbClr val="1A73E8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54" name="Text 52"/>
          <p:cNvSpPr/>
          <p:nvPr/>
        </p:nvSpPr>
        <p:spPr>
          <a:xfrm>
            <a:off x="457200" y="4297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B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예지보전 시뮬레이션 핵심 성과</a:t>
            </a:r>
            <a:endParaRPr lang="en-US" sz="1200" dirty="0">
              <a:latin typeface="Noto Sans KR" panose="020B0200000000000000" pitchFamily="50" charset="-127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457200" y="4552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• 리드타임 4주 확보: 경보 발생 즉시 자재 발주(PO)를 진행하여 실제 필터 교체 필요 시점(D-0) 전 안전하게 배송 및 준비 완료</a:t>
            </a:r>
            <a:endParaRPr lang="en-US" sz="1000" dirty="0">
              <a:latin typeface="Noto Sans KR" panose="020B0200000000000000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• 예방정비 연계: 고장 전 정기 정비 계획과 연계하여 불시 다운타임 제거 및 웨이퍼 폐기 리스크 원천 차단</a:t>
            </a:r>
            <a:endParaRPr lang="en-US" sz="1000" dirty="0">
              <a:latin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Text 1"/>
          <p:cNvSpPr/>
          <p:nvPr/>
        </p:nvSpPr>
        <p:spPr>
          <a:xfrm>
            <a:off x="365760" y="3657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결론 및 향후 계획</a:t>
            </a:r>
            <a:endParaRPr lang="en-US" sz="2800" dirty="0">
              <a:latin typeface="Noto Sans KR" panose="020B0200000000000000" pitchFamily="50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114800" cy="2743200"/>
          </a:xfrm>
          <a:prstGeom prst="rect">
            <a:avLst/>
          </a:prstGeom>
          <a:solidFill>
            <a:srgbClr val="122040"/>
          </a:solidFill>
          <a:ln w="12700">
            <a:solidFill>
              <a:srgbClr val="1E4070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C9B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연구 성과 요약</a:t>
            </a:r>
            <a:endParaRPr lang="en-US" sz="1600" dirty="0">
              <a:latin typeface="Noto Sans KR" panose="020B0200000000000000" pitchFamily="50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✔ Bi-LSTM 딥러닝 기반 4주 전 필터 교체 경보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       정확도 90% 이상 확보</a:t>
            </a:r>
            <a:endParaRPr lang="en-US" sz="1100" dirty="0">
              <a:latin typeface="Noto Sans KR" panose="020B0200000000000000" pitchFamily="50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✔ Data Leakage를 배제한 Two-Track 아키텍처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      설계로 모델 신뢰성 보장</a:t>
            </a:r>
            <a:endParaRPr lang="en-US" sz="1100" dirty="0">
              <a:latin typeface="Noto Sans KR" panose="020B0200000000000000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297180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✔ L1 정규화 XAI 기법으로 현장 최우선 감시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       Killer Gas(NOx, F) 과학적 규명</a:t>
            </a:r>
            <a:endParaRPr lang="en-US" sz="1100" dirty="0">
              <a:latin typeface="Noto Sans KR" panose="020B0200000000000000" pitchFamily="50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4114800" cy="2743200"/>
          </a:xfrm>
          <a:prstGeom prst="rect">
            <a:avLst/>
          </a:prstGeom>
          <a:solidFill>
            <a:srgbClr val="0F2847"/>
          </a:solidFill>
          <a:ln w="12700">
            <a:solidFill>
              <a:srgbClr val="0A3A32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11" name="Text 9"/>
          <p:cNvSpPr/>
          <p:nvPr/>
        </p:nvSpPr>
        <p:spPr>
          <a:xfrm>
            <a:off x="4846320" y="1234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C9B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향후 발전 방향</a:t>
            </a:r>
            <a:endParaRPr lang="en-US" sz="1600" dirty="0">
              <a:latin typeface="Noto Sans KR" panose="020B0200000000000000" pitchFamily="50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46320" y="169164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✔ 실시간 스트리밍 센서 데이터를 활용한 On-Line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       예측 파이프라인 구축</a:t>
            </a:r>
            <a:endParaRPr lang="en-US" sz="1100" dirty="0">
              <a:latin typeface="Noto Sans KR" panose="020B0200000000000000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846320" y="233172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✔ 외부 온/습도 기상 데이터 연동을 통한 여름철 고농도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       AMC 패턴 보정</a:t>
            </a:r>
            <a:endParaRPr lang="en-US" sz="1100" dirty="0">
              <a:latin typeface="Noto Sans KR" panose="020B0200000000000000" pitchFamily="50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846320" y="297180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✔ 타 반도체 Fab 내 유사 장비군으로의 전이학습 적용</a:t>
            </a:r>
            <a:endParaRPr lang="en-US" sz="1100" dirty="0">
              <a:latin typeface="Noto Sans KR" panose="020B0200000000000000" pitchFamily="50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65760" y="40690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itchFamily="34" charset="-120"/>
              </a:rPr>
              <a:t>Q &amp; A  |  감사합니다</a:t>
            </a:r>
            <a:endParaRPr lang="en-US" sz="2200" dirty="0">
              <a:latin typeface="Noto Sans KR" panose="020B0200000000000000" pitchFamily="50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65760" y="45262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 Light" pitchFamily="34" charset="-120"/>
              </a:rPr>
              <a:t>충북대학교 산업인공지능학과 진찬언  (2026254019)</a:t>
            </a:r>
            <a:endParaRPr lang="en-US" sz="1200" dirty="0">
              <a:latin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1337</Words>
  <Application>Microsoft Office PowerPoint</Application>
  <PresentationFormat>화면 슬라이드 쇼(16:9)</PresentationFormat>
  <Paragraphs>289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Noto Sans KR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반도체 Fab 케미컬 필터 예지보전(CBM) 예측 모델</dc:title>
  <dc:subject>PptxGenJS Presentation</dc:subject>
  <dc:creator>진찬언</dc:creator>
  <cp:lastModifiedBy>wlscksdjs@gmail.com</cp:lastModifiedBy>
  <cp:revision>6</cp:revision>
  <dcterms:created xsi:type="dcterms:W3CDTF">2026-06-03T13:17:08Z</dcterms:created>
  <dcterms:modified xsi:type="dcterms:W3CDTF">2026-06-07T09:01:48Z</dcterms:modified>
</cp:coreProperties>
</file>