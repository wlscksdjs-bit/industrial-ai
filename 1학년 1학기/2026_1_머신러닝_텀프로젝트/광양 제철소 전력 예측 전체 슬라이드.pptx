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Noto Sans KR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6BD979-1971-4C5E-BA48-3DEA70F21334}">
  <a:tblStyle styleId="{616BD979-1971-4C5E-BA48-3DEA70F2133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NotoSansKR-regular.fntdata"/><Relationship Id="rId14" Type="http://schemas.openxmlformats.org/officeDocument/2006/relationships/slide" Target="slides/slide8.xml"/><Relationship Id="rId16" Type="http://schemas.openxmlformats.org/officeDocument/2006/relationships/font" Target="fonts/NotoSansK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14.png"/><Relationship Id="rId7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9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11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2150" y="1567904"/>
            <a:ext cx="6477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932979" y="2425154"/>
            <a:ext cx="8326040" cy="1287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대한민국 광양 제철소 실측 데이터 기반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900" u="none" cap="none" strike="noStrike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 전력 수요 시계열 예측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805112" y="3903315"/>
            <a:ext cx="65817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자기 회귀(AR) 기반의 시계열 피처 엔지니어링 및 정규화(Lasso)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809625" y="2404467"/>
            <a:ext cx="5095875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전력 피크 관리의 절실함: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제철소와 같은 대형 공장의 전기 요금은 '최대 수요 전력(Peak)' 기준으로 산정되므로, 실시간 전력 예측을 통한 부하 분산이 원가 절감의 핵심입니다.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09625" y="3511004"/>
            <a:ext cx="5095875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실측 데이터 (Real-world Data):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가상 데이터가 아닌,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UCI 머신러닝 저장소의 '대한민국 광양 제철소 실측 데이터'</a:t>
            </a:r>
            <a:r>
              <a:rPr b="0" i="0" lang="en-US" sz="1425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(1년간 15분 단위 수집, 35,040건)를 직접 분석에 활용했습니다.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09625" y="4617541"/>
            <a:ext cx="509587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해결 과제: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CO2 배출량, 무효 전력 등의 센서 데이터와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'과거 전력량(Lag)'</a:t>
            </a:r>
            <a:r>
              <a:rPr b="0" i="0" lang="en-US" sz="1425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을 조합하여 최적의 예측 모델을 구축합니다.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30054"/>
            <a:ext cx="952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37804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44341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650878"/>
            <a:ext cx="1619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762000" y="55245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산업 현장의 문제 정의 및 데이터 소개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552450"/>
            <a:ext cx="57150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23517"/>
            <a:ext cx="952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36591"/>
            <a:ext cx="952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33500"/>
            <a:ext cx="5381625" cy="504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333500"/>
            <a:ext cx="5381625" cy="504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819150" y="1581150"/>
            <a:ext cx="513064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Lag (지연) 및 이동평균 변수 도입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819150" y="2028825"/>
            <a:ext cx="4886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4343400"/>
            <a:ext cx="4886325" cy="86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486525" y="1581150"/>
            <a:ext cx="513064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파이썬 실측 데이터 시계열 변환 코드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6486525" y="2028825"/>
            <a:ext cx="4886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1085850" y="2190750"/>
            <a:ext cx="461962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단순한 환경 센서만 사용하는 것을 넘어, </a:t>
            </a:r>
            <a:r>
              <a:rPr b="1" i="0" lang="en-US" sz="1425" u="none" cap="none" strike="noStrike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과거의 전력 사용량 그 자체를 미래 예측의 입력값(X)으로 재활용</a:t>
            </a:r>
            <a:r>
              <a:rPr b="0" i="0" lang="en-US" sz="1425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합니다.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085850" y="2883991"/>
            <a:ext cx="46196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Lag_1 (15분 전):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직전 생산 라인의 부하 상태 반영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085850" y="3287762"/>
            <a:ext cx="46196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Lag_4 (1시간 전):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최근 1시간의 설비 가동 패턴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085850" y="3691532"/>
            <a:ext cx="4619625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Moving_Avg_2h: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최근 2시간의 전반적인 추세 반영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4403803"/>
            <a:ext cx="1238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762000" y="55245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시계열 피처 엔지니어링 (Feature Engineering) 핵심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571500" y="552450"/>
            <a:ext cx="57150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2209800"/>
            <a:ext cx="952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2903041"/>
            <a:ext cx="952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3306812"/>
            <a:ext cx="952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3710582"/>
            <a:ext cx="952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76973" y="2209859"/>
            <a:ext cx="4886324" cy="3848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33500"/>
            <a:ext cx="5381625" cy="504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333500"/>
            <a:ext cx="5381625" cy="504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819150" y="1581150"/>
            <a:ext cx="513064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시계열 데이터 분할 (Shuffle = False)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819150" y="2028825"/>
            <a:ext cx="4886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6486525" y="1581150"/>
            <a:ext cx="513064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전처리 파이썬 코드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6486525" y="2028825"/>
            <a:ext cx="4886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1085850" y="2190750"/>
            <a:ext cx="4619625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일반 머신러닝은 데이터를 섞지만, </a:t>
            </a:r>
            <a:r>
              <a:rPr b="1" i="0" lang="en-US" sz="1425" u="none" cap="none" strike="noStrike">
                <a:solidFill>
                  <a:srgbClr val="E11D48"/>
                </a:solidFill>
                <a:latin typeface="Noto Sans KR"/>
                <a:ea typeface="Noto Sans KR"/>
                <a:cs typeface="Noto Sans KR"/>
                <a:sym typeface="Noto Sans KR"/>
              </a:rPr>
              <a:t>시계열 예측에서는 시간의 흐름(순서)이 생명</a:t>
            </a:r>
            <a:r>
              <a:rPr b="0" i="0" lang="en-US" sz="1425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입니다.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085850" y="3037798"/>
            <a:ext cx="46197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과거 데이터로 미래를 예측해야 하므로 분할 시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shuffle=False</a:t>
            </a:r>
            <a:r>
              <a:rPr b="0" i="0" lang="en-US" sz="1425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를 적용하여 정보 누수(Data Leakage)를 원천 차단했습니다.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085850" y="4201509"/>
            <a:ext cx="46197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수많은 실제 센서(tCO2, kVarh 등)의 단위 차이를 극복하기 위해 StandardScaler를 적용했습니다.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762000" y="55245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스케일링 및 시계열 분할(Split) 전략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571500" y="552450"/>
            <a:ext cx="57150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8" name="Google Shape;14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2209800"/>
            <a:ext cx="952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3056848"/>
            <a:ext cx="952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4220559"/>
            <a:ext cx="952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86525" y="2202150"/>
            <a:ext cx="4886325" cy="3863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38473"/>
            <a:ext cx="11049000" cy="28211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333500"/>
            <a:ext cx="11049000" cy="504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0" name="Google Shape;160;p17"/>
          <p:cNvGraphicFramePr/>
          <p:nvPr/>
        </p:nvGraphicFramePr>
        <p:xfrm>
          <a:off x="581025" y="18479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{616BD979-1971-4C5E-BA48-3DEA70F21334}</a:tableStyleId>
              </a:tblPr>
              <a:tblGrid>
                <a:gridCol w="4581075"/>
                <a:gridCol w="3837075"/>
                <a:gridCol w="2611775"/>
              </a:tblGrid>
              <a:tr h="700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적용 모델 (Algorithm)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RMSE (평균 오차 kWh)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R² (결정계수)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700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Linear Regression (일반 회귀)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4.21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284C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0.985 (98.5%)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0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Ridge (L2 정규화, alpha=10.0)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4.21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284C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0.985 (98.5%)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0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Lasso (L1 정규화, alpha=2.0)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4.53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0.982 (98.2%)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1" name="Google Shape;161;p17"/>
          <p:cNvSpPr/>
          <p:nvPr/>
        </p:nvSpPr>
        <p:spPr>
          <a:xfrm>
            <a:off x="581025" y="2559397"/>
            <a:ext cx="45810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5162103" y="2559397"/>
            <a:ext cx="38370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8999190" y="2559397"/>
            <a:ext cx="26117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581025" y="3254722"/>
            <a:ext cx="45810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5162103" y="3254722"/>
            <a:ext cx="38370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8999190" y="3254722"/>
            <a:ext cx="26117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581025" y="3950047"/>
            <a:ext cx="45810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5162103" y="3950047"/>
            <a:ext cx="38370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8999190" y="3950047"/>
            <a:ext cx="26117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762000" y="55245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실측 데이터 예측 모델 성능 평가 (R-squared)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571500" y="552450"/>
            <a:ext cx="57150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33500"/>
            <a:ext cx="11049000" cy="504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714375" y="1804987"/>
            <a:ext cx="10906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Lasso(L1) 가중치 분석: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실제 제철소의 수많은 센서 중 무엇이 가장 중요한지 검증했습니다. 우리가 직접 코드로 생성한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'15분 전 전력량(Lag_1)'</a:t>
            </a:r>
            <a:r>
              <a:rPr b="0" i="0" lang="en-US" sz="15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과 실측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'CO2 배출량'</a:t>
            </a:r>
            <a:r>
              <a:rPr b="0" i="0" lang="en-US" sz="15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이 현재 부하를 결정짓는 핵심 지표로 판별되었습니다.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571500" y="1804987"/>
            <a:ext cx="38100" cy="609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762000" y="55245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피처 중요도 분석: 시계열 센서의 압도적 영향력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571500" y="552450"/>
            <a:ext cx="57150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1762125" y="2254894"/>
            <a:ext cx="9096375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실측 데이터를 통한 시계열 분석 입증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실제 산업 데이터는 '과거가 미래를 결정'합니다. 단순 회귀 모델이라도 shift()를 통해 과거 정보(Lag)를 피처로 주입하면 실제 현장에서도 98%의 예측력을 낼 수 있음을 광양 제철소 데이터로 입증했습니다.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1762125" y="3313807"/>
            <a:ext cx="9096375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스마트 팩토리 전력 피크 요금 방어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구축된 예측 모델을 제철소 EMS(에너지 관리 시스템)에 연동하면, 15분~1시간 뒤의 전력 피크를 선제적으로 방어하여 막대한 전기료 기본요금을 절감할 수 있습니다.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1762125" y="4372719"/>
            <a:ext cx="9096375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누수 방지(Shuffle=False)의 교훈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시계열 분석 시 무작위 분할을 방지하여 미래 정보 누수를 막는 데이터 전처리 설계가, 산업인공지능의 신뢰도를 결정짓는 가장 핵심적인 요소임을 깨달았습니다.</a:t>
            </a:r>
            <a:endParaRPr/>
          </a:p>
        </p:txBody>
      </p:sp>
      <p:pic>
        <p:nvPicPr>
          <p:cNvPr descr="image.png" id="192" name="Google Shape;19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254894"/>
            <a:ext cx="192732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3313807"/>
            <a:ext cx="192732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4372719"/>
            <a:ext cx="192732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762000" y="552450"/>
            <a:ext cx="114014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결론 및 산업적 시사점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571500" y="552450"/>
            <a:ext cx="57150" cy="4667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295275" y="552450"/>
            <a:ext cx="116014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Q &amp; A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571500" y="207645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경청해 주셔서 감사합니다. 질문 받겠습니다.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