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Noto Sans KR" panose="020B0200000000000000" pitchFamily="50" charset="-127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3AA00C-1A47-4E45-82FE-3D7995E471F3}">
  <a:tblStyle styleId="{743AA00C-1A47-4E45-82FE-3D7995E471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lscksdjs@gmail.com" userId="2d7df3081b6aa7f2" providerId="LiveId" clId="{F3D7FE08-4492-4A43-9108-2105C1D4162C}"/>
    <pc:docChg chg="addSld delSld modSld">
      <pc:chgData name="wlscksdjs@gmail.com" userId="2d7df3081b6aa7f2" providerId="LiveId" clId="{F3D7FE08-4492-4A43-9108-2105C1D4162C}" dt="2026-04-14T09:54:08.431" v="123" actId="1076"/>
      <pc:docMkLst>
        <pc:docMk/>
      </pc:docMkLst>
      <pc:sldChg chg="addSp modSp mod">
        <pc:chgData name="wlscksdjs@gmail.com" userId="2d7df3081b6aa7f2" providerId="LiveId" clId="{F3D7FE08-4492-4A43-9108-2105C1D4162C}" dt="2026-04-14T09:54:08.431" v="123" actId="1076"/>
        <pc:sldMkLst>
          <pc:docMk/>
          <pc:sldMk cId="0" sldId="256"/>
        </pc:sldMkLst>
        <pc:spChg chg="mod">
          <ac:chgData name="wlscksdjs@gmail.com" userId="2d7df3081b6aa7f2" providerId="LiveId" clId="{F3D7FE08-4492-4A43-9108-2105C1D4162C}" dt="2026-04-14T09:53:40.132" v="88" actId="1036"/>
          <ac:spMkLst>
            <pc:docMk/>
            <pc:sldMk cId="0" sldId="256"/>
            <ac:spMk id="2" creationId="{420726E3-C37A-C4A3-523E-21CD6462FC8A}"/>
          </ac:spMkLst>
        </pc:spChg>
        <pc:spChg chg="mod">
          <ac:chgData name="wlscksdjs@gmail.com" userId="2d7df3081b6aa7f2" providerId="LiveId" clId="{F3D7FE08-4492-4A43-9108-2105C1D4162C}" dt="2026-04-14T09:53:40.132" v="88" actId="103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4T09:53:40.132" v="88" actId="1036"/>
          <ac:spMkLst>
            <pc:docMk/>
            <pc:sldMk cId="0" sldId="256"/>
            <ac:spMk id="89" creationId="{00000000-0000-0000-0000-000000000000}"/>
          </ac:spMkLst>
        </pc:spChg>
        <pc:picChg chg="add mod">
          <ac:chgData name="wlscksdjs@gmail.com" userId="2d7df3081b6aa7f2" providerId="LiveId" clId="{F3D7FE08-4492-4A43-9108-2105C1D4162C}" dt="2026-04-14T09:53:53.640" v="121" actId="1076"/>
          <ac:picMkLst>
            <pc:docMk/>
            <pc:sldMk cId="0" sldId="256"/>
            <ac:picMk id="4" creationId="{55A72A39-ECF6-37D0-FF8C-C02B2B7DA023}"/>
          </ac:picMkLst>
        </pc:picChg>
        <pc:picChg chg="add mod">
          <ac:chgData name="wlscksdjs@gmail.com" userId="2d7df3081b6aa7f2" providerId="LiveId" clId="{F3D7FE08-4492-4A43-9108-2105C1D4162C}" dt="2026-04-14T09:54:00.118" v="122" actId="1076"/>
          <ac:picMkLst>
            <pc:docMk/>
            <pc:sldMk cId="0" sldId="256"/>
            <ac:picMk id="6" creationId="{7115088E-2A17-086A-0190-74782DE78FFC}"/>
          </ac:picMkLst>
        </pc:picChg>
        <pc:picChg chg="add mod">
          <ac:chgData name="wlscksdjs@gmail.com" userId="2d7df3081b6aa7f2" providerId="LiveId" clId="{F3D7FE08-4492-4A43-9108-2105C1D4162C}" dt="2026-04-14T09:54:08.431" v="123" actId="1076"/>
          <ac:picMkLst>
            <pc:docMk/>
            <pc:sldMk cId="0" sldId="256"/>
            <ac:picMk id="8" creationId="{B698C7B5-86D8-C29D-5874-641DBB7C3124}"/>
          </ac:picMkLst>
        </pc:picChg>
        <pc:picChg chg="mod">
          <ac:chgData name="wlscksdjs@gmail.com" userId="2d7df3081b6aa7f2" providerId="LiveId" clId="{F3D7FE08-4492-4A43-9108-2105C1D4162C}" dt="2026-04-14T09:53:43.430" v="115" actId="1036"/>
          <ac:picMkLst>
            <pc:docMk/>
            <pc:sldMk cId="0" sldId="256"/>
            <ac:picMk id="87" creationId="{00000000-0000-0000-0000-000000000000}"/>
          </ac:picMkLst>
        </pc:picChg>
      </pc:sldChg>
      <pc:sldChg chg="add del setBg">
        <pc:chgData name="wlscksdjs@gmail.com" userId="2d7df3081b6aa7f2" providerId="LiveId" clId="{F3D7FE08-4492-4A43-9108-2105C1D4162C}" dt="2026-04-14T09:50:18.571" v="3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6" name="Google Shape;3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7" name="Google Shape;4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1212" y="2584919"/>
            <a:ext cx="629424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388852" y="3481168"/>
            <a:ext cx="9414145" cy="128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 Fab 공조 시스템 최적화 분석: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 케미컬 필터 예지 보전(CBM) 최종 보고서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848719" y="4959329"/>
            <a:ext cx="6494561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엔지니어링부터 예측 모델 구현까지</a:t>
            </a:r>
            <a:endParaRPr dirty="0"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420726E3-C37A-C4A3-523E-21CD6462FC8A}"/>
              </a:ext>
            </a:extLst>
          </p:cNvPr>
          <p:cNvSpPr txBox="1"/>
          <p:nvPr/>
        </p:nvSpPr>
        <p:spPr>
          <a:xfrm>
            <a:off x="3809105" y="5859130"/>
            <a:ext cx="4573639" cy="393954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산업인공지능학과   </a:t>
            </a:r>
            <a:r>
              <a:rPr lang="en-US" altLang="ko-KR" sz="1600" b="1" i="0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|  </a:t>
            </a:r>
            <a:r>
              <a:rPr lang="ko-KR" altLang="en-US" sz="1600" b="1" i="0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 b="1" i="0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2026254019   |   </a:t>
            </a:r>
            <a:r>
              <a:rPr lang="ko-KR" altLang="en-US" sz="1600" b="1" i="0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진찬언</a:t>
            </a:r>
            <a:endParaRPr sz="11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A72A39-ECF6-37D0-FF8C-C02B2B7DA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7" y="285751"/>
            <a:ext cx="3763982" cy="2094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15088E-2A17-086A-0190-74782DE78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2927" y="281084"/>
            <a:ext cx="3765994" cy="2094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98C7B5-86D8-C29D-5874-641DBB7C31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5049" y="281084"/>
            <a:ext cx="3765994" cy="20919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599816" y="2740372"/>
            <a:ext cx="899221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Part 1. 프로젝트 개요 및 데이터셋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3536900" y="3702397"/>
            <a:ext cx="5118199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정의와 사용된 실측 데이터의 도메인 분석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1990725"/>
            <a:ext cx="4862512" cy="129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0337" y="3663106"/>
            <a:ext cx="4862512" cy="115431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819150" y="1400175"/>
            <a:ext cx="510563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산업 현장의 한계</a:t>
            </a:r>
            <a:endParaRPr dirty="0"/>
          </a:p>
        </p:txBody>
      </p:sp>
      <p:sp>
        <p:nvSpPr>
          <p:cNvPr id="111" name="Google Shape;111;p15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510337" y="1400175"/>
            <a:ext cx="510563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해결 과제</a:t>
            </a:r>
            <a:endParaRPr dirty="0"/>
          </a:p>
        </p:txBody>
      </p:sp>
      <p:sp>
        <p:nvSpPr>
          <p:cNvPr id="113" name="Google Shape;113;p15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028700" y="1895475"/>
            <a:ext cx="465296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초미세 반도체 공정에서 공기 중 분자 오염물질(AMC)은 수율을 치명적으로 하락시키는 주범입니다.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1028700" y="2787094"/>
            <a:ext cx="4652962" cy="117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막기 위해 공조기 케미컬필터를 사용하지만,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현재는 일정한 주기(TBM)나 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일부 필터를 반출하여 분해하여</a:t>
            </a:r>
            <a:r>
              <a:rPr lang="en-US" altLang="ko-KR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재사용 불가</a:t>
            </a:r>
            <a:r>
              <a:rPr lang="en-US" altLang="ko-KR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남은 수명을 확인하는 가속평가를 </a:t>
            </a:r>
            <a:r>
              <a:rPr lang="en-US" altLang="ko-KR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n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회차 진행하는 번거로움을 통해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교체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하고 있습니다.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1028700" y="4169040"/>
            <a:ext cx="465296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너무 일찍 교체하면 막대한 자재비가 낭비되고, 늦게 교체하면 필터가 포화되어 웨이퍼 대량 불량이 발생합니다.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10362" y="2194843"/>
            <a:ext cx="207466" cy="2204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138987" y="2171700"/>
            <a:ext cx="40338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 예지 보전 (CBM) 시스템 구축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7138987" y="2476500"/>
            <a:ext cx="4033837" cy="834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1년간의 센서 빅데이터를 분석하여, 필터가 포화되기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14일 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에 정확히 교체 알람을 울리는 AI 예측 모델을 개발합니다.</a:t>
            </a:r>
            <a:endParaRPr dirty="0"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10362" y="3867224"/>
            <a:ext cx="207466" cy="2204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138987" y="3844081"/>
            <a:ext cx="4033837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5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필터 </a:t>
            </a:r>
            <a:r>
              <a:rPr lang="en-US" sz="1425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수명 파괴 '킬러 가스' 원인 규명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7138987" y="4148881"/>
            <a:ext cx="403383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종류의 이온 가스가 필터 수명을 갉아먹는지 모델의 가중치로 역산하여 시각적으로 증명합니다.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1. 프로젝트 배경 및 문제 정의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1954281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2852526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221220"/>
            <a:ext cx="126057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1152525"/>
            <a:ext cx="11049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 Fab 클린룸 내외부에서 1년간 연속 측정한 이온(AMC) 농도 시계열 빅데이터입니다.</a:t>
            </a:r>
            <a:endParaRPr dirty="0"/>
          </a:p>
        </p:txBody>
      </p:sp>
      <p:graphicFrame>
        <p:nvGraphicFramePr>
          <p:cNvPr id="137" name="Google Shape;137;p16"/>
          <p:cNvGraphicFramePr/>
          <p:nvPr>
            <p:extLst>
              <p:ext uri="{D42A27DB-BD31-4B8C-83A1-F6EECF244321}">
                <p14:modId xmlns:p14="http://schemas.microsoft.com/office/powerpoint/2010/main" val="4078962448"/>
              </p:ext>
            </p:extLst>
          </p:nvPr>
        </p:nvGraphicFramePr>
        <p:xfrm>
          <a:off x="571500" y="1649611"/>
          <a:ext cx="11029925" cy="2107380"/>
        </p:xfrm>
        <a:graphic>
          <a:graphicData uri="http://schemas.openxmlformats.org/drawingml/2006/table">
            <a:tbl>
              <a:tblPr firstRow="1" bandRow="1">
                <a:noFill/>
                <a:tableStyleId>{743AA00C-1A47-4E45-82FE-3D7995E471F3}</a:tableStyleId>
              </a:tblPr>
              <a:tblGrid>
                <a:gridCol w="27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24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수집 기간 / 스케일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2023.01.01 ~ 2023.12.31 (1년) / 초·분 단위 측정 수십만 건(60</a:t>
                      </a:r>
                      <a:r>
                        <a:rPr lang="ko-KR" alt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 행 이상</a:t>
                      </a:r>
                      <a:r>
                        <a:rPr lang="en-US" altLang="ko-KR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도메인 공간 분류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OAC (Outside Air Conditioning):</a:t>
                      </a: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정화되어 유입되는 1차 </a:t>
                      </a: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외기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BAY (순환기 공정):</a:t>
                      </a: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실제 제조 장비가 위치하여 공기가 순환하는 </a:t>
                      </a: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측정 파라미터 (9종)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음이온: NO3, SO4, BR, CL, F, PO4, NO2</a:t>
                      </a:r>
                      <a:b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양이온 및 가스: NH4(암모늄 이온), O3(오존)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2" name="Google Shape;142;p16"/>
          <p:cNvSpPr txBox="1"/>
          <p:nvPr/>
        </p:nvSpPr>
        <p:spPr>
          <a:xfrm>
            <a:off x="742950" y="476250"/>
            <a:ext cx="1142142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2. 활용 데이터셋 (1): Raw Data (</a:t>
            </a:r>
            <a:r>
              <a:rPr lang="ko-KR" alt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이온측정 모니터링 설비</a:t>
            </a: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43" name="Google Shape;143;p16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FD3EDE-298D-6C0E-A3AA-CCDF51F9B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81663"/>
            <a:ext cx="11029925" cy="2650047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0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1152525"/>
            <a:ext cx="11049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환경 센서 데이터(X)에 대응하는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지도학습의 정답지(Target Y)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정의하기 위한 작업자 로그입니다.</a:t>
            </a:r>
            <a:endParaRPr dirty="0"/>
          </a:p>
        </p:txBody>
      </p:sp>
      <p:graphicFrame>
        <p:nvGraphicFramePr>
          <p:cNvPr id="154" name="Google Shape;154;p17"/>
          <p:cNvGraphicFramePr/>
          <p:nvPr>
            <p:extLst>
              <p:ext uri="{D42A27DB-BD31-4B8C-83A1-F6EECF244321}">
                <p14:modId xmlns:p14="http://schemas.microsoft.com/office/powerpoint/2010/main" val="1042234612"/>
              </p:ext>
            </p:extLst>
          </p:nvPr>
        </p:nvGraphicFramePr>
        <p:xfrm>
          <a:off x="571500" y="1673422"/>
          <a:ext cx="11029925" cy="1409166"/>
        </p:xfrm>
        <a:graphic>
          <a:graphicData uri="http://schemas.openxmlformats.org/drawingml/2006/table">
            <a:tbl>
              <a:tblPr firstRow="1" bandRow="1">
                <a:noFill/>
                <a:tableStyleId>{743AA00C-1A47-4E45-82FE-3D7995E471F3}</a:tableStyleId>
              </a:tblPr>
              <a:tblGrid>
                <a:gridCol w="27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수집 대상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1년간 현장 엔지니어가 수행한 설비 정비 및 교체 수기 이력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4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타겟 정제 (Targeting)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단순한 '분석기(측정 장비) PM' 기록은 모델의 목적과 다르므로 배제함.</a:t>
                      </a:r>
                      <a:b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• 텍스트 마이닝을 통해 </a:t>
                      </a: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'교체, 필터, 케미컬' 키워드가 포함된 실제 케미컬 필터 교체 기록만을 정답(1)으로 엄선.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7BD5406-1DEB-0AAA-5CD5-8CBD297948C2}"/>
              </a:ext>
            </a:extLst>
          </p:cNvPr>
          <p:cNvGrpSpPr/>
          <p:nvPr/>
        </p:nvGrpSpPr>
        <p:grpSpPr>
          <a:xfrm>
            <a:off x="561962" y="3248373"/>
            <a:ext cx="11049000" cy="866297"/>
            <a:chOff x="571500" y="4495680"/>
            <a:chExt cx="11049000" cy="1009143"/>
          </a:xfrm>
        </p:grpSpPr>
        <p:pic>
          <p:nvPicPr>
            <p:cNvPr id="151" name="Google Shape;151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4495680"/>
              <a:ext cx="11049000" cy="1009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 txBox="1"/>
            <p:nvPr/>
          </p:nvSpPr>
          <p:spPr>
            <a:xfrm>
              <a:off x="819150" y="4686180"/>
              <a:ext cx="10610850" cy="20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47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 dirty="0">
                  <a:solidFill>
                    <a:srgbClr val="04785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데이터 설계의 핵심:</a:t>
              </a:r>
              <a:endParaRPr dirty="0"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819150" y="4962405"/>
              <a:ext cx="10610850" cy="290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5" b="0" i="0" u="none" strike="noStrike" cap="none" dirty="0">
                  <a:solidFill>
                    <a:srgbClr val="064E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단순 센서 값 예측이 아닌, 센서 데이터(X)와 사람의 조치 이력(Y)을 결합하여 </a:t>
              </a:r>
              <a:r>
                <a:rPr lang="en-US" sz="1275" b="1" i="0" u="none" strike="noStrike" cap="none" dirty="0">
                  <a:solidFill>
                    <a:srgbClr val="E11D4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현장의 노하우를 AI로 정량화</a:t>
              </a:r>
              <a:r>
                <a:rPr lang="en-US" sz="1275" b="0" i="0" u="none" strike="noStrike" cap="none" dirty="0">
                  <a:solidFill>
                    <a:srgbClr val="064E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하는 데이터셋을 구축했습니다.</a:t>
              </a:r>
            </a:p>
          </p:txBody>
        </p:sp>
        <p:pic>
          <p:nvPicPr>
            <p:cNvPr id="159" name="Google Shape;159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9150" y="4714755"/>
              <a:ext cx="133498" cy="171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17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3. 활용 데이터셋 (2): Action History (현장 조치)</a:t>
            </a:r>
            <a:endParaRPr dirty="0"/>
          </a:p>
        </p:txBody>
      </p:sp>
      <p:sp>
        <p:nvSpPr>
          <p:cNvPr id="161" name="Google Shape;161;p17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F01E76D-03C7-5E2A-B261-5AE8E3BD2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62" y="4280455"/>
            <a:ext cx="11058538" cy="2350028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626410" y="2740372"/>
            <a:ext cx="1093917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Part 2. 데이터 전처리 및 피처 엔지니어링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3062138" y="3702397"/>
            <a:ext cx="6067573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노이즈 제거, 타겟 확장, 그리고 물리적 도메인의 수치화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819150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실측 데이터의 오류와 정제</a:t>
            </a:r>
            <a:endParaRPr dirty="0"/>
          </a:p>
        </p:txBody>
      </p:sp>
      <p:sp>
        <p:nvSpPr>
          <p:cNvPr id="182" name="Google Shape;182;p19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510337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연도 파싱 오류 해결 코드</a:t>
            </a:r>
            <a:endParaRPr dirty="0"/>
          </a:p>
        </p:txBody>
      </p:sp>
      <p:sp>
        <p:nvSpPr>
          <p:cNvPr id="184" name="Google Shape;184;p19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028700" y="1914525"/>
            <a:ext cx="465296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인코딩 불일치: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장비 로그(cp949)와 수기 웹 로그(utf-8)의 충돌을 방지하는 다중 인코딩 로드 함수를 자체 구현했습니다.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1028700" y="3371853"/>
            <a:ext cx="4652962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날짜 파싱 버그 완벽 방어: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엑셀 취합본의 '23/12/28' 텍스트를 자동 파서가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2028년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오독하는 치명적 에러를 발견했습니다. 이를 %y/%m/%d로 강제 파싱하여 시계열을 1년(23년) 안으로 완벽히 복원했습니다.</a:t>
            </a:r>
            <a:endParaRPr dirty="0"/>
          </a:p>
        </p:txBody>
      </p:sp>
      <p:sp>
        <p:nvSpPr>
          <p:cNvPr id="196" name="Google Shape;196;p19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4. 데이터 전처리 (1): 인코딩 충돌 및 연도 버그 해결</a:t>
            </a:r>
            <a:endParaRPr dirty="0"/>
          </a:p>
        </p:txBody>
      </p:sp>
      <p:sp>
        <p:nvSpPr>
          <p:cNvPr id="197" name="Google Shape;197;p19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73331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3430659"/>
            <a:ext cx="126057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370DC168-2E1A-0E7B-70C8-F22F7E4CE9F4}"/>
              </a:ext>
            </a:extLst>
          </p:cNvPr>
          <p:cNvGrpSpPr/>
          <p:nvPr/>
        </p:nvGrpSpPr>
        <p:grpSpPr>
          <a:xfrm>
            <a:off x="6510337" y="1914525"/>
            <a:ext cx="4862512" cy="4286250"/>
            <a:chOff x="6510337" y="1914525"/>
            <a:chExt cx="4862512" cy="4286250"/>
          </a:xfrm>
        </p:grpSpPr>
        <p:pic>
          <p:nvPicPr>
            <p:cNvPr id="179" name="Google Shape;179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10337" y="1914525"/>
              <a:ext cx="4862512" cy="428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52DA9E0-F413-9FF1-5CF4-091F1436F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46536"/>
            <a:stretch>
              <a:fillRect/>
            </a:stretch>
          </p:blipFill>
          <p:spPr>
            <a:xfrm>
              <a:off x="6640138" y="1919289"/>
              <a:ext cx="4732711" cy="22183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819150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기준의 통일 (시계열 연속성 확보)</a:t>
            </a:r>
            <a:endParaRPr dirty="0"/>
          </a:p>
        </p:txBody>
      </p:sp>
      <p:sp>
        <p:nvSpPr>
          <p:cNvPr id="211" name="Google Shape;211;p20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510337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다운샘플링 코드</a:t>
            </a:r>
            <a:endParaRPr dirty="0"/>
          </a:p>
        </p:txBody>
      </p:sp>
      <p:sp>
        <p:nvSpPr>
          <p:cNvPr id="213" name="Google Shape;213;p20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028700" y="1895475"/>
            <a:ext cx="465296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장비마다 센서 측정 주기(1분, 15분 등)가 다르고, 영점 조절 시 결측치(NaN)가 다수 발생함.</a:t>
            </a:r>
            <a:endParaRPr dirty="0"/>
          </a:p>
        </p:txBody>
      </p:sp>
      <p:sp>
        <p:nvSpPr>
          <p:cNvPr id="215" name="Google Shape;215;p20"/>
          <p:cNvSpPr txBox="1"/>
          <p:nvPr/>
        </p:nvSpPr>
        <p:spPr>
          <a:xfrm>
            <a:off x="1028700" y="2773842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해결 (Resample):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거시적 수명 예측을 위해 판다스의 resample('1D')를 사용하여 모든 데이터를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'일(Day) 단위 평균'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통합했습니다.</a:t>
            </a:r>
            <a:endParaRPr dirty="0"/>
          </a:p>
        </p:txBody>
      </p:sp>
      <p:sp>
        <p:nvSpPr>
          <p:cNvPr id="216" name="Google Shape;216;p20"/>
          <p:cNvSpPr txBox="1"/>
          <p:nvPr/>
        </p:nvSpPr>
        <p:spPr>
          <a:xfrm>
            <a:off x="1028700" y="3967983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해결 (Interpolate):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결측 구간은 삭제하지 않고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선형 보간법(Linear Interpolation)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부드럽게 이어 시계열의 흐름을 보존했습니다.</a:t>
            </a:r>
            <a:endParaRPr dirty="0"/>
          </a:p>
        </p:txBody>
      </p:sp>
      <p:sp>
        <p:nvSpPr>
          <p:cNvPr id="224" name="Google Shape;224;p20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5. 데이터 전처리 (2): 다운샘플링과 결측치 보간</a:t>
            </a:r>
            <a:endParaRPr dirty="0"/>
          </a:p>
        </p:txBody>
      </p:sp>
      <p:sp>
        <p:nvSpPr>
          <p:cNvPr id="225" name="Google Shape;225;p20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534" y="1952625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534" y="2830992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534" y="4025133"/>
            <a:ext cx="126057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139771AF-4C6A-EF4A-78E3-F4F78582C040}"/>
              </a:ext>
            </a:extLst>
          </p:cNvPr>
          <p:cNvGrpSpPr/>
          <p:nvPr/>
        </p:nvGrpSpPr>
        <p:grpSpPr>
          <a:xfrm>
            <a:off x="6510337" y="1943100"/>
            <a:ext cx="4862512" cy="4286250"/>
            <a:chOff x="6510337" y="1943100"/>
            <a:chExt cx="4862512" cy="4286250"/>
          </a:xfrm>
        </p:grpSpPr>
        <p:pic>
          <p:nvPicPr>
            <p:cNvPr id="208" name="Google Shape;208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10337" y="1943100"/>
              <a:ext cx="4862512" cy="428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B7890BA-FFBD-0DAD-BFA2-FD47A6234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6070"/>
            <a:stretch>
              <a:fillRect/>
            </a:stretch>
          </p:blipFill>
          <p:spPr>
            <a:xfrm>
              <a:off x="6619906" y="2023416"/>
              <a:ext cx="4690823" cy="37257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819150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지식을 활용한 오염원 추적</a:t>
            </a:r>
            <a:endParaRPr dirty="0"/>
          </a:p>
        </p:txBody>
      </p:sp>
      <p:sp>
        <p:nvSpPr>
          <p:cNvPr id="240" name="Google Shape;240;p21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510337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내부 누출 분리 코드</a:t>
            </a:r>
            <a:endParaRPr dirty="0"/>
          </a:p>
        </p:txBody>
      </p:sp>
      <p:sp>
        <p:nvSpPr>
          <p:cNvPr id="242" name="Google Shape;242;p21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1028700" y="1895475"/>
            <a:ext cx="4652962" cy="88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클린룸 오염은 두 가지 출처가 있습니다. </a:t>
            </a:r>
          </a:p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① 외부 유입(OAC) </a:t>
            </a:r>
          </a:p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② 내부 설비 배관 누출.</a:t>
            </a:r>
            <a:endParaRPr dirty="0"/>
          </a:p>
        </p:txBody>
      </p:sp>
      <p:sp>
        <p:nvSpPr>
          <p:cNvPr id="244" name="Google Shape;244;p21"/>
          <p:cNvSpPr txBox="1"/>
          <p:nvPr/>
        </p:nvSpPr>
        <p:spPr>
          <a:xfrm>
            <a:off x="1028700" y="3058761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단순히 섞어 쓰지 않고, (내부 농도 - OAC 외기 농도) 공식을 통해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'순수하게 내부 설비에서 누출되어 발생한 가스량'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이라는 강력한 파생 피처를 창조했습니다.</a:t>
            </a:r>
            <a:endParaRPr dirty="0"/>
          </a:p>
        </p:txBody>
      </p:sp>
      <p:sp>
        <p:nvSpPr>
          <p:cNvPr id="256" name="Google Shape;256;p21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6. 피처 엔지니어링 (1): 내부 누출(Internal Gen) 분리</a:t>
            </a:r>
            <a:endParaRPr dirty="0"/>
          </a:p>
        </p:txBody>
      </p:sp>
      <p:sp>
        <p:nvSpPr>
          <p:cNvPr id="257" name="Google Shape;257;p21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60907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3124193"/>
            <a:ext cx="126057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1217649-22DD-5C4A-0511-B78227D265A3}"/>
              </a:ext>
            </a:extLst>
          </p:cNvPr>
          <p:cNvGrpSpPr/>
          <p:nvPr/>
        </p:nvGrpSpPr>
        <p:grpSpPr>
          <a:xfrm>
            <a:off x="6510337" y="1943100"/>
            <a:ext cx="4862512" cy="4286250"/>
            <a:chOff x="6510337" y="1943100"/>
            <a:chExt cx="4862512" cy="4286250"/>
          </a:xfrm>
        </p:grpSpPr>
        <p:pic>
          <p:nvPicPr>
            <p:cNvPr id="237" name="Google Shape;237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10337" y="1943100"/>
              <a:ext cx="4862512" cy="428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BC2C4F1-F6C3-29DB-3259-FE74BFAB8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84742" y="1971375"/>
              <a:ext cx="4739242" cy="37587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819150" y="1400175"/>
            <a:ext cx="510563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단기 평균의 한계 극복 (</a:t>
            </a:r>
            <a:r>
              <a:rPr lang="ko-KR" altLang="en-US" sz="1650" b="1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정확도</a:t>
            </a: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 상승의 키)</a:t>
            </a:r>
            <a:endParaRPr dirty="0"/>
          </a:p>
        </p:txBody>
      </p:sp>
      <p:sp>
        <p:nvSpPr>
          <p:cNvPr id="271" name="Google Shape;271;p22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6510337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초장기 누적합(Sum) 코드</a:t>
            </a:r>
            <a:endParaRPr dirty="0"/>
          </a:p>
        </p:txBody>
      </p:sp>
      <p:sp>
        <p:nvSpPr>
          <p:cNvPr id="273" name="Google Shape;273;p22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1028700" y="1895475"/>
            <a:ext cx="4652962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케미컬필터는 하루 농도가 높다고 </a:t>
            </a:r>
            <a:r>
              <a:rPr lang="ko-KR" altLang="en-US" sz="1275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수명이 끝나지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않습니다. </a:t>
            </a:r>
          </a:p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보통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수개월 동안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가스가 계속 '누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적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'될 때 포화 상태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 이릅니다.</a:t>
            </a:r>
            <a:endParaRPr dirty="0"/>
          </a:p>
        </p:txBody>
      </p:sp>
      <p:sp>
        <p:nvSpPr>
          <p:cNvPr id="275" name="Google Shape;275;p22"/>
          <p:cNvSpPr txBox="1"/>
          <p:nvPr/>
        </p:nvSpPr>
        <p:spPr>
          <a:xfrm>
            <a:off x="1028700" y="2738437"/>
            <a:ext cx="4652962" cy="88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 물리적 현상을 AI에게 학습시키기 위해, 최근 14일 및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28일(4주) 동안 가스가 얼마나 쌓였는지 누적합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계산하여 모델의 예측 정확도를 비약적으로 끌어올렸습니다.</a:t>
            </a:r>
            <a:endParaRPr dirty="0"/>
          </a:p>
        </p:txBody>
      </p:sp>
      <p:sp>
        <p:nvSpPr>
          <p:cNvPr id="290" name="Google Shape;290;p22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7. 피처 엔지니어링 (2): 필터 포화의 물리적 모사 (누적합)</a:t>
            </a:r>
            <a:endParaRPr dirty="0"/>
          </a:p>
        </p:txBody>
      </p:sp>
      <p:sp>
        <p:nvSpPr>
          <p:cNvPr id="291" name="Google Shape;291;p22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54281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797243"/>
            <a:ext cx="126057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63F220E7-EB17-2C17-2DA5-A659D28AFBB7}"/>
              </a:ext>
            </a:extLst>
          </p:cNvPr>
          <p:cNvGrpSpPr/>
          <p:nvPr/>
        </p:nvGrpSpPr>
        <p:grpSpPr>
          <a:xfrm>
            <a:off x="6510337" y="1943100"/>
            <a:ext cx="4862512" cy="4286250"/>
            <a:chOff x="6510337" y="1943100"/>
            <a:chExt cx="4862512" cy="4286250"/>
          </a:xfrm>
        </p:grpSpPr>
        <p:pic>
          <p:nvPicPr>
            <p:cNvPr id="268" name="Google Shape;268;p22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10337" y="1943100"/>
              <a:ext cx="4862512" cy="428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DFFA6CE-675C-0713-A6EF-0DB2807DF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76804" y="2019300"/>
              <a:ext cx="4796045" cy="22981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1943100"/>
            <a:ext cx="486251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819150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현업 스케줄(리드타임) 반영</a:t>
            </a:r>
            <a:endParaRPr dirty="0"/>
          </a:p>
        </p:txBody>
      </p:sp>
      <p:sp>
        <p:nvSpPr>
          <p:cNvPr id="305" name="Google Shape;305;p23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6510337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Warning Window 코드</a:t>
            </a:r>
            <a:endParaRPr dirty="0"/>
          </a:p>
        </p:txBody>
      </p:sp>
      <p:sp>
        <p:nvSpPr>
          <p:cNvPr id="307" name="Google Shape;307;p23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1028700" y="1895475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필터 교체 당일(D-Day) 하루만 맞추는 것은 현실적으로 불가능하며, 모델이 조기에 위험을 감지해도 '오탐지'로 억울하게 채점됩니다.</a:t>
            </a:r>
            <a:endParaRPr dirty="0"/>
          </a:p>
        </p:txBody>
      </p:sp>
      <p:sp>
        <p:nvSpPr>
          <p:cNvPr id="309" name="Google Shape;309;p23"/>
          <p:cNvSpPr txBox="1"/>
          <p:nvPr/>
        </p:nvSpPr>
        <p:spPr>
          <a:xfrm>
            <a:off x="1028700" y="2904087"/>
            <a:ext cx="4652962" cy="88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현장에서 </a:t>
            </a:r>
            <a:r>
              <a:rPr lang="ko-KR" alt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필터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발주하고 작업 스케줄을 잡는 2주(14일)의 리드타임을 고려하여, 교체 전 14일간을 모두 '경고 구간(1)'으로 확장 타겟팅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했습니다.</a:t>
            </a:r>
            <a:endParaRPr dirty="0"/>
          </a:p>
        </p:txBody>
      </p:sp>
      <p:sp>
        <p:nvSpPr>
          <p:cNvPr id="319" name="Google Shape;319;p23"/>
          <p:cNvSpPr txBox="1"/>
          <p:nvPr/>
        </p:nvSpPr>
        <p:spPr>
          <a:xfrm>
            <a:off x="742950" y="476250"/>
            <a:ext cx="1142142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8. 타겟 엔지니어링: 14일 예지 보전 경고 구간</a:t>
            </a:r>
            <a:endParaRPr dirty="0"/>
          </a:p>
        </p:txBody>
      </p:sp>
      <p:sp>
        <p:nvSpPr>
          <p:cNvPr id="320" name="Google Shape;320;p23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1954281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962893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C5036D3-4770-3CCC-B669-2A1577A1EC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160" y="2009775"/>
            <a:ext cx="4758689" cy="2563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1004742" y="2740372"/>
            <a:ext cx="10182366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Part 3. 모델링 및 하이퍼파라미터 튜닝</a:t>
            </a:r>
            <a:endParaRPr dirty="0"/>
          </a:p>
        </p:txBody>
      </p:sp>
      <p:sp>
        <p:nvSpPr>
          <p:cNvPr id="331" name="Google Shape;331;p24"/>
          <p:cNvSpPr txBox="1"/>
          <p:nvPr/>
        </p:nvSpPr>
        <p:spPr>
          <a:xfrm>
            <a:off x="3617118" y="3702397"/>
            <a:ext cx="4957762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Two-Track 앙상블 전략과 동적 임계값 최적화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819150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검증 및 목적별 투트랙 전략</a:t>
            </a:r>
            <a:endParaRPr dirty="0"/>
          </a:p>
        </p:txBody>
      </p:sp>
      <p:sp>
        <p:nvSpPr>
          <p:cNvPr id="343" name="Google Shape;343;p25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6510337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모델링 파이썬 코드</a:t>
            </a:r>
            <a:endParaRPr dirty="0"/>
          </a:p>
        </p:txBody>
      </p:sp>
      <p:sp>
        <p:nvSpPr>
          <p:cNvPr id="345" name="Google Shape;345;p25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1028700" y="1895475"/>
            <a:ext cx="4652962" cy="88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Train(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altLang="ko-KR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6 : Val(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r>
              <a:rPr lang="en-US" altLang="ko-KR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2 : Test(</a:t>
            </a:r>
            <a:r>
              <a:rPr lang="ko-KR" alt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평가</a:t>
            </a:r>
            <a:r>
              <a:rPr lang="en-US" altLang="ko-KR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2 분할: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미래의 정보 누수를 막기 위해 시간 순서를 유지(shuffle=False)하여 모델의 객관성을 확보했습니다.</a:t>
            </a:r>
            <a:endParaRPr dirty="0"/>
          </a:p>
        </p:txBody>
      </p:sp>
      <p:sp>
        <p:nvSpPr>
          <p:cNvPr id="347" name="Google Shape;347;p25"/>
          <p:cNvSpPr txBox="1"/>
          <p:nvPr/>
        </p:nvSpPr>
        <p:spPr>
          <a:xfrm>
            <a:off x="1028700" y="3131646"/>
            <a:ext cx="465296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Track 1 (해석력 확보):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L1 로지스틱 회귀를 통해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가스가 필터를 망가뜨렸는지 원인을 시각적으로 도출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합니다.</a:t>
            </a:r>
            <a:endParaRPr dirty="0"/>
          </a:p>
        </p:txBody>
      </p:sp>
      <p:sp>
        <p:nvSpPr>
          <p:cNvPr id="348" name="Google Shape;348;p25"/>
          <p:cNvSpPr txBox="1"/>
          <p:nvPr/>
        </p:nvSpPr>
        <p:spPr>
          <a:xfrm>
            <a:off x="1028700" y="4122656"/>
            <a:ext cx="465296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Track 2 (성능 극대화):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강력한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Random Forest 앙상블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투입하여 실제 교체 알람의 예측 정확도를 한계까지 끌어올립니다.</a:t>
            </a:r>
            <a:endParaRPr dirty="0"/>
          </a:p>
        </p:txBody>
      </p:sp>
      <p:sp>
        <p:nvSpPr>
          <p:cNvPr id="367" name="Google Shape;367;p25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9. 검증 분할(6:2:2) 및 Two-Track 앙상블 모델링</a:t>
            </a:r>
            <a:endParaRPr dirty="0"/>
          </a:p>
        </p:txBody>
      </p:sp>
      <p:sp>
        <p:nvSpPr>
          <p:cNvPr id="368" name="Google Shape;368;p25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54281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3190452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4181462"/>
            <a:ext cx="126057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5B18301-8E4A-C7C4-C059-2B8BAE55825D}"/>
              </a:ext>
            </a:extLst>
          </p:cNvPr>
          <p:cNvGrpSpPr/>
          <p:nvPr/>
        </p:nvGrpSpPr>
        <p:grpSpPr>
          <a:xfrm>
            <a:off x="6510337" y="1943100"/>
            <a:ext cx="4862512" cy="4286250"/>
            <a:chOff x="6510337" y="1943100"/>
            <a:chExt cx="4862512" cy="4286250"/>
          </a:xfrm>
        </p:grpSpPr>
        <p:pic>
          <p:nvPicPr>
            <p:cNvPr id="340" name="Google Shape;340;p2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10337" y="1943100"/>
              <a:ext cx="4862512" cy="428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0EB7097-E264-F018-8B84-F31D47AB7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75624" y="2019300"/>
              <a:ext cx="4797225" cy="38428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1943100"/>
            <a:ext cx="486251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 txBox="1"/>
          <p:nvPr/>
        </p:nvSpPr>
        <p:spPr>
          <a:xfrm>
            <a:off x="819150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Validation Set을 활용한 불균형 제어</a:t>
            </a:r>
            <a:endParaRPr dirty="0"/>
          </a:p>
        </p:txBody>
      </p:sp>
      <p:sp>
        <p:nvSpPr>
          <p:cNvPr id="383" name="Google Shape;383;p26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6510337" y="1400175"/>
            <a:ext cx="51056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동적 임계값 탐색 코드</a:t>
            </a:r>
            <a:endParaRPr dirty="0"/>
          </a:p>
        </p:txBody>
      </p:sp>
      <p:sp>
        <p:nvSpPr>
          <p:cNvPr id="385" name="Google Shape;385;p26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 txBox="1"/>
          <p:nvPr/>
        </p:nvSpPr>
        <p:spPr>
          <a:xfrm>
            <a:off x="1028700" y="1895475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필터 교체일(1)이 너무 적어, 고정 임계값(0.5)을 사용하면 AI가 오탐지를 두려워해 아무 알람도 울리지 않는(지표 0.0) 심각한 버그가 발생했습니다.</a:t>
            </a:r>
            <a:endParaRPr dirty="0"/>
          </a:p>
        </p:txBody>
      </p:sp>
      <p:sp>
        <p:nvSpPr>
          <p:cNvPr id="387" name="Google Shape;387;p26"/>
          <p:cNvSpPr txBox="1"/>
          <p:nvPr/>
        </p:nvSpPr>
        <p:spPr>
          <a:xfrm>
            <a:off x="1028700" y="3228766"/>
            <a:ext cx="4652962" cy="88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해결책: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사람이 찍어주는 대신,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AI가 검토 데이터(Validation)를 순회하며 종합 점수(F1-Score)가 가장 높은 최적의 알람 기준을 스스로 찾아내도록 알고리즘을 최적화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했습니다.</a:t>
            </a:r>
            <a:endParaRPr dirty="0"/>
          </a:p>
        </p:txBody>
      </p:sp>
      <p:sp>
        <p:nvSpPr>
          <p:cNvPr id="399" name="Google Shape;399;p26"/>
          <p:cNvSpPr txBox="1"/>
          <p:nvPr/>
        </p:nvSpPr>
        <p:spPr>
          <a:xfrm>
            <a:off x="742950" y="476250"/>
            <a:ext cx="1142142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10. 딜레마 타파: 동적 임계값 자동 최적화</a:t>
            </a:r>
            <a:endParaRPr dirty="0"/>
          </a:p>
        </p:txBody>
      </p:sp>
      <p:sp>
        <p:nvSpPr>
          <p:cNvPr id="400" name="Google Shape;400;p26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1960907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294198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0DC7385-DBEE-2C64-8B69-DCB5697596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9715" y="1980959"/>
            <a:ext cx="4769915" cy="18061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1966"/>
            <a:ext cx="11049000" cy="2471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74702"/>
            <a:ext cx="11049000" cy="1607047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 txBox="1"/>
          <p:nvPr/>
        </p:nvSpPr>
        <p:spPr>
          <a:xfrm>
            <a:off x="571500" y="1152525"/>
            <a:ext cx="1104900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물리적 도메인 지식(28일 누적합)과 AI 최적화 기법(동적 임계값)을 결합한 결과</a:t>
            </a:r>
            <a:endParaRPr lang="en-US" sz="1425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Test 정밀도</a:t>
            </a:r>
            <a:r>
              <a:rPr lang="en-US" sz="1425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100% 및 F1-Score 80% 달성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이라는 완벽한 지표를 기록했습니다.</a:t>
            </a:r>
            <a:endParaRPr dirty="0"/>
          </a:p>
        </p:txBody>
      </p:sp>
      <p:graphicFrame>
        <p:nvGraphicFramePr>
          <p:cNvPr id="413" name="Google Shape;413;p27"/>
          <p:cNvGraphicFramePr/>
          <p:nvPr>
            <p:extLst>
              <p:ext uri="{D42A27DB-BD31-4B8C-83A1-F6EECF244321}">
                <p14:modId xmlns:p14="http://schemas.microsoft.com/office/powerpoint/2010/main" val="2700415792"/>
              </p:ext>
            </p:extLst>
          </p:nvPr>
        </p:nvGraphicFramePr>
        <p:xfrm>
          <a:off x="581025" y="1931491"/>
          <a:ext cx="11029950" cy="2452675"/>
        </p:xfrm>
        <a:graphic>
          <a:graphicData uri="http://schemas.openxmlformats.org/drawingml/2006/table">
            <a:tbl>
              <a:tblPr firstRow="1" bandRow="1">
                <a:noFill/>
                <a:tableStyleId>{743AA00C-1A47-4E45-82FE-3D7995E471F3}</a:tableStyleId>
              </a:tblPr>
              <a:tblGrid>
                <a:gridCol w="252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4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검증 단계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Accuracy (정확도)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Precision (정밀도)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Recall (재현율)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F1-Score (종합 지표)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Validation (검토 20%)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71.2%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100% (1.000)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71.2%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E11D4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83.2%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Test (최종 평가 20%)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69.9%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100% (1.000)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66.7%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E11D4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80.0%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4" name="Google Shape;414;p27"/>
          <p:cNvSpPr txBox="1"/>
          <p:nvPr/>
        </p:nvSpPr>
        <p:spPr>
          <a:xfrm>
            <a:off x="819150" y="4965203"/>
            <a:ext cx="10610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정밀도 100%의 압도적인 산업적 가치:</a:t>
            </a:r>
            <a:endParaRPr dirty="0"/>
          </a:p>
        </p:txBody>
      </p:sp>
      <p:sp>
        <p:nvSpPr>
          <p:cNvPr id="415" name="Google Shape;415;p27"/>
          <p:cNvSpPr txBox="1"/>
          <p:nvPr/>
        </p:nvSpPr>
        <p:spPr>
          <a:xfrm>
            <a:off x="819150" y="5270003"/>
            <a:ext cx="10610850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 클린룸의 </a:t>
            </a:r>
            <a:r>
              <a:rPr lang="ko-KR" alt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전체</a:t>
            </a: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필터를 교체하려면 </a:t>
            </a:r>
            <a:r>
              <a:rPr lang="ko-KR" altLang="en-US" sz="1275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공조기를</a:t>
            </a: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세</a:t>
            </a:r>
            <a:r>
              <a:rPr lang="ko-KR" alt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워 </a:t>
            </a: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막대한 비</a:t>
            </a:r>
            <a:r>
              <a:rPr lang="ko-KR" alt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용</a:t>
            </a: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를 투입해야 합니다. </a:t>
            </a: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본 모델의 </a:t>
            </a:r>
            <a:r>
              <a:rPr lang="en-US" sz="1275" b="1" i="0" u="none" strike="noStrike" cap="none" dirty="0">
                <a:solidFill>
                  <a:srgbClr val="E11D48"/>
                </a:solidFill>
                <a:latin typeface="Noto Sans KR"/>
                <a:ea typeface="Noto Sans KR"/>
                <a:cs typeface="Noto Sans KR"/>
                <a:sym typeface="Noto Sans KR"/>
              </a:rPr>
              <a:t>정밀도 100%</a:t>
            </a: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r>
              <a:rPr lang="en-US" sz="1275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"AI가 교체 알람을 울렸을 때 오탐지일 확률이 완벽하게 제로이므로 낭비되는 유지보수 비용을 전액 세이브할 수 있다"</a:t>
            </a:r>
            <a:r>
              <a:rPr lang="en-US" sz="127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는 것을 실제 평가 데이터로 증명한 것입니다.</a:t>
            </a:r>
            <a:endParaRPr dirty="0"/>
          </a:p>
        </p:txBody>
      </p:sp>
      <p:pic>
        <p:nvPicPr>
          <p:cNvPr id="416" name="Google Shape;41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890" y="5003683"/>
            <a:ext cx="148232" cy="15743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7"/>
          <p:cNvSpPr/>
          <p:nvPr/>
        </p:nvSpPr>
        <p:spPr>
          <a:xfrm>
            <a:off x="581025" y="3750766"/>
            <a:ext cx="25265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3107531" y="3750766"/>
            <a:ext cx="25212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5628828" y="3750766"/>
            <a:ext cx="25212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8150125" y="3750766"/>
            <a:ext cx="24852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10635406" y="3750766"/>
            <a:ext cx="9755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11. 종합 모델 성능 평가 (최종 결과)</a:t>
            </a:r>
            <a:endParaRPr dirty="0"/>
          </a:p>
        </p:txBody>
      </p:sp>
      <p:sp>
        <p:nvSpPr>
          <p:cNvPr id="423" name="Google Shape;423;p27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06806"/>
            <a:ext cx="11049000" cy="3615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36796"/>
            <a:ext cx="5381625" cy="1802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836796"/>
            <a:ext cx="5381625" cy="180212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8"/>
          <p:cNvSpPr txBox="1"/>
          <p:nvPr/>
        </p:nvSpPr>
        <p:spPr>
          <a:xfrm>
            <a:off x="819150" y="4941570"/>
            <a:ext cx="51306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3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AI 모델의 수학적 발견</a:t>
            </a:r>
            <a:endParaRPr dirty="0"/>
          </a:p>
        </p:txBody>
      </p:sp>
      <p:sp>
        <p:nvSpPr>
          <p:cNvPr id="436" name="Google Shape;436;p28"/>
          <p:cNvSpPr/>
          <p:nvPr/>
        </p:nvSpPr>
        <p:spPr>
          <a:xfrm>
            <a:off x="819150" y="527494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 txBox="1"/>
          <p:nvPr/>
        </p:nvSpPr>
        <p:spPr>
          <a:xfrm>
            <a:off x="819150" y="5408295"/>
            <a:ext cx="48863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L1 규제 기반 가중치 추출(우측 그래프) 결과,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유입 OAC NO3(질산/NOx 계열)의 28일 누적량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 압도적인 1위 킬러 가스로 도출되었으며, 내부 발생 NO2가 2위로 포착되었습니다.</a:t>
            </a:r>
            <a:endParaRPr dirty="0"/>
          </a:p>
        </p:txBody>
      </p:sp>
      <p:sp>
        <p:nvSpPr>
          <p:cNvPr id="438" name="Google Shape;438;p28"/>
          <p:cNvSpPr txBox="1"/>
          <p:nvPr/>
        </p:nvSpPr>
        <p:spPr>
          <a:xfrm>
            <a:off x="6486525" y="4939665"/>
            <a:ext cx="49339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11D48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도메인 융합</a:t>
            </a:r>
            <a:endParaRPr dirty="0"/>
          </a:p>
        </p:txBody>
      </p:sp>
      <p:sp>
        <p:nvSpPr>
          <p:cNvPr id="439" name="Google Shape;439;p28"/>
          <p:cNvSpPr txBox="1"/>
          <p:nvPr/>
        </p:nvSpPr>
        <p:spPr>
          <a:xfrm>
            <a:off x="6486525" y="5210175"/>
            <a:ext cx="4933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현장에서는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SOx, NOx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와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내부 공정 불소(F)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를 핵심 문제로 관리합니다. AI가 현장의 골칫거리인 NOx 계열의 파괴력을 정확히 1위로 짚어냈습니다.</a:t>
            </a:r>
            <a:endParaRPr dirty="0"/>
          </a:p>
        </p:txBody>
      </p:sp>
      <p:sp>
        <p:nvSpPr>
          <p:cNvPr id="440" name="Google Shape;440;p28"/>
          <p:cNvSpPr txBox="1"/>
          <p:nvPr/>
        </p:nvSpPr>
        <p:spPr>
          <a:xfrm>
            <a:off x="6486525" y="5838825"/>
            <a:ext cx="4933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*참고: 불소(F) 가중치가 왜곡된 것은 반응성 가스 간 다중공선성(Multicollinearity)에 의한 선형 모델(L1)의 수학적 축소 현상일 뿐이며, RF 앙상블 모델은 이 상호작용을 완벽히 학습하여 성능을 냈습니다.</a:t>
            </a:r>
            <a:endParaRPr dirty="0"/>
          </a:p>
        </p:txBody>
      </p:sp>
      <p:pic>
        <p:nvPicPr>
          <p:cNvPr id="441" name="Google Shape;44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054" y="4979056"/>
            <a:ext cx="143470" cy="15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0447" y="4967546"/>
            <a:ext cx="133498" cy="14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8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12. 결과 도출 및 해석: AI와 현장 도메인의 교차 검증</a:t>
            </a:r>
            <a:endParaRPr dirty="0"/>
          </a:p>
        </p:txBody>
      </p:sp>
      <p:sp>
        <p:nvSpPr>
          <p:cNvPr id="444" name="Google Shape;444;p28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B276CC-EC19-3E10-1EBF-2B7D425BFEA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035" y="1106804"/>
            <a:ext cx="10025270" cy="36156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152525"/>
            <a:ext cx="5357812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1895475"/>
            <a:ext cx="4862512" cy="164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0337" y="3708945"/>
            <a:ext cx="4862512" cy="157204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 txBox="1"/>
          <p:nvPr/>
        </p:nvSpPr>
        <p:spPr>
          <a:xfrm>
            <a:off x="819150" y="1400175"/>
            <a:ext cx="510563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성과 요약</a:t>
            </a:r>
            <a:endParaRPr dirty="0"/>
          </a:p>
        </p:txBody>
      </p:sp>
      <p:sp>
        <p:nvSpPr>
          <p:cNvPr id="457" name="Google Shape;457;p29"/>
          <p:cNvSpPr/>
          <p:nvPr/>
        </p:nvSpPr>
        <p:spPr>
          <a:xfrm>
            <a:off x="819150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6510337" y="1400175"/>
            <a:ext cx="510563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시스템 활용 및 확장 계획</a:t>
            </a:r>
            <a:endParaRPr dirty="0"/>
          </a:p>
        </p:txBody>
      </p:sp>
      <p:sp>
        <p:nvSpPr>
          <p:cNvPr id="459" name="Google Shape;459;p29"/>
          <p:cNvSpPr/>
          <p:nvPr/>
        </p:nvSpPr>
        <p:spPr>
          <a:xfrm>
            <a:off x="6510337" y="1762125"/>
            <a:ext cx="4862512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 txBox="1"/>
          <p:nvPr/>
        </p:nvSpPr>
        <p:spPr>
          <a:xfrm>
            <a:off x="1028700" y="1895475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융합의 성공: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AI 지식뿐만 아니라 반도체 물리적 도메인(28일 장기 누적합, 내부/외부 분리, 14일 리드타임)을 반영했을 때 성능이 극대화됨을 증명했습니다.</a:t>
            </a:r>
            <a:endParaRPr dirty="0"/>
          </a:p>
        </p:txBody>
      </p:sp>
      <p:sp>
        <p:nvSpPr>
          <p:cNvPr id="461" name="Google Shape;461;p29"/>
          <p:cNvSpPr txBox="1"/>
          <p:nvPr/>
        </p:nvSpPr>
        <p:spPr>
          <a:xfrm>
            <a:off x="1028700" y="3096241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안전한 예지 보전 달성: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동적 임계값 최적화를 통해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오탐지율 0% (정밀도 100%)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의 완벽한 신뢰성을 갖춘 CBM 예측 시스템을 성공적으로 구축했습니다.</a:t>
            </a:r>
            <a:endParaRPr dirty="0"/>
          </a:p>
        </p:txBody>
      </p:sp>
      <p:sp>
        <p:nvSpPr>
          <p:cNvPr id="462" name="Google Shape;462;p29"/>
          <p:cNvSpPr txBox="1"/>
          <p:nvPr/>
        </p:nvSpPr>
        <p:spPr>
          <a:xfrm>
            <a:off x="1028700" y="4330140"/>
            <a:ext cx="4652962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해석 가능성(XAI) 확보: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L1 분석을 통해 AI의 판단(NOx 파괴력)과 현장의 노하우(SOx, NOx, F 관리)가 맥락적으로 일치함을 교차 검증했습니다.</a:t>
            </a:r>
            <a:endParaRPr dirty="0"/>
          </a:p>
        </p:txBody>
      </p:sp>
      <p:pic>
        <p:nvPicPr>
          <p:cNvPr id="463" name="Google Shape;463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2737" y="2076450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9"/>
          <p:cNvSpPr txBox="1"/>
          <p:nvPr/>
        </p:nvSpPr>
        <p:spPr>
          <a:xfrm>
            <a:off x="6996112" y="2047875"/>
            <a:ext cx="42243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Edge AI 시스템 연동</a:t>
            </a:r>
            <a:endParaRPr dirty="0"/>
          </a:p>
        </p:txBody>
      </p:sp>
      <p:sp>
        <p:nvSpPr>
          <p:cNvPr id="465" name="Google Shape;465;p29"/>
          <p:cNvSpPr txBox="1"/>
          <p:nvPr/>
        </p:nvSpPr>
        <p:spPr>
          <a:xfrm>
            <a:off x="6996113" y="2352675"/>
            <a:ext cx="422433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개발된 본 알고리즘을 개별 공조기 PLC 컨트롤러에 경량화 탑재하여,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서버 부하 없는 실시간 엣지 예지 보전 시스템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고도화</a:t>
            </a:r>
            <a:r>
              <a:rPr lang="ko-KR" alt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를 검토 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예정입니다.</a:t>
            </a:r>
            <a:endParaRPr dirty="0"/>
          </a:p>
        </p:txBody>
      </p:sp>
      <p:pic>
        <p:nvPicPr>
          <p:cNvPr id="466" name="Google Shape;466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2737" y="3889920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9"/>
          <p:cNvSpPr txBox="1"/>
          <p:nvPr/>
        </p:nvSpPr>
        <p:spPr>
          <a:xfrm>
            <a:off x="6996112" y="3861345"/>
            <a:ext cx="4224337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25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타 케미컬필터 공급사</a:t>
            </a:r>
            <a:r>
              <a:rPr lang="ko-KR" altLang="en-US" sz="1425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425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제조 라인 수평 전개</a:t>
            </a:r>
            <a:endParaRPr dirty="0"/>
          </a:p>
        </p:txBody>
      </p:sp>
      <p:sp>
        <p:nvSpPr>
          <p:cNvPr id="468" name="Google Shape;468;p29"/>
          <p:cNvSpPr txBox="1"/>
          <p:nvPr/>
        </p:nvSpPr>
        <p:spPr>
          <a:xfrm>
            <a:off x="6996112" y="4166145"/>
            <a:ext cx="422433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본 분석 파이프라인(OAC 분리 및 누적합 로직)은 범용성이 매우 뛰어나므로, </a:t>
            </a:r>
            <a:r>
              <a:rPr lang="ko-KR" alt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반도체뿐만 아니라 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디스플레이, 배터리 등 정밀 클린룸이 필요한 타 제조 공장에도 즉각 수평 전개할 수 있습니다.</a:t>
            </a:r>
            <a:endParaRPr dirty="0"/>
          </a:p>
        </p:txBody>
      </p:sp>
      <p:sp>
        <p:nvSpPr>
          <p:cNvPr id="469" name="Google Shape;469;p29"/>
          <p:cNvSpPr txBox="1"/>
          <p:nvPr/>
        </p:nvSpPr>
        <p:spPr>
          <a:xfrm>
            <a:off x="742950" y="476250"/>
            <a:ext cx="114214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13. 최종 결론 및 향후 시스템 활용 계획</a:t>
            </a:r>
            <a:endParaRPr dirty="0"/>
          </a:p>
        </p:txBody>
      </p:sp>
      <p:sp>
        <p:nvSpPr>
          <p:cNvPr id="470" name="Google Shape;470;p29"/>
          <p:cNvSpPr/>
          <p:nvPr/>
        </p:nvSpPr>
        <p:spPr>
          <a:xfrm>
            <a:off x="571500" y="476250"/>
            <a:ext cx="76200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1954281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3155047"/>
            <a:ext cx="12605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388946"/>
            <a:ext cx="126057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 txBox="1"/>
          <p:nvPr/>
        </p:nvSpPr>
        <p:spPr>
          <a:xfrm>
            <a:off x="295275" y="1814719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End of Document</a:t>
            </a:r>
            <a:endParaRPr dirty="0"/>
          </a:p>
        </p:txBody>
      </p:sp>
      <p:sp>
        <p:nvSpPr>
          <p:cNvPr id="482" name="Google Shape;482;p30"/>
          <p:cNvSpPr txBox="1"/>
          <p:nvPr/>
        </p:nvSpPr>
        <p:spPr>
          <a:xfrm>
            <a:off x="571500" y="288151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 Fab 공조 케미컬 필터 예지 보전 예측 최적화 모델</a:t>
            </a:r>
            <a:endParaRPr dirty="0"/>
          </a:p>
        </p:txBody>
      </p:sp>
      <p:sp>
        <p:nvSpPr>
          <p:cNvPr id="483" name="Google Shape;483;p30"/>
          <p:cNvSpPr txBox="1"/>
          <p:nvPr/>
        </p:nvSpPr>
        <p:spPr>
          <a:xfrm>
            <a:off x="571500" y="3628189"/>
            <a:ext cx="11049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1513</Words>
  <Application>Microsoft Office PowerPoint</Application>
  <PresentationFormat>와이드스크린</PresentationFormat>
  <Paragraphs>116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Calibri</vt:lpstr>
      <vt:lpstr>Arial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2</cp:revision>
  <dcterms:modified xsi:type="dcterms:W3CDTF">2026-04-14T09:54:50Z</dcterms:modified>
</cp:coreProperties>
</file>