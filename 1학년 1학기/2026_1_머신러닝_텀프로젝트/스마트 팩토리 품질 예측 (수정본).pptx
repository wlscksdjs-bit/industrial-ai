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embeddedFontLst>
    <p:embeddedFont>
      <p:font typeface="JetBrains Mono" panose="020B0600000101010101" charset="0"/>
      <p:regular r:id="rId11"/>
      <p:bold r:id="rId12"/>
      <p:italic r:id="rId13"/>
      <p:boldItalic r:id="rId14"/>
    </p:embeddedFont>
    <p:embeddedFont>
      <p:font typeface="Noto Sans KR" panose="020B0200000000000000" pitchFamily="50" charset="-127"/>
      <p:regular r:id="rId15"/>
      <p:bold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4EFF9F9-8E88-4426-A6C0-6C9DE839C361}">
  <a:tblStyle styleId="{44EFF9F9-8E88-4426-A6C0-6C9DE839C361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9" d="100"/>
          <a:sy n="89" d="100"/>
        </p:scale>
        <p:origin x="398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7" name="Google Shape;87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0" y="1518344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3"/>
          <p:cNvSpPr txBox="1"/>
          <p:nvPr/>
        </p:nvSpPr>
        <p:spPr>
          <a:xfrm>
            <a:off x="3210639" y="2375594"/>
            <a:ext cx="5770721" cy="1386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99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>
                <a:solidFill>
                  <a:srgbClr val="0284C7"/>
                </a:solidFill>
                <a:latin typeface="Noto Sans KR"/>
                <a:ea typeface="Noto Sans KR"/>
                <a:cs typeface="Noto Sans KR"/>
                <a:sym typeface="Noto Sans KR"/>
              </a:rPr>
              <a:t>스마트 팩토리 CNC 장비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200" b="1" i="0" u="none" strike="noStrike" cap="none">
                <a:solidFill>
                  <a:srgbClr val="0284C7"/>
                </a:solidFill>
                <a:latin typeface="Noto Sans KR"/>
                <a:ea typeface="Noto Sans KR"/>
                <a:cs typeface="Noto Sans KR"/>
                <a:sym typeface="Noto Sans KR"/>
              </a:rPr>
              <a:t> 품질 예측 및 센서 최적화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3071004" y="3952875"/>
            <a:ext cx="5953933" cy="480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산업</a:t>
            </a:r>
            <a:r>
              <a:rPr lang="en-US" sz="1950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950" b="0" i="0" u="none" strike="noStrike" cap="none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현장의</a:t>
            </a:r>
            <a:r>
              <a:rPr lang="en-US" sz="1950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950" b="0" i="0" u="none" strike="noStrike" cap="none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무의미한</a:t>
            </a:r>
            <a:r>
              <a:rPr lang="en-US" sz="1950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950" b="0" i="0" u="none" strike="noStrike" cap="none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센서</a:t>
            </a:r>
            <a:r>
              <a:rPr lang="en-US" sz="1950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950" b="0" i="0" u="none" strike="noStrike" cap="none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노이즈</a:t>
            </a:r>
            <a:r>
              <a:rPr lang="en-US" sz="1950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950" b="0" i="0" u="none" strike="noStrike" cap="none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식별</a:t>
            </a:r>
            <a:r>
              <a:rPr lang="en-US" sz="1950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및 </a:t>
            </a:r>
            <a:r>
              <a:rPr lang="en-US" sz="1950" b="0" i="0" u="none" strike="noStrike" cap="none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회귀</a:t>
            </a:r>
            <a:r>
              <a:rPr lang="en-US" sz="1950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950" b="0" i="0" u="none" strike="noStrike" cap="none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모델</a:t>
            </a:r>
            <a:r>
              <a:rPr lang="en-US" sz="1950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950" b="0" i="0" u="none" strike="noStrike" cap="none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해석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1714500"/>
            <a:ext cx="533400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809625" y="2259657"/>
            <a:ext cx="5095875" cy="57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산업 현장의 한계:</a:t>
            </a:r>
            <a:r>
              <a:rPr lang="en-US" sz="1425" b="0" i="0" u="none" strike="noStrike" cap="non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사후 불량 탐지는 막대한 비용 손실을 초래하므로, 센서 데이터를 통한 사전 예측(예지 보전)이 필수적입니다.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809625" y="3076723"/>
            <a:ext cx="5095875" cy="868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스마트 팩토리 딜레마:</a:t>
            </a:r>
            <a:r>
              <a:rPr lang="en-US" sz="1425" b="0" i="0" u="none" strike="noStrike" cap="non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수많은 센서 빅데이터를 수집하지만, </a:t>
            </a:r>
            <a:r>
              <a:rPr lang="en-US" sz="1425" b="1" i="0" u="none" strike="noStrike" cap="none">
                <a:solidFill>
                  <a:srgbClr val="E11D48"/>
                </a:solidFill>
                <a:latin typeface="Noto Sans KR"/>
                <a:ea typeface="Noto Sans KR"/>
                <a:cs typeface="Noto Sans KR"/>
                <a:sym typeface="Noto Sans KR"/>
              </a:rPr>
              <a:t>어떤 센서가 진짜 품질의 원인이고 어떤 것이 노이즈인지 구분하기 매우 어렵습니다.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809625" y="4183260"/>
            <a:ext cx="5095875" cy="1157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66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해결 방안 (Task):</a:t>
            </a:r>
            <a:r>
              <a:rPr lang="en-US" sz="1425" b="0" i="0" u="none" strike="noStrike" cap="non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25" b="0" i="0" u="none" strike="noStrike" cap="non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- 회귀(Regression) 모델로 제품의 '품질 점수'를 선제적 예측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25" b="0" i="0" u="none" strike="noStrike" cap="non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- </a:t>
            </a:r>
            <a:r>
              <a:rPr lang="en-US" sz="1425" b="1" i="0" u="none" strike="noStrike" cap="none">
                <a:solidFill>
                  <a:srgbClr val="0284C7"/>
                </a:solidFill>
                <a:latin typeface="Noto Sans KR"/>
                <a:ea typeface="Noto Sans KR"/>
                <a:cs typeface="Noto Sans KR"/>
                <a:sym typeface="Noto Sans KR"/>
              </a:rPr>
              <a:t>L1 정규화(Lasso)를 통한 불필요 센서 식별 및 유지보수 비용 절감</a:t>
            </a:r>
            <a:endParaRPr/>
          </a:p>
        </p:txBody>
      </p:sp>
      <p:pic>
        <p:nvPicPr>
          <p:cNvPr id="100" name="Google Shape;100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24600" y="1752600"/>
            <a:ext cx="5257800" cy="421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095773"/>
            <a:ext cx="952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2292994"/>
            <a:ext cx="1809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500" y="3110061"/>
            <a:ext cx="1809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71500" y="4216598"/>
            <a:ext cx="16192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762000" y="55245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프로젝트 배경 및 문제 정의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571500" y="552450"/>
            <a:ext cx="57150" cy="4953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7" name="Google Shape;107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2278707"/>
            <a:ext cx="952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202310"/>
            <a:ext cx="95250" cy="19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333500"/>
            <a:ext cx="5381625" cy="5048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38875" y="1333500"/>
            <a:ext cx="5381625" cy="5048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486525" y="2286000"/>
            <a:ext cx="4886325" cy="38481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5"/>
          <p:cNvSpPr txBox="1"/>
          <p:nvPr/>
        </p:nvSpPr>
        <p:spPr>
          <a:xfrm>
            <a:off x="819150" y="1581150"/>
            <a:ext cx="5130641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284C7"/>
                </a:solidFill>
                <a:latin typeface="Noto Sans KR"/>
                <a:ea typeface="Noto Sans KR"/>
                <a:cs typeface="Noto Sans KR"/>
                <a:sym typeface="Noto Sans KR"/>
              </a:rPr>
              <a:t>데이터 셋 구성 (2,000건 모사)</a:t>
            </a:r>
            <a:endParaRPr/>
          </a:p>
        </p:txBody>
      </p:sp>
      <p:sp>
        <p:nvSpPr>
          <p:cNvPr id="119" name="Google Shape;119;p15"/>
          <p:cNvSpPr/>
          <p:nvPr/>
        </p:nvSpPr>
        <p:spPr>
          <a:xfrm>
            <a:off x="819150" y="2028825"/>
            <a:ext cx="4886325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0" name="Google Shape;120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19150" y="3544937"/>
            <a:ext cx="4886325" cy="73908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5"/>
          <p:cNvSpPr txBox="1"/>
          <p:nvPr/>
        </p:nvSpPr>
        <p:spPr>
          <a:xfrm>
            <a:off x="6486525" y="1581150"/>
            <a:ext cx="5130641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284C7"/>
                </a:solidFill>
                <a:latin typeface="Noto Sans KR"/>
                <a:ea typeface="Noto Sans KR"/>
                <a:cs typeface="Noto Sans KR"/>
                <a:sym typeface="Noto Sans KR"/>
              </a:rPr>
              <a:t>수학적 품질 점수 모사 코드</a:t>
            </a:r>
            <a:endParaRPr/>
          </a:p>
        </p:txBody>
      </p:sp>
      <p:sp>
        <p:nvSpPr>
          <p:cNvPr id="122" name="Google Shape;122;p15"/>
          <p:cNvSpPr/>
          <p:nvPr/>
        </p:nvSpPr>
        <p:spPr>
          <a:xfrm>
            <a:off x="6486525" y="2028825"/>
            <a:ext cx="4886325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1085850" y="2190750"/>
            <a:ext cx="4619625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유의미 센서:</a:t>
            </a:r>
            <a:r>
              <a:rPr lang="en-US" sz="1425" b="0" i="0" u="none" strike="noStrike" cap="non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장비 온도, 진동, 회전속도, 냉각수 압력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1085850" y="2594520"/>
            <a:ext cx="4619625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노이즈 센서:</a:t>
            </a:r>
            <a:r>
              <a:rPr lang="en-US" sz="1425" b="0" i="0" u="none" strike="noStrike" cap="non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공장 실내 습도, 조명 밝기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1085850" y="2998291"/>
            <a:ext cx="4619625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타겟(Y):</a:t>
            </a:r>
            <a:r>
              <a:rPr lang="en-US" sz="1425" b="0" i="0" u="none" strike="noStrike" cap="non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제품 최종 품질 점수 (0~100점)</a:t>
            </a:r>
            <a:endParaRPr/>
          </a:p>
        </p:txBody>
      </p:sp>
      <p:pic>
        <p:nvPicPr>
          <p:cNvPr id="126" name="Google Shape;126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00125" y="3725912"/>
            <a:ext cx="123825" cy="161925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5"/>
          <p:cNvSpPr txBox="1"/>
          <p:nvPr/>
        </p:nvSpPr>
        <p:spPr>
          <a:xfrm>
            <a:off x="6677025" y="2438400"/>
            <a:ext cx="300037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1" u="none" strike="noStrike" cap="none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[산업 공학 수식 기반의 품질 점수 생성]</a:t>
            </a:r>
            <a:endParaRPr/>
          </a:p>
        </p:txBody>
      </p:sp>
      <p:sp>
        <p:nvSpPr>
          <p:cNvPr id="128" name="Google Shape;128;p15"/>
          <p:cNvSpPr txBox="1"/>
          <p:nvPr/>
        </p:nvSpPr>
        <p:spPr>
          <a:xfrm>
            <a:off x="6677025" y="2438400"/>
            <a:ext cx="4400550" cy="404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1" u="none" strike="noStrike" cap="none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- 온도(-0.5), 진동(-3.0)은 품질 하락 원인</a:t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>
            <a:off x="6677025" y="2652712"/>
            <a:ext cx="4543425" cy="404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1" u="none" strike="noStrike" cap="none" dirty="0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- RPM(+0.02), </a:t>
            </a:r>
            <a:r>
              <a:rPr lang="en-US" sz="1125" b="0" i="1" u="none" strike="noStrike" cap="none" dirty="0" err="1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압력</a:t>
            </a:r>
            <a:r>
              <a:rPr lang="en-US" sz="1125" b="0" i="1" u="none" strike="noStrike" cap="none" dirty="0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(+0.3)은 </a:t>
            </a:r>
            <a:r>
              <a:rPr lang="en-US" sz="1125" b="0" i="1" u="none" strike="noStrike" cap="none" dirty="0" err="1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품질</a:t>
            </a:r>
            <a:r>
              <a:rPr lang="en-US" sz="1125" b="0" i="1" u="none" strike="noStrike" cap="none" dirty="0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1125" b="0" i="1" u="none" strike="noStrike" cap="none" dirty="0" err="1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상승</a:t>
            </a:r>
            <a:r>
              <a:rPr lang="en-US" sz="1125" b="0" i="1" u="none" strike="noStrike" cap="none" dirty="0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1125" b="0" i="1" u="none" strike="noStrike" cap="none" dirty="0" err="1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원인</a:t>
            </a:r>
            <a:endParaRPr dirty="0"/>
          </a:p>
        </p:txBody>
      </p:sp>
      <p:sp>
        <p:nvSpPr>
          <p:cNvPr id="130" name="Google Shape;130;p15"/>
          <p:cNvSpPr txBox="1"/>
          <p:nvPr/>
        </p:nvSpPr>
        <p:spPr>
          <a:xfrm>
            <a:off x="6677025" y="2867025"/>
            <a:ext cx="4314825" cy="404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1" u="none" strike="noStrike" cap="none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- 습도/조도는 수식에 포함시키지 않음(노이즈)</a:t>
            </a:r>
            <a:endParaRPr/>
          </a:p>
        </p:txBody>
      </p:sp>
      <p:sp>
        <p:nvSpPr>
          <p:cNvPr id="131" name="Google Shape;131;p15"/>
          <p:cNvSpPr txBox="1"/>
          <p:nvPr/>
        </p:nvSpPr>
        <p:spPr>
          <a:xfrm>
            <a:off x="8534400" y="3081337"/>
            <a:ext cx="1714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D19A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80</a:t>
            </a:r>
            <a:endParaRPr/>
          </a:p>
        </p:txBody>
      </p:sp>
      <p:sp>
        <p:nvSpPr>
          <p:cNvPr id="132" name="Google Shape;132;p15"/>
          <p:cNvSpPr txBox="1"/>
          <p:nvPr/>
        </p:nvSpPr>
        <p:spPr>
          <a:xfrm>
            <a:off x="8791575" y="3081337"/>
            <a:ext cx="12001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1" u="none" strike="noStrike" cap="none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기본 시작 점수</a:t>
            </a:r>
            <a:endParaRPr/>
          </a:p>
        </p:txBody>
      </p:sp>
      <p:sp>
        <p:nvSpPr>
          <p:cNvPr id="133" name="Google Shape;133;p15"/>
          <p:cNvSpPr txBox="1"/>
          <p:nvPr/>
        </p:nvSpPr>
        <p:spPr>
          <a:xfrm>
            <a:off x="10248900" y="3081337"/>
            <a:ext cx="25717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D19A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0.5</a:t>
            </a:r>
            <a:endParaRPr/>
          </a:p>
        </p:txBody>
      </p:sp>
      <p:sp>
        <p:nvSpPr>
          <p:cNvPr id="134" name="Google Shape;134;p15"/>
          <p:cNvSpPr txBox="1"/>
          <p:nvPr/>
        </p:nvSpPr>
        <p:spPr>
          <a:xfrm>
            <a:off x="7362825" y="3295650"/>
            <a:ext cx="1714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D19A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80</a:t>
            </a:r>
            <a:endParaRPr/>
          </a:p>
        </p:txBody>
      </p:sp>
      <p:sp>
        <p:nvSpPr>
          <p:cNvPr id="135" name="Google Shape;135;p15"/>
          <p:cNvSpPr txBox="1"/>
          <p:nvPr/>
        </p:nvSpPr>
        <p:spPr>
          <a:xfrm>
            <a:off x="7877175" y="3295650"/>
            <a:ext cx="25717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 dirty="0">
                <a:solidFill>
                  <a:srgbClr val="D19A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3.0</a:t>
            </a:r>
            <a:endParaRPr dirty="0"/>
          </a:p>
        </p:txBody>
      </p:sp>
      <p:sp>
        <p:nvSpPr>
          <p:cNvPr id="136" name="Google Shape;136;p15"/>
          <p:cNvSpPr txBox="1"/>
          <p:nvPr/>
        </p:nvSpPr>
        <p:spPr>
          <a:xfrm>
            <a:off x="9505950" y="3295650"/>
            <a:ext cx="8572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D19A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5</a:t>
            </a:r>
            <a:endParaRPr/>
          </a:p>
        </p:txBody>
      </p:sp>
      <p:sp>
        <p:nvSpPr>
          <p:cNvPr id="137" name="Google Shape;137;p15"/>
          <p:cNvSpPr txBox="1"/>
          <p:nvPr/>
        </p:nvSpPr>
        <p:spPr>
          <a:xfrm>
            <a:off x="9934575" y="3295650"/>
            <a:ext cx="3429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D19A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0.02</a:t>
            </a:r>
            <a:endParaRPr/>
          </a:p>
        </p:txBody>
      </p:sp>
      <p:sp>
        <p:nvSpPr>
          <p:cNvPr id="138" name="Google Shape;138;p15"/>
          <p:cNvSpPr txBox="1"/>
          <p:nvPr/>
        </p:nvSpPr>
        <p:spPr>
          <a:xfrm>
            <a:off x="6677025" y="3509962"/>
            <a:ext cx="3429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D19A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3000</a:t>
            </a:r>
            <a:endParaRPr/>
          </a:p>
        </p:txBody>
      </p:sp>
      <p:sp>
        <p:nvSpPr>
          <p:cNvPr id="139" name="Google Shape;139;p15"/>
          <p:cNvSpPr txBox="1"/>
          <p:nvPr/>
        </p:nvSpPr>
        <p:spPr>
          <a:xfrm>
            <a:off x="7362825" y="3509962"/>
            <a:ext cx="25717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D19A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0.3</a:t>
            </a:r>
            <a:endParaRPr/>
          </a:p>
        </p:txBody>
      </p:sp>
      <p:sp>
        <p:nvSpPr>
          <p:cNvPr id="140" name="Google Shape;140;p15"/>
          <p:cNvSpPr txBox="1"/>
          <p:nvPr/>
        </p:nvSpPr>
        <p:spPr>
          <a:xfrm>
            <a:off x="8905875" y="3509962"/>
            <a:ext cx="25717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D19A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120</a:t>
            </a:r>
            <a:endParaRPr/>
          </a:p>
        </p:txBody>
      </p:sp>
      <p:sp>
        <p:nvSpPr>
          <p:cNvPr id="141" name="Google Shape;141;p15"/>
          <p:cNvSpPr txBox="1"/>
          <p:nvPr/>
        </p:nvSpPr>
        <p:spPr>
          <a:xfrm>
            <a:off x="10363200" y="3509962"/>
            <a:ext cx="5143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61AFE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normal</a:t>
            </a:r>
            <a:endParaRPr/>
          </a:p>
        </p:txBody>
      </p:sp>
      <p:sp>
        <p:nvSpPr>
          <p:cNvPr id="142" name="Google Shape;142;p15"/>
          <p:cNvSpPr txBox="1"/>
          <p:nvPr/>
        </p:nvSpPr>
        <p:spPr>
          <a:xfrm>
            <a:off x="10963275" y="3509962"/>
            <a:ext cx="8572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D19A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</a:t>
            </a:r>
            <a:endParaRPr/>
          </a:p>
        </p:txBody>
      </p:sp>
      <p:sp>
        <p:nvSpPr>
          <p:cNvPr id="143" name="Google Shape;143;p15"/>
          <p:cNvSpPr txBox="1"/>
          <p:nvPr/>
        </p:nvSpPr>
        <p:spPr>
          <a:xfrm>
            <a:off x="6677025" y="3724275"/>
            <a:ext cx="8572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D19A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</a:t>
            </a:r>
            <a:endParaRPr/>
          </a:p>
        </p:txBody>
      </p:sp>
      <p:sp>
        <p:nvSpPr>
          <p:cNvPr id="144" name="Google Shape;144;p15"/>
          <p:cNvSpPr txBox="1"/>
          <p:nvPr/>
        </p:nvSpPr>
        <p:spPr>
          <a:xfrm>
            <a:off x="762000" y="55245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데이터셋 구성 및 가설 검증 (Code)</a:t>
            </a:r>
            <a:endParaRPr/>
          </a:p>
        </p:txBody>
      </p:sp>
      <p:sp>
        <p:nvSpPr>
          <p:cNvPr id="145" name="Google Shape;145;p15"/>
          <p:cNvSpPr/>
          <p:nvPr/>
        </p:nvSpPr>
        <p:spPr>
          <a:xfrm>
            <a:off x="571500" y="552450"/>
            <a:ext cx="57150" cy="4953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6" name="Google Shape;146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19150" y="2209800"/>
            <a:ext cx="952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19150" y="2613570"/>
            <a:ext cx="952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19150" y="3017341"/>
            <a:ext cx="95250" cy="19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333500"/>
            <a:ext cx="5381625" cy="5048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38875" y="1333500"/>
            <a:ext cx="5381625" cy="5048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486525" y="2286000"/>
            <a:ext cx="4886325" cy="38481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6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6"/>
          <p:cNvSpPr txBox="1"/>
          <p:nvPr/>
        </p:nvSpPr>
        <p:spPr>
          <a:xfrm>
            <a:off x="819150" y="1581150"/>
            <a:ext cx="5130641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284C7"/>
                </a:solidFill>
                <a:latin typeface="Noto Sans KR"/>
                <a:ea typeface="Noto Sans KR"/>
                <a:cs typeface="Noto Sans KR"/>
                <a:sym typeface="Noto Sans KR"/>
              </a:rPr>
              <a:t>단위의 극단적 불일치 해소</a:t>
            </a:r>
            <a:endParaRPr/>
          </a:p>
        </p:txBody>
      </p:sp>
      <p:sp>
        <p:nvSpPr>
          <p:cNvPr id="159" name="Google Shape;159;p16"/>
          <p:cNvSpPr/>
          <p:nvPr/>
        </p:nvSpPr>
        <p:spPr>
          <a:xfrm>
            <a:off x="819150" y="2028825"/>
            <a:ext cx="4886325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6"/>
          <p:cNvSpPr txBox="1"/>
          <p:nvPr/>
        </p:nvSpPr>
        <p:spPr>
          <a:xfrm>
            <a:off x="6486525" y="1581150"/>
            <a:ext cx="5130641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284C7"/>
                </a:solidFill>
                <a:latin typeface="Noto Sans KR"/>
                <a:ea typeface="Noto Sans KR"/>
                <a:cs typeface="Noto Sans KR"/>
                <a:sym typeface="Noto Sans KR"/>
              </a:rPr>
              <a:t>전처리 자동화 파이썬 코드</a:t>
            </a:r>
            <a:endParaRPr/>
          </a:p>
        </p:txBody>
      </p:sp>
      <p:sp>
        <p:nvSpPr>
          <p:cNvPr id="161" name="Google Shape;161;p16"/>
          <p:cNvSpPr/>
          <p:nvPr/>
        </p:nvSpPr>
        <p:spPr>
          <a:xfrm>
            <a:off x="6486525" y="2028825"/>
            <a:ext cx="4886325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6"/>
          <p:cNvSpPr txBox="1"/>
          <p:nvPr/>
        </p:nvSpPr>
        <p:spPr>
          <a:xfrm>
            <a:off x="1085850" y="2190750"/>
            <a:ext cx="4619625" cy="57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스케일 불일치:</a:t>
            </a:r>
            <a:r>
              <a:rPr lang="en-US" sz="1425" b="0" i="0" u="none" strike="noStrike" cap="non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온도(°C), 진동(mm/s), 회전속도(RPM, 단위 수천) 등 센서마다 물리적 단위 스케일이 극단적으로 다름.</a:t>
            </a:r>
            <a:endParaRPr/>
          </a:p>
        </p:txBody>
      </p:sp>
      <p:sp>
        <p:nvSpPr>
          <p:cNvPr id="163" name="Google Shape;163;p16"/>
          <p:cNvSpPr txBox="1"/>
          <p:nvPr/>
        </p:nvSpPr>
        <p:spPr>
          <a:xfrm>
            <a:off x="1085850" y="2883991"/>
            <a:ext cx="4619625" cy="57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StandardScaler 적용:</a:t>
            </a:r>
            <a:r>
              <a:rPr lang="en-US" sz="1425" b="0" i="0" u="none" strike="noStrike" cap="non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단위가 큰 'RPM' 등에 가중치가 잘못 쏠리는 것을 막기 위해, 모든 센서를 </a:t>
            </a:r>
            <a:r>
              <a:rPr lang="en-US" sz="1425" b="1" i="0" u="none" strike="noStrike" cap="none">
                <a:solidFill>
                  <a:srgbClr val="0284C7"/>
                </a:solidFill>
                <a:latin typeface="Noto Sans KR"/>
                <a:ea typeface="Noto Sans KR"/>
                <a:cs typeface="Noto Sans KR"/>
                <a:sym typeface="Noto Sans KR"/>
              </a:rPr>
              <a:t>평균 0, 분산 1로 정규화</a:t>
            </a:r>
            <a:r>
              <a:rPr lang="en-US" sz="1425" b="0" i="0" u="none" strike="noStrike" cap="non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함.</a:t>
            </a:r>
            <a:endParaRPr/>
          </a:p>
        </p:txBody>
      </p:sp>
      <p:sp>
        <p:nvSpPr>
          <p:cNvPr id="164" name="Google Shape;164;p16"/>
          <p:cNvSpPr txBox="1"/>
          <p:nvPr/>
        </p:nvSpPr>
        <p:spPr>
          <a:xfrm>
            <a:off x="6677025" y="2438400"/>
            <a:ext cx="26860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1" u="none" strike="noStrike" cap="none" dirty="0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[</a:t>
            </a:r>
            <a:r>
              <a:rPr lang="en-US" sz="1125" b="0" i="1" u="none" strike="noStrike" cap="none" dirty="0" err="1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산업</a:t>
            </a:r>
            <a:r>
              <a:rPr lang="en-US" sz="1125" b="0" i="1" u="none" strike="noStrike" cap="none" dirty="0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1125" b="0" i="1" u="none" strike="noStrike" cap="none" dirty="0" err="1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데이터</a:t>
            </a:r>
            <a:r>
              <a:rPr lang="en-US" sz="1125" b="0" i="1" u="none" strike="noStrike" cap="none" dirty="0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1125" b="0" i="1" u="none" strike="noStrike" cap="none" dirty="0" err="1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스케일링</a:t>
            </a:r>
            <a:r>
              <a:rPr lang="en-US" sz="1125" b="0" i="1" u="none" strike="noStrike" cap="none" dirty="0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1125" b="0" i="1" u="none" strike="noStrike" cap="none" dirty="0" err="1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전처리</a:t>
            </a:r>
            <a:r>
              <a:rPr lang="en-US" sz="1125" b="0" i="1" u="none" strike="noStrike" cap="none" dirty="0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1125" b="0" i="1" u="none" strike="noStrike" cap="none" dirty="0" err="1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코드</a:t>
            </a:r>
            <a:r>
              <a:rPr lang="en-US" sz="1125" b="0" i="1" u="none" strike="noStrike" cap="none" dirty="0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]</a:t>
            </a:r>
            <a:endParaRPr dirty="0"/>
          </a:p>
        </p:txBody>
      </p:sp>
      <p:sp>
        <p:nvSpPr>
          <p:cNvPr id="165" name="Google Shape;165;p16"/>
          <p:cNvSpPr txBox="1"/>
          <p:nvPr/>
        </p:nvSpPr>
        <p:spPr>
          <a:xfrm>
            <a:off x="9448800" y="2438400"/>
            <a:ext cx="3429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C678D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from</a:t>
            </a:r>
            <a:endParaRPr/>
          </a:p>
        </p:txBody>
      </p:sp>
      <p:sp>
        <p:nvSpPr>
          <p:cNvPr id="166" name="Google Shape;166;p16"/>
          <p:cNvSpPr txBox="1"/>
          <p:nvPr/>
        </p:nvSpPr>
        <p:spPr>
          <a:xfrm>
            <a:off x="8562975" y="2652712"/>
            <a:ext cx="5143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C678D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import</a:t>
            </a:r>
            <a:endParaRPr/>
          </a:p>
        </p:txBody>
      </p:sp>
      <p:sp>
        <p:nvSpPr>
          <p:cNvPr id="167" name="Google Shape;167;p16"/>
          <p:cNvSpPr txBox="1"/>
          <p:nvPr/>
        </p:nvSpPr>
        <p:spPr>
          <a:xfrm>
            <a:off x="6677025" y="2652712"/>
            <a:ext cx="4457700" cy="404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1" u="none" strike="noStrike" cap="none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각기 다른 단위의 센서 데이터를 통일</a:t>
            </a:r>
            <a:endParaRPr/>
          </a:p>
        </p:txBody>
      </p:sp>
      <p:sp>
        <p:nvSpPr>
          <p:cNvPr id="168" name="Google Shape;168;p16"/>
          <p:cNvSpPr txBox="1"/>
          <p:nvPr/>
        </p:nvSpPr>
        <p:spPr>
          <a:xfrm>
            <a:off x="9591675" y="2867025"/>
            <a:ext cx="12001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61AFE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StandardScaler</a:t>
            </a:r>
            <a:endParaRPr/>
          </a:p>
        </p:txBody>
      </p:sp>
      <p:sp>
        <p:nvSpPr>
          <p:cNvPr id="169" name="Google Shape;169;p16"/>
          <p:cNvSpPr txBox="1"/>
          <p:nvPr/>
        </p:nvSpPr>
        <p:spPr>
          <a:xfrm>
            <a:off x="6677025" y="2867025"/>
            <a:ext cx="4543425" cy="404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1" u="none" strike="noStrike" cap="none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학습 데이터(Train)를 기준점으로 학습/변환</a:t>
            </a:r>
            <a:endParaRPr/>
          </a:p>
        </p:txBody>
      </p:sp>
      <p:sp>
        <p:nvSpPr>
          <p:cNvPr id="170" name="Google Shape;170;p16"/>
          <p:cNvSpPr txBox="1"/>
          <p:nvPr/>
        </p:nvSpPr>
        <p:spPr>
          <a:xfrm>
            <a:off x="7448550" y="3295650"/>
            <a:ext cx="111442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61AFE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fit_transform</a:t>
            </a:r>
            <a:endParaRPr/>
          </a:p>
        </p:txBody>
      </p:sp>
      <p:sp>
        <p:nvSpPr>
          <p:cNvPr id="171" name="Google Shape;171;p16"/>
          <p:cNvSpPr txBox="1"/>
          <p:nvPr/>
        </p:nvSpPr>
        <p:spPr>
          <a:xfrm>
            <a:off x="6677025" y="3295650"/>
            <a:ext cx="4371975" cy="404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1" u="none" strike="noStrike" cap="none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테스트 데이터(Test)도 학습 기준으로 변환</a:t>
            </a:r>
            <a:endParaRPr/>
          </a:p>
        </p:txBody>
      </p:sp>
      <p:sp>
        <p:nvSpPr>
          <p:cNvPr id="172" name="Google Shape;172;p16"/>
          <p:cNvSpPr txBox="1"/>
          <p:nvPr/>
        </p:nvSpPr>
        <p:spPr>
          <a:xfrm>
            <a:off x="6677025" y="3509962"/>
            <a:ext cx="4572000" cy="404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1" u="none" strike="noStrike" cap="none" dirty="0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(</a:t>
            </a:r>
            <a:r>
              <a:rPr lang="en-US" sz="1125" b="0" i="1" u="none" strike="noStrike" cap="none" dirty="0" err="1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test에</a:t>
            </a:r>
            <a:r>
              <a:rPr lang="en-US" sz="1125" b="0" i="1" u="none" strike="noStrike" cap="none" dirty="0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fit </a:t>
            </a:r>
            <a:r>
              <a:rPr lang="en-US" sz="1125" b="0" i="1" u="none" strike="noStrike" cap="none" dirty="0" err="1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적용</a:t>
            </a:r>
            <a:r>
              <a:rPr lang="en-US" sz="1125" b="0" i="1" u="none" strike="noStrike" cap="none" dirty="0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시 </a:t>
            </a:r>
            <a:r>
              <a:rPr lang="en-US" sz="1125" b="0" i="1" u="none" strike="noStrike" cap="none" dirty="0" err="1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정보</a:t>
            </a:r>
            <a:r>
              <a:rPr lang="en-US" sz="1125" b="0" i="1" u="none" strike="noStrike" cap="none" dirty="0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1125" b="0" i="1" u="none" strike="noStrike" cap="none" dirty="0" err="1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누수</a:t>
            </a:r>
            <a:r>
              <a:rPr lang="en-US" sz="1125" b="0" i="1" u="none" strike="noStrike" cap="none" dirty="0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Data Leakage)</a:t>
            </a:r>
            <a:endParaRPr dirty="0"/>
          </a:p>
        </p:txBody>
      </p:sp>
      <p:sp>
        <p:nvSpPr>
          <p:cNvPr id="173" name="Google Shape;173;p16"/>
          <p:cNvSpPr txBox="1"/>
          <p:nvPr/>
        </p:nvSpPr>
        <p:spPr>
          <a:xfrm>
            <a:off x="9420225" y="3724275"/>
            <a:ext cx="77152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61AFE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transform</a:t>
            </a:r>
            <a:endParaRPr/>
          </a:p>
        </p:txBody>
      </p:sp>
      <p:sp>
        <p:nvSpPr>
          <p:cNvPr id="174" name="Google Shape;174;p16"/>
          <p:cNvSpPr txBox="1"/>
          <p:nvPr/>
        </p:nvSpPr>
        <p:spPr>
          <a:xfrm>
            <a:off x="762000" y="55245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데이터 전처리: 스케일링의 필수성</a:t>
            </a:r>
            <a:endParaRPr/>
          </a:p>
        </p:txBody>
      </p:sp>
      <p:sp>
        <p:nvSpPr>
          <p:cNvPr id="175" name="Google Shape;175;p16"/>
          <p:cNvSpPr/>
          <p:nvPr/>
        </p:nvSpPr>
        <p:spPr>
          <a:xfrm>
            <a:off x="571500" y="552450"/>
            <a:ext cx="57150" cy="4953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6" name="Google Shape;176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19150" y="2209800"/>
            <a:ext cx="952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19150" y="2903041"/>
            <a:ext cx="95250" cy="19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oogle Shape;182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838473"/>
            <a:ext cx="11049000" cy="28211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1333500"/>
            <a:ext cx="11049000" cy="504825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7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86" name="Google Shape;186;p17"/>
          <p:cNvGraphicFramePr/>
          <p:nvPr/>
        </p:nvGraphicFramePr>
        <p:xfrm>
          <a:off x="581025" y="1847998"/>
          <a:ext cx="11029925" cy="2802100"/>
        </p:xfrm>
        <a:graphic>
          <a:graphicData uri="http://schemas.openxmlformats.org/drawingml/2006/table">
            <a:tbl>
              <a:tblPr firstRow="1" bandRow="1">
                <a:noFill/>
                <a:tableStyleId>{44EFF9F9-8E88-4426-A6C0-6C9DE839C361}</a:tableStyleId>
              </a:tblPr>
              <a:tblGrid>
                <a:gridCol w="3772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8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23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51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005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적용 모델 (Algorithm)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MSE (오차 제곱합)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RMSE (평균 오차)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R² (결정계수)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05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Linear Regression (일반 회귀)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4.125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2.031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0284C7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0.963 (96.3%)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05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Ridge (L2 정규화, alpha=10.0)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4.129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2.032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0284C7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0.962 (96.2%)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05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Lasso (L1 정규화, alpha=1.0)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4.750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2.179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0.957 (95.7%)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87" name="Google Shape;187;p17"/>
          <p:cNvSpPr/>
          <p:nvPr/>
        </p:nvSpPr>
        <p:spPr>
          <a:xfrm>
            <a:off x="581025" y="2559397"/>
            <a:ext cx="377264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7"/>
          <p:cNvSpPr/>
          <p:nvPr/>
        </p:nvSpPr>
        <p:spPr>
          <a:xfrm>
            <a:off x="4353669" y="2559397"/>
            <a:ext cx="258320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7"/>
          <p:cNvSpPr/>
          <p:nvPr/>
        </p:nvSpPr>
        <p:spPr>
          <a:xfrm>
            <a:off x="6936878" y="2559397"/>
            <a:ext cx="252308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7"/>
          <p:cNvSpPr/>
          <p:nvPr/>
        </p:nvSpPr>
        <p:spPr>
          <a:xfrm>
            <a:off x="9459962" y="2559397"/>
            <a:ext cx="215101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7"/>
          <p:cNvSpPr/>
          <p:nvPr/>
        </p:nvSpPr>
        <p:spPr>
          <a:xfrm>
            <a:off x="581025" y="3254722"/>
            <a:ext cx="377264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7"/>
          <p:cNvSpPr/>
          <p:nvPr/>
        </p:nvSpPr>
        <p:spPr>
          <a:xfrm>
            <a:off x="4353669" y="3254722"/>
            <a:ext cx="258320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7"/>
          <p:cNvSpPr/>
          <p:nvPr/>
        </p:nvSpPr>
        <p:spPr>
          <a:xfrm>
            <a:off x="6936878" y="3254722"/>
            <a:ext cx="252308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7"/>
          <p:cNvSpPr/>
          <p:nvPr/>
        </p:nvSpPr>
        <p:spPr>
          <a:xfrm>
            <a:off x="9459962" y="3254722"/>
            <a:ext cx="215101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7"/>
          <p:cNvSpPr/>
          <p:nvPr/>
        </p:nvSpPr>
        <p:spPr>
          <a:xfrm>
            <a:off x="581025" y="3950047"/>
            <a:ext cx="377264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7"/>
          <p:cNvSpPr/>
          <p:nvPr/>
        </p:nvSpPr>
        <p:spPr>
          <a:xfrm>
            <a:off x="4353669" y="3950047"/>
            <a:ext cx="258320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7"/>
          <p:cNvSpPr/>
          <p:nvPr/>
        </p:nvSpPr>
        <p:spPr>
          <a:xfrm>
            <a:off x="6936878" y="3950047"/>
            <a:ext cx="252308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7"/>
          <p:cNvSpPr/>
          <p:nvPr/>
        </p:nvSpPr>
        <p:spPr>
          <a:xfrm>
            <a:off x="9459962" y="3950047"/>
            <a:ext cx="215101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7"/>
          <p:cNvSpPr txBox="1"/>
          <p:nvPr/>
        </p:nvSpPr>
        <p:spPr>
          <a:xfrm>
            <a:off x="762000" y="55245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모델 학습 결과 및 성능 지표</a:t>
            </a:r>
            <a:endParaRPr/>
          </a:p>
        </p:txBody>
      </p:sp>
      <p:sp>
        <p:nvSpPr>
          <p:cNvPr id="200" name="Google Shape;200;p17"/>
          <p:cNvSpPr/>
          <p:nvPr/>
        </p:nvSpPr>
        <p:spPr>
          <a:xfrm>
            <a:off x="571500" y="552450"/>
            <a:ext cx="57150" cy="4953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333500"/>
            <a:ext cx="11049000" cy="504825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18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8"/>
          <p:cNvSpPr txBox="1"/>
          <p:nvPr/>
        </p:nvSpPr>
        <p:spPr>
          <a:xfrm>
            <a:off x="714375" y="1590675"/>
            <a:ext cx="109061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L1 규제의 오컴의 면도날 효과: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코드로 확인한 바와 같이, Lasso 모델은 수식에 존재하지 않았던 노이즈 변수(습도, 조도)의 가중치를 </a:t>
            </a:r>
            <a:r>
              <a:rPr lang="en-US" sz="1500" b="1" i="0" u="none" strike="noStrike" cap="none">
                <a:solidFill>
                  <a:srgbClr val="E11D48"/>
                </a:solidFill>
                <a:latin typeface="Noto Sans KR"/>
                <a:ea typeface="Noto Sans KR"/>
                <a:cs typeface="Noto Sans KR"/>
                <a:sym typeface="Noto Sans KR"/>
              </a:rPr>
              <a:t>완벽하게 0으로 제거</a:t>
            </a:r>
            <a:r>
              <a:rPr lang="en-US" sz="1500" b="0" i="0" u="none" strike="noStrike" cap="non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했습니다.</a:t>
            </a:r>
            <a:endParaRPr/>
          </a:p>
        </p:txBody>
      </p:sp>
      <p:sp>
        <p:nvSpPr>
          <p:cNvPr id="209" name="Google Shape;209;p18"/>
          <p:cNvSpPr/>
          <p:nvPr/>
        </p:nvSpPr>
        <p:spPr>
          <a:xfrm>
            <a:off x="571500" y="1590675"/>
            <a:ext cx="38100" cy="6096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8"/>
          <p:cNvSpPr txBox="1"/>
          <p:nvPr/>
        </p:nvSpPr>
        <p:spPr>
          <a:xfrm>
            <a:off x="762000" y="55245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센서 최적화: Lasso(L1) 모델 분석</a:t>
            </a:r>
            <a:endParaRPr/>
          </a:p>
        </p:txBody>
      </p:sp>
      <p:sp>
        <p:nvSpPr>
          <p:cNvPr id="211" name="Google Shape;211;p18"/>
          <p:cNvSpPr/>
          <p:nvPr/>
        </p:nvSpPr>
        <p:spPr>
          <a:xfrm>
            <a:off x="571500" y="552450"/>
            <a:ext cx="57150" cy="4953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19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9"/>
          <p:cNvSpPr txBox="1"/>
          <p:nvPr/>
        </p:nvSpPr>
        <p:spPr>
          <a:xfrm>
            <a:off x="1762125" y="2254894"/>
            <a:ext cx="9096375" cy="868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66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L1 정규화의 경제적 가치 증명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25" b="0" i="0" u="none" strike="noStrike" cap="non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품질과 무관한 센서(실내 습도/조도)는 장비에 추가 설치할 필요가 없음을 증명했습니다. 이를 통해 수만 대의 장비에서 발생하는 센서 하드웨어 비용 및 빅데이터 서버 저장 비용을 대폭 절감할 수 있습니다.</a:t>
            </a:r>
            <a:endParaRPr/>
          </a:p>
        </p:txBody>
      </p:sp>
      <p:sp>
        <p:nvSpPr>
          <p:cNvPr id="219" name="Google Shape;219;p19"/>
          <p:cNvSpPr txBox="1"/>
          <p:nvPr/>
        </p:nvSpPr>
        <p:spPr>
          <a:xfrm>
            <a:off x="1762125" y="3313807"/>
            <a:ext cx="9096375" cy="868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66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정확한 공정 제어 가이드라인 도출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25" b="0" i="0" u="none" strike="noStrike" cap="non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"진동이나 온도가 오를 때 품질이 어떻게 하락하는가"를 모델의 가중치로 정확히 역산했습니다. 작업자에게 직관적인 장비 제어 및 유지보수 시점을 수치로 안내할 수 있습니다.</a:t>
            </a:r>
            <a:endParaRPr/>
          </a:p>
        </p:txBody>
      </p:sp>
      <p:sp>
        <p:nvSpPr>
          <p:cNvPr id="220" name="Google Shape;220;p19"/>
          <p:cNvSpPr txBox="1"/>
          <p:nvPr/>
        </p:nvSpPr>
        <p:spPr>
          <a:xfrm>
            <a:off x="1762125" y="4372719"/>
            <a:ext cx="9096375" cy="868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66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해석 가능성(Interpretability)의 중요성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25" b="0" i="0" u="none" strike="noStrike" cap="non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산업 현장에서는 원인을 알 수 없는 복잡한 블랙박스 AI보다, 이처럼 결과를 논리적으로 설명할 수 있는 '선형 모델의 최적화'가 신뢰성 확보에 필수적입니다.</a:t>
            </a:r>
            <a:endParaRPr/>
          </a:p>
        </p:txBody>
      </p:sp>
      <p:pic>
        <p:nvPicPr>
          <p:cNvPr id="221" name="Google Shape;221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33500" y="2254894"/>
            <a:ext cx="192732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333500" y="3313807"/>
            <a:ext cx="192732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333500" y="4372719"/>
            <a:ext cx="192732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19"/>
          <p:cNvSpPr txBox="1"/>
          <p:nvPr/>
        </p:nvSpPr>
        <p:spPr>
          <a:xfrm>
            <a:off x="762000" y="552450"/>
            <a:ext cx="11401425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결론 및 산업적 시사점</a:t>
            </a:r>
            <a:endParaRPr/>
          </a:p>
        </p:txBody>
      </p:sp>
      <p:sp>
        <p:nvSpPr>
          <p:cNvPr id="225" name="Google Shape;225;p19"/>
          <p:cNvSpPr/>
          <p:nvPr/>
        </p:nvSpPr>
        <p:spPr>
          <a:xfrm>
            <a:off x="571500" y="552450"/>
            <a:ext cx="57150" cy="466725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0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0"/>
          <p:cNvSpPr txBox="1"/>
          <p:nvPr/>
        </p:nvSpPr>
        <p:spPr>
          <a:xfrm>
            <a:off x="295275" y="552450"/>
            <a:ext cx="11601450" cy="1238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750" b="1" i="0" u="none" strike="noStrike" cap="none">
                <a:solidFill>
                  <a:srgbClr val="0284C7"/>
                </a:solidFill>
                <a:latin typeface="Noto Sans KR"/>
                <a:ea typeface="Noto Sans KR"/>
                <a:cs typeface="Noto Sans KR"/>
                <a:sym typeface="Noto Sans KR"/>
              </a:rPr>
              <a:t>Q &amp; A</a:t>
            </a:r>
            <a:endParaRPr/>
          </a:p>
        </p:txBody>
      </p:sp>
      <p:sp>
        <p:nvSpPr>
          <p:cNvPr id="233" name="Google Shape;233;p20"/>
          <p:cNvSpPr txBox="1"/>
          <p:nvPr/>
        </p:nvSpPr>
        <p:spPr>
          <a:xfrm>
            <a:off x="571500" y="2076450"/>
            <a:ext cx="11049000" cy="42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경청해 주셔서 감사합니다. 질문 받겠습니다.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583</Words>
  <Application>Microsoft Office PowerPoint</Application>
  <PresentationFormat>와이드스크린</PresentationFormat>
  <Paragraphs>69</Paragraphs>
  <Slides>8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3" baseType="lpstr">
      <vt:lpstr>JetBrains Mono</vt:lpstr>
      <vt:lpstr>Noto Sans KR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wlscksdjs@gmail.com</cp:lastModifiedBy>
  <cp:revision>1</cp:revision>
  <dcterms:modified xsi:type="dcterms:W3CDTF">2026-04-06T09:59:23Z</dcterms:modified>
</cp:coreProperties>
</file>