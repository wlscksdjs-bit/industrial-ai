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Noto Sans KR" panose="020B0200000000000000" pitchFamily="50" charset="-127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lscksdjs@gmail.com" userId="2d7df3081b6aa7f2" providerId="LiveId" clId="{F3D7FE08-4492-4A43-9108-2105C1D4162C}"/>
    <pc:docChg chg="custSel modSld">
      <pc:chgData name="wlscksdjs@gmail.com" userId="2d7df3081b6aa7f2" providerId="LiveId" clId="{F3D7FE08-4492-4A43-9108-2105C1D4162C}" dt="2026-03-17T15:34:22.565" v="4" actId="21"/>
      <pc:docMkLst>
        <pc:docMk/>
      </pc:docMkLst>
      <pc:sldChg chg="addSp delSp modSp mod">
        <pc:chgData name="wlscksdjs@gmail.com" userId="2d7df3081b6aa7f2" providerId="LiveId" clId="{F3D7FE08-4492-4A43-9108-2105C1D4162C}" dt="2026-03-17T15:34:22.565" v="4" actId="21"/>
        <pc:sldMkLst>
          <pc:docMk/>
          <pc:sldMk cId="0" sldId="263"/>
        </pc:sldMkLst>
        <pc:spChg chg="mod">
          <ac:chgData name="wlscksdjs@gmail.com" userId="2d7df3081b6aa7f2" providerId="LiveId" clId="{F3D7FE08-4492-4A43-9108-2105C1D4162C}" dt="2026-03-17T15:34:05.910" v="0"/>
          <ac:spMkLst>
            <pc:docMk/>
            <pc:sldMk cId="0" sldId="263"/>
            <ac:spMk id="209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3-17T15:34:05.910" v="0"/>
          <ac:spMkLst>
            <pc:docMk/>
            <pc:sldMk cId="0" sldId="263"/>
            <ac:spMk id="210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3-17T15:34:05.910" v="0"/>
          <ac:spMkLst>
            <pc:docMk/>
            <pc:sldMk cId="0" sldId="263"/>
            <ac:spMk id="211" creationId="{00000000-0000-0000-0000-000000000000}"/>
          </ac:spMkLst>
        </pc:spChg>
        <pc:grpChg chg="add del mod">
          <ac:chgData name="wlscksdjs@gmail.com" userId="2d7df3081b6aa7f2" providerId="LiveId" clId="{F3D7FE08-4492-4A43-9108-2105C1D4162C}" dt="2026-03-17T15:34:22.565" v="4" actId="21"/>
          <ac:grpSpMkLst>
            <pc:docMk/>
            <pc:sldMk cId="0" sldId="263"/>
            <ac:grpSpMk id="4" creationId="{A4DD3F18-1FEF-2A5E-2EAB-3DD124F3B360}"/>
          </ac:grpSpMkLst>
        </pc:grpChg>
        <pc:picChg chg="mod">
          <ac:chgData name="wlscksdjs@gmail.com" userId="2d7df3081b6aa7f2" providerId="LiveId" clId="{F3D7FE08-4492-4A43-9108-2105C1D4162C}" dt="2026-03-17T15:34:05.910" v="0"/>
          <ac:picMkLst>
            <pc:docMk/>
            <pc:sldMk cId="0" sldId="263"/>
            <ac:picMk id="20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5" name="Google Shape;1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42565" y="2187029"/>
            <a:ext cx="7506719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650" dirty="0">
                <a:solidFill>
                  <a:srgbClr val="64748B"/>
                </a:solidFill>
              </a:rPr>
              <a:t>제조 데이터 분석과 최적화 </a:t>
            </a:r>
            <a:r>
              <a:rPr lang="en-US" altLang="ko-KR" sz="1650" dirty="0">
                <a:solidFill>
                  <a:srgbClr val="64748B"/>
                </a:solidFill>
              </a:rPr>
              <a:t>- </a:t>
            </a:r>
            <a:r>
              <a:rPr lang="en-US" sz="165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과제 보고서]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342565" y="2663279"/>
            <a:ext cx="7506719" cy="1386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SECOM 반도체 공정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 dirty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데이터 정제 및 전처리 기준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521297" y="4335809"/>
            <a:ext cx="7149256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산업인공지능학과  </a:t>
            </a: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 </a:t>
            </a: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2026254019  /  </a:t>
            </a: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진찬언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28837"/>
            <a:ext cx="3492549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28837"/>
            <a:ext cx="3492549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28837"/>
            <a:ext cx="3492549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5193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66775" y="3281362"/>
            <a:ext cx="30470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1. Noise Reduction</a:t>
            </a:r>
            <a:endParaRPr dirty="0"/>
          </a:p>
        </p:txBody>
      </p:sp>
      <p:sp>
        <p:nvSpPr>
          <p:cNvPr id="98" name="Google Shape;98;p14"/>
          <p:cNvSpPr/>
          <p:nvPr/>
        </p:nvSpPr>
        <p:spPr>
          <a:xfrm>
            <a:off x="866775" y="3624262"/>
            <a:ext cx="290199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3776662"/>
            <a:ext cx="2901999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결측치가 과도하거나 장비 고장으로 인해 기록되지 않은 신뢰할 수 없는 센서 데이터를 선제적으로 차단하여 모델의 과적합을 방지합니다.</a:t>
            </a:r>
            <a:endParaRPr dirty="0"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5193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645074" y="3281362"/>
            <a:ext cx="30470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2. Feature Selection</a:t>
            </a:r>
            <a:endParaRPr dirty="0"/>
          </a:p>
        </p:txBody>
      </p:sp>
      <p:sp>
        <p:nvSpPr>
          <p:cNvPr id="102" name="Google Shape;102;p14"/>
          <p:cNvSpPr/>
          <p:nvPr/>
        </p:nvSpPr>
        <p:spPr>
          <a:xfrm>
            <a:off x="4645074" y="3624262"/>
            <a:ext cx="290199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645074" y="3776662"/>
            <a:ext cx="29019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수율 변동과 통계적 인과관계가 없는 단일값(상수) 센서를 선별적으로 제거하여 차원의 저주를 피하고 알고리즘 연산 효율성을 극대화합니다.</a:t>
            </a:r>
            <a:endParaRPr dirty="0"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5193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423374" y="3281362"/>
            <a:ext cx="30470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3. Model Optimization</a:t>
            </a:r>
            <a:endParaRPr dirty="0"/>
          </a:p>
        </p:txBody>
      </p:sp>
      <p:sp>
        <p:nvSpPr>
          <p:cNvPr id="106" name="Google Shape;106;p14"/>
          <p:cNvSpPr/>
          <p:nvPr/>
        </p:nvSpPr>
        <p:spPr>
          <a:xfrm>
            <a:off x="8423374" y="3624262"/>
            <a:ext cx="290199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8423374" y="3776662"/>
            <a:ext cx="2901999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이상치에 강건한 통계적 기법으로 잔여 결측치를 보간하여 데이터 완전성을 확보하고 분류 모델의 예측 정확도를 향상시킵니다.</a:t>
            </a:r>
            <a:endParaRPr dirty="0"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48791" y="2671762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27091" y="2671762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05391" y="2671762"/>
            <a:ext cx="20746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데이터 정제 파이프라인 개요</a:t>
            </a:r>
            <a:endParaRPr dirty="0"/>
          </a:p>
        </p:txBody>
      </p:sp>
      <p:sp>
        <p:nvSpPr>
          <p:cNvPr id="112" name="Google Shape;112;p14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62137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57250" y="22860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환경적 인과관계 파악: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`Time` 변수는 단순 기록을 넘어 장비의 노후도, 온도 변화, 교대조 변경 등 수율 변동에 영향을 미치는 외부 요인을 내포합니다.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857250" y="34385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시계열 포맷 변환: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문자열 형태로 수집된 초기 데이터를 분석 및 연산이 가능한 Datetime 형식으로 변환하였습니다.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857250" y="4286250"/>
            <a:ext cx="4953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순차적 데이터 정렬: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전체 레코드를 과거에서 최신순으로 정렬하여, 시간적 흐름을 반영한 '시계열 교차 검증'의 기반을 마련했습니다.</a:t>
            </a:r>
            <a:endParaRPr dirty="0"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86525" y="1966912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2362200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3514725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4362450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571500" y="571500"/>
            <a:ext cx="116014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Step 1. 시계열화 및 정렬</a:t>
            </a:r>
            <a:endParaRPr dirty="0"/>
          </a:p>
        </p:txBody>
      </p:sp>
      <p:sp>
        <p:nvSpPr>
          <p:cNvPr id="127" name="Google Shape;127;p15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19287"/>
            <a:ext cx="523875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52887"/>
            <a:ext cx="523875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6381750" y="2376487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비정형 레이블의 표준화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6381750" y="2928937"/>
            <a:ext cx="52387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반도체 공정 라인 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테스트의 최종 결과인 타겟(Label) 데이터는 원본 셋업 상 합격을 '0.1' 또는 '-1'로, 불합격을 '1' 등으로 혼용하여 표기하고 있었습니다.</a:t>
            </a:r>
            <a:endParaRPr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6381750" y="3986212"/>
            <a:ext cx="52387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본 </a:t>
            </a:r>
            <a:r>
              <a:rPr lang="ko-KR" altLang="en-US" sz="150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과제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에서는 기계학습 분류기(Classifier)의 목적 함수에 부합하도록,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합격은 0, 불합격은 1로 일괄 매핑(Mapping)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하여 알고리즘이 클래스를 명확히 구분할 수 있도록 정규화를 완료했습니다.</a:t>
            </a:r>
            <a:endParaRPr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904875" y="2214562"/>
            <a:ext cx="4610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0B981"/>
                </a:solidFill>
                <a:latin typeface="Noto Sans KR"/>
                <a:ea typeface="Noto Sans KR"/>
                <a:cs typeface="Noto Sans KR"/>
                <a:sym typeface="Noto Sans KR"/>
              </a:rPr>
              <a:t>0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904875" y="3071812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양품 (Pass)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904875" y="4348162"/>
            <a:ext cx="4610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904875" y="5205412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불량 (Fail)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Step 2. 타겟 변수 이진 분류 정규화</a:t>
            </a:r>
            <a:endParaRPr dirty="0"/>
          </a:p>
        </p:txBody>
      </p:sp>
      <p:sp>
        <p:nvSpPr>
          <p:cNvPr id="143" name="Google Shape;143;p16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71499" y="571500"/>
            <a:ext cx="528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Step 3. 고결측치 신호 탈락</a:t>
            </a:r>
            <a:endParaRPr dirty="0"/>
          </a:p>
        </p:txBody>
      </p:sp>
      <p:sp>
        <p:nvSpPr>
          <p:cNvPr id="150" name="Google Shape;150;p17"/>
          <p:cNvSpPr/>
          <p:nvPr/>
        </p:nvSpPr>
        <p:spPr>
          <a:xfrm>
            <a:off x="571500" y="1133475"/>
            <a:ext cx="3905398" cy="28575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571500" y="1400175"/>
            <a:ext cx="5550693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노이즈 리덕션 (Noise Reduction)</a:t>
            </a:r>
            <a:endParaRPr dirty="0"/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2009775"/>
            <a:ext cx="5286375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1,567회의 공정 사이클 중, 결측치가 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50% 이상 (약 783건)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을 차지하는 센서는 심각한 정보 결손 및 센서 미부착 사례로 간주했습니다.</a:t>
            </a:r>
            <a:endParaRPr dirty="0"/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3243857"/>
            <a:ext cx="5286375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이러한 기준에 부합하는 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총 24개의 센서 열 (예: 85번, 157번 등)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을 변수 집합에서 영구 삭제함으로써, 모델이 무의미한 패턴을 학습하는 과적합 현상을 사전에 통제하였습니다.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3CB38272-1B67-35F6-5E22-0F3BA4098A5C}"/>
              </a:ext>
            </a:extLst>
          </p:cNvPr>
          <p:cNvGrpSpPr/>
          <p:nvPr/>
        </p:nvGrpSpPr>
        <p:grpSpPr>
          <a:xfrm>
            <a:off x="626250" y="4632264"/>
            <a:ext cx="11049000" cy="1608235"/>
            <a:chOff x="626250" y="2591434"/>
            <a:chExt cx="11049000" cy="1608235"/>
          </a:xfrm>
        </p:grpSpPr>
        <p:pic>
          <p:nvPicPr>
            <p:cNvPr id="160" name="Google Shape;160;p18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26250" y="2591434"/>
              <a:ext cx="11049000" cy="16082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E52A249C-0E21-CE4C-83A8-7FC8A9AF92BC}"/>
                </a:ext>
              </a:extLst>
            </p:cNvPr>
            <p:cNvSpPr/>
            <p:nvPr/>
          </p:nvSpPr>
          <p:spPr>
            <a:xfrm>
              <a:off x="788504" y="2657061"/>
              <a:ext cx="10831996" cy="1073426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62" name="Google Shape;16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6750" y="1465675"/>
            <a:ext cx="11049000" cy="4848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0125" y="5628871"/>
            <a:ext cx="2725042" cy="54210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847724" y="4826496"/>
            <a:ext cx="1049655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Feature Selection (사전 단계): </a:t>
            </a:r>
            <a:r>
              <a:rPr lang="ko-KR" altLang="en-US" sz="15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공정에서 값이 변동하지 않아 분산이 </a:t>
            </a:r>
            <a:r>
              <a:rPr lang="en-US" altLang="ko-KR" sz="15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0</a:t>
            </a:r>
            <a:r>
              <a:rPr lang="ko-KR" altLang="en-US" sz="15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인 </a:t>
            </a:r>
            <a:r>
              <a:rPr lang="en-US" altLang="ko-KR" sz="15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116</a:t>
            </a:r>
            <a:r>
              <a:rPr lang="ko-KR" altLang="en-US" sz="15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개 변수</a:t>
            </a:r>
            <a:r>
              <a:rPr lang="en-US" altLang="ko-KR" sz="15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(ex: 5</a:t>
            </a:r>
            <a:r>
              <a:rPr lang="ko-KR" altLang="en-US" sz="15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번</a:t>
            </a:r>
            <a:r>
              <a:rPr lang="en-US" altLang="ko-KR" sz="15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13</a:t>
            </a:r>
            <a:r>
              <a:rPr lang="ko-KR" altLang="en-US" sz="15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번 열 등</a:t>
            </a:r>
            <a:r>
              <a:rPr lang="en-US" altLang="ko-KR" sz="15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lang="ko-KR" altLang="en-US" sz="15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를 일괄 제거하였습니다</a:t>
            </a:r>
            <a:r>
              <a:rPr lang="en-US" altLang="ko-KR" sz="15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lang="ko-KR" altLang="en-US" sz="15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수율 변동과 인과관계가 성립할 수 없는 상수를 배제하여 모형의 희소성을 확보했습니다</a:t>
            </a:r>
            <a:r>
              <a:rPr lang="en-US" altLang="ko-KR" sz="15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pic>
        <p:nvPicPr>
          <p:cNvPr id="165" name="Google Shape;16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95375" y="5649737"/>
            <a:ext cx="2534542" cy="46255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Step 4. 무분산 센서 데이터 제거</a:t>
            </a:r>
            <a:endParaRPr dirty="0"/>
          </a:p>
        </p:txBody>
      </p:sp>
      <p:sp>
        <p:nvSpPr>
          <p:cNvPr id="167" name="Google Shape;167;p18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62137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857250" y="1981200"/>
            <a:ext cx="4953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완전성: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엄격한 삭제 기준을 통과한 446여 개의 유효 센서에도 통신 오류 등으로 인한 소수의 결측치가 존재합니다. 연산을 위해 이를 완벽한 행렬로 채워야 합니다.</a:t>
            </a:r>
            <a:endParaRPr dirty="0"/>
          </a:p>
        </p:txBody>
      </p:sp>
      <p:sp>
        <p:nvSpPr>
          <p:cNvPr id="175" name="Google Shape;175;p19"/>
          <p:cNvSpPr txBox="1"/>
          <p:nvPr/>
        </p:nvSpPr>
        <p:spPr>
          <a:xfrm>
            <a:off x="857250" y="3438525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대푯값 활용: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산술 평균은 반도체 공정 중 간헐적으로 발생하는 이상치에 의해 심각하게 왜곡될 수 있습니다.</a:t>
            </a:r>
            <a:endParaRPr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857250" y="4591050"/>
            <a:ext cx="4953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중앙값 보간: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이상치의 영향을 최소화하는 중앙값을 적용하여 변수 본연의 통계적 분포를 보존하면서 모든 결측 처리를 완료했습니다.</a:t>
            </a:r>
            <a:endParaRPr dirty="0"/>
          </a:p>
        </p:txBody>
      </p:sp>
      <p:pic>
        <p:nvPicPr>
          <p:cNvPr id="177" name="Google Shape;177;p19" descr="image.png"/>
          <p:cNvPicPr preferRelativeResize="0"/>
          <p:nvPr/>
        </p:nvPicPr>
        <p:blipFill rotWithShape="1">
          <a:blip r:embed="rId5">
            <a:alphaModFix/>
          </a:blip>
          <a:srcRect t="2387" b="850"/>
          <a:stretch>
            <a:fillRect/>
          </a:stretch>
        </p:blipFill>
        <p:spPr>
          <a:xfrm>
            <a:off x="6486525" y="1981200"/>
            <a:ext cx="5029200" cy="374373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2057400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3514725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 dirty="0"/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4667250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 dirty="0"/>
          </a:p>
        </p:txBody>
      </p:sp>
      <p:sp>
        <p:nvSpPr>
          <p:cNvPr id="181" name="Google Shape;181;p19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Step 5. 잔여 결측치 보간 (Imputation)</a:t>
            </a:r>
            <a:endParaRPr dirty="0"/>
          </a:p>
        </p:txBody>
      </p:sp>
      <p:sp>
        <p:nvSpPr>
          <p:cNvPr id="182" name="Google Shape;182;p19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978FDE49-E706-99E5-4DC0-6FA9C1F301D8}"/>
              </a:ext>
            </a:extLst>
          </p:cNvPr>
          <p:cNvGrpSpPr/>
          <p:nvPr/>
        </p:nvGrpSpPr>
        <p:grpSpPr>
          <a:xfrm>
            <a:off x="391001" y="186703"/>
            <a:ext cx="11409998" cy="3199306"/>
            <a:chOff x="391001" y="405071"/>
            <a:chExt cx="11409998" cy="3256998"/>
          </a:xfrm>
        </p:grpSpPr>
        <p:pic>
          <p:nvPicPr>
            <p:cNvPr id="188" name="Google Shape;188;p20" descr="image.png"/>
            <p:cNvPicPr preferRelativeResize="0"/>
            <p:nvPr/>
          </p:nvPicPr>
          <p:blipFill rotWithShape="1">
            <a:blip r:embed="rId4">
              <a:alphaModFix amt="90000"/>
            </a:blip>
            <a:srcRect/>
            <a:stretch/>
          </p:blipFill>
          <p:spPr>
            <a:xfrm>
              <a:off x="391001" y="405071"/>
              <a:ext cx="11409998" cy="3256998"/>
            </a:xfrm>
            <a:prstGeom prst="rect">
              <a:avLst/>
            </a:prstGeom>
            <a:solidFill>
              <a:schemeClr val="bg1">
                <a:lumMod val="95000"/>
                <a:alpha val="0"/>
              </a:schemeClr>
            </a:solidFill>
            <a:ln>
              <a:noFill/>
            </a:ln>
          </p:spPr>
        </p:pic>
        <p:sp>
          <p:nvSpPr>
            <p:cNvPr id="189" name="Google Shape;189;p20"/>
            <p:cNvSpPr txBox="1"/>
            <p:nvPr/>
          </p:nvSpPr>
          <p:spPr>
            <a:xfrm>
              <a:off x="2205513" y="735941"/>
              <a:ext cx="7780972" cy="590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50" b="1" i="0" u="none" strike="noStrike" cap="none" dirty="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💡 결론 및 연구 기대 효과</a:t>
              </a:r>
              <a:endParaRPr dirty="0"/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1653622" y="1477092"/>
              <a:ext cx="8966645" cy="7599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33415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본 정제 파이프라인을 통해 초기 591개의 고차원 데이터에서</a:t>
              </a:r>
              <a:b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50" b="0" i="0" u="none" strike="noStrike" cap="none" dirty="0">
                  <a:solidFill>
                    <a:srgbClr val="33415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불필요한 노이즈와 무의미한 상수를 제거하고 </a:t>
              </a:r>
              <a:r>
                <a:rPr lang="en-US" sz="1650" b="1" i="0" u="none" strike="noStrike" cap="none" dirty="0">
                  <a:solidFill>
                    <a:srgbClr val="33415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약 446여 개의 핵심 센서 특징</a:t>
              </a:r>
              <a:r>
                <a:rPr lang="en-US" sz="1650" b="0" i="0" u="none" strike="noStrike" cap="none" dirty="0">
                  <a:solidFill>
                    <a:srgbClr val="33415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을 추출했습니다.</a:t>
              </a:r>
              <a:endParaRPr dirty="0"/>
            </a:p>
          </p:txBody>
        </p:sp>
        <p:sp>
          <p:nvSpPr>
            <p:cNvPr id="191" name="Google Shape;191;p20"/>
            <p:cNvSpPr txBox="1"/>
            <p:nvPr/>
          </p:nvSpPr>
          <p:spPr>
            <a:xfrm>
              <a:off x="1612678" y="2430543"/>
              <a:ext cx="8966645" cy="11060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0369A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이는 후속되는 Feature Selection 알고리즘의 복잡도를 낮추고,</a:t>
              </a:r>
              <a:b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50" b="0" i="0" u="none" strike="noStrike" cap="none" dirty="0">
                  <a:solidFill>
                    <a:srgbClr val="0369A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분류 모델의 수율 예측 정확도를 획기적으로 향상시킬 수 있는 견고한 토대가 될 것입니다.</a:t>
              </a:r>
              <a:endParaRPr dirty="0"/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352C213A-DB72-3905-4B8A-D8222593529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7096720" y="3471992"/>
            <a:ext cx="4704279" cy="29765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16951DA-ECD7-B5DC-4D9F-70488FD4021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91001" y="3471991"/>
            <a:ext cx="3037017" cy="29765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989299D-741C-8792-4EB4-D3A86DCE6A60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3557690" y="3471991"/>
            <a:ext cx="3402549" cy="2976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509</Words>
  <Application>Microsoft Office PowerPoint</Application>
  <PresentationFormat>와이드스크린</PresentationFormat>
  <Paragraphs>41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Arial</vt:lpstr>
      <vt:lpstr>Calibri</vt:lpstr>
      <vt:lpstr>Noto Sans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wlscksdjs@gmail.com</cp:lastModifiedBy>
  <cp:revision>1</cp:revision>
  <dcterms:modified xsi:type="dcterms:W3CDTF">2026-03-17T15:41:02Z</dcterms:modified>
</cp:coreProperties>
</file>