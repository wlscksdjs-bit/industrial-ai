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60" r:id="rId3"/>
    <p:sldId id="329" r:id="rId4"/>
    <p:sldId id="330" r:id="rId5"/>
    <p:sldId id="331" r:id="rId6"/>
    <p:sldId id="332" r:id="rId7"/>
    <p:sldId id="291" r:id="rId8"/>
    <p:sldId id="334" r:id="rId9"/>
    <p:sldId id="335" r:id="rId10"/>
    <p:sldId id="336" r:id="rId11"/>
    <p:sldId id="338" r:id="rId12"/>
    <p:sldId id="337"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51" r:id="rId26"/>
    <p:sldId id="353" r:id="rId27"/>
    <p:sldId id="354" r:id="rId28"/>
    <p:sldId id="352" r:id="rId29"/>
    <p:sldId id="355" r:id="rId30"/>
    <p:sldId id="356" r:id="rId31"/>
    <p:sldId id="357" r:id="rId32"/>
    <p:sldId id="358" r:id="rId33"/>
    <p:sldId id="359" r:id="rId34"/>
    <p:sldId id="360" r:id="rId35"/>
    <p:sldId id="361" r:id="rId36"/>
    <p:sldId id="362" r:id="rId37"/>
    <p:sldId id="363" r:id="rId38"/>
    <p:sldId id="307" r:id="rId39"/>
    <p:sldId id="29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2654"/>
    <a:srgbClr val="02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540C0C-C21C-E045-B8C3-239DFA703933}" v="73" dt="2023-08-24T12:14:55.372"/>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2297" autoAdjust="0"/>
  </p:normalViewPr>
  <p:slideViewPr>
    <p:cSldViewPr snapToGrid="0">
      <p:cViewPr varScale="1">
        <p:scale>
          <a:sx n="118" d="100"/>
          <a:sy n="118" d="100"/>
        </p:scale>
        <p:origin x="576" y="8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32CE4C-95C4-494A-B5AE-E71AEE35764F}" type="datetimeFigureOut">
              <a:rPr lang="en-US" smtClean="0"/>
              <a:t>5/18/2026</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13004-8050-43C5-BBC1-EEC5CF6D074E}" type="slidenum">
              <a:rPr lang="en-US" smtClean="0"/>
              <a:t>‹#›</a:t>
            </a:fld>
            <a:endParaRPr lang="en-US"/>
          </a:p>
        </p:txBody>
      </p:sp>
    </p:spTree>
    <p:extLst>
      <p:ext uri="{BB962C8B-B14F-4D97-AF65-F5344CB8AC3E}">
        <p14:creationId xmlns:p14="http://schemas.microsoft.com/office/powerpoint/2010/main" val="1946514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bg>
      <p:bgPr>
        <a:solidFill>
          <a:schemeClr val="bg1"/>
        </a:solidFill>
        <a:effectLst/>
      </p:bgPr>
    </p:bg>
    <p:spTree>
      <p:nvGrpSpPr>
        <p:cNvPr id="1" name=""/>
        <p:cNvGrpSpPr/>
        <p:nvPr/>
      </p:nvGrpSpPr>
      <p:grpSpPr>
        <a:xfrm>
          <a:off x="0" y="0"/>
          <a:ext cx="0" cy="0"/>
          <a:chOff x="0" y="0"/>
          <a:chExt cx="0" cy="0"/>
        </a:xfrm>
      </p:grpSpPr>
      <p:sp>
        <p:nvSpPr>
          <p:cNvPr id="7" name="평행 사변형 6">
            <a:extLst>
              <a:ext uri="{FF2B5EF4-FFF2-40B4-BE49-F238E27FC236}">
                <a16:creationId xmlns:a16="http://schemas.microsoft.com/office/drawing/2014/main" id="{DE4CDD50-5537-4DF1-14C1-1E2D5F241FBE}"/>
              </a:ext>
            </a:extLst>
          </p:cNvPr>
          <p:cNvSpPr/>
          <p:nvPr userDrawn="1"/>
        </p:nvSpPr>
        <p:spPr>
          <a:xfrm>
            <a:off x="-21450" y="0"/>
            <a:ext cx="10068965" cy="6868160"/>
          </a:xfrm>
          <a:custGeom>
            <a:avLst/>
            <a:gdLst>
              <a:gd name="connsiteX0" fmla="*/ 0 w 12921344"/>
              <a:gd name="connsiteY0" fmla="*/ 6858000 h 6858000"/>
              <a:gd name="connsiteX1" fmla="*/ 2852379 w 12921344"/>
              <a:gd name="connsiteY1" fmla="*/ 0 h 6858000"/>
              <a:gd name="connsiteX2" fmla="*/ 12921344 w 12921344"/>
              <a:gd name="connsiteY2" fmla="*/ 0 h 6858000"/>
              <a:gd name="connsiteX3" fmla="*/ 10068965 w 12921344"/>
              <a:gd name="connsiteY3" fmla="*/ 6858000 h 6858000"/>
              <a:gd name="connsiteX4" fmla="*/ 0 w 12921344"/>
              <a:gd name="connsiteY4" fmla="*/ 6858000 h 6858000"/>
              <a:gd name="connsiteX0" fmla="*/ 384307 w 10068965"/>
              <a:gd name="connsiteY0" fmla="*/ 6872514 h 6872514"/>
              <a:gd name="connsiteX1" fmla="*/ 0 w 10068965"/>
              <a:gd name="connsiteY1" fmla="*/ 0 h 6872514"/>
              <a:gd name="connsiteX2" fmla="*/ 10068965 w 10068965"/>
              <a:gd name="connsiteY2" fmla="*/ 0 h 6872514"/>
              <a:gd name="connsiteX3" fmla="*/ 7216586 w 10068965"/>
              <a:gd name="connsiteY3" fmla="*/ 6858000 h 6872514"/>
              <a:gd name="connsiteX4" fmla="*/ 384307 w 10068965"/>
              <a:gd name="connsiteY4" fmla="*/ 6872514 h 6872514"/>
              <a:gd name="connsiteX0" fmla="*/ 22902 w 10068965"/>
              <a:gd name="connsiteY0" fmla="*/ 6868160 h 6868160"/>
              <a:gd name="connsiteX1" fmla="*/ 0 w 10068965"/>
              <a:gd name="connsiteY1" fmla="*/ 0 h 6868160"/>
              <a:gd name="connsiteX2" fmla="*/ 10068965 w 10068965"/>
              <a:gd name="connsiteY2" fmla="*/ 0 h 6868160"/>
              <a:gd name="connsiteX3" fmla="*/ 7216586 w 10068965"/>
              <a:gd name="connsiteY3" fmla="*/ 6858000 h 6868160"/>
              <a:gd name="connsiteX4" fmla="*/ 22902 w 10068965"/>
              <a:gd name="connsiteY4" fmla="*/ 6868160 h 686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8965" h="6868160">
                <a:moveTo>
                  <a:pt x="22902" y="6868160"/>
                </a:moveTo>
                <a:lnTo>
                  <a:pt x="0" y="0"/>
                </a:lnTo>
                <a:lnTo>
                  <a:pt x="10068965" y="0"/>
                </a:lnTo>
                <a:lnTo>
                  <a:pt x="7216586" y="6858000"/>
                </a:lnTo>
                <a:lnTo>
                  <a:pt x="22902" y="6868160"/>
                </a:lnTo>
                <a:close/>
              </a:path>
            </a:pathLst>
          </a:custGeom>
          <a:gradFill flip="none" rotWithShape="1">
            <a:gsLst>
              <a:gs pos="0">
                <a:schemeClr val="bg2">
                  <a:lumMod val="25000"/>
                  <a:shade val="30000"/>
                  <a:satMod val="115000"/>
                </a:schemeClr>
              </a:gs>
              <a:gs pos="50000">
                <a:schemeClr val="bg2">
                  <a:lumMod val="25000"/>
                  <a:shade val="67500"/>
                  <a:satMod val="115000"/>
                </a:schemeClr>
              </a:gs>
              <a:gs pos="100000">
                <a:schemeClr val="bg2">
                  <a:lumMod val="2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제목 1">
            <a:extLst>
              <a:ext uri="{FF2B5EF4-FFF2-40B4-BE49-F238E27FC236}">
                <a16:creationId xmlns:a16="http://schemas.microsoft.com/office/drawing/2014/main" id="{7BA3774A-E868-88D7-FBB5-D8FDDB5DA9EE}"/>
              </a:ext>
            </a:extLst>
          </p:cNvPr>
          <p:cNvSpPr>
            <a:spLocks noGrp="1"/>
          </p:cNvSpPr>
          <p:nvPr>
            <p:ph type="ctrTitle"/>
          </p:nvPr>
        </p:nvSpPr>
        <p:spPr>
          <a:xfrm>
            <a:off x="108857" y="1407548"/>
            <a:ext cx="7173685" cy="1340630"/>
          </a:xfrm>
        </p:spPr>
        <p:txBody>
          <a:bodyPr anchor="b"/>
          <a:lstStyle>
            <a:lvl1pPr algn="ctr">
              <a:defRPr sz="6000">
                <a:solidFill>
                  <a:schemeClr val="bg1"/>
                </a:solidFill>
              </a:defRPr>
            </a:lvl1pPr>
          </a:lstStyle>
          <a:p>
            <a:r>
              <a:rPr lang="ko-KR" altLang="en-US"/>
              <a:t>마스터 제목 스타일 편집</a:t>
            </a:r>
            <a:endParaRPr lang="en-US" dirty="0"/>
          </a:p>
        </p:txBody>
      </p:sp>
      <p:sp>
        <p:nvSpPr>
          <p:cNvPr id="3" name="부제목 2">
            <a:extLst>
              <a:ext uri="{FF2B5EF4-FFF2-40B4-BE49-F238E27FC236}">
                <a16:creationId xmlns:a16="http://schemas.microsoft.com/office/drawing/2014/main" id="{4DA73DA5-7890-A51F-6FA3-3B1A6CA0CF04}"/>
              </a:ext>
            </a:extLst>
          </p:cNvPr>
          <p:cNvSpPr>
            <a:spLocks noGrp="1"/>
          </p:cNvSpPr>
          <p:nvPr>
            <p:ph type="subTitle" idx="1"/>
          </p:nvPr>
        </p:nvSpPr>
        <p:spPr>
          <a:xfrm>
            <a:off x="108858" y="3887223"/>
            <a:ext cx="3795486" cy="929705"/>
          </a:xfrm>
        </p:spPr>
        <p:txBody>
          <a:bodyPr>
            <a:normAutofit/>
          </a:bodyPr>
          <a:lstStyle>
            <a:lvl1pPr marL="0" indent="0" algn="ctr">
              <a:buNone/>
              <a:defRPr sz="4000" baseline="30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날짜 개체 틀 3">
            <a:extLst>
              <a:ext uri="{FF2B5EF4-FFF2-40B4-BE49-F238E27FC236}">
                <a16:creationId xmlns:a16="http://schemas.microsoft.com/office/drawing/2014/main" id="{03EA0EA5-F501-AE3E-6AF3-768A3F6C211F}"/>
              </a:ext>
            </a:extLst>
          </p:cNvPr>
          <p:cNvSpPr>
            <a:spLocks noGrp="1"/>
          </p:cNvSpPr>
          <p:nvPr>
            <p:ph type="dt" sz="half" idx="10"/>
          </p:nvPr>
        </p:nvSpPr>
        <p:spPr/>
        <p:txBody>
          <a:bodyPr/>
          <a:lstStyle/>
          <a:p>
            <a:fld id="{403539CC-A984-43CF-A1AB-B2D79FDF199E}" type="datetime1">
              <a:rPr lang="en-US" altLang="ko-KR" smtClean="0"/>
              <a:t>5/18/2026</a:t>
            </a:fld>
            <a:endParaRPr lang="en-US" dirty="0"/>
          </a:p>
        </p:txBody>
      </p:sp>
      <p:sp>
        <p:nvSpPr>
          <p:cNvPr id="5" name="바닥글 개체 틀 4">
            <a:extLst>
              <a:ext uri="{FF2B5EF4-FFF2-40B4-BE49-F238E27FC236}">
                <a16:creationId xmlns:a16="http://schemas.microsoft.com/office/drawing/2014/main" id="{74C08EBE-82B6-5566-45E9-5156CC422DAC}"/>
              </a:ext>
            </a:extLst>
          </p:cNvPr>
          <p:cNvSpPr>
            <a:spLocks noGrp="1"/>
          </p:cNvSpPr>
          <p:nvPr>
            <p:ph type="ftr" sz="quarter" idx="11"/>
          </p:nvPr>
        </p:nvSpPr>
        <p:spPr/>
        <p:txBody>
          <a:bodyPr/>
          <a:lstStyle/>
          <a:p>
            <a:r>
              <a:rPr lang="en-US"/>
              <a:t>2023 Copyright ⓒ Autonomous Vehicle Lab</a:t>
            </a:r>
            <a:endParaRPr lang="en-US" dirty="0"/>
          </a:p>
        </p:txBody>
      </p:sp>
      <p:pic>
        <p:nvPicPr>
          <p:cNvPr id="14" name="그림 13" descr="텍스트, 클립아트이(가) 표시된 사진&#10;&#10;자동 생성된 설명">
            <a:extLst>
              <a:ext uri="{FF2B5EF4-FFF2-40B4-BE49-F238E27FC236}">
                <a16:creationId xmlns:a16="http://schemas.microsoft.com/office/drawing/2014/main" id="{7713B203-74E6-96A9-24D0-F13987C31F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63332" y="5586125"/>
            <a:ext cx="1976252" cy="759622"/>
          </a:xfrm>
          <a:prstGeom prst="rect">
            <a:avLst/>
          </a:prstGeom>
        </p:spPr>
      </p:pic>
      <p:sp>
        <p:nvSpPr>
          <p:cNvPr id="19" name="평행 사변형 18">
            <a:extLst>
              <a:ext uri="{FF2B5EF4-FFF2-40B4-BE49-F238E27FC236}">
                <a16:creationId xmlns:a16="http://schemas.microsoft.com/office/drawing/2014/main" id="{7E53A931-DC2C-3C8D-14E6-BCAF0EDDDFB7}"/>
              </a:ext>
            </a:extLst>
          </p:cNvPr>
          <p:cNvSpPr/>
          <p:nvPr userDrawn="1"/>
        </p:nvSpPr>
        <p:spPr>
          <a:xfrm>
            <a:off x="7843157" y="-2445"/>
            <a:ext cx="4197804" cy="6862440"/>
          </a:xfrm>
          <a:custGeom>
            <a:avLst/>
            <a:gdLst>
              <a:gd name="connsiteX0" fmla="*/ 0 w 2999015"/>
              <a:gd name="connsiteY0" fmla="*/ 6878769 h 6878769"/>
              <a:gd name="connsiteX1" fmla="*/ 1974551 w 2999015"/>
              <a:gd name="connsiteY1" fmla="*/ 0 h 6878769"/>
              <a:gd name="connsiteX2" fmla="*/ 2999015 w 2999015"/>
              <a:gd name="connsiteY2" fmla="*/ 0 h 6878769"/>
              <a:gd name="connsiteX3" fmla="*/ 1024464 w 2999015"/>
              <a:gd name="connsiteY3" fmla="*/ 6878769 h 6878769"/>
              <a:gd name="connsiteX4" fmla="*/ 0 w 2999015"/>
              <a:gd name="connsiteY4" fmla="*/ 6878769 h 6878769"/>
              <a:gd name="connsiteX0" fmla="*/ 0 w 4131129"/>
              <a:gd name="connsiteY0" fmla="*/ 6878769 h 6878769"/>
              <a:gd name="connsiteX1" fmla="*/ 1974551 w 4131129"/>
              <a:gd name="connsiteY1" fmla="*/ 0 h 6878769"/>
              <a:gd name="connsiteX2" fmla="*/ 4131129 w 4131129"/>
              <a:gd name="connsiteY2" fmla="*/ 70757 h 6878769"/>
              <a:gd name="connsiteX3" fmla="*/ 1024464 w 4131129"/>
              <a:gd name="connsiteY3" fmla="*/ 6878769 h 6878769"/>
              <a:gd name="connsiteX4" fmla="*/ 0 w 4131129"/>
              <a:gd name="connsiteY4" fmla="*/ 6878769 h 6878769"/>
              <a:gd name="connsiteX0" fmla="*/ 0 w 4203246"/>
              <a:gd name="connsiteY0" fmla="*/ 6878769 h 6878769"/>
              <a:gd name="connsiteX1" fmla="*/ 1974551 w 4203246"/>
              <a:gd name="connsiteY1" fmla="*/ 0 h 6878769"/>
              <a:gd name="connsiteX2" fmla="*/ 4203246 w 4203246"/>
              <a:gd name="connsiteY2" fmla="*/ 8164 h 6878769"/>
              <a:gd name="connsiteX3" fmla="*/ 1024464 w 4203246"/>
              <a:gd name="connsiteY3" fmla="*/ 6878769 h 6878769"/>
              <a:gd name="connsiteX4" fmla="*/ 0 w 4203246"/>
              <a:gd name="connsiteY4" fmla="*/ 6878769 h 6878769"/>
              <a:gd name="connsiteX0" fmla="*/ 0 w 4203246"/>
              <a:gd name="connsiteY0" fmla="*/ 6870605 h 6870605"/>
              <a:gd name="connsiteX1" fmla="*/ 3004612 w 4203246"/>
              <a:gd name="connsiteY1" fmla="*/ 63954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443564 w 4203246"/>
              <a:gd name="connsiteY3" fmla="*/ 6862440 h 6870605"/>
              <a:gd name="connsiteX4" fmla="*/ 0 w 4203246"/>
              <a:gd name="connsiteY4" fmla="*/ 6870605 h 6870605"/>
              <a:gd name="connsiteX0" fmla="*/ 0 w 4151539"/>
              <a:gd name="connsiteY0" fmla="*/ 6843391 h 6862440"/>
              <a:gd name="connsiteX1" fmla="*/ 2812752 w 4151539"/>
              <a:gd name="connsiteY1" fmla="*/ 1361 h 6862440"/>
              <a:gd name="connsiteX2" fmla="*/ 4151539 w 4151539"/>
              <a:gd name="connsiteY2" fmla="*/ 0 h 6862440"/>
              <a:gd name="connsiteX3" fmla="*/ 1391857 w 4151539"/>
              <a:gd name="connsiteY3" fmla="*/ 6862440 h 6862440"/>
              <a:gd name="connsiteX4" fmla="*/ 0 w 4151539"/>
              <a:gd name="connsiteY4" fmla="*/ 6843391 h 6862440"/>
              <a:gd name="connsiteX0" fmla="*/ 0 w 4197804"/>
              <a:gd name="connsiteY0" fmla="*/ 6859719 h 6862440"/>
              <a:gd name="connsiteX1" fmla="*/ 2859017 w 4197804"/>
              <a:gd name="connsiteY1" fmla="*/ 1361 h 6862440"/>
              <a:gd name="connsiteX2" fmla="*/ 4197804 w 4197804"/>
              <a:gd name="connsiteY2" fmla="*/ 0 h 6862440"/>
              <a:gd name="connsiteX3" fmla="*/ 1438122 w 4197804"/>
              <a:gd name="connsiteY3" fmla="*/ 6862440 h 6862440"/>
              <a:gd name="connsiteX4" fmla="*/ 0 w 4197804"/>
              <a:gd name="connsiteY4" fmla="*/ 6859719 h 686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7804" h="6862440">
                <a:moveTo>
                  <a:pt x="0" y="6859719"/>
                </a:moveTo>
                <a:lnTo>
                  <a:pt x="2859017" y="1361"/>
                </a:lnTo>
                <a:lnTo>
                  <a:pt x="4197804" y="0"/>
                </a:lnTo>
                <a:lnTo>
                  <a:pt x="1438122" y="6862440"/>
                </a:lnTo>
                <a:lnTo>
                  <a:pt x="0" y="6859719"/>
                </a:lnTo>
                <a:close/>
              </a:path>
            </a:pathLst>
          </a:custGeom>
          <a:solidFill>
            <a:srgbClr val="B726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4513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제목 슬라이드">
    <p:bg>
      <p:bgPr>
        <a:solidFill>
          <a:schemeClr val="bg1"/>
        </a:solidFill>
        <a:effectLst/>
      </p:bgPr>
    </p:bg>
    <p:spTree>
      <p:nvGrpSpPr>
        <p:cNvPr id="1" name=""/>
        <p:cNvGrpSpPr/>
        <p:nvPr/>
      </p:nvGrpSpPr>
      <p:grpSpPr>
        <a:xfrm>
          <a:off x="0" y="0"/>
          <a:ext cx="0" cy="0"/>
          <a:chOff x="0" y="0"/>
          <a:chExt cx="0" cy="0"/>
        </a:xfrm>
      </p:grpSpPr>
      <p:sp>
        <p:nvSpPr>
          <p:cNvPr id="7" name="평행 사변형 6">
            <a:extLst>
              <a:ext uri="{FF2B5EF4-FFF2-40B4-BE49-F238E27FC236}">
                <a16:creationId xmlns:a16="http://schemas.microsoft.com/office/drawing/2014/main" id="{DE4CDD50-5537-4DF1-14C1-1E2D5F241FBE}"/>
              </a:ext>
            </a:extLst>
          </p:cNvPr>
          <p:cNvSpPr/>
          <p:nvPr userDrawn="1"/>
        </p:nvSpPr>
        <p:spPr>
          <a:xfrm>
            <a:off x="-21450" y="0"/>
            <a:ext cx="10068965" cy="6868160"/>
          </a:xfrm>
          <a:custGeom>
            <a:avLst/>
            <a:gdLst>
              <a:gd name="connsiteX0" fmla="*/ 0 w 12921344"/>
              <a:gd name="connsiteY0" fmla="*/ 6858000 h 6858000"/>
              <a:gd name="connsiteX1" fmla="*/ 2852379 w 12921344"/>
              <a:gd name="connsiteY1" fmla="*/ 0 h 6858000"/>
              <a:gd name="connsiteX2" fmla="*/ 12921344 w 12921344"/>
              <a:gd name="connsiteY2" fmla="*/ 0 h 6858000"/>
              <a:gd name="connsiteX3" fmla="*/ 10068965 w 12921344"/>
              <a:gd name="connsiteY3" fmla="*/ 6858000 h 6858000"/>
              <a:gd name="connsiteX4" fmla="*/ 0 w 12921344"/>
              <a:gd name="connsiteY4" fmla="*/ 6858000 h 6858000"/>
              <a:gd name="connsiteX0" fmla="*/ 384307 w 10068965"/>
              <a:gd name="connsiteY0" fmla="*/ 6872514 h 6872514"/>
              <a:gd name="connsiteX1" fmla="*/ 0 w 10068965"/>
              <a:gd name="connsiteY1" fmla="*/ 0 h 6872514"/>
              <a:gd name="connsiteX2" fmla="*/ 10068965 w 10068965"/>
              <a:gd name="connsiteY2" fmla="*/ 0 h 6872514"/>
              <a:gd name="connsiteX3" fmla="*/ 7216586 w 10068965"/>
              <a:gd name="connsiteY3" fmla="*/ 6858000 h 6872514"/>
              <a:gd name="connsiteX4" fmla="*/ 384307 w 10068965"/>
              <a:gd name="connsiteY4" fmla="*/ 6872514 h 6872514"/>
              <a:gd name="connsiteX0" fmla="*/ 22902 w 10068965"/>
              <a:gd name="connsiteY0" fmla="*/ 6868160 h 6868160"/>
              <a:gd name="connsiteX1" fmla="*/ 0 w 10068965"/>
              <a:gd name="connsiteY1" fmla="*/ 0 h 6868160"/>
              <a:gd name="connsiteX2" fmla="*/ 10068965 w 10068965"/>
              <a:gd name="connsiteY2" fmla="*/ 0 h 6868160"/>
              <a:gd name="connsiteX3" fmla="*/ 7216586 w 10068965"/>
              <a:gd name="connsiteY3" fmla="*/ 6858000 h 6868160"/>
              <a:gd name="connsiteX4" fmla="*/ 22902 w 10068965"/>
              <a:gd name="connsiteY4" fmla="*/ 6868160 h 686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8965" h="6868160">
                <a:moveTo>
                  <a:pt x="22902" y="6868160"/>
                </a:moveTo>
                <a:lnTo>
                  <a:pt x="0" y="0"/>
                </a:lnTo>
                <a:lnTo>
                  <a:pt x="10068965" y="0"/>
                </a:lnTo>
                <a:lnTo>
                  <a:pt x="7216586" y="6858000"/>
                </a:lnTo>
                <a:lnTo>
                  <a:pt x="22902" y="6868160"/>
                </a:lnTo>
                <a:close/>
              </a:path>
            </a:pathLst>
          </a:custGeom>
          <a:gradFill flip="none" rotWithShape="1">
            <a:gsLst>
              <a:gs pos="0">
                <a:schemeClr val="bg2">
                  <a:lumMod val="25000"/>
                </a:schemeClr>
              </a:gs>
              <a:gs pos="71000">
                <a:schemeClr val="bg2">
                  <a:lumMod val="10000"/>
                </a:schemeClr>
              </a:gs>
              <a:gs pos="100000">
                <a:srgbClr val="B72654">
                  <a:lumMod val="61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제목 1">
            <a:extLst>
              <a:ext uri="{FF2B5EF4-FFF2-40B4-BE49-F238E27FC236}">
                <a16:creationId xmlns:a16="http://schemas.microsoft.com/office/drawing/2014/main" id="{7BA3774A-E868-88D7-FBB5-D8FDDB5DA9EE}"/>
              </a:ext>
            </a:extLst>
          </p:cNvPr>
          <p:cNvSpPr>
            <a:spLocks noGrp="1"/>
          </p:cNvSpPr>
          <p:nvPr>
            <p:ph type="ctrTitle"/>
          </p:nvPr>
        </p:nvSpPr>
        <p:spPr>
          <a:xfrm>
            <a:off x="108857" y="1407548"/>
            <a:ext cx="7173685" cy="1340630"/>
          </a:xfrm>
        </p:spPr>
        <p:txBody>
          <a:bodyPr anchor="b"/>
          <a:lstStyle>
            <a:lvl1pPr algn="ctr">
              <a:defRPr sz="6000">
                <a:solidFill>
                  <a:schemeClr val="bg1"/>
                </a:solidFill>
              </a:defRPr>
            </a:lvl1pPr>
          </a:lstStyle>
          <a:p>
            <a:r>
              <a:rPr lang="ko-KR" altLang="en-US"/>
              <a:t>마스터 제목 스타일 편집</a:t>
            </a:r>
            <a:endParaRPr lang="en-US" dirty="0"/>
          </a:p>
        </p:txBody>
      </p:sp>
      <p:sp>
        <p:nvSpPr>
          <p:cNvPr id="3" name="부제목 2">
            <a:extLst>
              <a:ext uri="{FF2B5EF4-FFF2-40B4-BE49-F238E27FC236}">
                <a16:creationId xmlns:a16="http://schemas.microsoft.com/office/drawing/2014/main" id="{4DA73DA5-7890-A51F-6FA3-3B1A6CA0CF04}"/>
              </a:ext>
            </a:extLst>
          </p:cNvPr>
          <p:cNvSpPr>
            <a:spLocks noGrp="1"/>
          </p:cNvSpPr>
          <p:nvPr>
            <p:ph type="subTitle" idx="1"/>
          </p:nvPr>
        </p:nvSpPr>
        <p:spPr>
          <a:xfrm>
            <a:off x="108858" y="3887223"/>
            <a:ext cx="3795486" cy="929705"/>
          </a:xfrm>
        </p:spPr>
        <p:txBody>
          <a:bodyPr>
            <a:normAutofit/>
          </a:bodyPr>
          <a:lstStyle>
            <a:lvl1pPr marL="0" indent="0" algn="ctr">
              <a:buNone/>
              <a:defRPr sz="4000" baseline="30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날짜 개체 틀 3">
            <a:extLst>
              <a:ext uri="{FF2B5EF4-FFF2-40B4-BE49-F238E27FC236}">
                <a16:creationId xmlns:a16="http://schemas.microsoft.com/office/drawing/2014/main" id="{03EA0EA5-F501-AE3E-6AF3-768A3F6C211F}"/>
              </a:ext>
            </a:extLst>
          </p:cNvPr>
          <p:cNvSpPr>
            <a:spLocks noGrp="1"/>
          </p:cNvSpPr>
          <p:nvPr>
            <p:ph type="dt" sz="half" idx="10"/>
          </p:nvPr>
        </p:nvSpPr>
        <p:spPr/>
        <p:txBody>
          <a:bodyPr/>
          <a:lstStyle/>
          <a:p>
            <a:fld id="{C48D7A99-2130-4CBE-8FCE-06D03B75E5DD}" type="datetime1">
              <a:rPr lang="en-US" altLang="ko-KR" smtClean="0"/>
              <a:t>5/18/2026</a:t>
            </a:fld>
            <a:endParaRPr lang="en-US" dirty="0"/>
          </a:p>
        </p:txBody>
      </p:sp>
      <p:sp>
        <p:nvSpPr>
          <p:cNvPr id="5" name="바닥글 개체 틀 4">
            <a:extLst>
              <a:ext uri="{FF2B5EF4-FFF2-40B4-BE49-F238E27FC236}">
                <a16:creationId xmlns:a16="http://schemas.microsoft.com/office/drawing/2014/main" id="{74C08EBE-82B6-5566-45E9-5156CC422DAC}"/>
              </a:ext>
            </a:extLst>
          </p:cNvPr>
          <p:cNvSpPr>
            <a:spLocks noGrp="1"/>
          </p:cNvSpPr>
          <p:nvPr>
            <p:ph type="ftr" sz="quarter" idx="11"/>
          </p:nvPr>
        </p:nvSpPr>
        <p:spPr/>
        <p:txBody>
          <a:bodyPr/>
          <a:lstStyle/>
          <a:p>
            <a:r>
              <a:rPr lang="en-US"/>
              <a:t>2023 Copyright ⓒ Autonomous Vehicle Lab</a:t>
            </a:r>
            <a:endParaRPr lang="en-US" dirty="0"/>
          </a:p>
        </p:txBody>
      </p:sp>
      <p:pic>
        <p:nvPicPr>
          <p:cNvPr id="14" name="그림 13" descr="텍스트, 클립아트이(가) 표시된 사진&#10;&#10;자동 생성된 설명">
            <a:extLst>
              <a:ext uri="{FF2B5EF4-FFF2-40B4-BE49-F238E27FC236}">
                <a16:creationId xmlns:a16="http://schemas.microsoft.com/office/drawing/2014/main" id="{7713B203-74E6-96A9-24D0-F13987C31F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63332" y="5586125"/>
            <a:ext cx="1976252" cy="759622"/>
          </a:xfrm>
          <a:prstGeom prst="rect">
            <a:avLst/>
          </a:prstGeom>
        </p:spPr>
      </p:pic>
      <p:sp>
        <p:nvSpPr>
          <p:cNvPr id="19" name="평행 사변형 18">
            <a:extLst>
              <a:ext uri="{FF2B5EF4-FFF2-40B4-BE49-F238E27FC236}">
                <a16:creationId xmlns:a16="http://schemas.microsoft.com/office/drawing/2014/main" id="{7E53A931-DC2C-3C8D-14E6-BCAF0EDDDFB7}"/>
              </a:ext>
            </a:extLst>
          </p:cNvPr>
          <p:cNvSpPr/>
          <p:nvPr userDrawn="1"/>
        </p:nvSpPr>
        <p:spPr>
          <a:xfrm>
            <a:off x="7843157" y="-2445"/>
            <a:ext cx="4197804" cy="6862440"/>
          </a:xfrm>
          <a:custGeom>
            <a:avLst/>
            <a:gdLst>
              <a:gd name="connsiteX0" fmla="*/ 0 w 2999015"/>
              <a:gd name="connsiteY0" fmla="*/ 6878769 h 6878769"/>
              <a:gd name="connsiteX1" fmla="*/ 1974551 w 2999015"/>
              <a:gd name="connsiteY1" fmla="*/ 0 h 6878769"/>
              <a:gd name="connsiteX2" fmla="*/ 2999015 w 2999015"/>
              <a:gd name="connsiteY2" fmla="*/ 0 h 6878769"/>
              <a:gd name="connsiteX3" fmla="*/ 1024464 w 2999015"/>
              <a:gd name="connsiteY3" fmla="*/ 6878769 h 6878769"/>
              <a:gd name="connsiteX4" fmla="*/ 0 w 2999015"/>
              <a:gd name="connsiteY4" fmla="*/ 6878769 h 6878769"/>
              <a:gd name="connsiteX0" fmla="*/ 0 w 4131129"/>
              <a:gd name="connsiteY0" fmla="*/ 6878769 h 6878769"/>
              <a:gd name="connsiteX1" fmla="*/ 1974551 w 4131129"/>
              <a:gd name="connsiteY1" fmla="*/ 0 h 6878769"/>
              <a:gd name="connsiteX2" fmla="*/ 4131129 w 4131129"/>
              <a:gd name="connsiteY2" fmla="*/ 70757 h 6878769"/>
              <a:gd name="connsiteX3" fmla="*/ 1024464 w 4131129"/>
              <a:gd name="connsiteY3" fmla="*/ 6878769 h 6878769"/>
              <a:gd name="connsiteX4" fmla="*/ 0 w 4131129"/>
              <a:gd name="connsiteY4" fmla="*/ 6878769 h 6878769"/>
              <a:gd name="connsiteX0" fmla="*/ 0 w 4203246"/>
              <a:gd name="connsiteY0" fmla="*/ 6878769 h 6878769"/>
              <a:gd name="connsiteX1" fmla="*/ 1974551 w 4203246"/>
              <a:gd name="connsiteY1" fmla="*/ 0 h 6878769"/>
              <a:gd name="connsiteX2" fmla="*/ 4203246 w 4203246"/>
              <a:gd name="connsiteY2" fmla="*/ 8164 h 6878769"/>
              <a:gd name="connsiteX3" fmla="*/ 1024464 w 4203246"/>
              <a:gd name="connsiteY3" fmla="*/ 6878769 h 6878769"/>
              <a:gd name="connsiteX4" fmla="*/ 0 w 4203246"/>
              <a:gd name="connsiteY4" fmla="*/ 6878769 h 6878769"/>
              <a:gd name="connsiteX0" fmla="*/ 0 w 4203246"/>
              <a:gd name="connsiteY0" fmla="*/ 6870605 h 6870605"/>
              <a:gd name="connsiteX1" fmla="*/ 3004612 w 4203246"/>
              <a:gd name="connsiteY1" fmla="*/ 63954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443564 w 4203246"/>
              <a:gd name="connsiteY3" fmla="*/ 6862440 h 6870605"/>
              <a:gd name="connsiteX4" fmla="*/ 0 w 4203246"/>
              <a:gd name="connsiteY4" fmla="*/ 6870605 h 6870605"/>
              <a:gd name="connsiteX0" fmla="*/ 0 w 4151539"/>
              <a:gd name="connsiteY0" fmla="*/ 6843391 h 6862440"/>
              <a:gd name="connsiteX1" fmla="*/ 2812752 w 4151539"/>
              <a:gd name="connsiteY1" fmla="*/ 1361 h 6862440"/>
              <a:gd name="connsiteX2" fmla="*/ 4151539 w 4151539"/>
              <a:gd name="connsiteY2" fmla="*/ 0 h 6862440"/>
              <a:gd name="connsiteX3" fmla="*/ 1391857 w 4151539"/>
              <a:gd name="connsiteY3" fmla="*/ 6862440 h 6862440"/>
              <a:gd name="connsiteX4" fmla="*/ 0 w 4151539"/>
              <a:gd name="connsiteY4" fmla="*/ 6843391 h 6862440"/>
              <a:gd name="connsiteX0" fmla="*/ 0 w 4197804"/>
              <a:gd name="connsiteY0" fmla="*/ 6859719 h 6862440"/>
              <a:gd name="connsiteX1" fmla="*/ 2859017 w 4197804"/>
              <a:gd name="connsiteY1" fmla="*/ 1361 h 6862440"/>
              <a:gd name="connsiteX2" fmla="*/ 4197804 w 4197804"/>
              <a:gd name="connsiteY2" fmla="*/ 0 h 6862440"/>
              <a:gd name="connsiteX3" fmla="*/ 1438122 w 4197804"/>
              <a:gd name="connsiteY3" fmla="*/ 6862440 h 6862440"/>
              <a:gd name="connsiteX4" fmla="*/ 0 w 4197804"/>
              <a:gd name="connsiteY4" fmla="*/ 6859719 h 686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7804" h="6862440">
                <a:moveTo>
                  <a:pt x="0" y="6859719"/>
                </a:moveTo>
                <a:lnTo>
                  <a:pt x="2859017" y="1361"/>
                </a:lnTo>
                <a:lnTo>
                  <a:pt x="4197804" y="0"/>
                </a:lnTo>
                <a:lnTo>
                  <a:pt x="1438122" y="6862440"/>
                </a:lnTo>
                <a:lnTo>
                  <a:pt x="0" y="6859719"/>
                </a:ln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4076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10" name="평행 사변형 18">
            <a:extLst>
              <a:ext uri="{FF2B5EF4-FFF2-40B4-BE49-F238E27FC236}">
                <a16:creationId xmlns:a16="http://schemas.microsoft.com/office/drawing/2014/main" id="{A4352786-598C-D5A1-065B-1EB632E63159}"/>
              </a:ext>
            </a:extLst>
          </p:cNvPr>
          <p:cNvSpPr/>
          <p:nvPr userDrawn="1"/>
        </p:nvSpPr>
        <p:spPr>
          <a:xfrm>
            <a:off x="331471" y="109536"/>
            <a:ext cx="312692" cy="511178"/>
          </a:xfrm>
          <a:custGeom>
            <a:avLst/>
            <a:gdLst>
              <a:gd name="connsiteX0" fmla="*/ 0 w 2999015"/>
              <a:gd name="connsiteY0" fmla="*/ 6878769 h 6878769"/>
              <a:gd name="connsiteX1" fmla="*/ 1974551 w 2999015"/>
              <a:gd name="connsiteY1" fmla="*/ 0 h 6878769"/>
              <a:gd name="connsiteX2" fmla="*/ 2999015 w 2999015"/>
              <a:gd name="connsiteY2" fmla="*/ 0 h 6878769"/>
              <a:gd name="connsiteX3" fmla="*/ 1024464 w 2999015"/>
              <a:gd name="connsiteY3" fmla="*/ 6878769 h 6878769"/>
              <a:gd name="connsiteX4" fmla="*/ 0 w 2999015"/>
              <a:gd name="connsiteY4" fmla="*/ 6878769 h 6878769"/>
              <a:gd name="connsiteX0" fmla="*/ 0 w 4131129"/>
              <a:gd name="connsiteY0" fmla="*/ 6878769 h 6878769"/>
              <a:gd name="connsiteX1" fmla="*/ 1974551 w 4131129"/>
              <a:gd name="connsiteY1" fmla="*/ 0 h 6878769"/>
              <a:gd name="connsiteX2" fmla="*/ 4131129 w 4131129"/>
              <a:gd name="connsiteY2" fmla="*/ 70757 h 6878769"/>
              <a:gd name="connsiteX3" fmla="*/ 1024464 w 4131129"/>
              <a:gd name="connsiteY3" fmla="*/ 6878769 h 6878769"/>
              <a:gd name="connsiteX4" fmla="*/ 0 w 4131129"/>
              <a:gd name="connsiteY4" fmla="*/ 6878769 h 6878769"/>
              <a:gd name="connsiteX0" fmla="*/ 0 w 4203246"/>
              <a:gd name="connsiteY0" fmla="*/ 6878769 h 6878769"/>
              <a:gd name="connsiteX1" fmla="*/ 1974551 w 4203246"/>
              <a:gd name="connsiteY1" fmla="*/ 0 h 6878769"/>
              <a:gd name="connsiteX2" fmla="*/ 4203246 w 4203246"/>
              <a:gd name="connsiteY2" fmla="*/ 8164 h 6878769"/>
              <a:gd name="connsiteX3" fmla="*/ 1024464 w 4203246"/>
              <a:gd name="connsiteY3" fmla="*/ 6878769 h 6878769"/>
              <a:gd name="connsiteX4" fmla="*/ 0 w 4203246"/>
              <a:gd name="connsiteY4" fmla="*/ 6878769 h 6878769"/>
              <a:gd name="connsiteX0" fmla="*/ 0 w 4203246"/>
              <a:gd name="connsiteY0" fmla="*/ 6870605 h 6870605"/>
              <a:gd name="connsiteX1" fmla="*/ 3004612 w 4203246"/>
              <a:gd name="connsiteY1" fmla="*/ 63954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443564 w 4203246"/>
              <a:gd name="connsiteY3" fmla="*/ 6862440 h 6870605"/>
              <a:gd name="connsiteX4" fmla="*/ 0 w 4203246"/>
              <a:gd name="connsiteY4" fmla="*/ 6870605 h 6870605"/>
              <a:gd name="connsiteX0" fmla="*/ 0 w 4151539"/>
              <a:gd name="connsiteY0" fmla="*/ 6843391 h 6862440"/>
              <a:gd name="connsiteX1" fmla="*/ 2812752 w 4151539"/>
              <a:gd name="connsiteY1" fmla="*/ 1361 h 6862440"/>
              <a:gd name="connsiteX2" fmla="*/ 4151539 w 4151539"/>
              <a:gd name="connsiteY2" fmla="*/ 0 h 6862440"/>
              <a:gd name="connsiteX3" fmla="*/ 1391857 w 4151539"/>
              <a:gd name="connsiteY3" fmla="*/ 6862440 h 6862440"/>
              <a:gd name="connsiteX4" fmla="*/ 0 w 4151539"/>
              <a:gd name="connsiteY4" fmla="*/ 6843391 h 6862440"/>
              <a:gd name="connsiteX0" fmla="*/ 0 w 4197804"/>
              <a:gd name="connsiteY0" fmla="*/ 6859719 h 6862440"/>
              <a:gd name="connsiteX1" fmla="*/ 2859017 w 4197804"/>
              <a:gd name="connsiteY1" fmla="*/ 1361 h 6862440"/>
              <a:gd name="connsiteX2" fmla="*/ 4197804 w 4197804"/>
              <a:gd name="connsiteY2" fmla="*/ 0 h 6862440"/>
              <a:gd name="connsiteX3" fmla="*/ 1438122 w 4197804"/>
              <a:gd name="connsiteY3" fmla="*/ 6862440 h 6862440"/>
              <a:gd name="connsiteX4" fmla="*/ 0 w 4197804"/>
              <a:gd name="connsiteY4" fmla="*/ 6859719 h 686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7804" h="6862440">
                <a:moveTo>
                  <a:pt x="0" y="6859719"/>
                </a:moveTo>
                <a:lnTo>
                  <a:pt x="2859017" y="1361"/>
                </a:lnTo>
                <a:lnTo>
                  <a:pt x="4197804" y="0"/>
                </a:lnTo>
                <a:lnTo>
                  <a:pt x="1438122" y="6862440"/>
                </a:lnTo>
                <a:lnTo>
                  <a:pt x="0" y="6859719"/>
                </a:lnTo>
                <a:close/>
              </a:path>
            </a:pathLst>
          </a:custGeom>
          <a:solidFill>
            <a:srgbClr val="B726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그림 7" descr="텍스트, 클립아트이(가) 표시된 사진&#10;&#10;자동 생성된 설명">
            <a:extLst>
              <a:ext uri="{FF2B5EF4-FFF2-40B4-BE49-F238E27FC236}">
                <a16:creationId xmlns:a16="http://schemas.microsoft.com/office/drawing/2014/main" id="{E1AB845A-B7E0-2561-9CF7-783B4C5492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06759" y="5870498"/>
            <a:ext cx="1794528" cy="689772"/>
          </a:xfrm>
          <a:prstGeom prst="rect">
            <a:avLst/>
          </a:prstGeom>
        </p:spPr>
      </p:pic>
      <p:sp>
        <p:nvSpPr>
          <p:cNvPr id="9" name="평행 사변형 6">
            <a:extLst>
              <a:ext uri="{FF2B5EF4-FFF2-40B4-BE49-F238E27FC236}">
                <a16:creationId xmlns:a16="http://schemas.microsoft.com/office/drawing/2014/main" id="{8FD59531-7B60-F3B2-90C1-261754F833C1}"/>
              </a:ext>
            </a:extLst>
          </p:cNvPr>
          <p:cNvSpPr/>
          <p:nvPr userDrawn="1"/>
        </p:nvSpPr>
        <p:spPr>
          <a:xfrm>
            <a:off x="-2376" y="5988324"/>
            <a:ext cx="10541363" cy="336277"/>
          </a:xfrm>
          <a:custGeom>
            <a:avLst/>
            <a:gdLst>
              <a:gd name="connsiteX0" fmla="*/ 0 w 12921344"/>
              <a:gd name="connsiteY0" fmla="*/ 6858000 h 6858000"/>
              <a:gd name="connsiteX1" fmla="*/ 2852379 w 12921344"/>
              <a:gd name="connsiteY1" fmla="*/ 0 h 6858000"/>
              <a:gd name="connsiteX2" fmla="*/ 12921344 w 12921344"/>
              <a:gd name="connsiteY2" fmla="*/ 0 h 6858000"/>
              <a:gd name="connsiteX3" fmla="*/ 10068965 w 12921344"/>
              <a:gd name="connsiteY3" fmla="*/ 6858000 h 6858000"/>
              <a:gd name="connsiteX4" fmla="*/ 0 w 12921344"/>
              <a:gd name="connsiteY4" fmla="*/ 6858000 h 6858000"/>
              <a:gd name="connsiteX0" fmla="*/ 384307 w 10068965"/>
              <a:gd name="connsiteY0" fmla="*/ 6872514 h 6872514"/>
              <a:gd name="connsiteX1" fmla="*/ 0 w 10068965"/>
              <a:gd name="connsiteY1" fmla="*/ 0 h 6872514"/>
              <a:gd name="connsiteX2" fmla="*/ 10068965 w 10068965"/>
              <a:gd name="connsiteY2" fmla="*/ 0 h 6872514"/>
              <a:gd name="connsiteX3" fmla="*/ 7216586 w 10068965"/>
              <a:gd name="connsiteY3" fmla="*/ 6858000 h 6872514"/>
              <a:gd name="connsiteX4" fmla="*/ 384307 w 10068965"/>
              <a:gd name="connsiteY4" fmla="*/ 6872514 h 6872514"/>
              <a:gd name="connsiteX0" fmla="*/ 22902 w 10068965"/>
              <a:gd name="connsiteY0" fmla="*/ 6868160 h 6868160"/>
              <a:gd name="connsiteX1" fmla="*/ 0 w 10068965"/>
              <a:gd name="connsiteY1" fmla="*/ 0 h 6868160"/>
              <a:gd name="connsiteX2" fmla="*/ 10068965 w 10068965"/>
              <a:gd name="connsiteY2" fmla="*/ 0 h 6868160"/>
              <a:gd name="connsiteX3" fmla="*/ 7216586 w 10068965"/>
              <a:gd name="connsiteY3" fmla="*/ 6858000 h 6868160"/>
              <a:gd name="connsiteX4" fmla="*/ 22902 w 10068965"/>
              <a:gd name="connsiteY4" fmla="*/ 6868160 h 6868160"/>
              <a:gd name="connsiteX0" fmla="*/ 22902 w 10444695"/>
              <a:gd name="connsiteY0" fmla="*/ 6868160 h 6942518"/>
              <a:gd name="connsiteX1" fmla="*/ 0 w 10444695"/>
              <a:gd name="connsiteY1" fmla="*/ 0 h 6942518"/>
              <a:gd name="connsiteX2" fmla="*/ 10068965 w 10444695"/>
              <a:gd name="connsiteY2" fmla="*/ 0 h 6942518"/>
              <a:gd name="connsiteX3" fmla="*/ 10444695 w 10444695"/>
              <a:gd name="connsiteY3" fmla="*/ 6942518 h 6942518"/>
              <a:gd name="connsiteX4" fmla="*/ 22902 w 10444695"/>
              <a:gd name="connsiteY4" fmla="*/ 6868160 h 6942518"/>
              <a:gd name="connsiteX0" fmla="*/ 22902 w 10576965"/>
              <a:gd name="connsiteY0" fmla="*/ 6868160 h 6942518"/>
              <a:gd name="connsiteX1" fmla="*/ 0 w 10576965"/>
              <a:gd name="connsiteY1" fmla="*/ 0 h 6942518"/>
              <a:gd name="connsiteX2" fmla="*/ 10576965 w 10576965"/>
              <a:gd name="connsiteY2" fmla="*/ 169030 h 6942518"/>
              <a:gd name="connsiteX3" fmla="*/ 10444695 w 10576965"/>
              <a:gd name="connsiteY3" fmla="*/ 6942518 h 6942518"/>
              <a:gd name="connsiteX4" fmla="*/ 22902 w 10576965"/>
              <a:gd name="connsiteY4" fmla="*/ 6868160 h 6942518"/>
              <a:gd name="connsiteX0" fmla="*/ 0 w 10554063"/>
              <a:gd name="connsiteY0" fmla="*/ 6868160 h 6942518"/>
              <a:gd name="connsiteX1" fmla="*/ 53298 w 10554063"/>
              <a:gd name="connsiteY1" fmla="*/ 0 h 6942518"/>
              <a:gd name="connsiteX2" fmla="*/ 10554063 w 10554063"/>
              <a:gd name="connsiteY2" fmla="*/ 169030 h 6942518"/>
              <a:gd name="connsiteX3" fmla="*/ 10421793 w 10554063"/>
              <a:gd name="connsiteY3" fmla="*/ 6942518 h 6942518"/>
              <a:gd name="connsiteX4" fmla="*/ 0 w 10554063"/>
              <a:gd name="connsiteY4" fmla="*/ 6868160 h 6942518"/>
              <a:gd name="connsiteX0" fmla="*/ 0 w 10554063"/>
              <a:gd name="connsiteY0" fmla="*/ 6868160 h 6942518"/>
              <a:gd name="connsiteX1" fmla="*/ 15198 w 10554063"/>
              <a:gd name="connsiteY1" fmla="*/ 0 h 6942518"/>
              <a:gd name="connsiteX2" fmla="*/ 10554063 w 10554063"/>
              <a:gd name="connsiteY2" fmla="*/ 169030 h 6942518"/>
              <a:gd name="connsiteX3" fmla="*/ 10421793 w 10554063"/>
              <a:gd name="connsiteY3" fmla="*/ 6942518 h 6942518"/>
              <a:gd name="connsiteX4" fmla="*/ 0 w 10554063"/>
              <a:gd name="connsiteY4" fmla="*/ 6868160 h 6942518"/>
              <a:gd name="connsiteX0" fmla="*/ 0 w 10541363"/>
              <a:gd name="connsiteY0" fmla="*/ 6901359 h 6942518"/>
              <a:gd name="connsiteX1" fmla="*/ 2498 w 10541363"/>
              <a:gd name="connsiteY1" fmla="*/ 0 h 6942518"/>
              <a:gd name="connsiteX2" fmla="*/ 10541363 w 10541363"/>
              <a:gd name="connsiteY2" fmla="*/ 169030 h 6942518"/>
              <a:gd name="connsiteX3" fmla="*/ 10409093 w 10541363"/>
              <a:gd name="connsiteY3" fmla="*/ 6942518 h 6942518"/>
              <a:gd name="connsiteX4" fmla="*/ 0 w 10541363"/>
              <a:gd name="connsiteY4" fmla="*/ 6901359 h 69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41363" h="6942518">
                <a:moveTo>
                  <a:pt x="0" y="6901359"/>
                </a:moveTo>
                <a:cubicBezTo>
                  <a:pt x="833" y="4600906"/>
                  <a:pt x="1665" y="2300453"/>
                  <a:pt x="2498" y="0"/>
                </a:cubicBezTo>
                <a:lnTo>
                  <a:pt x="10541363" y="169030"/>
                </a:lnTo>
                <a:lnTo>
                  <a:pt x="10409093" y="6942518"/>
                </a:lnTo>
                <a:lnTo>
                  <a:pt x="0" y="6901359"/>
                </a:lnTo>
                <a:close/>
              </a:path>
            </a:pathLst>
          </a:custGeom>
          <a:gradFill flip="none" rotWithShape="1">
            <a:gsLst>
              <a:gs pos="0">
                <a:schemeClr val="bg2">
                  <a:lumMod val="25000"/>
                  <a:shade val="30000"/>
                  <a:satMod val="115000"/>
                </a:schemeClr>
              </a:gs>
              <a:gs pos="50000">
                <a:schemeClr val="bg2">
                  <a:lumMod val="25000"/>
                  <a:shade val="67500"/>
                  <a:satMod val="115000"/>
                </a:schemeClr>
              </a:gs>
              <a:gs pos="100000">
                <a:schemeClr val="bg2">
                  <a:lumMod val="2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제목 1">
            <a:extLst>
              <a:ext uri="{FF2B5EF4-FFF2-40B4-BE49-F238E27FC236}">
                <a16:creationId xmlns:a16="http://schemas.microsoft.com/office/drawing/2014/main" id="{F23C5002-480D-BCB1-A981-EC02BC4A38D9}"/>
              </a:ext>
            </a:extLst>
          </p:cNvPr>
          <p:cNvSpPr>
            <a:spLocks noGrp="1"/>
          </p:cNvSpPr>
          <p:nvPr>
            <p:ph type="title"/>
          </p:nvPr>
        </p:nvSpPr>
        <p:spPr>
          <a:xfrm>
            <a:off x="756557" y="115388"/>
            <a:ext cx="10515600" cy="539024"/>
          </a:xfrm>
        </p:spPr>
        <p:txBody>
          <a:bodyPr/>
          <a:lstStyle/>
          <a:p>
            <a:r>
              <a:rPr lang="ko-KR" altLang="en-US"/>
              <a:t>마스터 제목 스타일 편집</a:t>
            </a:r>
            <a:endParaRPr lang="en-US" dirty="0"/>
          </a:p>
        </p:txBody>
      </p:sp>
      <p:sp>
        <p:nvSpPr>
          <p:cNvPr id="3" name="내용 개체 틀 2">
            <a:extLst>
              <a:ext uri="{FF2B5EF4-FFF2-40B4-BE49-F238E27FC236}">
                <a16:creationId xmlns:a16="http://schemas.microsoft.com/office/drawing/2014/main" id="{AD9CE4F6-E429-F9BB-3B7B-61CD76180426}"/>
              </a:ext>
            </a:extLst>
          </p:cNvPr>
          <p:cNvSpPr>
            <a:spLocks noGrp="1"/>
          </p:cNvSpPr>
          <p:nvPr>
            <p:ph idx="1"/>
          </p:nvPr>
        </p:nvSpPr>
        <p:spPr>
          <a:xfrm>
            <a:off x="756557" y="820172"/>
            <a:ext cx="10515600" cy="4968694"/>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날짜 개체 틀 3">
            <a:extLst>
              <a:ext uri="{FF2B5EF4-FFF2-40B4-BE49-F238E27FC236}">
                <a16:creationId xmlns:a16="http://schemas.microsoft.com/office/drawing/2014/main" id="{35FD8349-5EBE-7768-1C19-996A74FF0FA0}"/>
              </a:ext>
            </a:extLst>
          </p:cNvPr>
          <p:cNvSpPr>
            <a:spLocks noGrp="1"/>
          </p:cNvSpPr>
          <p:nvPr>
            <p:ph type="dt" sz="half" idx="10"/>
          </p:nvPr>
        </p:nvSpPr>
        <p:spPr>
          <a:xfrm>
            <a:off x="747670" y="6356350"/>
            <a:ext cx="2743200" cy="365125"/>
          </a:xfrm>
        </p:spPr>
        <p:txBody>
          <a:bodyPr/>
          <a:lstStyle>
            <a:lvl1pPr>
              <a:defRPr>
                <a:solidFill>
                  <a:schemeClr val="tx1">
                    <a:lumMod val="50000"/>
                    <a:lumOff val="50000"/>
                  </a:schemeClr>
                </a:solidFill>
              </a:defRPr>
            </a:lvl1p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13DB45C7-E87F-4ECB-9470-92641A7D5EE8}"/>
              </a:ext>
            </a:extLst>
          </p:cNvPr>
          <p:cNvSpPr>
            <a:spLocks noGrp="1"/>
          </p:cNvSpPr>
          <p:nvPr>
            <p:ph type="ftr" sz="quarter" idx="11"/>
          </p:nvPr>
        </p:nvSpPr>
        <p:spPr/>
        <p:txBody>
          <a:bodyPr/>
          <a:lstStyle>
            <a:lvl1pPr>
              <a:defRPr>
                <a:solidFill>
                  <a:schemeClr val="tx1">
                    <a:lumMod val="50000"/>
                    <a:lumOff val="50000"/>
                  </a:schemeClr>
                </a:solidFill>
              </a:defRPr>
            </a:lvl1p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D455E40A-CD56-E811-5351-26DB944DDF65}"/>
              </a:ext>
            </a:extLst>
          </p:cNvPr>
          <p:cNvSpPr>
            <a:spLocks noGrp="1"/>
          </p:cNvSpPr>
          <p:nvPr>
            <p:ph type="sldNum" sz="quarter" idx="12"/>
          </p:nvPr>
        </p:nvSpPr>
        <p:spPr>
          <a:xfrm>
            <a:off x="10429581" y="202462"/>
            <a:ext cx="1322567" cy="365125"/>
          </a:xfrm>
        </p:spPr>
        <p:txBody>
          <a:bodyPr/>
          <a:lstStyle>
            <a:lvl1pPr>
              <a:defRPr sz="1600" b="1">
                <a:solidFill>
                  <a:schemeClr val="tx1">
                    <a:lumMod val="50000"/>
                    <a:lumOff val="50000"/>
                  </a:schemeClr>
                </a:solidFill>
                <a:latin typeface="Chungbuk National University" panose="020B0000000000000000" pitchFamily="34" charset="-127"/>
                <a:ea typeface="Chungbuk National University" panose="020B0000000000000000" pitchFamily="34" charset="-127"/>
                <a:cs typeface="Times New Roman" panose="02020603050405020304" pitchFamily="18" charset="0"/>
              </a:defRPr>
            </a:lvl1pPr>
          </a:lstStyle>
          <a:p>
            <a:fld id="{55635D17-9D19-4B1E-86C2-B9D6296E4AF7}" type="slidenum">
              <a:rPr lang="en-US" smtClean="0"/>
              <a:pPr/>
              <a:t>‹#›</a:t>
            </a:fld>
            <a:endParaRPr lang="en-US" dirty="0"/>
          </a:p>
        </p:txBody>
      </p:sp>
    </p:spTree>
    <p:extLst>
      <p:ext uri="{BB962C8B-B14F-4D97-AF65-F5344CB8AC3E}">
        <p14:creationId xmlns:p14="http://schemas.microsoft.com/office/powerpoint/2010/main" val="2974052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5DE2A47-CA08-E1B9-94D8-94AEC3D949AD}"/>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B3D2EB67-86A4-71DE-B3B8-0BB9ECC47B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5DEC72B4-4F7B-42C2-F48B-E4863811DF7E}"/>
              </a:ext>
            </a:extLst>
          </p:cNvPr>
          <p:cNvSpPr>
            <a:spLocks noGrp="1"/>
          </p:cNvSpPr>
          <p:nvPr>
            <p:ph type="dt" sz="half" idx="10"/>
          </p:nvPr>
        </p:nvSpPr>
        <p:spPr/>
        <p:txBody>
          <a:bodyPr/>
          <a:lstStyle/>
          <a:p>
            <a:fld id="{6E096974-3B65-4D17-9D4B-FE7B544206CA}" type="datetime1">
              <a:rPr lang="en-US" altLang="ko-KR" smtClean="0"/>
              <a:t>5/18/2026</a:t>
            </a:fld>
            <a:endParaRPr lang="en-US"/>
          </a:p>
        </p:txBody>
      </p:sp>
      <p:sp>
        <p:nvSpPr>
          <p:cNvPr id="5" name="바닥글 개체 틀 4">
            <a:extLst>
              <a:ext uri="{FF2B5EF4-FFF2-40B4-BE49-F238E27FC236}">
                <a16:creationId xmlns:a16="http://schemas.microsoft.com/office/drawing/2014/main" id="{84E9D97D-A3A5-5A2B-A2F2-B0FF552A765D}"/>
              </a:ext>
            </a:extLst>
          </p:cNvPr>
          <p:cNvSpPr>
            <a:spLocks noGrp="1"/>
          </p:cNvSpPr>
          <p:nvPr>
            <p:ph type="ftr" sz="quarter" idx="11"/>
          </p:nvPr>
        </p:nvSpPr>
        <p:spPr/>
        <p:txBody>
          <a:bodyPr/>
          <a:lstStyle/>
          <a:p>
            <a:r>
              <a:rPr lang="en-US"/>
              <a:t>2023 Copyright ⓒ Autonomous Vehicle Lab</a:t>
            </a:r>
          </a:p>
        </p:txBody>
      </p:sp>
      <p:sp>
        <p:nvSpPr>
          <p:cNvPr id="6" name="슬라이드 번호 개체 틀 5">
            <a:extLst>
              <a:ext uri="{FF2B5EF4-FFF2-40B4-BE49-F238E27FC236}">
                <a16:creationId xmlns:a16="http://schemas.microsoft.com/office/drawing/2014/main" id="{26852378-06C4-FFD7-6332-8A113FC70DBB}"/>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3304491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AD50085-FAD7-0BD7-4B44-5FABD41AD5F0}"/>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FC37C97D-1000-D40A-CAF0-275AC9F6162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내용 개체 틀 3">
            <a:extLst>
              <a:ext uri="{FF2B5EF4-FFF2-40B4-BE49-F238E27FC236}">
                <a16:creationId xmlns:a16="http://schemas.microsoft.com/office/drawing/2014/main" id="{0D057AC6-829C-4448-6EDA-8D142C281831}"/>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날짜 개체 틀 4">
            <a:extLst>
              <a:ext uri="{FF2B5EF4-FFF2-40B4-BE49-F238E27FC236}">
                <a16:creationId xmlns:a16="http://schemas.microsoft.com/office/drawing/2014/main" id="{AC11E26D-04C8-4B2C-F2B8-4C9B53E2278B}"/>
              </a:ext>
            </a:extLst>
          </p:cNvPr>
          <p:cNvSpPr>
            <a:spLocks noGrp="1"/>
          </p:cNvSpPr>
          <p:nvPr>
            <p:ph type="dt" sz="half" idx="10"/>
          </p:nvPr>
        </p:nvSpPr>
        <p:spPr/>
        <p:txBody>
          <a:bodyPr/>
          <a:lstStyle/>
          <a:p>
            <a:fld id="{9F5A69F0-7D62-4129-84BD-9572E40A3531}" type="datetime1">
              <a:rPr lang="en-US" altLang="ko-KR" smtClean="0"/>
              <a:t>5/18/2026</a:t>
            </a:fld>
            <a:endParaRPr lang="en-US"/>
          </a:p>
        </p:txBody>
      </p:sp>
      <p:sp>
        <p:nvSpPr>
          <p:cNvPr id="6" name="바닥글 개체 틀 5">
            <a:extLst>
              <a:ext uri="{FF2B5EF4-FFF2-40B4-BE49-F238E27FC236}">
                <a16:creationId xmlns:a16="http://schemas.microsoft.com/office/drawing/2014/main" id="{E50A1855-C2F2-E282-756C-1F306B17ECA8}"/>
              </a:ext>
            </a:extLst>
          </p:cNvPr>
          <p:cNvSpPr>
            <a:spLocks noGrp="1"/>
          </p:cNvSpPr>
          <p:nvPr>
            <p:ph type="ftr" sz="quarter" idx="11"/>
          </p:nvPr>
        </p:nvSpPr>
        <p:spPr/>
        <p:txBody>
          <a:bodyPr/>
          <a:lstStyle/>
          <a:p>
            <a:r>
              <a:rPr lang="en-US"/>
              <a:t>2023 Copyright ⓒ Autonomous Vehicle Lab</a:t>
            </a:r>
          </a:p>
        </p:txBody>
      </p:sp>
      <p:sp>
        <p:nvSpPr>
          <p:cNvPr id="7" name="슬라이드 번호 개체 틀 6">
            <a:extLst>
              <a:ext uri="{FF2B5EF4-FFF2-40B4-BE49-F238E27FC236}">
                <a16:creationId xmlns:a16="http://schemas.microsoft.com/office/drawing/2014/main" id="{BE53622D-B5DB-D600-717A-B45A6D3845AD}"/>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601238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77C7C7-680F-FCD4-53BC-7D4E35679301}"/>
              </a:ext>
            </a:extLst>
          </p:cNvPr>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62258D83-06DA-DE72-2CED-4E9BF1DCC9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8D5943B-24BE-32D2-954C-B6CC046EDD4F}"/>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텍스트 개체 틀 4">
            <a:extLst>
              <a:ext uri="{FF2B5EF4-FFF2-40B4-BE49-F238E27FC236}">
                <a16:creationId xmlns:a16="http://schemas.microsoft.com/office/drawing/2014/main" id="{CB117783-1C6F-1288-C251-ABE5C71DEA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24A06BD-9389-AA58-7408-30DD46BB6475}"/>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날짜 개체 틀 6">
            <a:extLst>
              <a:ext uri="{FF2B5EF4-FFF2-40B4-BE49-F238E27FC236}">
                <a16:creationId xmlns:a16="http://schemas.microsoft.com/office/drawing/2014/main" id="{DD53D327-E218-6095-2BBC-32D373762F31}"/>
              </a:ext>
            </a:extLst>
          </p:cNvPr>
          <p:cNvSpPr>
            <a:spLocks noGrp="1"/>
          </p:cNvSpPr>
          <p:nvPr>
            <p:ph type="dt" sz="half" idx="10"/>
          </p:nvPr>
        </p:nvSpPr>
        <p:spPr/>
        <p:txBody>
          <a:bodyPr/>
          <a:lstStyle/>
          <a:p>
            <a:fld id="{CBF0AB5A-E051-47CE-A1D7-136B028500CC}" type="datetime1">
              <a:rPr lang="en-US" altLang="ko-KR" smtClean="0"/>
              <a:t>5/18/2026</a:t>
            </a:fld>
            <a:endParaRPr lang="en-US"/>
          </a:p>
        </p:txBody>
      </p:sp>
      <p:sp>
        <p:nvSpPr>
          <p:cNvPr id="8" name="바닥글 개체 틀 7">
            <a:extLst>
              <a:ext uri="{FF2B5EF4-FFF2-40B4-BE49-F238E27FC236}">
                <a16:creationId xmlns:a16="http://schemas.microsoft.com/office/drawing/2014/main" id="{678F717C-DE9A-7D20-7674-17FB08F6FA12}"/>
              </a:ext>
            </a:extLst>
          </p:cNvPr>
          <p:cNvSpPr>
            <a:spLocks noGrp="1"/>
          </p:cNvSpPr>
          <p:nvPr>
            <p:ph type="ftr" sz="quarter" idx="11"/>
          </p:nvPr>
        </p:nvSpPr>
        <p:spPr/>
        <p:txBody>
          <a:bodyPr/>
          <a:lstStyle/>
          <a:p>
            <a:r>
              <a:rPr lang="en-US"/>
              <a:t>2023 Copyright ⓒ Autonomous Vehicle Lab</a:t>
            </a:r>
          </a:p>
        </p:txBody>
      </p:sp>
      <p:sp>
        <p:nvSpPr>
          <p:cNvPr id="9" name="슬라이드 번호 개체 틀 8">
            <a:extLst>
              <a:ext uri="{FF2B5EF4-FFF2-40B4-BE49-F238E27FC236}">
                <a16:creationId xmlns:a16="http://schemas.microsoft.com/office/drawing/2014/main" id="{41E894E9-BDDA-D13B-B581-F2D66D1C2511}"/>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886229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E57AC9C-9A4A-F862-E786-F1B34589B60F}"/>
              </a:ext>
            </a:extLst>
          </p:cNvPr>
          <p:cNvSpPr>
            <a:spLocks noGrp="1"/>
          </p:cNvSpPr>
          <p:nvPr>
            <p:ph type="title"/>
          </p:nvPr>
        </p:nvSpPr>
        <p:spPr/>
        <p:txBody>
          <a:bodyPr/>
          <a:lstStyle/>
          <a:p>
            <a:r>
              <a:rPr lang="ko-KR" altLang="en-US"/>
              <a:t>마스터 제목 스타일 편집</a:t>
            </a:r>
            <a:endParaRPr lang="en-US"/>
          </a:p>
        </p:txBody>
      </p:sp>
      <p:sp>
        <p:nvSpPr>
          <p:cNvPr id="3" name="날짜 개체 틀 2">
            <a:extLst>
              <a:ext uri="{FF2B5EF4-FFF2-40B4-BE49-F238E27FC236}">
                <a16:creationId xmlns:a16="http://schemas.microsoft.com/office/drawing/2014/main" id="{0FDB4298-98D2-5E47-9895-AD48A29AD7D1}"/>
              </a:ext>
            </a:extLst>
          </p:cNvPr>
          <p:cNvSpPr>
            <a:spLocks noGrp="1"/>
          </p:cNvSpPr>
          <p:nvPr>
            <p:ph type="dt" sz="half" idx="10"/>
          </p:nvPr>
        </p:nvSpPr>
        <p:spPr/>
        <p:txBody>
          <a:bodyPr/>
          <a:lstStyle/>
          <a:p>
            <a:fld id="{0C80D9D7-BE2A-4278-B7C1-94B51107F5C4}" type="datetime1">
              <a:rPr lang="en-US" altLang="ko-KR" smtClean="0"/>
              <a:t>5/18/2026</a:t>
            </a:fld>
            <a:endParaRPr lang="en-US"/>
          </a:p>
        </p:txBody>
      </p:sp>
      <p:sp>
        <p:nvSpPr>
          <p:cNvPr id="4" name="바닥글 개체 틀 3">
            <a:extLst>
              <a:ext uri="{FF2B5EF4-FFF2-40B4-BE49-F238E27FC236}">
                <a16:creationId xmlns:a16="http://schemas.microsoft.com/office/drawing/2014/main" id="{00C684BA-4F45-266E-C9F1-45A5BF349C50}"/>
              </a:ext>
            </a:extLst>
          </p:cNvPr>
          <p:cNvSpPr>
            <a:spLocks noGrp="1"/>
          </p:cNvSpPr>
          <p:nvPr>
            <p:ph type="ftr" sz="quarter" idx="11"/>
          </p:nvPr>
        </p:nvSpPr>
        <p:spPr/>
        <p:txBody>
          <a:bodyPr/>
          <a:lstStyle/>
          <a:p>
            <a:r>
              <a:rPr lang="en-US"/>
              <a:t>2023 Copyright ⓒ Autonomous Vehicle Lab</a:t>
            </a:r>
          </a:p>
        </p:txBody>
      </p:sp>
      <p:sp>
        <p:nvSpPr>
          <p:cNvPr id="5" name="슬라이드 번호 개체 틀 4">
            <a:extLst>
              <a:ext uri="{FF2B5EF4-FFF2-40B4-BE49-F238E27FC236}">
                <a16:creationId xmlns:a16="http://schemas.microsoft.com/office/drawing/2014/main" id="{F5994CB8-C1F5-2FAD-929B-2E6C65DA304E}"/>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2984432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D405D644-F2E4-FE1D-1250-1A8A5681D693}"/>
              </a:ext>
            </a:extLst>
          </p:cNvPr>
          <p:cNvSpPr>
            <a:spLocks noGrp="1"/>
          </p:cNvSpPr>
          <p:nvPr>
            <p:ph type="dt" sz="half" idx="10"/>
          </p:nvPr>
        </p:nvSpPr>
        <p:spPr/>
        <p:txBody>
          <a:bodyPr/>
          <a:lstStyle/>
          <a:p>
            <a:fld id="{3B86C294-B472-48D6-B34D-7F4B4917D485}" type="datetime1">
              <a:rPr lang="en-US" altLang="ko-KR" smtClean="0"/>
              <a:t>5/18/2026</a:t>
            </a:fld>
            <a:endParaRPr lang="en-US"/>
          </a:p>
        </p:txBody>
      </p:sp>
      <p:sp>
        <p:nvSpPr>
          <p:cNvPr id="3" name="바닥글 개체 틀 2">
            <a:extLst>
              <a:ext uri="{FF2B5EF4-FFF2-40B4-BE49-F238E27FC236}">
                <a16:creationId xmlns:a16="http://schemas.microsoft.com/office/drawing/2014/main" id="{87A69C97-9499-E286-496D-57D5F1E30440}"/>
              </a:ext>
            </a:extLst>
          </p:cNvPr>
          <p:cNvSpPr>
            <a:spLocks noGrp="1"/>
          </p:cNvSpPr>
          <p:nvPr>
            <p:ph type="ftr" sz="quarter" idx="11"/>
          </p:nvPr>
        </p:nvSpPr>
        <p:spPr/>
        <p:txBody>
          <a:bodyPr/>
          <a:lstStyle/>
          <a:p>
            <a:r>
              <a:rPr lang="en-US"/>
              <a:t>2023 Copyright ⓒ Autonomous Vehicle Lab</a:t>
            </a:r>
          </a:p>
        </p:txBody>
      </p:sp>
      <p:sp>
        <p:nvSpPr>
          <p:cNvPr id="4" name="슬라이드 번호 개체 틀 3">
            <a:extLst>
              <a:ext uri="{FF2B5EF4-FFF2-40B4-BE49-F238E27FC236}">
                <a16:creationId xmlns:a16="http://schemas.microsoft.com/office/drawing/2014/main" id="{104445F3-858C-4967-685F-95DBE426631A}"/>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2190528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702536B-A3CF-3BF5-86CA-2050C8CD33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3503A982-AD4B-8414-5D3C-BD3EFBD316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텍스트 개체 틀 3">
            <a:extLst>
              <a:ext uri="{FF2B5EF4-FFF2-40B4-BE49-F238E27FC236}">
                <a16:creationId xmlns:a16="http://schemas.microsoft.com/office/drawing/2014/main" id="{EE85E761-F9B1-3D96-8E53-8EFBECBFC8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AA56E60-43BE-CFA9-D15A-F69DE11C4881}"/>
              </a:ext>
            </a:extLst>
          </p:cNvPr>
          <p:cNvSpPr>
            <a:spLocks noGrp="1"/>
          </p:cNvSpPr>
          <p:nvPr>
            <p:ph type="dt" sz="half" idx="10"/>
          </p:nvPr>
        </p:nvSpPr>
        <p:spPr/>
        <p:txBody>
          <a:bodyPr/>
          <a:lstStyle/>
          <a:p>
            <a:fld id="{1A618C3A-F8DF-4BAF-9CFF-537EB6C17DE4}" type="datetime1">
              <a:rPr lang="en-US" altLang="ko-KR" smtClean="0"/>
              <a:t>5/18/2026</a:t>
            </a:fld>
            <a:endParaRPr lang="en-US"/>
          </a:p>
        </p:txBody>
      </p:sp>
      <p:sp>
        <p:nvSpPr>
          <p:cNvPr id="6" name="바닥글 개체 틀 5">
            <a:extLst>
              <a:ext uri="{FF2B5EF4-FFF2-40B4-BE49-F238E27FC236}">
                <a16:creationId xmlns:a16="http://schemas.microsoft.com/office/drawing/2014/main" id="{41188857-E9E6-A8D2-148A-613E46011B79}"/>
              </a:ext>
            </a:extLst>
          </p:cNvPr>
          <p:cNvSpPr>
            <a:spLocks noGrp="1"/>
          </p:cNvSpPr>
          <p:nvPr>
            <p:ph type="ftr" sz="quarter" idx="11"/>
          </p:nvPr>
        </p:nvSpPr>
        <p:spPr/>
        <p:txBody>
          <a:bodyPr/>
          <a:lstStyle/>
          <a:p>
            <a:r>
              <a:rPr lang="en-US"/>
              <a:t>2023 Copyright ⓒ Autonomous Vehicle Lab</a:t>
            </a:r>
          </a:p>
        </p:txBody>
      </p:sp>
      <p:sp>
        <p:nvSpPr>
          <p:cNvPr id="7" name="슬라이드 번호 개체 틀 6">
            <a:extLst>
              <a:ext uri="{FF2B5EF4-FFF2-40B4-BE49-F238E27FC236}">
                <a16:creationId xmlns:a16="http://schemas.microsoft.com/office/drawing/2014/main" id="{1DB4C6CD-B4E5-5A99-4BD0-805C62CA1CB4}"/>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25945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2EAE-6884-46E5-E2E6-BE5B945AE00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a:extLst>
              <a:ext uri="{FF2B5EF4-FFF2-40B4-BE49-F238E27FC236}">
                <a16:creationId xmlns:a16="http://schemas.microsoft.com/office/drawing/2014/main" id="{FDA492A4-8844-E42C-1A19-7F8E22D1F4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a:p>
        </p:txBody>
      </p:sp>
      <p:sp>
        <p:nvSpPr>
          <p:cNvPr id="4" name="텍스트 개체 틀 3">
            <a:extLst>
              <a:ext uri="{FF2B5EF4-FFF2-40B4-BE49-F238E27FC236}">
                <a16:creationId xmlns:a16="http://schemas.microsoft.com/office/drawing/2014/main" id="{46D0BC40-CE3A-8977-0D4F-76248C80F3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E7ACB566-6E73-00F9-D29D-7BFE712D142B}"/>
              </a:ext>
            </a:extLst>
          </p:cNvPr>
          <p:cNvSpPr>
            <a:spLocks noGrp="1"/>
          </p:cNvSpPr>
          <p:nvPr>
            <p:ph type="dt" sz="half" idx="10"/>
          </p:nvPr>
        </p:nvSpPr>
        <p:spPr/>
        <p:txBody>
          <a:bodyPr/>
          <a:lstStyle/>
          <a:p>
            <a:fld id="{03111ECB-F47A-4558-AC49-0692DCB364D2}" type="datetime1">
              <a:rPr lang="en-US" altLang="ko-KR" smtClean="0"/>
              <a:t>5/18/2026</a:t>
            </a:fld>
            <a:endParaRPr lang="en-US"/>
          </a:p>
        </p:txBody>
      </p:sp>
      <p:sp>
        <p:nvSpPr>
          <p:cNvPr id="6" name="바닥글 개체 틀 5">
            <a:extLst>
              <a:ext uri="{FF2B5EF4-FFF2-40B4-BE49-F238E27FC236}">
                <a16:creationId xmlns:a16="http://schemas.microsoft.com/office/drawing/2014/main" id="{557F6972-C0CE-EB37-BB1E-FA97B3FC94DF}"/>
              </a:ext>
            </a:extLst>
          </p:cNvPr>
          <p:cNvSpPr>
            <a:spLocks noGrp="1"/>
          </p:cNvSpPr>
          <p:nvPr>
            <p:ph type="ftr" sz="quarter" idx="11"/>
          </p:nvPr>
        </p:nvSpPr>
        <p:spPr/>
        <p:txBody>
          <a:bodyPr/>
          <a:lstStyle/>
          <a:p>
            <a:r>
              <a:rPr lang="en-US"/>
              <a:t>2023 Copyright ⓒ Autonomous Vehicle Lab</a:t>
            </a:r>
          </a:p>
        </p:txBody>
      </p:sp>
      <p:sp>
        <p:nvSpPr>
          <p:cNvPr id="7" name="슬라이드 번호 개체 틀 6">
            <a:extLst>
              <a:ext uri="{FF2B5EF4-FFF2-40B4-BE49-F238E27FC236}">
                <a16:creationId xmlns:a16="http://schemas.microsoft.com/office/drawing/2014/main" id="{80270D29-0930-CC81-A182-455E959EDF9A}"/>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1390300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C164B6-FF6D-E10D-F21B-849706BAA774}"/>
              </a:ext>
            </a:extLst>
          </p:cNvPr>
          <p:cNvSpPr>
            <a:spLocks noGrp="1"/>
          </p:cNvSpPr>
          <p:nvPr>
            <p:ph type="title"/>
          </p:nvPr>
        </p:nvSpPr>
        <p:spPr/>
        <p:txBody>
          <a:bodyPr/>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99C785EC-47E4-2E18-B7F2-13E50843935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9D1B2605-C50A-8F44-AFB1-8BE40B8204E1}"/>
              </a:ext>
            </a:extLst>
          </p:cNvPr>
          <p:cNvSpPr>
            <a:spLocks noGrp="1"/>
          </p:cNvSpPr>
          <p:nvPr>
            <p:ph type="dt" sz="half" idx="10"/>
          </p:nvPr>
        </p:nvSpPr>
        <p:spPr/>
        <p:txBody>
          <a:bodyPr/>
          <a:lstStyle/>
          <a:p>
            <a:fld id="{262B192A-4CFD-4920-BB2A-9A5D59970817}" type="datetime1">
              <a:rPr lang="en-US" altLang="ko-KR" smtClean="0"/>
              <a:t>5/18/2026</a:t>
            </a:fld>
            <a:endParaRPr lang="en-US"/>
          </a:p>
        </p:txBody>
      </p:sp>
      <p:sp>
        <p:nvSpPr>
          <p:cNvPr id="5" name="바닥글 개체 틀 4">
            <a:extLst>
              <a:ext uri="{FF2B5EF4-FFF2-40B4-BE49-F238E27FC236}">
                <a16:creationId xmlns:a16="http://schemas.microsoft.com/office/drawing/2014/main" id="{E47E6CE8-4203-1001-4E3C-AA70C6CB1790}"/>
              </a:ext>
            </a:extLst>
          </p:cNvPr>
          <p:cNvSpPr>
            <a:spLocks noGrp="1"/>
          </p:cNvSpPr>
          <p:nvPr>
            <p:ph type="ftr" sz="quarter" idx="11"/>
          </p:nvPr>
        </p:nvSpPr>
        <p:spPr/>
        <p:txBody>
          <a:bodyPr/>
          <a:lstStyle/>
          <a:p>
            <a:r>
              <a:rPr lang="en-US"/>
              <a:t>2023 Copyright ⓒ Autonomous Vehicle Lab</a:t>
            </a:r>
          </a:p>
        </p:txBody>
      </p:sp>
      <p:sp>
        <p:nvSpPr>
          <p:cNvPr id="6" name="슬라이드 번호 개체 틀 5">
            <a:extLst>
              <a:ext uri="{FF2B5EF4-FFF2-40B4-BE49-F238E27FC236}">
                <a16:creationId xmlns:a16="http://schemas.microsoft.com/office/drawing/2014/main" id="{5C5E88CA-4E96-42F5-F6E2-8D5812631228}"/>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40235159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E934FC9-D78E-B4CB-AEE6-7EFC54DA8AED}"/>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2137B47E-7598-2C0C-9182-14761D65F898}"/>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71FD35F8-91A6-768B-5EB8-BA4570AF2083}"/>
              </a:ext>
            </a:extLst>
          </p:cNvPr>
          <p:cNvSpPr>
            <a:spLocks noGrp="1"/>
          </p:cNvSpPr>
          <p:nvPr>
            <p:ph type="dt" sz="half" idx="10"/>
          </p:nvPr>
        </p:nvSpPr>
        <p:spPr/>
        <p:txBody>
          <a:bodyPr/>
          <a:lstStyle/>
          <a:p>
            <a:fld id="{B9820C95-879A-46C2-9ADD-18E5B2DDFA65}" type="datetime1">
              <a:rPr lang="en-US" altLang="ko-KR" smtClean="0"/>
              <a:t>5/18/2026</a:t>
            </a:fld>
            <a:endParaRPr lang="en-US"/>
          </a:p>
        </p:txBody>
      </p:sp>
      <p:sp>
        <p:nvSpPr>
          <p:cNvPr id="5" name="바닥글 개체 틀 4">
            <a:extLst>
              <a:ext uri="{FF2B5EF4-FFF2-40B4-BE49-F238E27FC236}">
                <a16:creationId xmlns:a16="http://schemas.microsoft.com/office/drawing/2014/main" id="{22F4B8DE-15E4-6A6A-D3A9-FEBF74EF748A}"/>
              </a:ext>
            </a:extLst>
          </p:cNvPr>
          <p:cNvSpPr>
            <a:spLocks noGrp="1"/>
          </p:cNvSpPr>
          <p:nvPr>
            <p:ph type="ftr" sz="quarter" idx="11"/>
          </p:nvPr>
        </p:nvSpPr>
        <p:spPr/>
        <p:txBody>
          <a:bodyPr/>
          <a:lstStyle/>
          <a:p>
            <a:r>
              <a:rPr lang="en-US"/>
              <a:t>2023 Copyright ⓒ Autonomous Vehicle Lab</a:t>
            </a:r>
          </a:p>
        </p:txBody>
      </p:sp>
      <p:sp>
        <p:nvSpPr>
          <p:cNvPr id="6" name="슬라이드 번호 개체 틀 5">
            <a:extLst>
              <a:ext uri="{FF2B5EF4-FFF2-40B4-BE49-F238E27FC236}">
                <a16:creationId xmlns:a16="http://schemas.microsoft.com/office/drawing/2014/main" id="{3BC2AF7C-4858-5554-00FC-3F8EF3265B85}"/>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2068838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4FAE63EF-98BA-4551-9A6E-294EE670BF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BDEB9398-1327-EFAC-5562-BE18BF0B69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0251375F-DFD5-2696-D915-D42AF2BDEF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A7EC35-D2B7-4CF9-B0B6-E5501958E0EB}" type="datetime1">
              <a:rPr lang="en-US" altLang="ko-KR" smtClean="0"/>
              <a:t>5/18/2026</a:t>
            </a:fld>
            <a:endParaRPr lang="en-US"/>
          </a:p>
        </p:txBody>
      </p:sp>
      <p:sp>
        <p:nvSpPr>
          <p:cNvPr id="5" name="바닥글 개체 틀 4">
            <a:extLst>
              <a:ext uri="{FF2B5EF4-FFF2-40B4-BE49-F238E27FC236}">
                <a16:creationId xmlns:a16="http://schemas.microsoft.com/office/drawing/2014/main" id="{624B2157-1A42-A5FE-CD8A-D19B88A451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2023 Copyright ⓒ Autonomous Vehicle Lab</a:t>
            </a:r>
          </a:p>
        </p:txBody>
      </p:sp>
      <p:sp>
        <p:nvSpPr>
          <p:cNvPr id="6" name="슬라이드 번호 개체 틀 5">
            <a:extLst>
              <a:ext uri="{FF2B5EF4-FFF2-40B4-BE49-F238E27FC236}">
                <a16:creationId xmlns:a16="http://schemas.microsoft.com/office/drawing/2014/main" id="{26FD67E3-C466-44B9-48D1-66B3C7B4E3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635D17-9D19-4B1E-86C2-B9D6296E4AF7}" type="slidenum">
              <a:rPr lang="en-US" smtClean="0"/>
              <a:t>‹#›</a:t>
            </a:fld>
            <a:endParaRPr lang="en-US"/>
          </a:p>
        </p:txBody>
      </p:sp>
    </p:spTree>
    <p:extLst>
      <p:ext uri="{BB962C8B-B14F-4D97-AF65-F5344CB8AC3E}">
        <p14:creationId xmlns:p14="http://schemas.microsoft.com/office/powerpoint/2010/main" val="41820525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mailto:sckee@cbnu.ac.kr"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em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3.xml"/><Relationship Id="rId1" Type="http://schemas.openxmlformats.org/officeDocument/2006/relationships/video" Target="https://www.youtube.com/embed/qZTj5uEzAK8?feature=oembed"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https://www.youtube.com/embed/YKegZJTYCS8?feature=oembed" TargetMode="External"/><Relationship Id="rId1" Type="http://schemas.openxmlformats.org/officeDocument/2006/relationships/video" Target="https://www.youtube.com/embed/O3U_9QbkfL0?feature=oembed" TargetMode="External"/><Relationship Id="rId5" Type="http://schemas.openxmlformats.org/officeDocument/2006/relationships/image" Target="../media/image24.jpeg"/><Relationship Id="rId4" Type="http://schemas.openxmlformats.org/officeDocument/2006/relationships/image" Target="../media/image23.jpeg"/></Relationships>
</file>

<file path=ppt/slides/_rels/slide21.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FB802A-854E-5465-AE50-91E210954DA8}"/>
              </a:ext>
            </a:extLst>
          </p:cNvPr>
          <p:cNvSpPr>
            <a:spLocks noGrp="1"/>
          </p:cNvSpPr>
          <p:nvPr>
            <p:ph type="ctrTitle"/>
          </p:nvPr>
        </p:nvSpPr>
        <p:spPr>
          <a:xfrm>
            <a:off x="346601" y="1407548"/>
            <a:ext cx="7173685" cy="1340630"/>
          </a:xfrm>
        </p:spPr>
        <p:txBody>
          <a:bodyPr>
            <a:normAutofit fontScale="90000"/>
          </a:bodyPr>
          <a:lstStyle/>
          <a:p>
            <a:r>
              <a:rPr kumimoji="1" lang="ko-KR" altLang="en-US" dirty="0"/>
              <a:t>자율주행이동체 실제</a:t>
            </a:r>
            <a:br>
              <a:rPr kumimoji="1" lang="en-US" altLang="ko-KR" dirty="0"/>
            </a:br>
            <a:r>
              <a:rPr kumimoji="1" lang="en-US" altLang="ko-KR" sz="4400" b="1" dirty="0">
                <a:solidFill>
                  <a:schemeClr val="accent4">
                    <a:lumMod val="40000"/>
                    <a:lumOff val="60000"/>
                  </a:schemeClr>
                </a:solidFill>
              </a:rPr>
              <a:t>(10. Electric</a:t>
            </a:r>
            <a:r>
              <a:rPr kumimoji="1" lang="ko-KR" altLang="en-US" sz="4400" b="1" dirty="0">
                <a:solidFill>
                  <a:schemeClr val="accent4">
                    <a:lumMod val="40000"/>
                    <a:lumOff val="60000"/>
                  </a:schemeClr>
                </a:solidFill>
              </a:rPr>
              <a:t> </a:t>
            </a:r>
            <a:r>
              <a:rPr kumimoji="1" lang="en-US" altLang="ko-KR" sz="4400" b="1" dirty="0">
                <a:solidFill>
                  <a:schemeClr val="accent4">
                    <a:lumMod val="40000"/>
                    <a:lumOff val="60000"/>
                  </a:schemeClr>
                </a:solidFill>
              </a:rPr>
              <a:t>Vehicle)</a:t>
            </a:r>
            <a:endParaRPr kumimoji="1" lang="ko-Kore-KR" altLang="en-US" b="1" dirty="0">
              <a:solidFill>
                <a:schemeClr val="accent4">
                  <a:lumMod val="40000"/>
                  <a:lumOff val="60000"/>
                </a:schemeClr>
              </a:solidFill>
            </a:endParaRPr>
          </a:p>
        </p:txBody>
      </p:sp>
      <p:sp>
        <p:nvSpPr>
          <p:cNvPr id="3" name="부제목 2">
            <a:extLst>
              <a:ext uri="{FF2B5EF4-FFF2-40B4-BE49-F238E27FC236}">
                <a16:creationId xmlns:a16="http://schemas.microsoft.com/office/drawing/2014/main" id="{EE110584-C3AB-9F0C-B55D-3FF78D9339F4}"/>
              </a:ext>
            </a:extLst>
          </p:cNvPr>
          <p:cNvSpPr>
            <a:spLocks noGrp="1" noChangeAspect="1"/>
          </p:cNvSpPr>
          <p:nvPr>
            <p:ph type="subTitle" idx="1"/>
          </p:nvPr>
        </p:nvSpPr>
        <p:spPr>
          <a:xfrm>
            <a:off x="458482" y="4613366"/>
            <a:ext cx="4655166" cy="1679859"/>
          </a:xfrm>
        </p:spPr>
        <p:txBody>
          <a:bodyPr>
            <a:noAutofit/>
          </a:bodyPr>
          <a:lstStyle/>
          <a:p>
            <a:r>
              <a:rPr kumimoji="1" lang="ko-KR" altLang="en-US" sz="2800" dirty="0"/>
              <a:t>충북대학교 지능로봇공학과</a:t>
            </a:r>
            <a:endParaRPr kumimoji="1" lang="en-US" altLang="ko-KR" sz="2800" dirty="0"/>
          </a:p>
          <a:p>
            <a:r>
              <a:rPr kumimoji="1" lang="ko-KR" altLang="en-US" sz="2800" dirty="0"/>
              <a:t>기석철 교수</a:t>
            </a:r>
            <a:endParaRPr kumimoji="1" lang="en-US" altLang="en-US" sz="2800" dirty="0"/>
          </a:p>
          <a:p>
            <a:r>
              <a:rPr kumimoji="1" lang="en-US" altLang="ko-KR" sz="2800" dirty="0">
                <a:hlinkClick r:id="rId2">
                  <a:extLst>
                    <a:ext uri="{A12FA001-AC4F-418D-AE19-62706E023703}">
                      <ahyp:hlinkClr xmlns:ahyp="http://schemas.microsoft.com/office/drawing/2018/hyperlinkcolor" val="tx"/>
                    </a:ext>
                  </a:extLst>
                </a:hlinkClick>
              </a:rPr>
              <a:t>sckee@cbnu.ac.kr</a:t>
            </a:r>
            <a:r>
              <a:rPr kumimoji="1" lang="en-US" altLang="ko-KR" sz="2800" dirty="0"/>
              <a:t>,  E8-7</a:t>
            </a:r>
            <a:r>
              <a:rPr kumimoji="1" lang="ko-KR" altLang="en-US" sz="2800" dirty="0"/>
              <a:t>동 </a:t>
            </a:r>
            <a:r>
              <a:rPr kumimoji="1" lang="en-US" altLang="ko-KR" sz="2800" dirty="0"/>
              <a:t>341-1</a:t>
            </a:r>
            <a:r>
              <a:rPr kumimoji="1" lang="ko-KR" altLang="en-US" sz="2800" dirty="0"/>
              <a:t>호</a:t>
            </a:r>
            <a:endParaRPr kumimoji="1" lang="en-US" altLang="en-US" sz="2800" dirty="0"/>
          </a:p>
        </p:txBody>
      </p:sp>
      <p:sp>
        <p:nvSpPr>
          <p:cNvPr id="4" name="날짜 개체 틀 3">
            <a:extLst>
              <a:ext uri="{FF2B5EF4-FFF2-40B4-BE49-F238E27FC236}">
                <a16:creationId xmlns:a16="http://schemas.microsoft.com/office/drawing/2014/main" id="{8F84D7F9-C8F2-E238-CFF2-AB910695468D}"/>
              </a:ext>
            </a:extLst>
          </p:cNvPr>
          <p:cNvSpPr>
            <a:spLocks noGrp="1"/>
          </p:cNvSpPr>
          <p:nvPr>
            <p:ph type="dt" sz="half" idx="10"/>
          </p:nvPr>
        </p:nvSpPr>
        <p:spPr/>
        <p:txBody>
          <a:bodyPr/>
          <a:lstStyle/>
          <a:p>
            <a:fld id="{5B85CE0E-9782-4B13-A21D-6F0811112DA0}" type="datetime1">
              <a:rPr lang="en-US" altLang="ko-KR" smtClean="0"/>
              <a:t>5/18/2026</a:t>
            </a:fld>
            <a:endParaRPr lang="en-US" dirty="0"/>
          </a:p>
        </p:txBody>
      </p:sp>
      <p:sp>
        <p:nvSpPr>
          <p:cNvPr id="5" name="바닥글 개체 틀 4">
            <a:extLst>
              <a:ext uri="{FF2B5EF4-FFF2-40B4-BE49-F238E27FC236}">
                <a16:creationId xmlns:a16="http://schemas.microsoft.com/office/drawing/2014/main" id="{EE96FDC7-1F81-15C7-CD99-A5A402CED50D}"/>
              </a:ext>
            </a:extLst>
          </p:cNvPr>
          <p:cNvSpPr>
            <a:spLocks noGrp="1"/>
          </p:cNvSpPr>
          <p:nvPr>
            <p:ph type="ftr" sz="quarter" idx="11"/>
          </p:nvPr>
        </p:nvSpPr>
        <p:spPr/>
        <p:txBody>
          <a:bodyPr/>
          <a:lstStyle/>
          <a:p>
            <a:r>
              <a:rPr lang="en-US"/>
              <a:t>2023 Copyright ⓒ Autonomous Vehicle Lab</a:t>
            </a:r>
            <a:endParaRPr lang="en-US" dirty="0"/>
          </a:p>
        </p:txBody>
      </p:sp>
    </p:spTree>
    <p:extLst>
      <p:ext uri="{BB962C8B-B14F-4D97-AF65-F5344CB8AC3E}">
        <p14:creationId xmlns:p14="http://schemas.microsoft.com/office/powerpoint/2010/main" val="2989658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01D20E-A93C-3581-A606-4533DAF3EB2E}"/>
              </a:ext>
            </a:extLst>
          </p:cNvPr>
          <p:cNvSpPr>
            <a:spLocks noGrp="1"/>
          </p:cNvSpPr>
          <p:nvPr>
            <p:ph type="title"/>
          </p:nvPr>
        </p:nvSpPr>
        <p:spPr/>
        <p:txBody>
          <a:bodyPr>
            <a:normAutofit fontScale="90000"/>
          </a:bodyPr>
          <a:lstStyle/>
          <a:p>
            <a:r>
              <a:rPr kumimoji="1" lang="en-US" altLang="en-US" dirty="0"/>
              <a:t>Contents</a:t>
            </a:r>
            <a:endParaRPr kumimoji="1" lang="ko-Kore-KR" altLang="en-US" dirty="0"/>
          </a:p>
        </p:txBody>
      </p:sp>
      <p:sp>
        <p:nvSpPr>
          <p:cNvPr id="3" name="내용 개체 틀 2">
            <a:extLst>
              <a:ext uri="{FF2B5EF4-FFF2-40B4-BE49-F238E27FC236}">
                <a16:creationId xmlns:a16="http://schemas.microsoft.com/office/drawing/2014/main" id="{A56FBB58-EB8C-4C9A-B5CB-C89C1F4F7CA0}"/>
              </a:ext>
            </a:extLst>
          </p:cNvPr>
          <p:cNvSpPr>
            <a:spLocks noGrp="1"/>
          </p:cNvSpPr>
          <p:nvPr>
            <p:ph idx="1"/>
          </p:nvPr>
        </p:nvSpPr>
        <p:spPr>
          <a:xfrm>
            <a:off x="756556" y="820171"/>
            <a:ext cx="11057492" cy="5075531"/>
          </a:xfrm>
        </p:spPr>
        <p:txBody>
          <a:bodyPr>
            <a:noAutofit/>
          </a:bodyPr>
          <a:lstStyle/>
          <a:p>
            <a:pPr marL="457200" indent="-457200">
              <a:lnSpc>
                <a:spcPct val="100000"/>
              </a:lnSpc>
              <a:buFont typeface="+mj-lt"/>
              <a:buAutoNum type="arabicPeriod"/>
            </a:pPr>
            <a:r>
              <a:rPr lang="en-US" altLang="ko-KR" sz="2400" b="1" dirty="0">
                <a:solidFill>
                  <a:srgbClr val="404040"/>
                </a:solidFill>
                <a:latin typeface="+mn-ea"/>
              </a:rPr>
              <a:t>EV </a:t>
            </a:r>
            <a:r>
              <a:rPr lang="ko-KR" altLang="en-US" sz="2400" b="1" dirty="0">
                <a:solidFill>
                  <a:srgbClr val="404040"/>
                </a:solidFill>
                <a:latin typeface="+mn-ea"/>
              </a:rPr>
              <a:t>기술 동향</a:t>
            </a:r>
            <a:endParaRPr lang="en-US" altLang="ko-KR" sz="2400" b="1" dirty="0">
              <a:solidFill>
                <a:srgbClr val="404040"/>
              </a:solidFill>
              <a:latin typeface="+mn-ea"/>
            </a:endParaRPr>
          </a:p>
          <a:p>
            <a:pPr marL="457200" indent="-457200">
              <a:lnSpc>
                <a:spcPct val="100000"/>
              </a:lnSpc>
              <a:buFont typeface="+mj-lt"/>
              <a:buAutoNum type="arabicPeriod"/>
            </a:pPr>
            <a:r>
              <a:rPr lang="ko-KR" altLang="en-US" sz="2400" b="1" dirty="0">
                <a:solidFill>
                  <a:srgbClr val="404040"/>
                </a:solidFill>
                <a:latin typeface="+mn-ea"/>
              </a:rPr>
              <a:t>유럽의 자동차 산업에서 </a:t>
            </a:r>
            <a:r>
              <a:rPr lang="en-US" altLang="ko-KR" sz="2400" b="1" dirty="0">
                <a:solidFill>
                  <a:srgbClr val="404040"/>
                </a:solidFill>
                <a:latin typeface="+mn-ea"/>
              </a:rPr>
              <a:t>EV </a:t>
            </a:r>
            <a:r>
              <a:rPr lang="ko-KR" altLang="en-US" sz="2400" b="1" dirty="0">
                <a:solidFill>
                  <a:srgbClr val="404040"/>
                </a:solidFill>
                <a:latin typeface="+mn-ea"/>
              </a:rPr>
              <a:t>전망</a:t>
            </a:r>
            <a:r>
              <a:rPr lang="en-US" altLang="ko-KR" sz="2400" b="1" dirty="0">
                <a:solidFill>
                  <a:srgbClr val="404040"/>
                </a:solidFill>
                <a:latin typeface="+mn-ea"/>
              </a:rPr>
              <a:t> </a:t>
            </a:r>
          </a:p>
          <a:p>
            <a:pPr marL="457200" indent="-457200">
              <a:lnSpc>
                <a:spcPct val="100000"/>
              </a:lnSpc>
              <a:buFont typeface="+mj-lt"/>
              <a:buAutoNum type="arabicPeriod"/>
            </a:pPr>
            <a:r>
              <a:rPr lang="en-US" altLang="ko-KR" sz="2400" b="1" dirty="0">
                <a:solidFill>
                  <a:srgbClr val="404040"/>
                </a:solidFill>
                <a:latin typeface="+mn-ea"/>
              </a:rPr>
              <a:t>EV </a:t>
            </a:r>
            <a:r>
              <a:rPr lang="ko-KR" altLang="en-US" sz="2400" b="1" dirty="0">
                <a:solidFill>
                  <a:srgbClr val="404040"/>
                </a:solidFill>
                <a:latin typeface="+mn-ea"/>
              </a:rPr>
              <a:t>시대의 사회 변화</a:t>
            </a:r>
            <a:endParaRPr lang="en-US" altLang="ko-KR" sz="2400" b="1" dirty="0">
              <a:solidFill>
                <a:srgbClr val="404040"/>
              </a:solidFill>
              <a:latin typeface="+mn-ea"/>
            </a:endParaRPr>
          </a:p>
          <a:p>
            <a:pPr marL="457200" lvl="1" indent="0">
              <a:lnSpc>
                <a:spcPct val="100000"/>
              </a:lnSpc>
              <a:buNone/>
            </a:pPr>
            <a:endParaRPr lang="en-US" altLang="ko-KR" sz="1600" dirty="0">
              <a:solidFill>
                <a:srgbClr val="404040"/>
              </a:solidFill>
              <a:latin typeface="+mn-ea"/>
            </a:endParaRPr>
          </a:p>
        </p:txBody>
      </p:sp>
      <p:sp>
        <p:nvSpPr>
          <p:cNvPr id="4" name="날짜 개체 틀 3">
            <a:extLst>
              <a:ext uri="{FF2B5EF4-FFF2-40B4-BE49-F238E27FC236}">
                <a16:creationId xmlns:a16="http://schemas.microsoft.com/office/drawing/2014/main" id="{A540F8DE-C952-90AA-AAFA-1B246FA8A22C}"/>
              </a:ext>
            </a:extLst>
          </p:cNvPr>
          <p:cNvSpPr>
            <a:spLocks noGrp="1"/>
          </p:cNvSpPr>
          <p:nvPr>
            <p:ph type="dt" sz="half" idx="10"/>
          </p:nvPr>
        </p:nvSpPr>
        <p:spPr/>
        <p:txBody>
          <a:bodyPr/>
          <a:lstStyle/>
          <a:p>
            <a:fld id="{4DC77824-31CF-4EFC-A4E1-67181CD8CA2D}" type="datetime1">
              <a:rPr lang="en-US" altLang="ko-KR" smtClean="0"/>
              <a:t>5/18/2026</a:t>
            </a:fld>
            <a:endParaRPr lang="en-US"/>
          </a:p>
        </p:txBody>
      </p:sp>
      <p:sp>
        <p:nvSpPr>
          <p:cNvPr id="5" name="바닥글 개체 틀 4">
            <a:extLst>
              <a:ext uri="{FF2B5EF4-FFF2-40B4-BE49-F238E27FC236}">
                <a16:creationId xmlns:a16="http://schemas.microsoft.com/office/drawing/2014/main" id="{3C6AA169-C229-FC45-78CD-506D1289F3E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A9E287CA-E392-98B7-BE56-7FB06C0BC5B8}"/>
              </a:ext>
            </a:extLst>
          </p:cNvPr>
          <p:cNvSpPr>
            <a:spLocks noGrp="1"/>
          </p:cNvSpPr>
          <p:nvPr>
            <p:ph type="sldNum" sz="quarter" idx="12"/>
          </p:nvPr>
        </p:nvSpPr>
        <p:spPr/>
        <p:txBody>
          <a:bodyPr/>
          <a:lstStyle/>
          <a:p>
            <a:fld id="{55635D17-9D19-4B1E-86C2-B9D6296E4AF7}" type="slidenum">
              <a:rPr lang="en-US" smtClean="0"/>
              <a:pPr/>
              <a:t>2</a:t>
            </a:fld>
            <a:endParaRPr lang="en-US" dirty="0"/>
          </a:p>
        </p:txBody>
      </p:sp>
    </p:spTree>
    <p:extLst>
      <p:ext uri="{BB962C8B-B14F-4D97-AF65-F5344CB8AC3E}">
        <p14:creationId xmlns:p14="http://schemas.microsoft.com/office/powerpoint/2010/main" val="1534092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EB4C9FD-0648-F45A-1CA7-2BD055102F40}"/>
              </a:ext>
            </a:extLst>
          </p:cNvPr>
          <p:cNvSpPr>
            <a:spLocks noGrp="1"/>
          </p:cNvSpPr>
          <p:nvPr>
            <p:ph type="title"/>
          </p:nvPr>
        </p:nvSpPr>
        <p:spPr/>
        <p:txBody>
          <a:bodyPr>
            <a:normAutofit fontScale="90000"/>
          </a:bodyPr>
          <a:lstStyle/>
          <a:p>
            <a:r>
              <a:rPr lang="ko-KR" altLang="en-US" dirty="0"/>
              <a:t>산업 환경 변화</a:t>
            </a:r>
          </a:p>
        </p:txBody>
      </p:sp>
      <p:sp>
        <p:nvSpPr>
          <p:cNvPr id="4" name="날짜 개체 틀 3">
            <a:extLst>
              <a:ext uri="{FF2B5EF4-FFF2-40B4-BE49-F238E27FC236}">
                <a16:creationId xmlns:a16="http://schemas.microsoft.com/office/drawing/2014/main" id="{E94189EA-E2A6-C282-225A-7EF1FE9AE315}"/>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33CE2A20-AC2A-B9E5-AF66-7D75F898FDAD}"/>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F7B11714-6410-9701-B774-7047A7BE55C4}"/>
              </a:ext>
            </a:extLst>
          </p:cNvPr>
          <p:cNvSpPr>
            <a:spLocks noGrp="1"/>
          </p:cNvSpPr>
          <p:nvPr>
            <p:ph type="sldNum" sz="quarter" idx="12"/>
          </p:nvPr>
        </p:nvSpPr>
        <p:spPr/>
        <p:txBody>
          <a:bodyPr/>
          <a:lstStyle/>
          <a:p>
            <a:fld id="{55635D17-9D19-4B1E-86C2-B9D6296E4AF7}" type="slidenum">
              <a:rPr lang="en-US" smtClean="0"/>
              <a:pPr/>
              <a:t>3</a:t>
            </a:fld>
            <a:endParaRPr lang="en-US" dirty="0"/>
          </a:p>
        </p:txBody>
      </p:sp>
      <p:pic>
        <p:nvPicPr>
          <p:cNvPr id="11" name="그림 10">
            <a:extLst>
              <a:ext uri="{FF2B5EF4-FFF2-40B4-BE49-F238E27FC236}">
                <a16:creationId xmlns:a16="http://schemas.microsoft.com/office/drawing/2014/main" id="{86F713F3-C737-EB38-BF16-784B0CC2C370}"/>
              </a:ext>
            </a:extLst>
          </p:cNvPr>
          <p:cNvPicPr>
            <a:picLocks noChangeAspect="1"/>
          </p:cNvPicPr>
          <p:nvPr/>
        </p:nvPicPr>
        <p:blipFill>
          <a:blip r:embed="rId2"/>
          <a:stretch>
            <a:fillRect/>
          </a:stretch>
        </p:blipFill>
        <p:spPr>
          <a:xfrm>
            <a:off x="1102133" y="929516"/>
            <a:ext cx="8559526" cy="4669941"/>
          </a:xfrm>
          <a:prstGeom prst="rect">
            <a:avLst/>
          </a:prstGeom>
        </p:spPr>
      </p:pic>
    </p:spTree>
    <p:extLst>
      <p:ext uri="{BB962C8B-B14F-4D97-AF65-F5344CB8AC3E}">
        <p14:creationId xmlns:p14="http://schemas.microsoft.com/office/powerpoint/2010/main" val="3524595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140615-B905-F3B4-8FBC-D7B4CA136719}"/>
              </a:ext>
            </a:extLst>
          </p:cNvPr>
          <p:cNvSpPr>
            <a:spLocks noGrp="1"/>
          </p:cNvSpPr>
          <p:nvPr>
            <p:ph type="title"/>
          </p:nvPr>
        </p:nvSpPr>
        <p:spPr/>
        <p:txBody>
          <a:bodyPr>
            <a:normAutofit fontScale="90000"/>
          </a:bodyPr>
          <a:lstStyle/>
          <a:p>
            <a:r>
              <a:rPr lang="en-US" altLang="ko-KR" dirty="0"/>
              <a:t>Electrification</a:t>
            </a:r>
            <a:endParaRPr lang="ko-KR" altLang="en-US" dirty="0"/>
          </a:p>
        </p:txBody>
      </p:sp>
      <p:sp>
        <p:nvSpPr>
          <p:cNvPr id="4" name="날짜 개체 틀 3">
            <a:extLst>
              <a:ext uri="{FF2B5EF4-FFF2-40B4-BE49-F238E27FC236}">
                <a16:creationId xmlns:a16="http://schemas.microsoft.com/office/drawing/2014/main" id="{CD42E707-DBF1-7358-43E3-DDC21926366E}"/>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1B726A90-BCD3-EB42-EA00-8DA9FEC0141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496DA5AA-AEBB-D791-7752-2C791AE40AA1}"/>
              </a:ext>
            </a:extLst>
          </p:cNvPr>
          <p:cNvSpPr>
            <a:spLocks noGrp="1"/>
          </p:cNvSpPr>
          <p:nvPr>
            <p:ph type="sldNum" sz="quarter" idx="12"/>
          </p:nvPr>
        </p:nvSpPr>
        <p:spPr/>
        <p:txBody>
          <a:bodyPr/>
          <a:lstStyle/>
          <a:p>
            <a:fld id="{55635D17-9D19-4B1E-86C2-B9D6296E4AF7}" type="slidenum">
              <a:rPr lang="en-US" smtClean="0"/>
              <a:pPr/>
              <a:t>4</a:t>
            </a:fld>
            <a:endParaRPr lang="en-US" dirty="0"/>
          </a:p>
        </p:txBody>
      </p:sp>
      <p:pic>
        <p:nvPicPr>
          <p:cNvPr id="10" name="그림 9">
            <a:extLst>
              <a:ext uri="{FF2B5EF4-FFF2-40B4-BE49-F238E27FC236}">
                <a16:creationId xmlns:a16="http://schemas.microsoft.com/office/drawing/2014/main" id="{85015B71-627B-75BC-5590-AAE23435A6AD}"/>
              </a:ext>
            </a:extLst>
          </p:cNvPr>
          <p:cNvPicPr>
            <a:picLocks noChangeAspect="1"/>
          </p:cNvPicPr>
          <p:nvPr/>
        </p:nvPicPr>
        <p:blipFill>
          <a:blip r:embed="rId2"/>
          <a:stretch>
            <a:fillRect/>
          </a:stretch>
        </p:blipFill>
        <p:spPr>
          <a:xfrm>
            <a:off x="795721" y="734905"/>
            <a:ext cx="8069032" cy="5042397"/>
          </a:xfrm>
          <a:prstGeom prst="rect">
            <a:avLst/>
          </a:prstGeom>
        </p:spPr>
      </p:pic>
      <p:pic>
        <p:nvPicPr>
          <p:cNvPr id="11" name="그림 10">
            <a:extLst>
              <a:ext uri="{FF2B5EF4-FFF2-40B4-BE49-F238E27FC236}">
                <a16:creationId xmlns:a16="http://schemas.microsoft.com/office/drawing/2014/main" id="{9D522D96-DA85-4430-0172-A95B04E48C87}"/>
              </a:ext>
            </a:extLst>
          </p:cNvPr>
          <p:cNvPicPr>
            <a:picLocks noChangeAspect="1"/>
          </p:cNvPicPr>
          <p:nvPr/>
        </p:nvPicPr>
        <p:blipFill>
          <a:blip r:embed="rId3"/>
          <a:stretch>
            <a:fillRect/>
          </a:stretch>
        </p:blipFill>
        <p:spPr>
          <a:xfrm>
            <a:off x="7105708" y="2362947"/>
            <a:ext cx="4742697" cy="1186968"/>
          </a:xfrm>
          <a:prstGeom prst="rect">
            <a:avLst/>
          </a:prstGeom>
        </p:spPr>
      </p:pic>
    </p:spTree>
    <p:extLst>
      <p:ext uri="{BB962C8B-B14F-4D97-AF65-F5344CB8AC3E}">
        <p14:creationId xmlns:p14="http://schemas.microsoft.com/office/powerpoint/2010/main" val="2558041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DE013D-C4C0-ED62-F806-094A97611A74}"/>
              </a:ext>
            </a:extLst>
          </p:cNvPr>
          <p:cNvSpPr>
            <a:spLocks noGrp="1"/>
          </p:cNvSpPr>
          <p:nvPr>
            <p:ph type="title"/>
          </p:nvPr>
        </p:nvSpPr>
        <p:spPr/>
        <p:txBody>
          <a:bodyPr>
            <a:normAutofit fontScale="90000"/>
          </a:bodyPr>
          <a:lstStyle/>
          <a:p>
            <a:r>
              <a:rPr lang="en-US" altLang="ko-KR" dirty="0"/>
              <a:t>End of IC Engines</a:t>
            </a:r>
            <a:endParaRPr lang="ko-KR" altLang="en-US" dirty="0"/>
          </a:p>
        </p:txBody>
      </p:sp>
      <p:sp>
        <p:nvSpPr>
          <p:cNvPr id="4" name="날짜 개체 틀 3">
            <a:extLst>
              <a:ext uri="{FF2B5EF4-FFF2-40B4-BE49-F238E27FC236}">
                <a16:creationId xmlns:a16="http://schemas.microsoft.com/office/drawing/2014/main" id="{E6860A7D-7043-42C6-F4E3-E93A92D85548}"/>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EFE979C0-5050-A64A-1CEF-21A165392BB0}"/>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4C036518-FE8B-D5C5-D90C-93F5855819B9}"/>
              </a:ext>
            </a:extLst>
          </p:cNvPr>
          <p:cNvSpPr>
            <a:spLocks noGrp="1"/>
          </p:cNvSpPr>
          <p:nvPr>
            <p:ph type="sldNum" sz="quarter" idx="12"/>
          </p:nvPr>
        </p:nvSpPr>
        <p:spPr/>
        <p:txBody>
          <a:bodyPr/>
          <a:lstStyle/>
          <a:p>
            <a:fld id="{55635D17-9D19-4B1E-86C2-B9D6296E4AF7}" type="slidenum">
              <a:rPr lang="en-US" smtClean="0"/>
              <a:pPr/>
              <a:t>5</a:t>
            </a:fld>
            <a:endParaRPr lang="en-US" dirty="0"/>
          </a:p>
        </p:txBody>
      </p:sp>
      <p:pic>
        <p:nvPicPr>
          <p:cNvPr id="15" name="그림 14">
            <a:extLst>
              <a:ext uri="{FF2B5EF4-FFF2-40B4-BE49-F238E27FC236}">
                <a16:creationId xmlns:a16="http://schemas.microsoft.com/office/drawing/2014/main" id="{8EB394D2-8C47-3D3E-98BD-3854D040301E}"/>
              </a:ext>
            </a:extLst>
          </p:cNvPr>
          <p:cNvPicPr>
            <a:picLocks noChangeAspect="1"/>
          </p:cNvPicPr>
          <p:nvPr/>
        </p:nvPicPr>
        <p:blipFill>
          <a:blip r:embed="rId2"/>
          <a:stretch>
            <a:fillRect/>
          </a:stretch>
        </p:blipFill>
        <p:spPr>
          <a:xfrm>
            <a:off x="843564" y="1290199"/>
            <a:ext cx="6847258" cy="3667995"/>
          </a:xfrm>
          <a:prstGeom prst="rect">
            <a:avLst/>
          </a:prstGeom>
        </p:spPr>
      </p:pic>
      <p:pic>
        <p:nvPicPr>
          <p:cNvPr id="16" name="Picture 2" descr="2030년 자동차 대전환…내연기관차 저물고 전기차 떠오른다 | 연합뉴스">
            <a:extLst>
              <a:ext uri="{FF2B5EF4-FFF2-40B4-BE49-F238E27FC236}">
                <a16:creationId xmlns:a16="http://schemas.microsoft.com/office/drawing/2014/main" id="{E5BEF86C-7993-F2C0-9618-AB3DA61541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3089" y="292097"/>
            <a:ext cx="3567284" cy="5667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2615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8FB3EC-68C4-DFD5-5C5F-0D320892CC49}"/>
              </a:ext>
            </a:extLst>
          </p:cNvPr>
          <p:cNvSpPr>
            <a:spLocks noGrp="1"/>
          </p:cNvSpPr>
          <p:nvPr>
            <p:ph type="title"/>
          </p:nvPr>
        </p:nvSpPr>
        <p:spPr/>
        <p:txBody>
          <a:bodyPr>
            <a:normAutofit fontScale="90000"/>
          </a:bodyPr>
          <a:lstStyle/>
          <a:p>
            <a:r>
              <a:rPr lang="en-US" altLang="ko-KR" dirty="0"/>
              <a:t>Global Market Forecast</a:t>
            </a:r>
            <a:endParaRPr lang="ko-KR" altLang="en-US" dirty="0"/>
          </a:p>
        </p:txBody>
      </p:sp>
      <p:sp>
        <p:nvSpPr>
          <p:cNvPr id="4" name="날짜 개체 틀 3">
            <a:extLst>
              <a:ext uri="{FF2B5EF4-FFF2-40B4-BE49-F238E27FC236}">
                <a16:creationId xmlns:a16="http://schemas.microsoft.com/office/drawing/2014/main" id="{22AA13F3-F286-5812-4D79-F24D15144DA9}"/>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D37544A2-C33D-B226-FA31-81FF0B6CF40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636A77F5-3AF6-4BFD-8602-B0CE8A80BE8D}"/>
              </a:ext>
            </a:extLst>
          </p:cNvPr>
          <p:cNvSpPr>
            <a:spLocks noGrp="1"/>
          </p:cNvSpPr>
          <p:nvPr>
            <p:ph type="sldNum" sz="quarter" idx="12"/>
          </p:nvPr>
        </p:nvSpPr>
        <p:spPr/>
        <p:txBody>
          <a:bodyPr/>
          <a:lstStyle/>
          <a:p>
            <a:fld id="{55635D17-9D19-4B1E-86C2-B9D6296E4AF7}" type="slidenum">
              <a:rPr lang="en-US" smtClean="0"/>
              <a:pPr/>
              <a:t>6</a:t>
            </a:fld>
            <a:endParaRPr lang="en-US" dirty="0"/>
          </a:p>
        </p:txBody>
      </p:sp>
      <p:pic>
        <p:nvPicPr>
          <p:cNvPr id="7" name="Picture 2" descr="Canalys Newsroom - Global electric vehicle market 2020 and forecasts">
            <a:extLst>
              <a:ext uri="{FF2B5EF4-FFF2-40B4-BE49-F238E27FC236}">
                <a16:creationId xmlns:a16="http://schemas.microsoft.com/office/drawing/2014/main" id="{C40FF0AD-B718-FEDD-3576-D442FD665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8461" y="786613"/>
            <a:ext cx="8572500" cy="4819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754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688844-FC44-E225-1A09-10CB39747881}"/>
              </a:ext>
            </a:extLst>
          </p:cNvPr>
          <p:cNvSpPr>
            <a:spLocks noGrp="1"/>
          </p:cNvSpPr>
          <p:nvPr>
            <p:ph type="title"/>
          </p:nvPr>
        </p:nvSpPr>
        <p:spPr/>
        <p:txBody>
          <a:bodyPr>
            <a:normAutofit fontScale="90000"/>
          </a:bodyPr>
          <a:lstStyle/>
          <a:p>
            <a:r>
              <a:rPr lang="en-US" altLang="ko-KR" dirty="0" err="1"/>
              <a:t>xEV</a:t>
            </a:r>
            <a:r>
              <a:rPr lang="en-US" altLang="ko-KR" dirty="0"/>
              <a:t> </a:t>
            </a:r>
            <a:r>
              <a:rPr lang="ko-KR" altLang="en-US" dirty="0"/>
              <a:t>분류</a:t>
            </a:r>
          </a:p>
        </p:txBody>
      </p:sp>
      <p:sp>
        <p:nvSpPr>
          <p:cNvPr id="4" name="날짜 개체 틀 3">
            <a:extLst>
              <a:ext uri="{FF2B5EF4-FFF2-40B4-BE49-F238E27FC236}">
                <a16:creationId xmlns:a16="http://schemas.microsoft.com/office/drawing/2014/main" id="{3384945E-3B26-69BC-E60C-571FAFF7F503}"/>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39B45C84-80BF-1D9D-9163-400966BB2FE7}"/>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DB4F52B-86A2-F4D4-286D-6324BDE92F31}"/>
              </a:ext>
            </a:extLst>
          </p:cNvPr>
          <p:cNvSpPr>
            <a:spLocks noGrp="1"/>
          </p:cNvSpPr>
          <p:nvPr>
            <p:ph type="sldNum" sz="quarter" idx="12"/>
          </p:nvPr>
        </p:nvSpPr>
        <p:spPr/>
        <p:txBody>
          <a:bodyPr/>
          <a:lstStyle/>
          <a:p>
            <a:fld id="{55635D17-9D19-4B1E-86C2-B9D6296E4AF7}" type="slidenum">
              <a:rPr lang="en-US" smtClean="0"/>
              <a:pPr/>
              <a:t>7</a:t>
            </a:fld>
            <a:endParaRPr lang="en-US" dirty="0"/>
          </a:p>
        </p:txBody>
      </p:sp>
      <p:sp>
        <p:nvSpPr>
          <p:cNvPr id="8" name="직사각형 7">
            <a:extLst>
              <a:ext uri="{FF2B5EF4-FFF2-40B4-BE49-F238E27FC236}">
                <a16:creationId xmlns:a16="http://schemas.microsoft.com/office/drawing/2014/main" id="{B8783AF7-215B-1184-5EEA-371E611B9A17}"/>
              </a:ext>
            </a:extLst>
          </p:cNvPr>
          <p:cNvSpPr/>
          <p:nvPr/>
        </p:nvSpPr>
        <p:spPr>
          <a:xfrm>
            <a:off x="7149737" y="3936273"/>
            <a:ext cx="2650407" cy="1306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2" name="그림 11">
            <a:extLst>
              <a:ext uri="{FF2B5EF4-FFF2-40B4-BE49-F238E27FC236}">
                <a16:creationId xmlns:a16="http://schemas.microsoft.com/office/drawing/2014/main" id="{717A07F8-4444-D75E-C9CE-B240453846EF}"/>
              </a:ext>
            </a:extLst>
          </p:cNvPr>
          <p:cNvPicPr>
            <a:picLocks noChangeAspect="1"/>
          </p:cNvPicPr>
          <p:nvPr/>
        </p:nvPicPr>
        <p:blipFill>
          <a:blip r:embed="rId2"/>
          <a:stretch>
            <a:fillRect/>
          </a:stretch>
        </p:blipFill>
        <p:spPr>
          <a:xfrm>
            <a:off x="1399285" y="776337"/>
            <a:ext cx="9400847" cy="4938188"/>
          </a:xfrm>
          <a:prstGeom prst="rect">
            <a:avLst/>
          </a:prstGeom>
        </p:spPr>
      </p:pic>
    </p:spTree>
    <p:extLst>
      <p:ext uri="{BB962C8B-B14F-4D97-AF65-F5344CB8AC3E}">
        <p14:creationId xmlns:p14="http://schemas.microsoft.com/office/powerpoint/2010/main" val="4086630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688844-FC44-E225-1A09-10CB39747881}"/>
              </a:ext>
            </a:extLst>
          </p:cNvPr>
          <p:cNvSpPr>
            <a:spLocks noGrp="1"/>
          </p:cNvSpPr>
          <p:nvPr>
            <p:ph type="title"/>
          </p:nvPr>
        </p:nvSpPr>
        <p:spPr/>
        <p:txBody>
          <a:bodyPr>
            <a:normAutofit fontScale="90000"/>
          </a:bodyPr>
          <a:lstStyle/>
          <a:p>
            <a:r>
              <a:rPr lang="en-US" altLang="ko-KR" dirty="0" err="1"/>
              <a:t>xEV</a:t>
            </a:r>
            <a:r>
              <a:rPr lang="en-US" altLang="ko-KR" dirty="0"/>
              <a:t> </a:t>
            </a:r>
            <a:r>
              <a:rPr lang="ko-KR" altLang="en-US" dirty="0"/>
              <a:t>분류</a:t>
            </a:r>
          </a:p>
        </p:txBody>
      </p:sp>
      <p:sp>
        <p:nvSpPr>
          <p:cNvPr id="4" name="날짜 개체 틀 3">
            <a:extLst>
              <a:ext uri="{FF2B5EF4-FFF2-40B4-BE49-F238E27FC236}">
                <a16:creationId xmlns:a16="http://schemas.microsoft.com/office/drawing/2014/main" id="{3384945E-3B26-69BC-E60C-571FAFF7F503}"/>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39B45C84-80BF-1D9D-9163-400966BB2FE7}"/>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DB4F52B-86A2-F4D4-286D-6324BDE92F31}"/>
              </a:ext>
            </a:extLst>
          </p:cNvPr>
          <p:cNvSpPr>
            <a:spLocks noGrp="1"/>
          </p:cNvSpPr>
          <p:nvPr>
            <p:ph type="sldNum" sz="quarter" idx="12"/>
          </p:nvPr>
        </p:nvSpPr>
        <p:spPr/>
        <p:txBody>
          <a:bodyPr/>
          <a:lstStyle/>
          <a:p>
            <a:fld id="{55635D17-9D19-4B1E-86C2-B9D6296E4AF7}" type="slidenum">
              <a:rPr lang="en-US" smtClean="0"/>
              <a:pPr/>
              <a:t>8</a:t>
            </a:fld>
            <a:endParaRPr lang="en-US" dirty="0"/>
          </a:p>
        </p:txBody>
      </p:sp>
      <p:sp>
        <p:nvSpPr>
          <p:cNvPr id="8" name="직사각형 7">
            <a:extLst>
              <a:ext uri="{FF2B5EF4-FFF2-40B4-BE49-F238E27FC236}">
                <a16:creationId xmlns:a16="http://schemas.microsoft.com/office/drawing/2014/main" id="{B8783AF7-215B-1184-5EEA-371E611B9A17}"/>
              </a:ext>
            </a:extLst>
          </p:cNvPr>
          <p:cNvSpPr/>
          <p:nvPr/>
        </p:nvSpPr>
        <p:spPr>
          <a:xfrm>
            <a:off x="7149737" y="3936273"/>
            <a:ext cx="2650407" cy="1306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 name="그림 2">
            <a:extLst>
              <a:ext uri="{FF2B5EF4-FFF2-40B4-BE49-F238E27FC236}">
                <a16:creationId xmlns:a16="http://schemas.microsoft.com/office/drawing/2014/main" id="{C02D9A9D-FEAA-1694-021F-F0CE5E86FFA9}"/>
              </a:ext>
            </a:extLst>
          </p:cNvPr>
          <p:cNvPicPr>
            <a:picLocks noChangeAspect="1"/>
          </p:cNvPicPr>
          <p:nvPr/>
        </p:nvPicPr>
        <p:blipFill>
          <a:blip r:embed="rId2"/>
          <a:stretch>
            <a:fillRect/>
          </a:stretch>
        </p:blipFill>
        <p:spPr>
          <a:xfrm>
            <a:off x="1872938" y="963184"/>
            <a:ext cx="8446135" cy="4059553"/>
          </a:xfrm>
          <a:prstGeom prst="rect">
            <a:avLst/>
          </a:prstGeom>
        </p:spPr>
      </p:pic>
    </p:spTree>
    <p:extLst>
      <p:ext uri="{BB962C8B-B14F-4D97-AF65-F5344CB8AC3E}">
        <p14:creationId xmlns:p14="http://schemas.microsoft.com/office/powerpoint/2010/main" val="4004540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745D376-F510-F01C-BA98-8C2A7AAB7085}"/>
              </a:ext>
            </a:extLst>
          </p:cNvPr>
          <p:cNvSpPr>
            <a:spLocks noGrp="1"/>
          </p:cNvSpPr>
          <p:nvPr>
            <p:ph type="title"/>
          </p:nvPr>
        </p:nvSpPr>
        <p:spPr/>
        <p:txBody>
          <a:bodyPr>
            <a:normAutofit fontScale="90000"/>
          </a:bodyPr>
          <a:lstStyle/>
          <a:p>
            <a:r>
              <a:rPr lang="ko-KR" altLang="en-US" dirty="0"/>
              <a:t>전기차</a:t>
            </a:r>
            <a:r>
              <a:rPr lang="en-US" altLang="ko-KR" dirty="0"/>
              <a:t> </a:t>
            </a:r>
            <a:r>
              <a:rPr lang="ko-KR" altLang="en-US" dirty="0"/>
              <a:t>부품</a:t>
            </a:r>
          </a:p>
        </p:txBody>
      </p:sp>
      <p:sp>
        <p:nvSpPr>
          <p:cNvPr id="4" name="날짜 개체 틀 3">
            <a:extLst>
              <a:ext uri="{FF2B5EF4-FFF2-40B4-BE49-F238E27FC236}">
                <a16:creationId xmlns:a16="http://schemas.microsoft.com/office/drawing/2014/main" id="{32BCC72A-5BD0-5E56-3347-151BCD2C5896}"/>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FFD5AE0B-84FD-961C-F656-FFFD986D669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CA6D84D1-7A4B-E8CA-67A0-3E7FC0CECCF6}"/>
              </a:ext>
            </a:extLst>
          </p:cNvPr>
          <p:cNvSpPr>
            <a:spLocks noGrp="1"/>
          </p:cNvSpPr>
          <p:nvPr>
            <p:ph type="sldNum" sz="quarter" idx="12"/>
          </p:nvPr>
        </p:nvSpPr>
        <p:spPr/>
        <p:txBody>
          <a:bodyPr/>
          <a:lstStyle/>
          <a:p>
            <a:fld id="{55635D17-9D19-4B1E-86C2-B9D6296E4AF7}" type="slidenum">
              <a:rPr lang="en-US" smtClean="0"/>
              <a:pPr/>
              <a:t>9</a:t>
            </a:fld>
            <a:endParaRPr lang="en-US" dirty="0"/>
          </a:p>
        </p:txBody>
      </p:sp>
      <p:pic>
        <p:nvPicPr>
          <p:cNvPr id="7" name="그림 6">
            <a:extLst>
              <a:ext uri="{FF2B5EF4-FFF2-40B4-BE49-F238E27FC236}">
                <a16:creationId xmlns:a16="http://schemas.microsoft.com/office/drawing/2014/main" id="{BA221288-3A83-F253-E7AC-A1E9C2D4283D}"/>
              </a:ext>
            </a:extLst>
          </p:cNvPr>
          <p:cNvPicPr>
            <a:picLocks noChangeAspect="1"/>
          </p:cNvPicPr>
          <p:nvPr/>
        </p:nvPicPr>
        <p:blipFill>
          <a:blip r:embed="rId2"/>
          <a:stretch>
            <a:fillRect/>
          </a:stretch>
        </p:blipFill>
        <p:spPr>
          <a:xfrm>
            <a:off x="1638764" y="887323"/>
            <a:ext cx="8917831" cy="4965192"/>
          </a:xfrm>
          <a:prstGeom prst="rect">
            <a:avLst/>
          </a:prstGeom>
        </p:spPr>
      </p:pic>
    </p:spTree>
    <p:extLst>
      <p:ext uri="{BB962C8B-B14F-4D97-AF65-F5344CB8AC3E}">
        <p14:creationId xmlns:p14="http://schemas.microsoft.com/office/powerpoint/2010/main" val="4092563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745D376-F510-F01C-BA98-8C2A7AAB7085}"/>
              </a:ext>
            </a:extLst>
          </p:cNvPr>
          <p:cNvSpPr>
            <a:spLocks noGrp="1"/>
          </p:cNvSpPr>
          <p:nvPr>
            <p:ph type="title"/>
          </p:nvPr>
        </p:nvSpPr>
        <p:spPr/>
        <p:txBody>
          <a:bodyPr>
            <a:normAutofit fontScale="90000"/>
          </a:bodyPr>
          <a:lstStyle/>
          <a:p>
            <a:r>
              <a:rPr lang="ko-KR" altLang="en-US" dirty="0"/>
              <a:t>전기 에너지원</a:t>
            </a:r>
          </a:p>
        </p:txBody>
      </p:sp>
      <p:sp>
        <p:nvSpPr>
          <p:cNvPr id="4" name="날짜 개체 틀 3">
            <a:extLst>
              <a:ext uri="{FF2B5EF4-FFF2-40B4-BE49-F238E27FC236}">
                <a16:creationId xmlns:a16="http://schemas.microsoft.com/office/drawing/2014/main" id="{32BCC72A-5BD0-5E56-3347-151BCD2C5896}"/>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FFD5AE0B-84FD-961C-F656-FFFD986D669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CA6D84D1-7A4B-E8CA-67A0-3E7FC0CECCF6}"/>
              </a:ext>
            </a:extLst>
          </p:cNvPr>
          <p:cNvSpPr>
            <a:spLocks noGrp="1"/>
          </p:cNvSpPr>
          <p:nvPr>
            <p:ph type="sldNum" sz="quarter" idx="12"/>
          </p:nvPr>
        </p:nvSpPr>
        <p:spPr/>
        <p:txBody>
          <a:bodyPr/>
          <a:lstStyle/>
          <a:p>
            <a:fld id="{55635D17-9D19-4B1E-86C2-B9D6296E4AF7}" type="slidenum">
              <a:rPr lang="en-US" smtClean="0"/>
              <a:pPr/>
              <a:t>10</a:t>
            </a:fld>
            <a:endParaRPr lang="en-US" dirty="0"/>
          </a:p>
        </p:txBody>
      </p:sp>
      <p:pic>
        <p:nvPicPr>
          <p:cNvPr id="3" name="그림 2">
            <a:extLst>
              <a:ext uri="{FF2B5EF4-FFF2-40B4-BE49-F238E27FC236}">
                <a16:creationId xmlns:a16="http://schemas.microsoft.com/office/drawing/2014/main" id="{1769755D-3818-12FD-E9DE-C21D2C1B9EAA}"/>
              </a:ext>
            </a:extLst>
          </p:cNvPr>
          <p:cNvPicPr>
            <a:picLocks noChangeAspect="1"/>
          </p:cNvPicPr>
          <p:nvPr/>
        </p:nvPicPr>
        <p:blipFill>
          <a:blip r:embed="rId2"/>
          <a:stretch>
            <a:fillRect/>
          </a:stretch>
        </p:blipFill>
        <p:spPr>
          <a:xfrm>
            <a:off x="795218" y="933150"/>
            <a:ext cx="8586752" cy="4711665"/>
          </a:xfrm>
          <a:prstGeom prst="rect">
            <a:avLst/>
          </a:prstGeom>
        </p:spPr>
      </p:pic>
      <p:pic>
        <p:nvPicPr>
          <p:cNvPr id="10" name="그림 9">
            <a:extLst>
              <a:ext uri="{FF2B5EF4-FFF2-40B4-BE49-F238E27FC236}">
                <a16:creationId xmlns:a16="http://schemas.microsoft.com/office/drawing/2014/main" id="{444D2D7C-74EA-B344-6882-AC13AC827359}"/>
              </a:ext>
            </a:extLst>
          </p:cNvPr>
          <p:cNvPicPr>
            <a:picLocks noChangeAspect="1"/>
          </p:cNvPicPr>
          <p:nvPr/>
        </p:nvPicPr>
        <p:blipFill>
          <a:blip r:embed="rId3"/>
          <a:stretch>
            <a:fillRect/>
          </a:stretch>
        </p:blipFill>
        <p:spPr>
          <a:xfrm>
            <a:off x="7955546" y="1416274"/>
            <a:ext cx="4066384" cy="4060288"/>
          </a:xfrm>
          <a:prstGeom prst="rect">
            <a:avLst/>
          </a:prstGeom>
        </p:spPr>
      </p:pic>
    </p:spTree>
    <p:extLst>
      <p:ext uri="{BB962C8B-B14F-4D97-AF65-F5344CB8AC3E}">
        <p14:creationId xmlns:p14="http://schemas.microsoft.com/office/powerpoint/2010/main" val="1259014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D492373-54D8-BB44-0A70-D31BF6B7A490}"/>
              </a:ext>
            </a:extLst>
          </p:cNvPr>
          <p:cNvSpPr>
            <a:spLocks noGrp="1"/>
          </p:cNvSpPr>
          <p:nvPr>
            <p:ph type="title"/>
          </p:nvPr>
        </p:nvSpPr>
        <p:spPr/>
        <p:txBody>
          <a:bodyPr>
            <a:normAutofit fontScale="90000"/>
          </a:bodyPr>
          <a:lstStyle/>
          <a:p>
            <a:r>
              <a:rPr lang="en-US" altLang="ko-KR" dirty="0"/>
              <a:t>BMS</a:t>
            </a:r>
            <a:endParaRPr lang="ko-KR" altLang="en-US" dirty="0"/>
          </a:p>
        </p:txBody>
      </p:sp>
      <p:sp>
        <p:nvSpPr>
          <p:cNvPr id="3" name="내용 개체 틀 2">
            <a:extLst>
              <a:ext uri="{FF2B5EF4-FFF2-40B4-BE49-F238E27FC236}">
                <a16:creationId xmlns:a16="http://schemas.microsoft.com/office/drawing/2014/main" id="{40C22055-15B6-55A0-E3CA-08F451839774}"/>
              </a:ext>
            </a:extLst>
          </p:cNvPr>
          <p:cNvSpPr>
            <a:spLocks noGrp="1"/>
          </p:cNvSpPr>
          <p:nvPr>
            <p:ph idx="1"/>
          </p:nvPr>
        </p:nvSpPr>
        <p:spPr>
          <a:xfrm>
            <a:off x="756557" y="820172"/>
            <a:ext cx="10515600" cy="5069640"/>
          </a:xfrm>
        </p:spPr>
        <p:txBody>
          <a:bodyPr>
            <a:noAutofit/>
          </a:bodyPr>
          <a:lstStyle/>
          <a:p>
            <a:pPr>
              <a:lnSpc>
                <a:spcPct val="120000"/>
              </a:lnSpc>
            </a:pPr>
            <a:r>
              <a:rPr lang="ko-KR" altLang="en-US" sz="2000" dirty="0"/>
              <a:t>배터리 관리 시스템</a:t>
            </a:r>
            <a:r>
              <a:rPr lang="en-US" altLang="ko-KR" sz="2000" dirty="0"/>
              <a:t>(BMS)</a:t>
            </a:r>
            <a:r>
              <a:rPr lang="ko-KR" altLang="en-US" sz="2000" dirty="0"/>
              <a:t>이란</a:t>
            </a:r>
            <a:r>
              <a:rPr lang="en-US" altLang="ko-KR" sz="2000" dirty="0"/>
              <a:t>?</a:t>
            </a:r>
          </a:p>
          <a:p>
            <a:pPr lvl="1">
              <a:lnSpc>
                <a:spcPct val="120000"/>
              </a:lnSpc>
            </a:pPr>
            <a:r>
              <a:rPr lang="ko-KR" altLang="en-US" sz="1600" dirty="0"/>
              <a:t>배터리 관리 시스템</a:t>
            </a:r>
            <a:r>
              <a:rPr lang="en-US" altLang="ko-KR" sz="1600" dirty="0"/>
              <a:t>(BMS)</a:t>
            </a:r>
            <a:r>
              <a:rPr lang="ko-KR" altLang="en-US" sz="1600" dirty="0"/>
              <a:t>은 배터리를 최적으로 관리하여 에너지 효율을 높이고 수명을 연장해주는 역할</a:t>
            </a:r>
          </a:p>
          <a:p>
            <a:pPr lvl="1">
              <a:lnSpc>
                <a:spcPct val="120000"/>
              </a:lnSpc>
            </a:pPr>
            <a:r>
              <a:rPr lang="ko-KR" altLang="en-US" sz="1600" dirty="0"/>
              <a:t>배터리의 전압</a:t>
            </a:r>
            <a:r>
              <a:rPr lang="en-US" altLang="ko-KR" sz="1600" dirty="0"/>
              <a:t>, </a:t>
            </a:r>
            <a:r>
              <a:rPr lang="ko-KR" altLang="en-US" sz="1600" dirty="0"/>
              <a:t>전류와 온도를 실시간으로 모니터링하여 과도한 충전 또는 방전을 미연에 방지하고 배터리의 안전성과 신뢰성을 향상시킴</a:t>
            </a:r>
          </a:p>
          <a:p>
            <a:pPr lvl="1">
              <a:lnSpc>
                <a:spcPct val="120000"/>
              </a:lnSpc>
            </a:pPr>
            <a:r>
              <a:rPr lang="ko-KR" altLang="en-US" sz="1600" dirty="0"/>
              <a:t>전동화자동차의 주행거리 증가를 위해 배터리 관리시스템의 중요성 증대</a:t>
            </a:r>
          </a:p>
        </p:txBody>
      </p:sp>
      <p:sp>
        <p:nvSpPr>
          <p:cNvPr id="4" name="날짜 개체 틀 3">
            <a:extLst>
              <a:ext uri="{FF2B5EF4-FFF2-40B4-BE49-F238E27FC236}">
                <a16:creationId xmlns:a16="http://schemas.microsoft.com/office/drawing/2014/main" id="{8B2D2680-CB3A-C5B0-013D-400661BD6632}"/>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7617D589-2F2B-1D9D-6C8F-300950AFFDE9}"/>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B0A9D13-298B-7512-F1D3-1F46998BC8AA}"/>
              </a:ext>
            </a:extLst>
          </p:cNvPr>
          <p:cNvSpPr>
            <a:spLocks noGrp="1"/>
          </p:cNvSpPr>
          <p:nvPr>
            <p:ph type="sldNum" sz="quarter" idx="12"/>
          </p:nvPr>
        </p:nvSpPr>
        <p:spPr/>
        <p:txBody>
          <a:bodyPr/>
          <a:lstStyle/>
          <a:p>
            <a:fld id="{55635D17-9D19-4B1E-86C2-B9D6296E4AF7}" type="slidenum">
              <a:rPr lang="en-US" smtClean="0"/>
              <a:pPr/>
              <a:t>11</a:t>
            </a:fld>
            <a:endParaRPr lang="en-US" dirty="0"/>
          </a:p>
        </p:txBody>
      </p:sp>
      <p:sp>
        <p:nvSpPr>
          <p:cNvPr id="7" name="내용 개체 틀 2">
            <a:extLst>
              <a:ext uri="{FF2B5EF4-FFF2-40B4-BE49-F238E27FC236}">
                <a16:creationId xmlns:a16="http://schemas.microsoft.com/office/drawing/2014/main" id="{16B80E00-23CE-260A-CB0C-1C0BE427CEC3}"/>
              </a:ext>
            </a:extLst>
          </p:cNvPr>
          <p:cNvSpPr txBox="1">
            <a:spLocks/>
          </p:cNvSpPr>
          <p:nvPr/>
        </p:nvSpPr>
        <p:spPr>
          <a:xfrm>
            <a:off x="760907" y="3053923"/>
            <a:ext cx="5744396" cy="2339497"/>
          </a:xfrm>
          <a:prstGeom prst="rect">
            <a:avLst/>
          </a:prstGeom>
        </p:spPr>
        <p:txBody>
          <a:bodyPr vert="horz" lIns="91440" tIns="45720" rIns="91440" bIns="45720" rtlCol="0">
            <a:no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2000" dirty="0"/>
              <a:t>BMS</a:t>
            </a:r>
            <a:r>
              <a:rPr lang="ko-KR" altLang="en-US" sz="2000" dirty="0"/>
              <a:t>의 핵심 역할</a:t>
            </a:r>
          </a:p>
          <a:p>
            <a:pPr lvl="1">
              <a:lnSpc>
                <a:spcPct val="120000"/>
              </a:lnSpc>
            </a:pPr>
            <a:r>
              <a:rPr lang="ko-KR" altLang="en-US" sz="1600" dirty="0"/>
              <a:t>에너지 효율을 높이고 배터리의 수명을 연장</a:t>
            </a:r>
          </a:p>
          <a:p>
            <a:pPr lvl="1">
              <a:lnSpc>
                <a:spcPct val="120000"/>
              </a:lnSpc>
            </a:pPr>
            <a:r>
              <a:rPr lang="ko-KR" altLang="en-US" sz="1600" dirty="0"/>
              <a:t>셀 </a:t>
            </a:r>
            <a:r>
              <a:rPr lang="ko-KR" altLang="en-US" sz="1600" dirty="0" err="1"/>
              <a:t>밸런싱</a:t>
            </a:r>
            <a:r>
              <a:rPr lang="ko-KR" altLang="en-US" sz="1600" dirty="0"/>
              <a:t> 기능을 통해 배터리의 최대 에너지를 최적화하여 사용할 수 있도록 관리</a:t>
            </a:r>
          </a:p>
          <a:p>
            <a:pPr lvl="1">
              <a:lnSpc>
                <a:spcPct val="120000"/>
              </a:lnSpc>
            </a:pPr>
            <a:r>
              <a:rPr lang="ko-KR" altLang="en-US" sz="1600" dirty="0"/>
              <a:t>배터리의 냉각 장치</a:t>
            </a:r>
            <a:r>
              <a:rPr lang="en-US" altLang="ko-KR" sz="1600" dirty="0"/>
              <a:t>(</a:t>
            </a:r>
            <a:r>
              <a:rPr lang="ko-KR" altLang="en-US" sz="1600" dirty="0"/>
              <a:t>냉각 </a:t>
            </a:r>
            <a:r>
              <a:rPr lang="ko-KR" altLang="en-US" sz="1600" dirty="0" err="1"/>
              <a:t>블로워</a:t>
            </a:r>
            <a:r>
              <a:rPr lang="en-US" altLang="ko-KR" sz="1600" dirty="0"/>
              <a:t>, </a:t>
            </a:r>
            <a:r>
              <a:rPr lang="ko-KR" altLang="en-US" sz="1600" dirty="0"/>
              <a:t>냉각유로</a:t>
            </a:r>
            <a:r>
              <a:rPr lang="en-US" altLang="ko-KR" sz="1600" dirty="0"/>
              <a:t>)</a:t>
            </a:r>
            <a:r>
              <a:rPr lang="ko-KR" altLang="en-US" sz="1600" dirty="0"/>
              <a:t>를 제어하여 배터리 열을 관리하는 역할을 하는데 이로서 배터리 시스템이 최적의 수명을 유지</a:t>
            </a:r>
          </a:p>
        </p:txBody>
      </p:sp>
      <p:pic>
        <p:nvPicPr>
          <p:cNvPr id="9" name="그림 8">
            <a:extLst>
              <a:ext uri="{FF2B5EF4-FFF2-40B4-BE49-F238E27FC236}">
                <a16:creationId xmlns:a16="http://schemas.microsoft.com/office/drawing/2014/main" id="{03247574-FBFC-39D2-0275-84BA97F16D86}"/>
              </a:ext>
            </a:extLst>
          </p:cNvPr>
          <p:cNvPicPr>
            <a:picLocks noChangeAspect="1"/>
          </p:cNvPicPr>
          <p:nvPr/>
        </p:nvPicPr>
        <p:blipFill>
          <a:blip r:embed="rId2"/>
          <a:stretch>
            <a:fillRect/>
          </a:stretch>
        </p:blipFill>
        <p:spPr>
          <a:xfrm>
            <a:off x="6857642" y="2716780"/>
            <a:ext cx="4817912" cy="3148397"/>
          </a:xfrm>
          <a:prstGeom prst="rect">
            <a:avLst/>
          </a:prstGeom>
        </p:spPr>
      </p:pic>
    </p:spTree>
    <p:extLst>
      <p:ext uri="{BB962C8B-B14F-4D97-AF65-F5344CB8AC3E}">
        <p14:creationId xmlns:p14="http://schemas.microsoft.com/office/powerpoint/2010/main" val="4039556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ko-KR" altLang="en-US" dirty="0"/>
              <a:t>모터와</a:t>
            </a:r>
            <a:r>
              <a:rPr lang="en-US" altLang="ko-KR" dirty="0"/>
              <a:t> </a:t>
            </a:r>
            <a:r>
              <a:rPr lang="ko-KR" altLang="en-US" dirty="0"/>
              <a:t>인버터</a:t>
            </a:r>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12</a:t>
            </a:fld>
            <a:endParaRPr lang="en-US" dirty="0"/>
          </a:p>
        </p:txBody>
      </p:sp>
      <p:pic>
        <p:nvPicPr>
          <p:cNvPr id="7" name="그림 6">
            <a:extLst>
              <a:ext uri="{FF2B5EF4-FFF2-40B4-BE49-F238E27FC236}">
                <a16:creationId xmlns:a16="http://schemas.microsoft.com/office/drawing/2014/main" id="{AD2D5B17-9637-6D8A-8375-B1BFAFCF7F4F}"/>
              </a:ext>
            </a:extLst>
          </p:cNvPr>
          <p:cNvPicPr>
            <a:picLocks noChangeAspect="1"/>
          </p:cNvPicPr>
          <p:nvPr/>
        </p:nvPicPr>
        <p:blipFill>
          <a:blip r:embed="rId2"/>
          <a:stretch>
            <a:fillRect/>
          </a:stretch>
        </p:blipFill>
        <p:spPr>
          <a:xfrm>
            <a:off x="2317491" y="834926"/>
            <a:ext cx="7557025" cy="4862980"/>
          </a:xfrm>
          <a:prstGeom prst="rect">
            <a:avLst/>
          </a:prstGeom>
        </p:spPr>
      </p:pic>
      <p:sp>
        <p:nvSpPr>
          <p:cNvPr id="3" name="TextBox 2">
            <a:extLst>
              <a:ext uri="{FF2B5EF4-FFF2-40B4-BE49-F238E27FC236}">
                <a16:creationId xmlns:a16="http://schemas.microsoft.com/office/drawing/2014/main" id="{CAFA2693-D5F0-E393-E041-39113C121872}"/>
              </a:ext>
            </a:extLst>
          </p:cNvPr>
          <p:cNvSpPr txBox="1"/>
          <p:nvPr/>
        </p:nvSpPr>
        <p:spPr>
          <a:xfrm>
            <a:off x="1952017" y="3007469"/>
            <a:ext cx="2086583" cy="1077218"/>
          </a:xfrm>
          <a:prstGeom prst="rect">
            <a:avLst/>
          </a:prstGeom>
          <a:solidFill>
            <a:schemeClr val="accent4"/>
          </a:solidFill>
        </p:spPr>
        <p:txBody>
          <a:bodyPr wrap="square" rtlCol="0">
            <a:spAutoFit/>
          </a:bodyPr>
          <a:lstStyle/>
          <a:p>
            <a:pPr marL="180975">
              <a:buFont typeface="Wingdings" panose="05000000000000000000" pitchFamily="2" charset="2"/>
              <a:buChar char="§"/>
            </a:pPr>
            <a:r>
              <a:rPr lang="ko-KR" altLang="en-US" sz="1600" b="1" dirty="0">
                <a:solidFill>
                  <a:srgbClr val="FF0000"/>
                </a:solidFill>
                <a:latin typeface="+mn-ea"/>
              </a:rPr>
              <a:t> 핵심 제어</a:t>
            </a:r>
            <a:br>
              <a:rPr lang="en-US" altLang="ko-KR" sz="1600" b="1" dirty="0">
                <a:solidFill>
                  <a:srgbClr val="FF0000"/>
                </a:solidFill>
                <a:latin typeface="+mn-ea"/>
              </a:rPr>
            </a:br>
            <a:r>
              <a:rPr lang="en-US" altLang="ko-KR" sz="1600" b="1" dirty="0">
                <a:solidFill>
                  <a:srgbClr val="FF0000"/>
                </a:solidFill>
                <a:latin typeface="+mn-ea"/>
              </a:rPr>
              <a:t>N </a:t>
            </a:r>
            <a:r>
              <a:rPr lang="ko-KR" altLang="en-US" sz="1600" b="1" dirty="0">
                <a:solidFill>
                  <a:srgbClr val="FF0000"/>
                </a:solidFill>
                <a:latin typeface="+mn-ea"/>
              </a:rPr>
              <a:t>노이즈</a:t>
            </a:r>
            <a:endParaRPr lang="en-US" altLang="ko-KR" sz="1600" b="1" dirty="0">
              <a:solidFill>
                <a:srgbClr val="FF0000"/>
              </a:solidFill>
              <a:latin typeface="+mn-ea"/>
            </a:endParaRPr>
          </a:p>
          <a:p>
            <a:pPr marL="180975"/>
            <a:r>
              <a:rPr lang="en-US" altLang="ko-KR" sz="1600" b="1" dirty="0">
                <a:solidFill>
                  <a:srgbClr val="FF0000"/>
                </a:solidFill>
                <a:latin typeface="+mn-ea"/>
              </a:rPr>
              <a:t>B </a:t>
            </a:r>
            <a:r>
              <a:rPr lang="ko-KR" altLang="en-US" sz="1600" b="1" dirty="0">
                <a:solidFill>
                  <a:srgbClr val="FF0000"/>
                </a:solidFill>
                <a:latin typeface="+mn-ea"/>
              </a:rPr>
              <a:t>바이브레이션</a:t>
            </a:r>
            <a:endParaRPr lang="en-US" altLang="ko-KR" sz="1600" b="1" dirty="0">
              <a:solidFill>
                <a:srgbClr val="FF0000"/>
              </a:solidFill>
              <a:latin typeface="+mn-ea"/>
            </a:endParaRPr>
          </a:p>
          <a:p>
            <a:pPr marL="180975"/>
            <a:r>
              <a:rPr lang="en-US" altLang="ko-KR" sz="1600" b="1" dirty="0">
                <a:solidFill>
                  <a:srgbClr val="FF0000"/>
                </a:solidFill>
                <a:latin typeface="+mn-ea"/>
              </a:rPr>
              <a:t>H </a:t>
            </a:r>
            <a:r>
              <a:rPr lang="ko-KR" altLang="en-US" sz="1600" b="1" dirty="0">
                <a:solidFill>
                  <a:srgbClr val="FF0000"/>
                </a:solidFill>
                <a:latin typeface="+mn-ea"/>
              </a:rPr>
              <a:t>히터</a:t>
            </a:r>
          </a:p>
        </p:txBody>
      </p:sp>
    </p:spTree>
    <p:extLst>
      <p:ext uri="{BB962C8B-B14F-4D97-AF65-F5344CB8AC3E}">
        <p14:creationId xmlns:p14="http://schemas.microsoft.com/office/powerpoint/2010/main" val="972226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ko-KR" altLang="en-US" dirty="0"/>
              <a:t>모터와</a:t>
            </a:r>
            <a:r>
              <a:rPr lang="en-US" altLang="ko-KR" dirty="0"/>
              <a:t> </a:t>
            </a:r>
            <a:r>
              <a:rPr lang="ko-KR" altLang="en-US" dirty="0"/>
              <a:t>인버터</a:t>
            </a:r>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13</a:t>
            </a:fld>
            <a:endParaRPr lang="en-US" dirty="0"/>
          </a:p>
        </p:txBody>
      </p:sp>
      <p:pic>
        <p:nvPicPr>
          <p:cNvPr id="3" name="그림 2">
            <a:extLst>
              <a:ext uri="{FF2B5EF4-FFF2-40B4-BE49-F238E27FC236}">
                <a16:creationId xmlns:a16="http://schemas.microsoft.com/office/drawing/2014/main" id="{5261E275-9970-8CBB-FC3A-9162D92F04F2}"/>
              </a:ext>
            </a:extLst>
          </p:cNvPr>
          <p:cNvPicPr>
            <a:picLocks noChangeAspect="1"/>
          </p:cNvPicPr>
          <p:nvPr/>
        </p:nvPicPr>
        <p:blipFill>
          <a:blip r:embed="rId2"/>
          <a:stretch>
            <a:fillRect/>
          </a:stretch>
        </p:blipFill>
        <p:spPr>
          <a:xfrm>
            <a:off x="1939640" y="772305"/>
            <a:ext cx="8312728" cy="4967550"/>
          </a:xfrm>
          <a:prstGeom prst="rect">
            <a:avLst/>
          </a:prstGeom>
        </p:spPr>
      </p:pic>
    </p:spTree>
    <p:extLst>
      <p:ext uri="{BB962C8B-B14F-4D97-AF65-F5344CB8AC3E}">
        <p14:creationId xmlns:p14="http://schemas.microsoft.com/office/powerpoint/2010/main" val="1166912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In-Wheel</a:t>
            </a:r>
            <a:r>
              <a:rPr lang="ko-KR" altLang="en-US" dirty="0"/>
              <a:t> </a:t>
            </a:r>
            <a:r>
              <a:rPr lang="en-US" altLang="ko-KR" dirty="0"/>
              <a:t>Motor</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14</a:t>
            </a:fld>
            <a:endParaRPr lang="en-US" dirty="0"/>
          </a:p>
        </p:txBody>
      </p:sp>
      <p:pic>
        <p:nvPicPr>
          <p:cNvPr id="3" name="온라인 미디어 2" title="도심을 달리는 e-코너 시스템 탑재 차량">
            <a:hlinkClick r:id="" action="ppaction://media"/>
            <a:extLst>
              <a:ext uri="{FF2B5EF4-FFF2-40B4-BE49-F238E27FC236}">
                <a16:creationId xmlns:a16="http://schemas.microsoft.com/office/drawing/2014/main" id="{174315E8-4304-7984-1F32-5D5EA740344F}"/>
              </a:ext>
            </a:extLst>
          </p:cNvPr>
          <p:cNvPicPr>
            <a:picLocks noRot="1" noChangeAspect="1"/>
          </p:cNvPicPr>
          <p:nvPr>
            <a:videoFile r:link="rId1"/>
          </p:nvPr>
        </p:nvPicPr>
        <p:blipFill>
          <a:blip r:embed="rId3"/>
          <a:stretch>
            <a:fillRect/>
          </a:stretch>
        </p:blipFill>
        <p:spPr>
          <a:xfrm>
            <a:off x="1965459" y="889724"/>
            <a:ext cx="8296940" cy="4684105"/>
          </a:xfrm>
          <a:prstGeom prst="rect">
            <a:avLst/>
          </a:prstGeom>
        </p:spPr>
      </p:pic>
    </p:spTree>
    <p:extLst>
      <p:ext uri="{BB962C8B-B14F-4D97-AF65-F5344CB8AC3E}">
        <p14:creationId xmlns:p14="http://schemas.microsoft.com/office/powerpoint/2010/main" val="486070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ko-KR" altLang="en-US" dirty="0"/>
              <a:t>공조 및 열관리 시스템</a:t>
            </a:r>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15</a:t>
            </a:fld>
            <a:endParaRPr lang="en-US" dirty="0"/>
          </a:p>
        </p:txBody>
      </p:sp>
      <p:pic>
        <p:nvPicPr>
          <p:cNvPr id="7" name="그림 6">
            <a:extLst>
              <a:ext uri="{FF2B5EF4-FFF2-40B4-BE49-F238E27FC236}">
                <a16:creationId xmlns:a16="http://schemas.microsoft.com/office/drawing/2014/main" id="{5F28FA42-62A9-5F1D-1449-0D68FB1F3A5E}"/>
              </a:ext>
            </a:extLst>
          </p:cNvPr>
          <p:cNvPicPr>
            <a:picLocks noChangeAspect="1"/>
          </p:cNvPicPr>
          <p:nvPr/>
        </p:nvPicPr>
        <p:blipFill>
          <a:blip r:embed="rId2"/>
          <a:stretch>
            <a:fillRect/>
          </a:stretch>
        </p:blipFill>
        <p:spPr>
          <a:xfrm>
            <a:off x="1939641" y="837479"/>
            <a:ext cx="8312728" cy="5077331"/>
          </a:xfrm>
          <a:prstGeom prst="rect">
            <a:avLst/>
          </a:prstGeom>
        </p:spPr>
      </p:pic>
    </p:spTree>
    <p:extLst>
      <p:ext uri="{BB962C8B-B14F-4D97-AF65-F5344CB8AC3E}">
        <p14:creationId xmlns:p14="http://schemas.microsoft.com/office/powerpoint/2010/main" val="1187099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ko-KR" altLang="en-US" dirty="0"/>
              <a:t>공조 및 열관리 시스템</a:t>
            </a:r>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16</a:t>
            </a:fld>
            <a:endParaRPr lang="en-US" dirty="0"/>
          </a:p>
        </p:txBody>
      </p:sp>
      <p:pic>
        <p:nvPicPr>
          <p:cNvPr id="3" name="그림 2">
            <a:extLst>
              <a:ext uri="{FF2B5EF4-FFF2-40B4-BE49-F238E27FC236}">
                <a16:creationId xmlns:a16="http://schemas.microsoft.com/office/drawing/2014/main" id="{3D59F1D2-0CE8-B338-C37C-27D5F1F7ED7F}"/>
              </a:ext>
            </a:extLst>
          </p:cNvPr>
          <p:cNvPicPr>
            <a:picLocks noChangeAspect="1"/>
          </p:cNvPicPr>
          <p:nvPr/>
        </p:nvPicPr>
        <p:blipFill>
          <a:blip r:embed="rId2"/>
          <a:stretch>
            <a:fillRect/>
          </a:stretch>
        </p:blipFill>
        <p:spPr>
          <a:xfrm>
            <a:off x="1939641" y="754218"/>
            <a:ext cx="8312728" cy="5156096"/>
          </a:xfrm>
          <a:prstGeom prst="rect">
            <a:avLst/>
          </a:prstGeom>
        </p:spPr>
      </p:pic>
    </p:spTree>
    <p:extLst>
      <p:ext uri="{BB962C8B-B14F-4D97-AF65-F5344CB8AC3E}">
        <p14:creationId xmlns:p14="http://schemas.microsoft.com/office/powerpoint/2010/main" val="2652417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VCU</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dirty="0"/>
              <a:t>2023 Copyright </a:t>
            </a:r>
            <a:r>
              <a:rPr lang="ko-KR" altLang="en-US" dirty="0"/>
              <a:t>ⓒ </a:t>
            </a:r>
            <a:r>
              <a:rPr lang="en-US" altLang="ko-KR" dirty="0"/>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17</a:t>
            </a:fld>
            <a:endParaRPr lang="en-US" dirty="0"/>
          </a:p>
        </p:txBody>
      </p:sp>
      <p:pic>
        <p:nvPicPr>
          <p:cNvPr id="11" name="그림 10">
            <a:extLst>
              <a:ext uri="{FF2B5EF4-FFF2-40B4-BE49-F238E27FC236}">
                <a16:creationId xmlns:a16="http://schemas.microsoft.com/office/drawing/2014/main" id="{1F7014B7-C087-DCAA-B01B-3C7A05F4DDCF}"/>
              </a:ext>
            </a:extLst>
          </p:cNvPr>
          <p:cNvPicPr>
            <a:picLocks noChangeAspect="1"/>
          </p:cNvPicPr>
          <p:nvPr/>
        </p:nvPicPr>
        <p:blipFill>
          <a:blip r:embed="rId2"/>
          <a:stretch>
            <a:fillRect/>
          </a:stretch>
        </p:blipFill>
        <p:spPr>
          <a:xfrm>
            <a:off x="1974750" y="602422"/>
            <a:ext cx="8242506" cy="5145470"/>
          </a:xfrm>
          <a:prstGeom prst="rect">
            <a:avLst/>
          </a:prstGeom>
        </p:spPr>
      </p:pic>
    </p:spTree>
    <p:extLst>
      <p:ext uri="{BB962C8B-B14F-4D97-AF65-F5344CB8AC3E}">
        <p14:creationId xmlns:p14="http://schemas.microsoft.com/office/powerpoint/2010/main" val="2831277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ko-KR" altLang="en-US" dirty="0"/>
              <a:t>에너지</a:t>
            </a:r>
            <a:r>
              <a:rPr lang="en-US" altLang="ko-KR" dirty="0"/>
              <a:t> </a:t>
            </a:r>
            <a:r>
              <a:rPr lang="ko-KR" altLang="en-US" dirty="0"/>
              <a:t>상태표시 </a:t>
            </a:r>
            <a:r>
              <a:rPr lang="en-US" altLang="ko-KR" dirty="0"/>
              <a:t>UI</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18</a:t>
            </a:fld>
            <a:endParaRPr lang="en-US" dirty="0"/>
          </a:p>
        </p:txBody>
      </p:sp>
      <p:pic>
        <p:nvPicPr>
          <p:cNvPr id="3" name="그림 2">
            <a:extLst>
              <a:ext uri="{FF2B5EF4-FFF2-40B4-BE49-F238E27FC236}">
                <a16:creationId xmlns:a16="http://schemas.microsoft.com/office/drawing/2014/main" id="{6482FF78-97D7-7C16-F037-F69B4C123FF8}"/>
              </a:ext>
            </a:extLst>
          </p:cNvPr>
          <p:cNvPicPr>
            <a:picLocks noChangeAspect="1"/>
          </p:cNvPicPr>
          <p:nvPr/>
        </p:nvPicPr>
        <p:blipFill>
          <a:blip r:embed="rId2"/>
          <a:stretch>
            <a:fillRect/>
          </a:stretch>
        </p:blipFill>
        <p:spPr>
          <a:xfrm>
            <a:off x="2212262" y="758240"/>
            <a:ext cx="7769267" cy="4916895"/>
          </a:xfrm>
          <a:prstGeom prst="rect">
            <a:avLst/>
          </a:prstGeom>
        </p:spPr>
      </p:pic>
    </p:spTree>
    <p:extLst>
      <p:ext uri="{BB962C8B-B14F-4D97-AF65-F5344CB8AC3E}">
        <p14:creationId xmlns:p14="http://schemas.microsoft.com/office/powerpoint/2010/main" val="4198851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ko-KR" altLang="en-US" dirty="0"/>
              <a:t>전기</a:t>
            </a:r>
            <a:r>
              <a:rPr lang="en-US" altLang="ko-KR" dirty="0"/>
              <a:t> </a:t>
            </a:r>
            <a:r>
              <a:rPr lang="ko-KR" altLang="en-US" dirty="0"/>
              <a:t>인터페이스</a:t>
            </a:r>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19</a:t>
            </a:fld>
            <a:endParaRPr lang="en-US" dirty="0"/>
          </a:p>
        </p:txBody>
      </p:sp>
      <p:pic>
        <p:nvPicPr>
          <p:cNvPr id="7" name="그림 6">
            <a:extLst>
              <a:ext uri="{FF2B5EF4-FFF2-40B4-BE49-F238E27FC236}">
                <a16:creationId xmlns:a16="http://schemas.microsoft.com/office/drawing/2014/main" id="{24067A29-AE85-2F22-2BCE-8FA514BDF498}"/>
              </a:ext>
            </a:extLst>
          </p:cNvPr>
          <p:cNvPicPr>
            <a:picLocks noChangeAspect="1"/>
          </p:cNvPicPr>
          <p:nvPr/>
        </p:nvPicPr>
        <p:blipFill>
          <a:blip r:embed="rId2"/>
          <a:stretch>
            <a:fillRect/>
          </a:stretch>
        </p:blipFill>
        <p:spPr>
          <a:xfrm>
            <a:off x="1059451" y="1177787"/>
            <a:ext cx="8504993" cy="4447921"/>
          </a:xfrm>
          <a:prstGeom prst="rect">
            <a:avLst/>
          </a:prstGeom>
        </p:spPr>
      </p:pic>
      <p:pic>
        <p:nvPicPr>
          <p:cNvPr id="10" name="그림 9">
            <a:extLst>
              <a:ext uri="{FF2B5EF4-FFF2-40B4-BE49-F238E27FC236}">
                <a16:creationId xmlns:a16="http://schemas.microsoft.com/office/drawing/2014/main" id="{D1515668-4EB3-56CF-2372-1F60F2C7FF22}"/>
              </a:ext>
            </a:extLst>
          </p:cNvPr>
          <p:cNvPicPr>
            <a:picLocks noChangeAspect="1"/>
          </p:cNvPicPr>
          <p:nvPr/>
        </p:nvPicPr>
        <p:blipFill>
          <a:blip r:embed="rId3"/>
          <a:stretch>
            <a:fillRect/>
          </a:stretch>
        </p:blipFill>
        <p:spPr>
          <a:xfrm>
            <a:off x="6652681" y="644722"/>
            <a:ext cx="5261304" cy="3304318"/>
          </a:xfrm>
          <a:prstGeom prst="rect">
            <a:avLst/>
          </a:prstGeom>
        </p:spPr>
      </p:pic>
    </p:spTree>
    <p:extLst>
      <p:ext uri="{BB962C8B-B14F-4D97-AF65-F5344CB8AC3E}">
        <p14:creationId xmlns:p14="http://schemas.microsoft.com/office/powerpoint/2010/main" val="3191696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ko-KR" altLang="en-US" dirty="0"/>
              <a:t>전기 인터페이스</a:t>
            </a:r>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20</a:t>
            </a:fld>
            <a:endParaRPr lang="en-US" dirty="0"/>
          </a:p>
        </p:txBody>
      </p:sp>
      <p:pic>
        <p:nvPicPr>
          <p:cNvPr id="3" name="온라인 미디어 2" title="How Easy Could it Be to Charge Your EV?">
            <a:hlinkClick r:id="" action="ppaction://media"/>
            <a:extLst>
              <a:ext uri="{FF2B5EF4-FFF2-40B4-BE49-F238E27FC236}">
                <a16:creationId xmlns:a16="http://schemas.microsoft.com/office/drawing/2014/main" id="{867B4529-897C-3052-4C0F-C920A1293A85}"/>
              </a:ext>
            </a:extLst>
          </p:cNvPr>
          <p:cNvPicPr>
            <a:picLocks noRot="1" noChangeAspect="1"/>
          </p:cNvPicPr>
          <p:nvPr>
            <a:videoFile r:link="rId1"/>
          </p:nvPr>
        </p:nvPicPr>
        <p:blipFill>
          <a:blip r:embed="rId4"/>
          <a:stretch>
            <a:fillRect/>
          </a:stretch>
        </p:blipFill>
        <p:spPr>
          <a:xfrm>
            <a:off x="361572" y="1291464"/>
            <a:ext cx="5666922" cy="3199306"/>
          </a:xfrm>
          <a:prstGeom prst="rect">
            <a:avLst/>
          </a:prstGeom>
        </p:spPr>
      </p:pic>
      <p:pic>
        <p:nvPicPr>
          <p:cNvPr id="7" name="온라인 미디어 6" title="로봇이 대신하는 편리한 전기차 충전 ㅣ 전기차 자동 충전 로봇 ㅣ 현대자동차그룹">
            <a:hlinkClick r:id="" action="ppaction://media"/>
            <a:extLst>
              <a:ext uri="{FF2B5EF4-FFF2-40B4-BE49-F238E27FC236}">
                <a16:creationId xmlns:a16="http://schemas.microsoft.com/office/drawing/2014/main" id="{2B591BD4-A3B5-15CD-0A08-74118E142D29}"/>
              </a:ext>
            </a:extLst>
          </p:cNvPr>
          <p:cNvPicPr>
            <a:picLocks noRot="1" noChangeAspect="1"/>
          </p:cNvPicPr>
          <p:nvPr>
            <a:videoFile r:link="rId2"/>
          </p:nvPr>
        </p:nvPicPr>
        <p:blipFill>
          <a:blip r:embed="rId5"/>
          <a:stretch>
            <a:fillRect/>
          </a:stretch>
        </p:blipFill>
        <p:spPr>
          <a:xfrm>
            <a:off x="6193996" y="2385164"/>
            <a:ext cx="5666922" cy="3199306"/>
          </a:xfrm>
          <a:prstGeom prst="rect">
            <a:avLst/>
          </a:prstGeom>
        </p:spPr>
      </p:pic>
      <p:sp>
        <p:nvSpPr>
          <p:cNvPr id="9" name="TextBox 8">
            <a:extLst>
              <a:ext uri="{FF2B5EF4-FFF2-40B4-BE49-F238E27FC236}">
                <a16:creationId xmlns:a16="http://schemas.microsoft.com/office/drawing/2014/main" id="{574ECAFA-5B34-E1A3-C9AF-0040D000EA3E}"/>
              </a:ext>
            </a:extLst>
          </p:cNvPr>
          <p:cNvSpPr txBox="1"/>
          <p:nvPr/>
        </p:nvSpPr>
        <p:spPr>
          <a:xfrm>
            <a:off x="2241887" y="4643718"/>
            <a:ext cx="1906291" cy="369332"/>
          </a:xfrm>
          <a:prstGeom prst="rect">
            <a:avLst/>
          </a:prstGeom>
          <a:noFill/>
        </p:spPr>
        <p:txBody>
          <a:bodyPr wrap="none" rtlCol="0">
            <a:spAutoFit/>
          </a:bodyPr>
          <a:lstStyle/>
          <a:p>
            <a:r>
              <a:rPr lang="ko-KR" altLang="en-US" dirty="0"/>
              <a:t>무선 충전 시스템</a:t>
            </a:r>
          </a:p>
        </p:txBody>
      </p:sp>
      <p:sp>
        <p:nvSpPr>
          <p:cNvPr id="10" name="TextBox 9">
            <a:extLst>
              <a:ext uri="{FF2B5EF4-FFF2-40B4-BE49-F238E27FC236}">
                <a16:creationId xmlns:a16="http://schemas.microsoft.com/office/drawing/2014/main" id="{F955018E-8610-9E4C-BA12-B64040E0D844}"/>
              </a:ext>
            </a:extLst>
          </p:cNvPr>
          <p:cNvSpPr txBox="1"/>
          <p:nvPr/>
        </p:nvSpPr>
        <p:spPr>
          <a:xfrm>
            <a:off x="8447009" y="1828800"/>
            <a:ext cx="1160895" cy="369332"/>
          </a:xfrm>
          <a:prstGeom prst="rect">
            <a:avLst/>
          </a:prstGeom>
          <a:noFill/>
        </p:spPr>
        <p:txBody>
          <a:bodyPr wrap="none" rtlCol="0">
            <a:spAutoFit/>
          </a:bodyPr>
          <a:lstStyle/>
          <a:p>
            <a:r>
              <a:rPr lang="ko-KR" altLang="en-US" dirty="0"/>
              <a:t>충전 로봇</a:t>
            </a:r>
          </a:p>
        </p:txBody>
      </p:sp>
    </p:spTree>
    <p:extLst>
      <p:ext uri="{BB962C8B-B14F-4D97-AF65-F5344CB8AC3E}">
        <p14:creationId xmlns:p14="http://schemas.microsoft.com/office/powerpoint/2010/main" val="286608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3"/>
                </p:tgtEl>
              </p:cMediaNode>
            </p:video>
            <p:seq concurrent="1" nextAc="seek">
              <p:cTn id="12" restart="whenNotActive" fill="hold" evtFilter="cancelBubble" nodeType="interactiveSeq">
                <p:stCondLst>
                  <p:cond evt="onClick" delay="0">
                    <p:tgtEl>
                      <p:spTgt spid="3"/>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3"/>
                                        </p:tgtEl>
                                      </p:cBhvr>
                                    </p:cmd>
                                  </p:childTnLst>
                                </p:cTn>
                              </p:par>
                            </p:childTnLst>
                          </p:cTn>
                        </p:par>
                      </p:childTnLst>
                    </p:cTn>
                  </p:par>
                </p:childTnLst>
              </p:cTn>
              <p:nextCondLst>
                <p:cond evt="onClick" delay="0">
                  <p:tgtEl>
                    <p:spTgt spid="3"/>
                  </p:tgtEl>
                </p:cond>
              </p:nextCondLst>
            </p:seq>
            <p:video>
              <p:cMediaNode vol="80000">
                <p:cTn id="17" fill="hold" display="0">
                  <p:stCondLst>
                    <p:cond delay="indefinite"/>
                  </p:stCondLst>
                </p:cTn>
                <p:tgtEl>
                  <p:spTgt spid="7"/>
                </p:tgtEl>
              </p:cMediaNode>
            </p:video>
            <p:seq concurrent="1" nextAc="seek">
              <p:cTn id="18" restart="whenNotActive" fill="hold" evtFilter="cancelBubble" nodeType="interactiveSeq">
                <p:stCondLst>
                  <p:cond evt="onClick" delay="0">
                    <p:tgtEl>
                      <p:spTgt spid="7"/>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EV</a:t>
            </a:r>
            <a:r>
              <a:rPr lang="ko-KR" altLang="en-US" dirty="0"/>
              <a:t>용 </a:t>
            </a:r>
            <a:r>
              <a:rPr lang="en-US" altLang="ko-KR" dirty="0"/>
              <a:t>Brake System</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21</a:t>
            </a:fld>
            <a:endParaRPr lang="en-US" dirty="0"/>
          </a:p>
        </p:txBody>
      </p:sp>
      <p:pic>
        <p:nvPicPr>
          <p:cNvPr id="3" name="그림 2">
            <a:extLst>
              <a:ext uri="{FF2B5EF4-FFF2-40B4-BE49-F238E27FC236}">
                <a16:creationId xmlns:a16="http://schemas.microsoft.com/office/drawing/2014/main" id="{A62E81E9-91A9-5A4C-C136-C00E72CA4B5F}"/>
              </a:ext>
            </a:extLst>
          </p:cNvPr>
          <p:cNvPicPr>
            <a:picLocks noChangeAspect="1"/>
          </p:cNvPicPr>
          <p:nvPr/>
        </p:nvPicPr>
        <p:blipFill>
          <a:blip r:embed="rId2"/>
          <a:stretch>
            <a:fillRect/>
          </a:stretch>
        </p:blipFill>
        <p:spPr>
          <a:xfrm>
            <a:off x="1845831" y="711349"/>
            <a:ext cx="8513822" cy="5070044"/>
          </a:xfrm>
          <a:prstGeom prst="rect">
            <a:avLst/>
          </a:prstGeom>
        </p:spPr>
      </p:pic>
    </p:spTree>
    <p:extLst>
      <p:ext uri="{BB962C8B-B14F-4D97-AF65-F5344CB8AC3E}">
        <p14:creationId xmlns:p14="http://schemas.microsoft.com/office/powerpoint/2010/main" val="2610428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ko-KR" altLang="en-US" dirty="0"/>
              <a:t>전력변환장치</a:t>
            </a:r>
            <a:r>
              <a:rPr lang="en-US" altLang="ko-KR" dirty="0"/>
              <a:t>(LDC)</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22</a:t>
            </a:fld>
            <a:endParaRPr lang="en-US" dirty="0"/>
          </a:p>
        </p:txBody>
      </p:sp>
      <p:pic>
        <p:nvPicPr>
          <p:cNvPr id="7" name="그림 6">
            <a:extLst>
              <a:ext uri="{FF2B5EF4-FFF2-40B4-BE49-F238E27FC236}">
                <a16:creationId xmlns:a16="http://schemas.microsoft.com/office/drawing/2014/main" id="{BAF2B7EB-58E8-AE63-9054-9990A535A834}"/>
              </a:ext>
            </a:extLst>
          </p:cNvPr>
          <p:cNvPicPr>
            <a:picLocks noChangeAspect="1"/>
          </p:cNvPicPr>
          <p:nvPr/>
        </p:nvPicPr>
        <p:blipFill>
          <a:blip r:embed="rId2"/>
          <a:stretch>
            <a:fillRect/>
          </a:stretch>
        </p:blipFill>
        <p:spPr>
          <a:xfrm>
            <a:off x="2146629" y="939771"/>
            <a:ext cx="7898755" cy="4425206"/>
          </a:xfrm>
          <a:prstGeom prst="rect">
            <a:avLst/>
          </a:prstGeom>
        </p:spPr>
      </p:pic>
    </p:spTree>
    <p:extLst>
      <p:ext uri="{BB962C8B-B14F-4D97-AF65-F5344CB8AC3E}">
        <p14:creationId xmlns:p14="http://schemas.microsoft.com/office/powerpoint/2010/main" val="1157008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ko-KR" altLang="en-US" dirty="0"/>
              <a:t>전력변환장치</a:t>
            </a:r>
            <a:r>
              <a:rPr lang="en-US" altLang="ko-KR" dirty="0"/>
              <a:t>(OBC)</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23</a:t>
            </a:fld>
            <a:endParaRPr lang="en-US" dirty="0"/>
          </a:p>
        </p:txBody>
      </p:sp>
      <p:pic>
        <p:nvPicPr>
          <p:cNvPr id="13" name="그림 12">
            <a:extLst>
              <a:ext uri="{FF2B5EF4-FFF2-40B4-BE49-F238E27FC236}">
                <a16:creationId xmlns:a16="http://schemas.microsoft.com/office/drawing/2014/main" id="{E93648CB-0DEB-73E8-A546-9587FFA28F35}"/>
              </a:ext>
            </a:extLst>
          </p:cNvPr>
          <p:cNvPicPr>
            <a:picLocks noChangeAspect="1"/>
          </p:cNvPicPr>
          <p:nvPr/>
        </p:nvPicPr>
        <p:blipFill>
          <a:blip r:embed="rId2"/>
          <a:stretch>
            <a:fillRect/>
          </a:stretch>
        </p:blipFill>
        <p:spPr>
          <a:xfrm>
            <a:off x="1578036" y="845991"/>
            <a:ext cx="9053345" cy="4858933"/>
          </a:xfrm>
          <a:prstGeom prst="rect">
            <a:avLst/>
          </a:prstGeom>
        </p:spPr>
      </p:pic>
    </p:spTree>
    <p:extLst>
      <p:ext uri="{BB962C8B-B14F-4D97-AF65-F5344CB8AC3E}">
        <p14:creationId xmlns:p14="http://schemas.microsoft.com/office/powerpoint/2010/main" val="1621818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ko-KR" altLang="en-US" dirty="0"/>
              <a:t>냉각 장치</a:t>
            </a:r>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24</a:t>
            </a:fld>
            <a:endParaRPr lang="en-US" dirty="0"/>
          </a:p>
        </p:txBody>
      </p:sp>
      <p:pic>
        <p:nvPicPr>
          <p:cNvPr id="3" name="그림 2">
            <a:extLst>
              <a:ext uri="{FF2B5EF4-FFF2-40B4-BE49-F238E27FC236}">
                <a16:creationId xmlns:a16="http://schemas.microsoft.com/office/drawing/2014/main" id="{4EAAC007-D2E2-9C9F-DA70-244602A9FC3F}"/>
              </a:ext>
            </a:extLst>
          </p:cNvPr>
          <p:cNvPicPr>
            <a:picLocks noChangeAspect="1"/>
          </p:cNvPicPr>
          <p:nvPr/>
        </p:nvPicPr>
        <p:blipFill>
          <a:blip r:embed="rId2"/>
          <a:stretch>
            <a:fillRect/>
          </a:stretch>
        </p:blipFill>
        <p:spPr>
          <a:xfrm>
            <a:off x="1588823" y="988908"/>
            <a:ext cx="9031773" cy="4489689"/>
          </a:xfrm>
          <a:prstGeom prst="rect">
            <a:avLst/>
          </a:prstGeom>
        </p:spPr>
      </p:pic>
    </p:spTree>
    <p:extLst>
      <p:ext uri="{BB962C8B-B14F-4D97-AF65-F5344CB8AC3E}">
        <p14:creationId xmlns:p14="http://schemas.microsoft.com/office/powerpoint/2010/main" val="235804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2030</a:t>
            </a:r>
            <a:r>
              <a:rPr lang="ko-KR" altLang="en-US" dirty="0"/>
              <a:t> 전기차 기술전망</a:t>
            </a:r>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25</a:t>
            </a:fld>
            <a:endParaRPr lang="en-US" dirty="0"/>
          </a:p>
        </p:txBody>
      </p:sp>
      <p:pic>
        <p:nvPicPr>
          <p:cNvPr id="7" name="그림 6">
            <a:extLst>
              <a:ext uri="{FF2B5EF4-FFF2-40B4-BE49-F238E27FC236}">
                <a16:creationId xmlns:a16="http://schemas.microsoft.com/office/drawing/2014/main" id="{DBAD8D32-BAC4-1E06-0920-1B5AFDA85D44}"/>
              </a:ext>
            </a:extLst>
          </p:cNvPr>
          <p:cNvPicPr>
            <a:picLocks noChangeAspect="1"/>
          </p:cNvPicPr>
          <p:nvPr/>
        </p:nvPicPr>
        <p:blipFill>
          <a:blip r:embed="rId2"/>
          <a:stretch>
            <a:fillRect/>
          </a:stretch>
        </p:blipFill>
        <p:spPr>
          <a:xfrm>
            <a:off x="2326197" y="880304"/>
            <a:ext cx="7557025" cy="4799145"/>
          </a:xfrm>
          <a:prstGeom prst="rect">
            <a:avLst/>
          </a:prstGeom>
        </p:spPr>
      </p:pic>
    </p:spTree>
    <p:extLst>
      <p:ext uri="{BB962C8B-B14F-4D97-AF65-F5344CB8AC3E}">
        <p14:creationId xmlns:p14="http://schemas.microsoft.com/office/powerpoint/2010/main" val="12363030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All Solid-State Battery</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26</a:t>
            </a:fld>
            <a:endParaRPr lang="en-US" dirty="0"/>
          </a:p>
        </p:txBody>
      </p:sp>
      <p:pic>
        <p:nvPicPr>
          <p:cNvPr id="2054" name="Picture 6" descr="리튬이온-전고체 배터리의 구조 비교 라는 제목아래 각 배터리의 차이점을 말해주고 있다. 왼쪽의 리튬이온 배터리 모형이 그려져 있으며 빨간 부분은 양극이 있는 양극재, 회색 부분은 액체전해질, 점선은 분리막, 하늘색 부분은 음극이 있는 음극재를 가리킨다. 오른쪽의 전고체 배터리 모형이 그려져 있으며 빨간 부분은 양극이 있는 양극재, 노란색 부분은 고체전해질, 하늘색 부분은 음극이 있는 음극재를 가리킨다. 액체전해질은 리튬이온이 양극과 음극을 오가는 통로를 말하며, 분리막은 양극과 음극이 닿지 않게 하며, 리튬이온만 통과하는 역할을 하며 고체전해질은 전해질과 분리막 역할을 동시에 한다. 그 아래 비교 표가 있다. 리튬이온배터리의 양극재는 고체(리튬, 니켈, 망간, 코발트 등) / 음극재는 고체(흑연, 실리콘 등) / 전해질은 액체 / 분리막은 고체 필름이다. 전고체 배터리의 양극재는 고체(리튬, 니켈, 망간, 코발트 등) / 음극재는 고체(리튬 금속, 흑연, 실리콘 등) / 전해질은 고체(황화물, 산화물, 폴리머) / 분리막은 불필요하다.">
            <a:extLst>
              <a:ext uri="{FF2B5EF4-FFF2-40B4-BE49-F238E27FC236}">
                <a16:creationId xmlns:a16="http://schemas.microsoft.com/office/drawing/2014/main" id="{77FF0518-490B-75A7-ECBF-48F49E1B0D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557" y="912768"/>
            <a:ext cx="5572135" cy="468410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전고체 배터리의 장점을 다루고 있다. 왼쪽부터 시계방향으로 우수한 안전성, 온도 변화에 따른 증발이나 외부 충격에 따른 누액 위험 없음 / 높은 에너지 밀도, 냉각 및 안전 부자내 줄일 수 있어 배터리 팩의 에너지밀도 향상 / 높은 출력, 충전 및 방전이 고체 내 리튬이온 확산으로 즉각 반영 / 외부 온도에 상관없는 안정적 성능, 액체 전해질을 사용하지 않아 한겨울 등 정노에서 높은 이온전도도 가능 이라고 쓰여져 있다">
            <a:extLst>
              <a:ext uri="{FF2B5EF4-FFF2-40B4-BE49-F238E27FC236}">
                <a16:creationId xmlns:a16="http://schemas.microsoft.com/office/drawing/2014/main" id="{FA4FB7F6-F67A-9B99-5E8D-0809388676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679" b="3393"/>
          <a:stretch/>
        </p:blipFill>
        <p:spPr bwMode="auto">
          <a:xfrm>
            <a:off x="6549868" y="578737"/>
            <a:ext cx="5161550" cy="287790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전기차 배터리 시장 규모라는 제목 아래 그래프가 그려져 있다. 2018년 15.1조원, 2019년 25.0조원, 2020년 39.3조원, 2021년 56.5조원, 2022년 71.5조원, 2023년 95.8조으로 시장이 점차 커지고 있음을 보여주고 있다. 2022년부터 추정치며 출처는 미래에셋대우다. 그 아래 국내 배터리 3사 전고체 개발상황에 대한 표가 있다. LG엔솔은 - 미국 샌디에이고 대학과 전고체 상온 고속충전 기술 확보 - 2026년 고분자계 전고체 배터리 상용화 목표 - 2030년 황화물계 전고체 배터리 상용화 목표이며 삼성SDI는 - 삼성종합기술원 1회 충전 800km이상 주행가능 기술 확보- 삼성종합기술원 1000회 이상 충방전 가능한 전고체 기술확보- 2027년 황화물계 전고체 배터리 상용화 목표 이며 SK온은 - 미국 솔리드파워와 전고체 배터리 공동개발- 노벨상 수상자 존 굿이너프 교수와 차세대 배터리 연구 협업- 이승우 조지아공대 교수와 전고체 배터리 개발 협업 개시- 2030년 이전 황화물계 전고체 배터리 상용화 목표이다.">
            <a:extLst>
              <a:ext uri="{FF2B5EF4-FFF2-40B4-BE49-F238E27FC236}">
                <a16:creationId xmlns:a16="http://schemas.microsoft.com/office/drawing/2014/main" id="{782EC480-0D8C-C0AA-EB16-55901CA4A80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652" t="59297" r="8685" b="5397"/>
          <a:stretch/>
        </p:blipFill>
        <p:spPr bwMode="auto">
          <a:xfrm>
            <a:off x="6674584" y="3529018"/>
            <a:ext cx="4880341" cy="2421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36286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Extended Range EV (EREV)</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27</a:t>
            </a:fld>
            <a:endParaRPr lang="en-US" dirty="0"/>
          </a:p>
        </p:txBody>
      </p:sp>
      <p:pic>
        <p:nvPicPr>
          <p:cNvPr id="3074" name="Picture 2" descr="Energies 10 01871 g001 550">
            <a:extLst>
              <a:ext uri="{FF2B5EF4-FFF2-40B4-BE49-F238E27FC236}">
                <a16:creationId xmlns:a16="http://schemas.microsoft.com/office/drawing/2014/main" id="{2674AC5E-EF1C-B3F3-8AB0-BEBC469545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3033" y="1760191"/>
            <a:ext cx="4329545" cy="2519008"/>
          </a:xfrm>
          <a:prstGeom prst="rect">
            <a:avLst/>
          </a:prstGeom>
          <a:noFill/>
          <a:extLst>
            <a:ext uri="{909E8E84-426E-40DD-AFC4-6F175D3DCCD1}">
              <a14:hiddenFill xmlns:a14="http://schemas.microsoft.com/office/drawing/2010/main">
                <a:solidFill>
                  <a:srgbClr val="FFFFFF"/>
                </a:solidFill>
              </a14:hiddenFill>
            </a:ext>
          </a:extLst>
        </p:spPr>
      </p:pic>
      <p:sp>
        <p:nvSpPr>
          <p:cNvPr id="3" name="내용 개체 틀 2">
            <a:extLst>
              <a:ext uri="{FF2B5EF4-FFF2-40B4-BE49-F238E27FC236}">
                <a16:creationId xmlns:a16="http://schemas.microsoft.com/office/drawing/2014/main" id="{F0F53CAF-38A0-B5EF-0DAA-3E7AC07AC111}"/>
              </a:ext>
            </a:extLst>
          </p:cNvPr>
          <p:cNvSpPr>
            <a:spLocks noGrp="1"/>
          </p:cNvSpPr>
          <p:nvPr>
            <p:ph idx="1"/>
          </p:nvPr>
        </p:nvSpPr>
        <p:spPr>
          <a:xfrm>
            <a:off x="756556" y="820172"/>
            <a:ext cx="6546125" cy="5069640"/>
          </a:xfrm>
        </p:spPr>
        <p:txBody>
          <a:bodyPr>
            <a:noAutofit/>
          </a:bodyPr>
          <a:lstStyle/>
          <a:p>
            <a:pPr>
              <a:lnSpc>
                <a:spcPts val="2500"/>
              </a:lnSpc>
            </a:pPr>
            <a:r>
              <a:rPr lang="ko-KR" altLang="en-US" sz="1600" dirty="0"/>
              <a:t>현대차가 내연엔진으로 배터리를 충전해 주행거리를 늘린 </a:t>
            </a:r>
            <a:r>
              <a:rPr lang="en-US" altLang="ko-KR" sz="1600" dirty="0"/>
              <a:t>EREV </a:t>
            </a:r>
            <a:r>
              <a:rPr lang="ko-KR" altLang="en-US" sz="1600" dirty="0"/>
              <a:t>개발에 다시 관심</a:t>
            </a:r>
            <a:r>
              <a:rPr lang="en-US" altLang="ko-KR" sz="1600" dirty="0"/>
              <a:t>. EREV</a:t>
            </a:r>
            <a:r>
              <a:rPr lang="ko-KR" altLang="en-US" sz="1600" dirty="0"/>
              <a:t>는 일반적인 하이브리드 차량보다 순수 전기차에 가까운 친환경 차량으로 평가</a:t>
            </a:r>
            <a:endParaRPr lang="en-US" altLang="ko-KR" sz="1600" dirty="0"/>
          </a:p>
          <a:p>
            <a:pPr>
              <a:lnSpc>
                <a:spcPts val="2500"/>
              </a:lnSpc>
            </a:pPr>
            <a:r>
              <a:rPr lang="ko-KR" altLang="en-US" sz="1600" dirty="0"/>
              <a:t>내연엔진은 운행 중에 배터리를 충전해 순수 전기차의 짧은 주행거리 문제를 해결</a:t>
            </a:r>
            <a:endParaRPr lang="en-US" altLang="ko-KR" sz="1600" dirty="0"/>
          </a:p>
          <a:p>
            <a:pPr>
              <a:lnSpc>
                <a:spcPts val="2500"/>
              </a:lnSpc>
            </a:pPr>
            <a:r>
              <a:rPr lang="ko-KR" altLang="en-US" sz="1600" dirty="0"/>
              <a:t>일부</a:t>
            </a:r>
            <a:r>
              <a:rPr lang="en-US" altLang="ko-KR" sz="1600" dirty="0"/>
              <a:t> EREV</a:t>
            </a:r>
            <a:r>
              <a:rPr lang="ko-KR" altLang="en-US" sz="1600" dirty="0"/>
              <a:t>는 최대 </a:t>
            </a:r>
            <a:r>
              <a:rPr lang="en-US" altLang="ko-KR" sz="1600" dirty="0"/>
              <a:t>1000km </a:t>
            </a:r>
            <a:r>
              <a:rPr lang="ko-KR" altLang="en-US" sz="1600" dirty="0"/>
              <a:t>이상 주행이 가능</a:t>
            </a:r>
            <a:r>
              <a:rPr lang="en-US" altLang="ko-KR" sz="1600" dirty="0"/>
              <a:t>. </a:t>
            </a:r>
            <a:r>
              <a:rPr lang="ko-KR" altLang="en-US" sz="1600" dirty="0"/>
              <a:t>배터리 용량이 작고 소형 엔진이 탑재돼 제조 원가도 낮출 수 있음</a:t>
            </a:r>
            <a:endParaRPr lang="en-US" altLang="ko-KR" sz="1600" dirty="0"/>
          </a:p>
          <a:p>
            <a:pPr>
              <a:lnSpc>
                <a:spcPts val="2500"/>
              </a:lnSpc>
            </a:pPr>
            <a:r>
              <a:rPr lang="en-US" altLang="ko-KR" sz="1600" dirty="0"/>
              <a:t>EREV</a:t>
            </a:r>
            <a:r>
              <a:rPr lang="ko-KR" altLang="en-US" sz="1600" dirty="0"/>
              <a:t>는 </a:t>
            </a:r>
            <a:r>
              <a:rPr lang="en-US" altLang="ko-KR" sz="1600" dirty="0"/>
              <a:t>2010</a:t>
            </a:r>
            <a:r>
              <a:rPr lang="ko-KR" altLang="en-US" sz="1600" dirty="0"/>
              <a:t>년대 초 </a:t>
            </a:r>
            <a:r>
              <a:rPr lang="en-US" altLang="ko-KR" sz="1600" dirty="0"/>
              <a:t>GM</a:t>
            </a:r>
            <a:r>
              <a:rPr lang="ko-KR" altLang="en-US" sz="1600" dirty="0"/>
              <a:t>과 </a:t>
            </a:r>
            <a:r>
              <a:rPr lang="en-US" altLang="ko-KR" sz="1600" dirty="0"/>
              <a:t>BMW </a:t>
            </a:r>
            <a:r>
              <a:rPr lang="ko-KR" altLang="en-US" sz="1600" dirty="0"/>
              <a:t>등을 중심으로 출시됐으나</a:t>
            </a:r>
            <a:r>
              <a:rPr lang="en-US" altLang="ko-KR" sz="1600" dirty="0"/>
              <a:t>, </a:t>
            </a:r>
            <a:r>
              <a:rPr lang="ko-KR" altLang="en-US" sz="1600" dirty="0"/>
              <a:t>수요 부족과 보조금 제외 등을 이유로 개발 중단</a:t>
            </a:r>
            <a:endParaRPr lang="en-US" altLang="ko-KR" sz="1600" dirty="0"/>
          </a:p>
          <a:p>
            <a:pPr>
              <a:lnSpc>
                <a:spcPts val="2500"/>
              </a:lnSpc>
            </a:pPr>
            <a:r>
              <a:rPr lang="ko-KR" altLang="en-US" sz="1600" dirty="0"/>
              <a:t>현대차가 다시 </a:t>
            </a:r>
            <a:r>
              <a:rPr lang="en-US" altLang="ko-KR" sz="1600" dirty="0"/>
              <a:t>EREV </a:t>
            </a:r>
            <a:r>
              <a:rPr lang="ko-KR" altLang="en-US" sz="1600" dirty="0"/>
              <a:t>연구를 본격화하는 것은 순수 전기차 시장이 얼어붙은 상황에서 내연엔진을 활용한 ‘징검다리 모델’ 개발로 수익성을 극대화하기 위한 방안</a:t>
            </a:r>
            <a:endParaRPr lang="en-US" altLang="ko-KR" sz="1600" dirty="0"/>
          </a:p>
          <a:p>
            <a:pPr>
              <a:lnSpc>
                <a:spcPts val="2500"/>
              </a:lnSpc>
            </a:pPr>
            <a:r>
              <a:rPr lang="ko-KR" altLang="en-US" sz="1600" dirty="0"/>
              <a:t>한국은</a:t>
            </a:r>
            <a:r>
              <a:rPr lang="en-US" altLang="ko-KR" sz="1600" dirty="0"/>
              <a:t> 2021</a:t>
            </a:r>
            <a:r>
              <a:rPr lang="ko-KR" altLang="en-US" sz="1600" dirty="0"/>
              <a:t>년부터 </a:t>
            </a:r>
            <a:r>
              <a:rPr lang="en-US" altLang="ko-KR" sz="1600" dirty="0"/>
              <a:t>HEV </a:t>
            </a:r>
            <a:r>
              <a:rPr lang="ko-KR" altLang="en-US" sz="1600" dirty="0"/>
              <a:t>모델에 보조금 지급 중단</a:t>
            </a:r>
            <a:endParaRPr lang="en-US" altLang="ko-KR" sz="1600" dirty="0"/>
          </a:p>
        </p:txBody>
      </p:sp>
    </p:spTree>
    <p:extLst>
      <p:ext uri="{BB962C8B-B14F-4D97-AF65-F5344CB8AC3E}">
        <p14:creationId xmlns:p14="http://schemas.microsoft.com/office/powerpoint/2010/main" val="2072164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ko-KR" altLang="en-US" dirty="0"/>
              <a:t>전기차 보조금 정책</a:t>
            </a:r>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28</a:t>
            </a:fld>
            <a:endParaRPr lang="en-US" dirty="0"/>
          </a:p>
        </p:txBody>
      </p:sp>
      <p:pic>
        <p:nvPicPr>
          <p:cNvPr id="10" name="그림 9">
            <a:extLst>
              <a:ext uri="{FF2B5EF4-FFF2-40B4-BE49-F238E27FC236}">
                <a16:creationId xmlns:a16="http://schemas.microsoft.com/office/drawing/2014/main" id="{160B1314-BC65-B86C-4D87-52D5863D6A89}"/>
              </a:ext>
            </a:extLst>
          </p:cNvPr>
          <p:cNvPicPr>
            <a:picLocks noChangeAspect="1"/>
          </p:cNvPicPr>
          <p:nvPr/>
        </p:nvPicPr>
        <p:blipFill>
          <a:blip r:embed="rId2"/>
          <a:stretch>
            <a:fillRect/>
          </a:stretch>
        </p:blipFill>
        <p:spPr>
          <a:xfrm>
            <a:off x="1853376" y="781985"/>
            <a:ext cx="8492464" cy="5133277"/>
          </a:xfrm>
          <a:prstGeom prst="rect">
            <a:avLst/>
          </a:prstGeom>
        </p:spPr>
      </p:pic>
    </p:spTree>
    <p:extLst>
      <p:ext uri="{BB962C8B-B14F-4D97-AF65-F5344CB8AC3E}">
        <p14:creationId xmlns:p14="http://schemas.microsoft.com/office/powerpoint/2010/main" val="21906352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Electric</a:t>
            </a:r>
            <a:r>
              <a:rPr lang="ko-KR" altLang="en-US" dirty="0"/>
              <a:t> </a:t>
            </a:r>
            <a:r>
              <a:rPr lang="en-US" altLang="ko-KR" dirty="0"/>
              <a:t>shift</a:t>
            </a:r>
            <a:r>
              <a:rPr lang="ko-KR" altLang="en-US" dirty="0"/>
              <a:t> </a:t>
            </a:r>
            <a:r>
              <a:rPr lang="en-US" altLang="ko-KR" dirty="0"/>
              <a:t>challenges</a:t>
            </a:r>
            <a:r>
              <a:rPr lang="ko-KR" altLang="en-US" dirty="0"/>
              <a:t> </a:t>
            </a:r>
            <a:r>
              <a:rPr lang="en-US" altLang="ko-KR" dirty="0"/>
              <a:t>vehicle industry</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29</a:t>
            </a:fld>
            <a:endParaRPr lang="en-US" dirty="0"/>
          </a:p>
        </p:txBody>
      </p:sp>
      <p:pic>
        <p:nvPicPr>
          <p:cNvPr id="8" name="그림 7">
            <a:extLst>
              <a:ext uri="{FF2B5EF4-FFF2-40B4-BE49-F238E27FC236}">
                <a16:creationId xmlns:a16="http://schemas.microsoft.com/office/drawing/2014/main" id="{EEF5B160-98AD-C11D-0D70-A6BDA1B61B39}"/>
              </a:ext>
            </a:extLst>
          </p:cNvPr>
          <p:cNvPicPr>
            <a:picLocks noChangeAspect="1"/>
          </p:cNvPicPr>
          <p:nvPr/>
        </p:nvPicPr>
        <p:blipFill>
          <a:blip r:embed="rId2"/>
          <a:stretch>
            <a:fillRect/>
          </a:stretch>
        </p:blipFill>
        <p:spPr>
          <a:xfrm>
            <a:off x="1743078" y="746530"/>
            <a:ext cx="8705843" cy="5243014"/>
          </a:xfrm>
          <a:prstGeom prst="rect">
            <a:avLst/>
          </a:prstGeom>
        </p:spPr>
      </p:pic>
    </p:spTree>
    <p:extLst>
      <p:ext uri="{BB962C8B-B14F-4D97-AF65-F5344CB8AC3E}">
        <p14:creationId xmlns:p14="http://schemas.microsoft.com/office/powerpoint/2010/main" val="4140731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Barriers limit demand for BEVs </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30</a:t>
            </a:fld>
            <a:endParaRPr lang="en-US" dirty="0"/>
          </a:p>
        </p:txBody>
      </p:sp>
      <p:pic>
        <p:nvPicPr>
          <p:cNvPr id="3" name="그림 2">
            <a:extLst>
              <a:ext uri="{FF2B5EF4-FFF2-40B4-BE49-F238E27FC236}">
                <a16:creationId xmlns:a16="http://schemas.microsoft.com/office/drawing/2014/main" id="{4D08FE8B-B42A-7343-BD50-D24B87A4F041}"/>
              </a:ext>
            </a:extLst>
          </p:cNvPr>
          <p:cNvPicPr>
            <a:picLocks noChangeAspect="1"/>
          </p:cNvPicPr>
          <p:nvPr/>
        </p:nvPicPr>
        <p:blipFill>
          <a:blip r:embed="rId2"/>
          <a:stretch>
            <a:fillRect/>
          </a:stretch>
        </p:blipFill>
        <p:spPr>
          <a:xfrm>
            <a:off x="951107" y="985424"/>
            <a:ext cx="10291041" cy="4530798"/>
          </a:xfrm>
          <a:prstGeom prst="rect">
            <a:avLst/>
          </a:prstGeom>
        </p:spPr>
      </p:pic>
    </p:spTree>
    <p:extLst>
      <p:ext uri="{BB962C8B-B14F-4D97-AF65-F5344CB8AC3E}">
        <p14:creationId xmlns:p14="http://schemas.microsoft.com/office/powerpoint/2010/main" val="19436964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Charging Infrastructure</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31</a:t>
            </a:fld>
            <a:endParaRPr lang="en-US" dirty="0"/>
          </a:p>
        </p:txBody>
      </p:sp>
      <p:pic>
        <p:nvPicPr>
          <p:cNvPr id="7" name="그림 6">
            <a:extLst>
              <a:ext uri="{FF2B5EF4-FFF2-40B4-BE49-F238E27FC236}">
                <a16:creationId xmlns:a16="http://schemas.microsoft.com/office/drawing/2014/main" id="{43FC5462-CC2B-7B32-0DC8-8552FA807673}"/>
              </a:ext>
            </a:extLst>
          </p:cNvPr>
          <p:cNvPicPr>
            <a:picLocks noChangeAspect="1"/>
          </p:cNvPicPr>
          <p:nvPr/>
        </p:nvPicPr>
        <p:blipFill>
          <a:blip r:embed="rId2"/>
          <a:stretch>
            <a:fillRect/>
          </a:stretch>
        </p:blipFill>
        <p:spPr>
          <a:xfrm>
            <a:off x="950785" y="1151318"/>
            <a:ext cx="10291041" cy="3856942"/>
          </a:xfrm>
          <a:prstGeom prst="rect">
            <a:avLst/>
          </a:prstGeom>
        </p:spPr>
      </p:pic>
    </p:spTree>
    <p:extLst>
      <p:ext uri="{BB962C8B-B14F-4D97-AF65-F5344CB8AC3E}">
        <p14:creationId xmlns:p14="http://schemas.microsoft.com/office/powerpoint/2010/main" val="1062793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Range Anxiety</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32</a:t>
            </a:fld>
            <a:endParaRPr lang="en-US" dirty="0"/>
          </a:p>
        </p:txBody>
      </p:sp>
      <p:pic>
        <p:nvPicPr>
          <p:cNvPr id="3" name="그림 2">
            <a:extLst>
              <a:ext uri="{FF2B5EF4-FFF2-40B4-BE49-F238E27FC236}">
                <a16:creationId xmlns:a16="http://schemas.microsoft.com/office/drawing/2014/main" id="{057808D2-56FA-2F6B-FA65-AC1CCE61AAD5}"/>
              </a:ext>
            </a:extLst>
          </p:cNvPr>
          <p:cNvPicPr>
            <a:picLocks noChangeAspect="1"/>
          </p:cNvPicPr>
          <p:nvPr/>
        </p:nvPicPr>
        <p:blipFill>
          <a:blip r:embed="rId2"/>
          <a:stretch>
            <a:fillRect/>
          </a:stretch>
        </p:blipFill>
        <p:spPr>
          <a:xfrm>
            <a:off x="968599" y="889944"/>
            <a:ext cx="10255432" cy="4885460"/>
          </a:xfrm>
          <a:prstGeom prst="rect">
            <a:avLst/>
          </a:prstGeom>
        </p:spPr>
      </p:pic>
    </p:spTree>
    <p:extLst>
      <p:ext uri="{BB962C8B-B14F-4D97-AF65-F5344CB8AC3E}">
        <p14:creationId xmlns:p14="http://schemas.microsoft.com/office/powerpoint/2010/main" val="3931215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Battery Cost</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33</a:t>
            </a:fld>
            <a:endParaRPr lang="en-US" dirty="0"/>
          </a:p>
        </p:txBody>
      </p:sp>
      <p:pic>
        <p:nvPicPr>
          <p:cNvPr id="7" name="그림 6">
            <a:extLst>
              <a:ext uri="{FF2B5EF4-FFF2-40B4-BE49-F238E27FC236}">
                <a16:creationId xmlns:a16="http://schemas.microsoft.com/office/drawing/2014/main" id="{A664C7E6-F97E-C9D4-F8D1-6F2DF8605DB6}"/>
              </a:ext>
            </a:extLst>
          </p:cNvPr>
          <p:cNvPicPr>
            <a:picLocks noChangeAspect="1"/>
          </p:cNvPicPr>
          <p:nvPr/>
        </p:nvPicPr>
        <p:blipFill>
          <a:blip r:embed="rId2"/>
          <a:stretch>
            <a:fillRect/>
          </a:stretch>
        </p:blipFill>
        <p:spPr>
          <a:xfrm>
            <a:off x="995110" y="781956"/>
            <a:ext cx="10219824" cy="5053924"/>
          </a:xfrm>
          <a:prstGeom prst="rect">
            <a:avLst/>
          </a:prstGeom>
        </p:spPr>
      </p:pic>
    </p:spTree>
    <p:extLst>
      <p:ext uri="{BB962C8B-B14F-4D97-AF65-F5344CB8AC3E}">
        <p14:creationId xmlns:p14="http://schemas.microsoft.com/office/powerpoint/2010/main" val="37928542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Cost Competitive on 2024</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34</a:t>
            </a:fld>
            <a:endParaRPr lang="en-US" dirty="0"/>
          </a:p>
        </p:txBody>
      </p:sp>
      <p:pic>
        <p:nvPicPr>
          <p:cNvPr id="3" name="그림 2">
            <a:extLst>
              <a:ext uri="{FF2B5EF4-FFF2-40B4-BE49-F238E27FC236}">
                <a16:creationId xmlns:a16="http://schemas.microsoft.com/office/drawing/2014/main" id="{6BE491D4-8228-A3FA-2547-FC65EE94DC1C}"/>
              </a:ext>
            </a:extLst>
          </p:cNvPr>
          <p:cNvPicPr>
            <a:picLocks noChangeAspect="1"/>
          </p:cNvPicPr>
          <p:nvPr/>
        </p:nvPicPr>
        <p:blipFill>
          <a:blip r:embed="rId2"/>
          <a:stretch>
            <a:fillRect/>
          </a:stretch>
        </p:blipFill>
        <p:spPr>
          <a:xfrm>
            <a:off x="950482" y="1275482"/>
            <a:ext cx="10291041" cy="3768277"/>
          </a:xfrm>
          <a:prstGeom prst="rect">
            <a:avLst/>
          </a:prstGeom>
        </p:spPr>
      </p:pic>
    </p:spTree>
    <p:extLst>
      <p:ext uri="{BB962C8B-B14F-4D97-AF65-F5344CB8AC3E}">
        <p14:creationId xmlns:p14="http://schemas.microsoft.com/office/powerpoint/2010/main" val="29727183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EV changes the Value Chain</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35</a:t>
            </a:fld>
            <a:endParaRPr lang="en-US" dirty="0"/>
          </a:p>
        </p:txBody>
      </p:sp>
      <p:pic>
        <p:nvPicPr>
          <p:cNvPr id="7" name="그림 6">
            <a:extLst>
              <a:ext uri="{FF2B5EF4-FFF2-40B4-BE49-F238E27FC236}">
                <a16:creationId xmlns:a16="http://schemas.microsoft.com/office/drawing/2014/main" id="{EC18B812-78E1-1D42-A278-140362E6B786}"/>
              </a:ext>
            </a:extLst>
          </p:cNvPr>
          <p:cNvPicPr>
            <a:picLocks noChangeAspect="1"/>
          </p:cNvPicPr>
          <p:nvPr/>
        </p:nvPicPr>
        <p:blipFill>
          <a:blip r:embed="rId2"/>
          <a:stretch>
            <a:fillRect/>
          </a:stretch>
        </p:blipFill>
        <p:spPr>
          <a:xfrm>
            <a:off x="968601" y="856243"/>
            <a:ext cx="10255432" cy="5018457"/>
          </a:xfrm>
          <a:prstGeom prst="rect">
            <a:avLst/>
          </a:prstGeom>
        </p:spPr>
      </p:pic>
    </p:spTree>
    <p:extLst>
      <p:ext uri="{BB962C8B-B14F-4D97-AF65-F5344CB8AC3E}">
        <p14:creationId xmlns:p14="http://schemas.microsoft.com/office/powerpoint/2010/main" val="2881035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Less labor, More raw materials</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36</a:t>
            </a:fld>
            <a:endParaRPr lang="en-US" dirty="0"/>
          </a:p>
        </p:txBody>
      </p:sp>
      <p:pic>
        <p:nvPicPr>
          <p:cNvPr id="3" name="그림 2">
            <a:extLst>
              <a:ext uri="{FF2B5EF4-FFF2-40B4-BE49-F238E27FC236}">
                <a16:creationId xmlns:a16="http://schemas.microsoft.com/office/drawing/2014/main" id="{68193702-75D4-37FA-12E4-73A7C8A20FFF}"/>
              </a:ext>
            </a:extLst>
          </p:cNvPr>
          <p:cNvPicPr>
            <a:picLocks noChangeAspect="1"/>
          </p:cNvPicPr>
          <p:nvPr/>
        </p:nvPicPr>
        <p:blipFill>
          <a:blip r:embed="rId2"/>
          <a:stretch>
            <a:fillRect/>
          </a:stretch>
        </p:blipFill>
        <p:spPr>
          <a:xfrm>
            <a:off x="1021702" y="1118604"/>
            <a:ext cx="10148606" cy="4477600"/>
          </a:xfrm>
          <a:prstGeom prst="rect">
            <a:avLst/>
          </a:prstGeom>
        </p:spPr>
      </p:pic>
    </p:spTree>
    <p:extLst>
      <p:ext uri="{BB962C8B-B14F-4D97-AF65-F5344CB8AC3E}">
        <p14:creationId xmlns:p14="http://schemas.microsoft.com/office/powerpoint/2010/main" val="2619907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EF29F-D739-24A9-7839-880315305FBD}"/>
              </a:ext>
            </a:extLst>
          </p:cNvPr>
          <p:cNvSpPr>
            <a:spLocks noGrp="1"/>
          </p:cNvSpPr>
          <p:nvPr>
            <p:ph type="title"/>
          </p:nvPr>
        </p:nvSpPr>
        <p:spPr/>
        <p:txBody>
          <a:bodyPr>
            <a:normAutofit fontScale="90000"/>
          </a:bodyPr>
          <a:lstStyle/>
          <a:p>
            <a:r>
              <a:rPr lang="en-US" altLang="ko-KR" dirty="0"/>
              <a:t>Powertrain shifts to Suppliers</a:t>
            </a:r>
            <a:endParaRPr lang="ko-KR" altLang="en-US" dirty="0"/>
          </a:p>
        </p:txBody>
      </p:sp>
      <p:sp>
        <p:nvSpPr>
          <p:cNvPr id="4" name="날짜 개체 틀 3">
            <a:extLst>
              <a:ext uri="{FF2B5EF4-FFF2-40B4-BE49-F238E27FC236}">
                <a16:creationId xmlns:a16="http://schemas.microsoft.com/office/drawing/2014/main" id="{663347BA-D734-2A27-9A31-455D5DC0BDBD}"/>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C1EB9174-DD81-57CF-45A1-E5704DABBD5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6E967E0-C95F-A449-EA57-A6A824420394}"/>
              </a:ext>
            </a:extLst>
          </p:cNvPr>
          <p:cNvSpPr>
            <a:spLocks noGrp="1"/>
          </p:cNvSpPr>
          <p:nvPr>
            <p:ph type="sldNum" sz="quarter" idx="12"/>
          </p:nvPr>
        </p:nvSpPr>
        <p:spPr/>
        <p:txBody>
          <a:bodyPr/>
          <a:lstStyle/>
          <a:p>
            <a:fld id="{55635D17-9D19-4B1E-86C2-B9D6296E4AF7}" type="slidenum">
              <a:rPr lang="en-US" smtClean="0"/>
              <a:pPr/>
              <a:t>37</a:t>
            </a:fld>
            <a:endParaRPr lang="en-US" dirty="0"/>
          </a:p>
        </p:txBody>
      </p:sp>
      <p:pic>
        <p:nvPicPr>
          <p:cNvPr id="7" name="그림 6">
            <a:extLst>
              <a:ext uri="{FF2B5EF4-FFF2-40B4-BE49-F238E27FC236}">
                <a16:creationId xmlns:a16="http://schemas.microsoft.com/office/drawing/2014/main" id="{C4980781-E371-51AB-1DF8-B0049B5C125F}"/>
              </a:ext>
            </a:extLst>
          </p:cNvPr>
          <p:cNvPicPr>
            <a:picLocks noChangeAspect="1"/>
          </p:cNvPicPr>
          <p:nvPr/>
        </p:nvPicPr>
        <p:blipFill>
          <a:blip r:embed="rId2"/>
          <a:stretch>
            <a:fillRect/>
          </a:stretch>
        </p:blipFill>
        <p:spPr>
          <a:xfrm>
            <a:off x="986717" y="780764"/>
            <a:ext cx="10219824" cy="5045057"/>
          </a:xfrm>
          <a:prstGeom prst="rect">
            <a:avLst/>
          </a:prstGeom>
        </p:spPr>
      </p:pic>
    </p:spTree>
    <p:extLst>
      <p:ext uri="{BB962C8B-B14F-4D97-AF65-F5344CB8AC3E}">
        <p14:creationId xmlns:p14="http://schemas.microsoft.com/office/powerpoint/2010/main" val="513609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D492373-54D8-BB44-0A70-D31BF6B7A490}"/>
              </a:ext>
            </a:extLst>
          </p:cNvPr>
          <p:cNvSpPr>
            <a:spLocks noGrp="1"/>
          </p:cNvSpPr>
          <p:nvPr>
            <p:ph type="title"/>
          </p:nvPr>
        </p:nvSpPr>
        <p:spPr/>
        <p:txBody>
          <a:bodyPr>
            <a:normAutofit fontScale="90000"/>
          </a:bodyPr>
          <a:lstStyle/>
          <a:p>
            <a:r>
              <a:rPr lang="en-US" altLang="ko-KR" dirty="0"/>
              <a:t>Value shifts from Product to Service</a:t>
            </a:r>
            <a:endParaRPr lang="ko-KR" altLang="en-US" dirty="0"/>
          </a:p>
        </p:txBody>
      </p:sp>
      <p:sp>
        <p:nvSpPr>
          <p:cNvPr id="4" name="날짜 개체 틀 3">
            <a:extLst>
              <a:ext uri="{FF2B5EF4-FFF2-40B4-BE49-F238E27FC236}">
                <a16:creationId xmlns:a16="http://schemas.microsoft.com/office/drawing/2014/main" id="{8B2D2680-CB3A-C5B0-013D-400661BD6632}"/>
              </a:ext>
            </a:extLst>
          </p:cNvPr>
          <p:cNvSpPr>
            <a:spLocks noGrp="1"/>
          </p:cNvSpPr>
          <p:nvPr>
            <p:ph type="dt" sz="half" idx="10"/>
          </p:nvPr>
        </p:nvSpPr>
        <p:spPr/>
        <p:txBody>
          <a:bodyPr/>
          <a:lstStyle/>
          <a:p>
            <a:fld id="{9539328B-81D7-470F-B07E-C60C8A68D98A}" type="datetime1">
              <a:rPr lang="en-US" altLang="ko-KR" smtClean="0"/>
              <a:t>5/18/2026</a:t>
            </a:fld>
            <a:endParaRPr lang="en-US"/>
          </a:p>
        </p:txBody>
      </p:sp>
      <p:sp>
        <p:nvSpPr>
          <p:cNvPr id="5" name="바닥글 개체 틀 4">
            <a:extLst>
              <a:ext uri="{FF2B5EF4-FFF2-40B4-BE49-F238E27FC236}">
                <a16:creationId xmlns:a16="http://schemas.microsoft.com/office/drawing/2014/main" id="{7617D589-2F2B-1D9D-6C8F-300950AFFDE9}"/>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B0A9D13-298B-7512-F1D3-1F46998BC8AA}"/>
              </a:ext>
            </a:extLst>
          </p:cNvPr>
          <p:cNvSpPr>
            <a:spLocks noGrp="1"/>
          </p:cNvSpPr>
          <p:nvPr>
            <p:ph type="sldNum" sz="quarter" idx="12"/>
          </p:nvPr>
        </p:nvSpPr>
        <p:spPr/>
        <p:txBody>
          <a:bodyPr/>
          <a:lstStyle/>
          <a:p>
            <a:fld id="{55635D17-9D19-4B1E-86C2-B9D6296E4AF7}" type="slidenum">
              <a:rPr lang="en-US" smtClean="0"/>
              <a:pPr/>
              <a:t>38</a:t>
            </a:fld>
            <a:endParaRPr lang="en-US" dirty="0"/>
          </a:p>
        </p:txBody>
      </p:sp>
      <p:pic>
        <p:nvPicPr>
          <p:cNvPr id="9" name="그림 8">
            <a:extLst>
              <a:ext uri="{FF2B5EF4-FFF2-40B4-BE49-F238E27FC236}">
                <a16:creationId xmlns:a16="http://schemas.microsoft.com/office/drawing/2014/main" id="{AB3DB3BB-2F4E-5DE2-C984-2EE638A48CC5}"/>
              </a:ext>
            </a:extLst>
          </p:cNvPr>
          <p:cNvPicPr>
            <a:picLocks noChangeAspect="1"/>
          </p:cNvPicPr>
          <p:nvPr/>
        </p:nvPicPr>
        <p:blipFill>
          <a:blip r:embed="rId2"/>
          <a:stretch>
            <a:fillRect/>
          </a:stretch>
        </p:blipFill>
        <p:spPr>
          <a:xfrm>
            <a:off x="950793" y="1055005"/>
            <a:ext cx="10291041" cy="4442132"/>
          </a:xfrm>
          <a:prstGeom prst="rect">
            <a:avLst/>
          </a:prstGeom>
        </p:spPr>
      </p:pic>
    </p:spTree>
    <p:extLst>
      <p:ext uri="{BB962C8B-B14F-4D97-AF65-F5344CB8AC3E}">
        <p14:creationId xmlns:p14="http://schemas.microsoft.com/office/powerpoint/2010/main" val="911847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EF3C119-FD72-381C-7B45-A5864829DED1}"/>
              </a:ext>
            </a:extLst>
          </p:cNvPr>
          <p:cNvSpPr>
            <a:spLocks noGrp="1"/>
          </p:cNvSpPr>
          <p:nvPr>
            <p:ph type="ctrTitle"/>
          </p:nvPr>
        </p:nvSpPr>
        <p:spPr/>
        <p:txBody>
          <a:bodyPr>
            <a:normAutofit fontScale="90000"/>
          </a:bodyPr>
          <a:lstStyle/>
          <a:p>
            <a:r>
              <a:rPr lang="en-US" altLang="ko-KR" dirty="0"/>
              <a:t>Thank you for Attention</a:t>
            </a:r>
            <a:endParaRPr lang="ko-KR" altLang="en-US" dirty="0"/>
          </a:p>
        </p:txBody>
      </p:sp>
      <p:sp>
        <p:nvSpPr>
          <p:cNvPr id="3" name="부제목 2">
            <a:extLst>
              <a:ext uri="{FF2B5EF4-FFF2-40B4-BE49-F238E27FC236}">
                <a16:creationId xmlns:a16="http://schemas.microsoft.com/office/drawing/2014/main" id="{B239DF30-6CE6-5B24-A93C-DB87D43D3472}"/>
              </a:ext>
            </a:extLst>
          </p:cNvPr>
          <p:cNvSpPr>
            <a:spLocks noGrp="1"/>
          </p:cNvSpPr>
          <p:nvPr>
            <p:ph type="subTitle" idx="1"/>
          </p:nvPr>
        </p:nvSpPr>
        <p:spPr/>
        <p:txBody>
          <a:bodyPr>
            <a:normAutofit/>
          </a:bodyPr>
          <a:lstStyle/>
          <a:p>
            <a:r>
              <a:rPr lang="en-US" altLang="ko-KR" sz="6000" dirty="0"/>
              <a:t>Q &amp; A</a:t>
            </a:r>
            <a:endParaRPr lang="ko-KR" altLang="en-US" sz="6000" dirty="0"/>
          </a:p>
        </p:txBody>
      </p:sp>
      <p:sp>
        <p:nvSpPr>
          <p:cNvPr id="4" name="날짜 개체 틀 3">
            <a:extLst>
              <a:ext uri="{FF2B5EF4-FFF2-40B4-BE49-F238E27FC236}">
                <a16:creationId xmlns:a16="http://schemas.microsoft.com/office/drawing/2014/main" id="{D3FBEE31-68DA-2D9B-BF3B-467F273600EF}"/>
              </a:ext>
            </a:extLst>
          </p:cNvPr>
          <p:cNvSpPr>
            <a:spLocks noGrp="1"/>
          </p:cNvSpPr>
          <p:nvPr>
            <p:ph type="dt" sz="half" idx="10"/>
          </p:nvPr>
        </p:nvSpPr>
        <p:spPr/>
        <p:txBody>
          <a:bodyPr/>
          <a:lstStyle/>
          <a:p>
            <a:fld id="{403539CC-A984-43CF-A1AB-B2D79FDF199E}" type="datetime1">
              <a:rPr lang="en-US" altLang="ko-KR" smtClean="0"/>
              <a:t>5/18/2026</a:t>
            </a:fld>
            <a:endParaRPr lang="en-US" dirty="0"/>
          </a:p>
        </p:txBody>
      </p:sp>
      <p:sp>
        <p:nvSpPr>
          <p:cNvPr id="5" name="바닥글 개체 틀 4">
            <a:extLst>
              <a:ext uri="{FF2B5EF4-FFF2-40B4-BE49-F238E27FC236}">
                <a16:creationId xmlns:a16="http://schemas.microsoft.com/office/drawing/2014/main" id="{2AC62E0C-4F92-40A3-B653-FBE11E73BA24}"/>
              </a:ext>
            </a:extLst>
          </p:cNvPr>
          <p:cNvSpPr>
            <a:spLocks noGrp="1"/>
          </p:cNvSpPr>
          <p:nvPr>
            <p:ph type="ftr" sz="quarter" idx="11"/>
          </p:nvPr>
        </p:nvSpPr>
        <p:spPr/>
        <p:txBody>
          <a:bodyPr/>
          <a:lstStyle/>
          <a:p>
            <a:r>
              <a:rPr lang="en-US"/>
              <a:t>2023 Copyright ⓒ Autonomous Vehicle Lab</a:t>
            </a:r>
            <a:endParaRPr lang="en-US" dirty="0"/>
          </a:p>
        </p:txBody>
      </p:sp>
    </p:spTree>
    <p:extLst>
      <p:ext uri="{BB962C8B-B14F-4D97-AF65-F5344CB8AC3E}">
        <p14:creationId xmlns:p14="http://schemas.microsoft.com/office/powerpoint/2010/main" val="427069424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VL PPT Template 20230825" id="{4D6343C7-50D9-6B4B-85E6-E597BE3B7908}" vid="{4EF1CB53-9F52-CF4D-8F1D-B194FC3BEBD5}"/>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ToD 기술동향_인하대 강연</Template>
  <TotalTime>1386</TotalTime>
  <Words>678</Words>
  <Application>Microsoft Office PowerPoint</Application>
  <PresentationFormat>와이드스크린</PresentationFormat>
  <Paragraphs>180</Paragraphs>
  <Slides>39</Slides>
  <Notes>0</Notes>
  <HiddenSlides>0</HiddenSlides>
  <MMClips>3</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39</vt:i4>
      </vt:variant>
    </vt:vector>
  </HeadingPairs>
  <TitlesOfParts>
    <vt:vector size="45" baseType="lpstr">
      <vt:lpstr>Chungbuk National University</vt:lpstr>
      <vt:lpstr>Arial</vt:lpstr>
      <vt:lpstr>Calibri</vt:lpstr>
      <vt:lpstr>Calibri Light</vt:lpstr>
      <vt:lpstr>Wingdings</vt:lpstr>
      <vt:lpstr>Office 테마</vt:lpstr>
      <vt:lpstr>자율주행이동체 실제 (10. Electric Vehicle)</vt:lpstr>
      <vt:lpstr>Contents</vt:lpstr>
      <vt:lpstr>산업 환경 변화</vt:lpstr>
      <vt:lpstr>Electrification</vt:lpstr>
      <vt:lpstr>End of IC Engines</vt:lpstr>
      <vt:lpstr>Global Market Forecast</vt:lpstr>
      <vt:lpstr>xEV 분류</vt:lpstr>
      <vt:lpstr>xEV 분류</vt:lpstr>
      <vt:lpstr>전기차 부품</vt:lpstr>
      <vt:lpstr>전기 에너지원</vt:lpstr>
      <vt:lpstr>BMS</vt:lpstr>
      <vt:lpstr>모터와 인버터</vt:lpstr>
      <vt:lpstr>모터와 인버터</vt:lpstr>
      <vt:lpstr>In-Wheel Motor</vt:lpstr>
      <vt:lpstr>공조 및 열관리 시스템</vt:lpstr>
      <vt:lpstr>공조 및 열관리 시스템</vt:lpstr>
      <vt:lpstr>VCU</vt:lpstr>
      <vt:lpstr>에너지 상태표시 UI</vt:lpstr>
      <vt:lpstr>전기 인터페이스</vt:lpstr>
      <vt:lpstr>전기 인터페이스</vt:lpstr>
      <vt:lpstr>EV용 Brake System</vt:lpstr>
      <vt:lpstr>전력변환장치(LDC)</vt:lpstr>
      <vt:lpstr>전력변환장치(OBC)</vt:lpstr>
      <vt:lpstr>냉각 장치</vt:lpstr>
      <vt:lpstr>2030 전기차 기술전망</vt:lpstr>
      <vt:lpstr>All Solid-State Battery</vt:lpstr>
      <vt:lpstr>Extended Range EV (EREV)</vt:lpstr>
      <vt:lpstr>전기차 보조금 정책</vt:lpstr>
      <vt:lpstr>Electric shift challenges vehicle industry</vt:lpstr>
      <vt:lpstr>Barriers limit demand for BEVs </vt:lpstr>
      <vt:lpstr>Charging Infrastructure</vt:lpstr>
      <vt:lpstr>Range Anxiety</vt:lpstr>
      <vt:lpstr>Battery Cost</vt:lpstr>
      <vt:lpstr>Cost Competitive on 2024</vt:lpstr>
      <vt:lpstr>EV changes the Value Chain</vt:lpstr>
      <vt:lpstr>Less labor, More raw materials</vt:lpstr>
      <vt:lpstr>Powertrain shifts to Suppliers</vt:lpstr>
      <vt:lpstr>Value shifts from Product to Service</vt:lpstr>
      <vt:lpstr>Thank you for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Teleoperated Driving(ToD)</dc:title>
  <dc:creator>Seok-Cheol Kee</dc:creator>
  <cp:lastModifiedBy>wlscksdjs@gmail.com</cp:lastModifiedBy>
  <cp:revision>108</cp:revision>
  <dcterms:created xsi:type="dcterms:W3CDTF">2023-09-28T08:32:26Z</dcterms:created>
  <dcterms:modified xsi:type="dcterms:W3CDTF">2026-05-18T11:30:31Z</dcterms:modified>
</cp:coreProperties>
</file>