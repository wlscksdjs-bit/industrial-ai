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60" r:id="rId3"/>
    <p:sldId id="292" r:id="rId4"/>
    <p:sldId id="331" r:id="rId5"/>
    <p:sldId id="296" r:id="rId6"/>
    <p:sldId id="297" r:id="rId7"/>
    <p:sldId id="295" r:id="rId8"/>
    <p:sldId id="298" r:id="rId9"/>
    <p:sldId id="294" r:id="rId10"/>
    <p:sldId id="299" r:id="rId11"/>
    <p:sldId id="305" r:id="rId12"/>
    <p:sldId id="306" r:id="rId13"/>
    <p:sldId id="302" r:id="rId14"/>
    <p:sldId id="303" r:id="rId15"/>
    <p:sldId id="301" r:id="rId16"/>
    <p:sldId id="307" r:id="rId17"/>
    <p:sldId id="308" r:id="rId18"/>
    <p:sldId id="309" r:id="rId19"/>
    <p:sldId id="310" r:id="rId20"/>
    <p:sldId id="311" r:id="rId21"/>
    <p:sldId id="312" r:id="rId22"/>
    <p:sldId id="321" r:id="rId23"/>
    <p:sldId id="313" r:id="rId24"/>
    <p:sldId id="314" r:id="rId25"/>
    <p:sldId id="315" r:id="rId26"/>
    <p:sldId id="316" r:id="rId27"/>
    <p:sldId id="317" r:id="rId28"/>
    <p:sldId id="318" r:id="rId29"/>
    <p:sldId id="319" r:id="rId30"/>
    <p:sldId id="330" r:id="rId31"/>
    <p:sldId id="320" r:id="rId32"/>
    <p:sldId id="322" r:id="rId33"/>
    <p:sldId id="323" r:id="rId34"/>
    <p:sldId id="324" r:id="rId35"/>
    <p:sldId id="325" r:id="rId36"/>
    <p:sldId id="326" r:id="rId37"/>
    <p:sldId id="327" r:id="rId38"/>
    <p:sldId id="328" r:id="rId39"/>
    <p:sldId id="329" r:id="rId40"/>
    <p:sldId id="29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2654"/>
    <a:srgbClr val="02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540C0C-C21C-E045-B8C3-239DFA703933}" v="73" dt="2023-08-24T12:14:55.37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2297" autoAdjust="0"/>
  </p:normalViewPr>
  <p:slideViewPr>
    <p:cSldViewPr snapToGrid="0">
      <p:cViewPr varScale="1">
        <p:scale>
          <a:sx n="107" d="100"/>
          <a:sy n="107" d="100"/>
        </p:scale>
        <p:origin x="672"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2CE4C-95C4-494A-B5AE-E71AEE35764F}" type="datetimeFigureOut">
              <a:rPr lang="en-US" smtClean="0"/>
              <a:t>3/25/2026</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13004-8050-43C5-BBC1-EEC5CF6D074E}" type="slidenum">
              <a:rPr lang="en-US" smtClean="0"/>
              <a:t>‹#›</a:t>
            </a:fld>
            <a:endParaRPr lang="en-US"/>
          </a:p>
        </p:txBody>
      </p:sp>
    </p:spTree>
    <p:extLst>
      <p:ext uri="{BB962C8B-B14F-4D97-AF65-F5344CB8AC3E}">
        <p14:creationId xmlns:p14="http://schemas.microsoft.com/office/powerpoint/2010/main" val="1946514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bg>
      <p:bgPr>
        <a:solidFill>
          <a:schemeClr val="bg1"/>
        </a:solidFill>
        <a:effectLst/>
      </p:bgPr>
    </p:bg>
    <p:spTree>
      <p:nvGrpSpPr>
        <p:cNvPr id="1" name=""/>
        <p:cNvGrpSpPr/>
        <p:nvPr/>
      </p:nvGrpSpPr>
      <p:grpSpPr>
        <a:xfrm>
          <a:off x="0" y="0"/>
          <a:ext cx="0" cy="0"/>
          <a:chOff x="0" y="0"/>
          <a:chExt cx="0" cy="0"/>
        </a:xfrm>
      </p:grpSpPr>
      <p:sp>
        <p:nvSpPr>
          <p:cNvPr id="7" name="평행 사변형 6">
            <a:extLst>
              <a:ext uri="{FF2B5EF4-FFF2-40B4-BE49-F238E27FC236}">
                <a16:creationId xmlns:a16="http://schemas.microsoft.com/office/drawing/2014/main" id="{DE4CDD50-5537-4DF1-14C1-1E2D5F241FBE}"/>
              </a:ext>
            </a:extLst>
          </p:cNvPr>
          <p:cNvSpPr/>
          <p:nvPr userDrawn="1"/>
        </p:nvSpPr>
        <p:spPr>
          <a:xfrm>
            <a:off x="-21450" y="0"/>
            <a:ext cx="10068965" cy="6868160"/>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965" h="6868160">
                <a:moveTo>
                  <a:pt x="22902" y="6868160"/>
                </a:moveTo>
                <a:lnTo>
                  <a:pt x="0" y="0"/>
                </a:lnTo>
                <a:lnTo>
                  <a:pt x="10068965" y="0"/>
                </a:lnTo>
                <a:lnTo>
                  <a:pt x="7216586" y="6858000"/>
                </a:lnTo>
                <a:lnTo>
                  <a:pt x="22902" y="6868160"/>
                </a:lnTo>
                <a:close/>
              </a:path>
            </a:pathLst>
          </a:custGeom>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7BA3774A-E868-88D7-FBB5-D8FDDB5DA9EE}"/>
              </a:ext>
            </a:extLst>
          </p:cNvPr>
          <p:cNvSpPr>
            <a:spLocks noGrp="1"/>
          </p:cNvSpPr>
          <p:nvPr>
            <p:ph type="ctrTitle"/>
          </p:nvPr>
        </p:nvSpPr>
        <p:spPr>
          <a:xfrm>
            <a:off x="108857" y="1407548"/>
            <a:ext cx="7173685" cy="1340630"/>
          </a:xfrm>
        </p:spPr>
        <p:txBody>
          <a:bodyPr anchor="b"/>
          <a:lstStyle>
            <a:lvl1pPr algn="ctr">
              <a:defRPr sz="6000">
                <a:solidFill>
                  <a:schemeClr val="bg1"/>
                </a:solidFill>
              </a:defRPr>
            </a:lvl1pPr>
          </a:lstStyle>
          <a:p>
            <a:r>
              <a:rPr lang="ko-KR" altLang="en-US"/>
              <a:t>마스터 제목 스타일 편집</a:t>
            </a:r>
            <a:endParaRPr lang="en-US" dirty="0"/>
          </a:p>
        </p:txBody>
      </p:sp>
      <p:sp>
        <p:nvSpPr>
          <p:cNvPr id="3" name="부제목 2">
            <a:extLst>
              <a:ext uri="{FF2B5EF4-FFF2-40B4-BE49-F238E27FC236}">
                <a16:creationId xmlns:a16="http://schemas.microsoft.com/office/drawing/2014/main" id="{4DA73DA5-7890-A51F-6FA3-3B1A6CA0CF04}"/>
              </a:ext>
            </a:extLst>
          </p:cNvPr>
          <p:cNvSpPr>
            <a:spLocks noGrp="1"/>
          </p:cNvSpPr>
          <p:nvPr>
            <p:ph type="subTitle" idx="1"/>
          </p:nvPr>
        </p:nvSpPr>
        <p:spPr>
          <a:xfrm>
            <a:off x="108858" y="3887223"/>
            <a:ext cx="3795486" cy="929705"/>
          </a:xfrm>
        </p:spPr>
        <p:txBody>
          <a:bodyPr>
            <a:normAutofit/>
          </a:bodyPr>
          <a:lstStyle>
            <a:lvl1pPr marL="0" indent="0" algn="ctr">
              <a:buNone/>
              <a:defRPr sz="4000" baseline="30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날짜 개체 틀 3">
            <a:extLst>
              <a:ext uri="{FF2B5EF4-FFF2-40B4-BE49-F238E27FC236}">
                <a16:creationId xmlns:a16="http://schemas.microsoft.com/office/drawing/2014/main" id="{03EA0EA5-F501-AE3E-6AF3-768A3F6C211F}"/>
              </a:ext>
            </a:extLst>
          </p:cNvPr>
          <p:cNvSpPr>
            <a:spLocks noGrp="1"/>
          </p:cNvSpPr>
          <p:nvPr>
            <p:ph type="dt" sz="half" idx="10"/>
          </p:nvPr>
        </p:nvSpPr>
        <p:spPr/>
        <p:txBody>
          <a:bodyPr/>
          <a:lstStyle/>
          <a:p>
            <a:fld id="{403539CC-A984-43CF-A1AB-B2D79FDF199E}" type="datetime1">
              <a:rPr lang="en-US" altLang="ko-KR" smtClean="0"/>
              <a:t>3/25/2026</a:t>
            </a:fld>
            <a:endParaRPr lang="en-US" dirty="0"/>
          </a:p>
        </p:txBody>
      </p:sp>
      <p:sp>
        <p:nvSpPr>
          <p:cNvPr id="5" name="바닥글 개체 틀 4">
            <a:extLst>
              <a:ext uri="{FF2B5EF4-FFF2-40B4-BE49-F238E27FC236}">
                <a16:creationId xmlns:a16="http://schemas.microsoft.com/office/drawing/2014/main" id="{74C08EBE-82B6-5566-45E9-5156CC422DAC}"/>
              </a:ext>
            </a:extLst>
          </p:cNvPr>
          <p:cNvSpPr>
            <a:spLocks noGrp="1"/>
          </p:cNvSpPr>
          <p:nvPr>
            <p:ph type="ftr" sz="quarter" idx="11"/>
          </p:nvPr>
        </p:nvSpPr>
        <p:spPr/>
        <p:txBody>
          <a:bodyPr/>
          <a:lstStyle/>
          <a:p>
            <a:r>
              <a:rPr lang="en-US"/>
              <a:t>2023 Copyright ⓒ Autonomous Vehicle Lab</a:t>
            </a:r>
            <a:endParaRPr lang="en-US" dirty="0"/>
          </a:p>
        </p:txBody>
      </p:sp>
      <p:pic>
        <p:nvPicPr>
          <p:cNvPr id="14" name="그림 13" descr="텍스트, 클립아트이(가) 표시된 사진&#10;&#10;자동 생성된 설명">
            <a:extLst>
              <a:ext uri="{FF2B5EF4-FFF2-40B4-BE49-F238E27FC236}">
                <a16:creationId xmlns:a16="http://schemas.microsoft.com/office/drawing/2014/main" id="{7713B203-74E6-96A9-24D0-F13987C31F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3332" y="5586125"/>
            <a:ext cx="1976252" cy="759622"/>
          </a:xfrm>
          <a:prstGeom prst="rect">
            <a:avLst/>
          </a:prstGeom>
        </p:spPr>
      </p:pic>
      <p:sp>
        <p:nvSpPr>
          <p:cNvPr id="19" name="평행 사변형 18">
            <a:extLst>
              <a:ext uri="{FF2B5EF4-FFF2-40B4-BE49-F238E27FC236}">
                <a16:creationId xmlns:a16="http://schemas.microsoft.com/office/drawing/2014/main" id="{7E53A931-DC2C-3C8D-14E6-BCAF0EDDDFB7}"/>
              </a:ext>
            </a:extLst>
          </p:cNvPr>
          <p:cNvSpPr/>
          <p:nvPr userDrawn="1"/>
        </p:nvSpPr>
        <p:spPr>
          <a:xfrm>
            <a:off x="7843157" y="-2445"/>
            <a:ext cx="4197804" cy="6862440"/>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rgbClr val="B726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51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제목 슬라이드">
    <p:bg>
      <p:bgPr>
        <a:solidFill>
          <a:schemeClr val="bg1"/>
        </a:solidFill>
        <a:effectLst/>
      </p:bgPr>
    </p:bg>
    <p:spTree>
      <p:nvGrpSpPr>
        <p:cNvPr id="1" name=""/>
        <p:cNvGrpSpPr/>
        <p:nvPr/>
      </p:nvGrpSpPr>
      <p:grpSpPr>
        <a:xfrm>
          <a:off x="0" y="0"/>
          <a:ext cx="0" cy="0"/>
          <a:chOff x="0" y="0"/>
          <a:chExt cx="0" cy="0"/>
        </a:xfrm>
      </p:grpSpPr>
      <p:sp>
        <p:nvSpPr>
          <p:cNvPr id="7" name="평행 사변형 6">
            <a:extLst>
              <a:ext uri="{FF2B5EF4-FFF2-40B4-BE49-F238E27FC236}">
                <a16:creationId xmlns:a16="http://schemas.microsoft.com/office/drawing/2014/main" id="{DE4CDD50-5537-4DF1-14C1-1E2D5F241FBE}"/>
              </a:ext>
            </a:extLst>
          </p:cNvPr>
          <p:cNvSpPr/>
          <p:nvPr userDrawn="1"/>
        </p:nvSpPr>
        <p:spPr>
          <a:xfrm>
            <a:off x="-21450" y="0"/>
            <a:ext cx="10068965" cy="6868160"/>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965" h="6868160">
                <a:moveTo>
                  <a:pt x="22902" y="6868160"/>
                </a:moveTo>
                <a:lnTo>
                  <a:pt x="0" y="0"/>
                </a:lnTo>
                <a:lnTo>
                  <a:pt x="10068965" y="0"/>
                </a:lnTo>
                <a:lnTo>
                  <a:pt x="7216586" y="6858000"/>
                </a:lnTo>
                <a:lnTo>
                  <a:pt x="22902" y="6868160"/>
                </a:lnTo>
                <a:close/>
              </a:path>
            </a:pathLst>
          </a:custGeom>
          <a:gradFill flip="none" rotWithShape="1">
            <a:gsLst>
              <a:gs pos="0">
                <a:schemeClr val="bg2">
                  <a:lumMod val="25000"/>
                </a:schemeClr>
              </a:gs>
              <a:gs pos="71000">
                <a:schemeClr val="bg2">
                  <a:lumMod val="10000"/>
                </a:schemeClr>
              </a:gs>
              <a:gs pos="100000">
                <a:srgbClr val="B72654">
                  <a:lumMod val="61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7BA3774A-E868-88D7-FBB5-D8FDDB5DA9EE}"/>
              </a:ext>
            </a:extLst>
          </p:cNvPr>
          <p:cNvSpPr>
            <a:spLocks noGrp="1"/>
          </p:cNvSpPr>
          <p:nvPr>
            <p:ph type="ctrTitle"/>
          </p:nvPr>
        </p:nvSpPr>
        <p:spPr>
          <a:xfrm>
            <a:off x="108857" y="1407548"/>
            <a:ext cx="7173685" cy="1340630"/>
          </a:xfrm>
        </p:spPr>
        <p:txBody>
          <a:bodyPr anchor="b"/>
          <a:lstStyle>
            <a:lvl1pPr algn="ctr">
              <a:defRPr sz="6000">
                <a:solidFill>
                  <a:schemeClr val="bg1"/>
                </a:solidFill>
              </a:defRPr>
            </a:lvl1pPr>
          </a:lstStyle>
          <a:p>
            <a:r>
              <a:rPr lang="ko-KR" altLang="en-US"/>
              <a:t>마스터 제목 스타일 편집</a:t>
            </a:r>
            <a:endParaRPr lang="en-US" dirty="0"/>
          </a:p>
        </p:txBody>
      </p:sp>
      <p:sp>
        <p:nvSpPr>
          <p:cNvPr id="3" name="부제목 2">
            <a:extLst>
              <a:ext uri="{FF2B5EF4-FFF2-40B4-BE49-F238E27FC236}">
                <a16:creationId xmlns:a16="http://schemas.microsoft.com/office/drawing/2014/main" id="{4DA73DA5-7890-A51F-6FA3-3B1A6CA0CF04}"/>
              </a:ext>
            </a:extLst>
          </p:cNvPr>
          <p:cNvSpPr>
            <a:spLocks noGrp="1"/>
          </p:cNvSpPr>
          <p:nvPr>
            <p:ph type="subTitle" idx="1"/>
          </p:nvPr>
        </p:nvSpPr>
        <p:spPr>
          <a:xfrm>
            <a:off x="108858" y="3887223"/>
            <a:ext cx="3795486" cy="929705"/>
          </a:xfrm>
        </p:spPr>
        <p:txBody>
          <a:bodyPr>
            <a:normAutofit/>
          </a:bodyPr>
          <a:lstStyle>
            <a:lvl1pPr marL="0" indent="0" algn="ctr">
              <a:buNone/>
              <a:defRPr sz="4000" baseline="30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날짜 개체 틀 3">
            <a:extLst>
              <a:ext uri="{FF2B5EF4-FFF2-40B4-BE49-F238E27FC236}">
                <a16:creationId xmlns:a16="http://schemas.microsoft.com/office/drawing/2014/main" id="{03EA0EA5-F501-AE3E-6AF3-768A3F6C211F}"/>
              </a:ext>
            </a:extLst>
          </p:cNvPr>
          <p:cNvSpPr>
            <a:spLocks noGrp="1"/>
          </p:cNvSpPr>
          <p:nvPr>
            <p:ph type="dt" sz="half" idx="10"/>
          </p:nvPr>
        </p:nvSpPr>
        <p:spPr/>
        <p:txBody>
          <a:bodyPr/>
          <a:lstStyle/>
          <a:p>
            <a:fld id="{C48D7A99-2130-4CBE-8FCE-06D03B75E5DD}" type="datetime1">
              <a:rPr lang="en-US" altLang="ko-KR" smtClean="0"/>
              <a:t>3/25/2026</a:t>
            </a:fld>
            <a:endParaRPr lang="en-US" dirty="0"/>
          </a:p>
        </p:txBody>
      </p:sp>
      <p:sp>
        <p:nvSpPr>
          <p:cNvPr id="5" name="바닥글 개체 틀 4">
            <a:extLst>
              <a:ext uri="{FF2B5EF4-FFF2-40B4-BE49-F238E27FC236}">
                <a16:creationId xmlns:a16="http://schemas.microsoft.com/office/drawing/2014/main" id="{74C08EBE-82B6-5566-45E9-5156CC422DAC}"/>
              </a:ext>
            </a:extLst>
          </p:cNvPr>
          <p:cNvSpPr>
            <a:spLocks noGrp="1"/>
          </p:cNvSpPr>
          <p:nvPr>
            <p:ph type="ftr" sz="quarter" idx="11"/>
          </p:nvPr>
        </p:nvSpPr>
        <p:spPr/>
        <p:txBody>
          <a:bodyPr/>
          <a:lstStyle/>
          <a:p>
            <a:r>
              <a:rPr lang="en-US"/>
              <a:t>2023 Copyright ⓒ Autonomous Vehicle Lab</a:t>
            </a:r>
            <a:endParaRPr lang="en-US" dirty="0"/>
          </a:p>
        </p:txBody>
      </p:sp>
      <p:pic>
        <p:nvPicPr>
          <p:cNvPr id="14" name="그림 13" descr="텍스트, 클립아트이(가) 표시된 사진&#10;&#10;자동 생성된 설명">
            <a:extLst>
              <a:ext uri="{FF2B5EF4-FFF2-40B4-BE49-F238E27FC236}">
                <a16:creationId xmlns:a16="http://schemas.microsoft.com/office/drawing/2014/main" id="{7713B203-74E6-96A9-24D0-F13987C31F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3332" y="5586125"/>
            <a:ext cx="1976252" cy="759622"/>
          </a:xfrm>
          <a:prstGeom prst="rect">
            <a:avLst/>
          </a:prstGeom>
        </p:spPr>
      </p:pic>
      <p:sp>
        <p:nvSpPr>
          <p:cNvPr id="19" name="평행 사변형 18">
            <a:extLst>
              <a:ext uri="{FF2B5EF4-FFF2-40B4-BE49-F238E27FC236}">
                <a16:creationId xmlns:a16="http://schemas.microsoft.com/office/drawing/2014/main" id="{7E53A931-DC2C-3C8D-14E6-BCAF0EDDDFB7}"/>
              </a:ext>
            </a:extLst>
          </p:cNvPr>
          <p:cNvSpPr/>
          <p:nvPr userDrawn="1"/>
        </p:nvSpPr>
        <p:spPr>
          <a:xfrm>
            <a:off x="7843157" y="-2445"/>
            <a:ext cx="4197804" cy="6862440"/>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407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10" name="평행 사변형 18">
            <a:extLst>
              <a:ext uri="{FF2B5EF4-FFF2-40B4-BE49-F238E27FC236}">
                <a16:creationId xmlns:a16="http://schemas.microsoft.com/office/drawing/2014/main" id="{A4352786-598C-D5A1-065B-1EB632E63159}"/>
              </a:ext>
            </a:extLst>
          </p:cNvPr>
          <p:cNvSpPr/>
          <p:nvPr userDrawn="1"/>
        </p:nvSpPr>
        <p:spPr>
          <a:xfrm>
            <a:off x="331471" y="109536"/>
            <a:ext cx="312692" cy="511178"/>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rgbClr val="B726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그림 7" descr="텍스트, 클립아트이(가) 표시된 사진&#10;&#10;자동 생성된 설명">
            <a:extLst>
              <a:ext uri="{FF2B5EF4-FFF2-40B4-BE49-F238E27FC236}">
                <a16:creationId xmlns:a16="http://schemas.microsoft.com/office/drawing/2014/main" id="{E1AB845A-B7E0-2561-9CF7-783B4C5492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06759" y="5870498"/>
            <a:ext cx="1794528" cy="689772"/>
          </a:xfrm>
          <a:prstGeom prst="rect">
            <a:avLst/>
          </a:prstGeom>
        </p:spPr>
      </p:pic>
      <p:sp>
        <p:nvSpPr>
          <p:cNvPr id="9" name="평행 사변형 6">
            <a:extLst>
              <a:ext uri="{FF2B5EF4-FFF2-40B4-BE49-F238E27FC236}">
                <a16:creationId xmlns:a16="http://schemas.microsoft.com/office/drawing/2014/main" id="{8FD59531-7B60-F3B2-90C1-261754F833C1}"/>
              </a:ext>
            </a:extLst>
          </p:cNvPr>
          <p:cNvSpPr/>
          <p:nvPr userDrawn="1"/>
        </p:nvSpPr>
        <p:spPr>
          <a:xfrm>
            <a:off x="-2376" y="5988324"/>
            <a:ext cx="10541363" cy="336277"/>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 name="connsiteX0" fmla="*/ 22902 w 10444695"/>
              <a:gd name="connsiteY0" fmla="*/ 6868160 h 6942518"/>
              <a:gd name="connsiteX1" fmla="*/ 0 w 10444695"/>
              <a:gd name="connsiteY1" fmla="*/ 0 h 6942518"/>
              <a:gd name="connsiteX2" fmla="*/ 10068965 w 10444695"/>
              <a:gd name="connsiteY2" fmla="*/ 0 h 6942518"/>
              <a:gd name="connsiteX3" fmla="*/ 10444695 w 10444695"/>
              <a:gd name="connsiteY3" fmla="*/ 6942518 h 6942518"/>
              <a:gd name="connsiteX4" fmla="*/ 22902 w 10444695"/>
              <a:gd name="connsiteY4" fmla="*/ 6868160 h 6942518"/>
              <a:gd name="connsiteX0" fmla="*/ 22902 w 10576965"/>
              <a:gd name="connsiteY0" fmla="*/ 6868160 h 6942518"/>
              <a:gd name="connsiteX1" fmla="*/ 0 w 10576965"/>
              <a:gd name="connsiteY1" fmla="*/ 0 h 6942518"/>
              <a:gd name="connsiteX2" fmla="*/ 10576965 w 10576965"/>
              <a:gd name="connsiteY2" fmla="*/ 169030 h 6942518"/>
              <a:gd name="connsiteX3" fmla="*/ 10444695 w 10576965"/>
              <a:gd name="connsiteY3" fmla="*/ 6942518 h 6942518"/>
              <a:gd name="connsiteX4" fmla="*/ 22902 w 10576965"/>
              <a:gd name="connsiteY4" fmla="*/ 6868160 h 6942518"/>
              <a:gd name="connsiteX0" fmla="*/ 0 w 10554063"/>
              <a:gd name="connsiteY0" fmla="*/ 6868160 h 6942518"/>
              <a:gd name="connsiteX1" fmla="*/ 53298 w 10554063"/>
              <a:gd name="connsiteY1" fmla="*/ 0 h 6942518"/>
              <a:gd name="connsiteX2" fmla="*/ 10554063 w 10554063"/>
              <a:gd name="connsiteY2" fmla="*/ 169030 h 6942518"/>
              <a:gd name="connsiteX3" fmla="*/ 10421793 w 10554063"/>
              <a:gd name="connsiteY3" fmla="*/ 6942518 h 6942518"/>
              <a:gd name="connsiteX4" fmla="*/ 0 w 10554063"/>
              <a:gd name="connsiteY4" fmla="*/ 6868160 h 6942518"/>
              <a:gd name="connsiteX0" fmla="*/ 0 w 10554063"/>
              <a:gd name="connsiteY0" fmla="*/ 6868160 h 6942518"/>
              <a:gd name="connsiteX1" fmla="*/ 15198 w 10554063"/>
              <a:gd name="connsiteY1" fmla="*/ 0 h 6942518"/>
              <a:gd name="connsiteX2" fmla="*/ 10554063 w 10554063"/>
              <a:gd name="connsiteY2" fmla="*/ 169030 h 6942518"/>
              <a:gd name="connsiteX3" fmla="*/ 10421793 w 10554063"/>
              <a:gd name="connsiteY3" fmla="*/ 6942518 h 6942518"/>
              <a:gd name="connsiteX4" fmla="*/ 0 w 10554063"/>
              <a:gd name="connsiteY4" fmla="*/ 6868160 h 6942518"/>
              <a:gd name="connsiteX0" fmla="*/ 0 w 10541363"/>
              <a:gd name="connsiteY0" fmla="*/ 6901359 h 6942518"/>
              <a:gd name="connsiteX1" fmla="*/ 2498 w 10541363"/>
              <a:gd name="connsiteY1" fmla="*/ 0 h 6942518"/>
              <a:gd name="connsiteX2" fmla="*/ 10541363 w 10541363"/>
              <a:gd name="connsiteY2" fmla="*/ 169030 h 6942518"/>
              <a:gd name="connsiteX3" fmla="*/ 10409093 w 10541363"/>
              <a:gd name="connsiteY3" fmla="*/ 6942518 h 6942518"/>
              <a:gd name="connsiteX4" fmla="*/ 0 w 10541363"/>
              <a:gd name="connsiteY4" fmla="*/ 6901359 h 69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41363" h="6942518">
                <a:moveTo>
                  <a:pt x="0" y="6901359"/>
                </a:moveTo>
                <a:cubicBezTo>
                  <a:pt x="833" y="4600906"/>
                  <a:pt x="1665" y="2300453"/>
                  <a:pt x="2498" y="0"/>
                </a:cubicBezTo>
                <a:lnTo>
                  <a:pt x="10541363" y="169030"/>
                </a:lnTo>
                <a:lnTo>
                  <a:pt x="10409093" y="6942518"/>
                </a:lnTo>
                <a:lnTo>
                  <a:pt x="0" y="6901359"/>
                </a:lnTo>
                <a:close/>
              </a:path>
            </a:pathLst>
          </a:custGeom>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F23C5002-480D-BCB1-A981-EC02BC4A38D9}"/>
              </a:ext>
            </a:extLst>
          </p:cNvPr>
          <p:cNvSpPr>
            <a:spLocks noGrp="1"/>
          </p:cNvSpPr>
          <p:nvPr>
            <p:ph type="title"/>
          </p:nvPr>
        </p:nvSpPr>
        <p:spPr>
          <a:xfrm>
            <a:off x="756557" y="115388"/>
            <a:ext cx="10515600" cy="539024"/>
          </a:xfrm>
        </p:spPr>
        <p:txBody>
          <a:bodyPr/>
          <a:lstStyle/>
          <a:p>
            <a:r>
              <a:rPr lang="ko-KR" altLang="en-US"/>
              <a:t>마스터 제목 스타일 편집</a:t>
            </a:r>
            <a:endParaRPr lang="en-US" dirty="0"/>
          </a:p>
        </p:txBody>
      </p:sp>
      <p:sp>
        <p:nvSpPr>
          <p:cNvPr id="3" name="내용 개체 틀 2">
            <a:extLst>
              <a:ext uri="{FF2B5EF4-FFF2-40B4-BE49-F238E27FC236}">
                <a16:creationId xmlns:a16="http://schemas.microsoft.com/office/drawing/2014/main" id="{AD9CE4F6-E429-F9BB-3B7B-61CD76180426}"/>
              </a:ext>
            </a:extLst>
          </p:cNvPr>
          <p:cNvSpPr>
            <a:spLocks noGrp="1"/>
          </p:cNvSpPr>
          <p:nvPr>
            <p:ph idx="1"/>
          </p:nvPr>
        </p:nvSpPr>
        <p:spPr>
          <a:xfrm>
            <a:off x="756557" y="820172"/>
            <a:ext cx="10515600" cy="496869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날짜 개체 틀 3">
            <a:extLst>
              <a:ext uri="{FF2B5EF4-FFF2-40B4-BE49-F238E27FC236}">
                <a16:creationId xmlns:a16="http://schemas.microsoft.com/office/drawing/2014/main" id="{35FD8349-5EBE-7768-1C19-996A74FF0FA0}"/>
              </a:ext>
            </a:extLst>
          </p:cNvPr>
          <p:cNvSpPr>
            <a:spLocks noGrp="1"/>
          </p:cNvSpPr>
          <p:nvPr>
            <p:ph type="dt" sz="half" idx="10"/>
          </p:nvPr>
        </p:nvSpPr>
        <p:spPr>
          <a:xfrm>
            <a:off x="747670" y="6356350"/>
            <a:ext cx="2743200" cy="365125"/>
          </a:xfrm>
        </p:spPr>
        <p:txBody>
          <a:bodyPr/>
          <a:lstStyle>
            <a:lvl1pPr>
              <a:defRPr>
                <a:solidFill>
                  <a:schemeClr val="tx1">
                    <a:lumMod val="50000"/>
                    <a:lumOff val="50000"/>
                  </a:schemeClr>
                </a:solidFill>
              </a:defRPr>
            </a:lvl1p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13DB45C7-E87F-4ECB-9470-92641A7D5EE8}"/>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D455E40A-CD56-E811-5351-26DB944DDF65}"/>
              </a:ext>
            </a:extLst>
          </p:cNvPr>
          <p:cNvSpPr>
            <a:spLocks noGrp="1"/>
          </p:cNvSpPr>
          <p:nvPr>
            <p:ph type="sldNum" sz="quarter" idx="12"/>
          </p:nvPr>
        </p:nvSpPr>
        <p:spPr>
          <a:xfrm>
            <a:off x="10429581" y="202462"/>
            <a:ext cx="1322567" cy="365125"/>
          </a:xfrm>
        </p:spPr>
        <p:txBody>
          <a:bodyPr/>
          <a:lstStyle>
            <a:lvl1pPr>
              <a:defRPr sz="1600" b="1">
                <a:solidFill>
                  <a:schemeClr val="tx1">
                    <a:lumMod val="50000"/>
                    <a:lumOff val="50000"/>
                  </a:schemeClr>
                </a:solidFill>
                <a:latin typeface="Chungbuk National University" panose="020B0000000000000000" pitchFamily="34" charset="-127"/>
                <a:ea typeface="Chungbuk National University" panose="020B0000000000000000" pitchFamily="34" charset="-127"/>
                <a:cs typeface="Times New Roman" panose="02020603050405020304" pitchFamily="18" charset="0"/>
              </a:defRPr>
            </a:lvl1pPr>
          </a:lstStyle>
          <a:p>
            <a:fld id="{55635D17-9D19-4B1E-86C2-B9D6296E4AF7}" type="slidenum">
              <a:rPr lang="en-US" smtClean="0"/>
              <a:pPr/>
              <a:t>‹#›</a:t>
            </a:fld>
            <a:endParaRPr lang="en-US" dirty="0"/>
          </a:p>
        </p:txBody>
      </p:sp>
    </p:spTree>
    <p:extLst>
      <p:ext uri="{BB962C8B-B14F-4D97-AF65-F5344CB8AC3E}">
        <p14:creationId xmlns:p14="http://schemas.microsoft.com/office/powerpoint/2010/main" val="2974052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5DE2A47-CA08-E1B9-94D8-94AEC3D949A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3D2EB67-86A4-71DE-B3B8-0BB9ECC47B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5DEC72B4-4F7B-42C2-F48B-E4863811DF7E}"/>
              </a:ext>
            </a:extLst>
          </p:cNvPr>
          <p:cNvSpPr>
            <a:spLocks noGrp="1"/>
          </p:cNvSpPr>
          <p:nvPr>
            <p:ph type="dt" sz="half" idx="10"/>
          </p:nvPr>
        </p:nvSpPr>
        <p:spPr/>
        <p:txBody>
          <a:bodyPr/>
          <a:lstStyle/>
          <a:p>
            <a:fld id="{6E096974-3B65-4D17-9D4B-FE7B544206CA}" type="datetime1">
              <a:rPr lang="en-US" altLang="ko-KR" smtClean="0"/>
              <a:t>3/25/2026</a:t>
            </a:fld>
            <a:endParaRPr lang="en-US"/>
          </a:p>
        </p:txBody>
      </p:sp>
      <p:sp>
        <p:nvSpPr>
          <p:cNvPr id="5" name="바닥글 개체 틀 4">
            <a:extLst>
              <a:ext uri="{FF2B5EF4-FFF2-40B4-BE49-F238E27FC236}">
                <a16:creationId xmlns:a16="http://schemas.microsoft.com/office/drawing/2014/main" id="{84E9D97D-A3A5-5A2B-A2F2-B0FF552A765D}"/>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26852378-06C4-FFD7-6332-8A113FC70DBB}"/>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3304491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D50085-FAD7-0BD7-4B44-5FABD41AD5F0}"/>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FC37C97D-1000-D40A-CAF0-275AC9F6162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내용 개체 틀 3">
            <a:extLst>
              <a:ext uri="{FF2B5EF4-FFF2-40B4-BE49-F238E27FC236}">
                <a16:creationId xmlns:a16="http://schemas.microsoft.com/office/drawing/2014/main" id="{0D057AC6-829C-4448-6EDA-8D142C281831}"/>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날짜 개체 틀 4">
            <a:extLst>
              <a:ext uri="{FF2B5EF4-FFF2-40B4-BE49-F238E27FC236}">
                <a16:creationId xmlns:a16="http://schemas.microsoft.com/office/drawing/2014/main" id="{AC11E26D-04C8-4B2C-F2B8-4C9B53E2278B}"/>
              </a:ext>
            </a:extLst>
          </p:cNvPr>
          <p:cNvSpPr>
            <a:spLocks noGrp="1"/>
          </p:cNvSpPr>
          <p:nvPr>
            <p:ph type="dt" sz="half" idx="10"/>
          </p:nvPr>
        </p:nvSpPr>
        <p:spPr/>
        <p:txBody>
          <a:bodyPr/>
          <a:lstStyle/>
          <a:p>
            <a:fld id="{9F5A69F0-7D62-4129-84BD-9572E40A3531}" type="datetime1">
              <a:rPr lang="en-US" altLang="ko-KR" smtClean="0"/>
              <a:t>3/25/2026</a:t>
            </a:fld>
            <a:endParaRPr lang="en-US"/>
          </a:p>
        </p:txBody>
      </p:sp>
      <p:sp>
        <p:nvSpPr>
          <p:cNvPr id="6" name="바닥글 개체 틀 5">
            <a:extLst>
              <a:ext uri="{FF2B5EF4-FFF2-40B4-BE49-F238E27FC236}">
                <a16:creationId xmlns:a16="http://schemas.microsoft.com/office/drawing/2014/main" id="{E50A1855-C2F2-E282-756C-1F306B17ECA8}"/>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BE53622D-B5DB-D600-717A-B45A6D3845AD}"/>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60123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77C7C7-680F-FCD4-53BC-7D4E35679301}"/>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62258D83-06DA-DE72-2CED-4E9BF1DCC9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8D5943B-24BE-32D2-954C-B6CC046EDD4F}"/>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텍스트 개체 틀 4">
            <a:extLst>
              <a:ext uri="{FF2B5EF4-FFF2-40B4-BE49-F238E27FC236}">
                <a16:creationId xmlns:a16="http://schemas.microsoft.com/office/drawing/2014/main" id="{CB117783-1C6F-1288-C251-ABE5C71DE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24A06BD-9389-AA58-7408-30DD46BB6475}"/>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날짜 개체 틀 6">
            <a:extLst>
              <a:ext uri="{FF2B5EF4-FFF2-40B4-BE49-F238E27FC236}">
                <a16:creationId xmlns:a16="http://schemas.microsoft.com/office/drawing/2014/main" id="{DD53D327-E218-6095-2BBC-32D373762F31}"/>
              </a:ext>
            </a:extLst>
          </p:cNvPr>
          <p:cNvSpPr>
            <a:spLocks noGrp="1"/>
          </p:cNvSpPr>
          <p:nvPr>
            <p:ph type="dt" sz="half" idx="10"/>
          </p:nvPr>
        </p:nvSpPr>
        <p:spPr/>
        <p:txBody>
          <a:bodyPr/>
          <a:lstStyle/>
          <a:p>
            <a:fld id="{CBF0AB5A-E051-47CE-A1D7-136B028500CC}" type="datetime1">
              <a:rPr lang="en-US" altLang="ko-KR" smtClean="0"/>
              <a:t>3/25/2026</a:t>
            </a:fld>
            <a:endParaRPr lang="en-US"/>
          </a:p>
        </p:txBody>
      </p:sp>
      <p:sp>
        <p:nvSpPr>
          <p:cNvPr id="8" name="바닥글 개체 틀 7">
            <a:extLst>
              <a:ext uri="{FF2B5EF4-FFF2-40B4-BE49-F238E27FC236}">
                <a16:creationId xmlns:a16="http://schemas.microsoft.com/office/drawing/2014/main" id="{678F717C-DE9A-7D20-7674-17FB08F6FA12}"/>
              </a:ext>
            </a:extLst>
          </p:cNvPr>
          <p:cNvSpPr>
            <a:spLocks noGrp="1"/>
          </p:cNvSpPr>
          <p:nvPr>
            <p:ph type="ftr" sz="quarter" idx="11"/>
          </p:nvPr>
        </p:nvSpPr>
        <p:spPr/>
        <p:txBody>
          <a:bodyPr/>
          <a:lstStyle/>
          <a:p>
            <a:r>
              <a:rPr lang="en-US"/>
              <a:t>2023 Copyright ⓒ Autonomous Vehicle Lab</a:t>
            </a:r>
          </a:p>
        </p:txBody>
      </p:sp>
      <p:sp>
        <p:nvSpPr>
          <p:cNvPr id="9" name="슬라이드 번호 개체 틀 8">
            <a:extLst>
              <a:ext uri="{FF2B5EF4-FFF2-40B4-BE49-F238E27FC236}">
                <a16:creationId xmlns:a16="http://schemas.microsoft.com/office/drawing/2014/main" id="{41E894E9-BDDA-D13B-B581-F2D66D1C2511}"/>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886229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57AC9C-9A4A-F862-E786-F1B34589B60F}"/>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0FDB4298-98D2-5E47-9895-AD48A29AD7D1}"/>
              </a:ext>
            </a:extLst>
          </p:cNvPr>
          <p:cNvSpPr>
            <a:spLocks noGrp="1"/>
          </p:cNvSpPr>
          <p:nvPr>
            <p:ph type="dt" sz="half" idx="10"/>
          </p:nvPr>
        </p:nvSpPr>
        <p:spPr/>
        <p:txBody>
          <a:bodyPr/>
          <a:lstStyle/>
          <a:p>
            <a:fld id="{0C80D9D7-BE2A-4278-B7C1-94B51107F5C4}" type="datetime1">
              <a:rPr lang="en-US" altLang="ko-KR" smtClean="0"/>
              <a:t>3/25/2026</a:t>
            </a:fld>
            <a:endParaRPr lang="en-US"/>
          </a:p>
        </p:txBody>
      </p:sp>
      <p:sp>
        <p:nvSpPr>
          <p:cNvPr id="4" name="바닥글 개체 틀 3">
            <a:extLst>
              <a:ext uri="{FF2B5EF4-FFF2-40B4-BE49-F238E27FC236}">
                <a16:creationId xmlns:a16="http://schemas.microsoft.com/office/drawing/2014/main" id="{00C684BA-4F45-266E-C9F1-45A5BF349C50}"/>
              </a:ext>
            </a:extLst>
          </p:cNvPr>
          <p:cNvSpPr>
            <a:spLocks noGrp="1"/>
          </p:cNvSpPr>
          <p:nvPr>
            <p:ph type="ftr" sz="quarter" idx="11"/>
          </p:nvPr>
        </p:nvSpPr>
        <p:spPr/>
        <p:txBody>
          <a:bodyPr/>
          <a:lstStyle/>
          <a:p>
            <a:r>
              <a:rPr lang="en-US"/>
              <a:t>2023 Copyright ⓒ Autonomous Vehicle Lab</a:t>
            </a:r>
          </a:p>
        </p:txBody>
      </p:sp>
      <p:sp>
        <p:nvSpPr>
          <p:cNvPr id="5" name="슬라이드 번호 개체 틀 4">
            <a:extLst>
              <a:ext uri="{FF2B5EF4-FFF2-40B4-BE49-F238E27FC236}">
                <a16:creationId xmlns:a16="http://schemas.microsoft.com/office/drawing/2014/main" id="{F5994CB8-C1F5-2FAD-929B-2E6C65DA304E}"/>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98443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405D644-F2E4-FE1D-1250-1A8A5681D693}"/>
              </a:ext>
            </a:extLst>
          </p:cNvPr>
          <p:cNvSpPr>
            <a:spLocks noGrp="1"/>
          </p:cNvSpPr>
          <p:nvPr>
            <p:ph type="dt" sz="half" idx="10"/>
          </p:nvPr>
        </p:nvSpPr>
        <p:spPr/>
        <p:txBody>
          <a:bodyPr/>
          <a:lstStyle/>
          <a:p>
            <a:fld id="{3B86C294-B472-48D6-B34D-7F4B4917D485}" type="datetime1">
              <a:rPr lang="en-US" altLang="ko-KR" smtClean="0"/>
              <a:t>3/25/2026</a:t>
            </a:fld>
            <a:endParaRPr lang="en-US"/>
          </a:p>
        </p:txBody>
      </p:sp>
      <p:sp>
        <p:nvSpPr>
          <p:cNvPr id="3" name="바닥글 개체 틀 2">
            <a:extLst>
              <a:ext uri="{FF2B5EF4-FFF2-40B4-BE49-F238E27FC236}">
                <a16:creationId xmlns:a16="http://schemas.microsoft.com/office/drawing/2014/main" id="{87A69C97-9499-E286-496D-57D5F1E30440}"/>
              </a:ext>
            </a:extLst>
          </p:cNvPr>
          <p:cNvSpPr>
            <a:spLocks noGrp="1"/>
          </p:cNvSpPr>
          <p:nvPr>
            <p:ph type="ftr" sz="quarter" idx="11"/>
          </p:nvPr>
        </p:nvSpPr>
        <p:spPr/>
        <p:txBody>
          <a:bodyPr/>
          <a:lstStyle/>
          <a:p>
            <a:r>
              <a:rPr lang="en-US"/>
              <a:t>2023 Copyright ⓒ Autonomous Vehicle Lab</a:t>
            </a:r>
          </a:p>
        </p:txBody>
      </p:sp>
      <p:sp>
        <p:nvSpPr>
          <p:cNvPr id="4" name="슬라이드 번호 개체 틀 3">
            <a:extLst>
              <a:ext uri="{FF2B5EF4-FFF2-40B4-BE49-F238E27FC236}">
                <a16:creationId xmlns:a16="http://schemas.microsoft.com/office/drawing/2014/main" id="{104445F3-858C-4967-685F-95DBE426631A}"/>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190528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02536B-A3CF-3BF5-86CA-2050C8CD33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3503A982-AD4B-8414-5D3C-BD3EFBD31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텍스트 개체 틀 3">
            <a:extLst>
              <a:ext uri="{FF2B5EF4-FFF2-40B4-BE49-F238E27FC236}">
                <a16:creationId xmlns:a16="http://schemas.microsoft.com/office/drawing/2014/main" id="{EE85E761-F9B1-3D96-8E53-8EFBECBFC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AA56E60-43BE-CFA9-D15A-F69DE11C4881}"/>
              </a:ext>
            </a:extLst>
          </p:cNvPr>
          <p:cNvSpPr>
            <a:spLocks noGrp="1"/>
          </p:cNvSpPr>
          <p:nvPr>
            <p:ph type="dt" sz="half" idx="10"/>
          </p:nvPr>
        </p:nvSpPr>
        <p:spPr/>
        <p:txBody>
          <a:bodyPr/>
          <a:lstStyle/>
          <a:p>
            <a:fld id="{1A618C3A-F8DF-4BAF-9CFF-537EB6C17DE4}" type="datetime1">
              <a:rPr lang="en-US" altLang="ko-KR" smtClean="0"/>
              <a:t>3/25/2026</a:t>
            </a:fld>
            <a:endParaRPr lang="en-US"/>
          </a:p>
        </p:txBody>
      </p:sp>
      <p:sp>
        <p:nvSpPr>
          <p:cNvPr id="6" name="바닥글 개체 틀 5">
            <a:extLst>
              <a:ext uri="{FF2B5EF4-FFF2-40B4-BE49-F238E27FC236}">
                <a16:creationId xmlns:a16="http://schemas.microsoft.com/office/drawing/2014/main" id="{41188857-E9E6-A8D2-148A-613E46011B79}"/>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1DB4C6CD-B4E5-5A99-4BD0-805C62CA1CB4}"/>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5945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2EAE-6884-46E5-E2E6-BE5B945AE00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FDA492A4-8844-E42C-1A19-7F8E22D1F4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텍스트 개체 틀 3">
            <a:extLst>
              <a:ext uri="{FF2B5EF4-FFF2-40B4-BE49-F238E27FC236}">
                <a16:creationId xmlns:a16="http://schemas.microsoft.com/office/drawing/2014/main" id="{46D0BC40-CE3A-8977-0D4F-76248C80F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7ACB566-6E73-00F9-D29D-7BFE712D142B}"/>
              </a:ext>
            </a:extLst>
          </p:cNvPr>
          <p:cNvSpPr>
            <a:spLocks noGrp="1"/>
          </p:cNvSpPr>
          <p:nvPr>
            <p:ph type="dt" sz="half" idx="10"/>
          </p:nvPr>
        </p:nvSpPr>
        <p:spPr/>
        <p:txBody>
          <a:bodyPr/>
          <a:lstStyle/>
          <a:p>
            <a:fld id="{03111ECB-F47A-4558-AC49-0692DCB364D2}" type="datetime1">
              <a:rPr lang="en-US" altLang="ko-KR" smtClean="0"/>
              <a:t>3/25/2026</a:t>
            </a:fld>
            <a:endParaRPr lang="en-US"/>
          </a:p>
        </p:txBody>
      </p:sp>
      <p:sp>
        <p:nvSpPr>
          <p:cNvPr id="6" name="바닥글 개체 틀 5">
            <a:extLst>
              <a:ext uri="{FF2B5EF4-FFF2-40B4-BE49-F238E27FC236}">
                <a16:creationId xmlns:a16="http://schemas.microsoft.com/office/drawing/2014/main" id="{557F6972-C0CE-EB37-BB1E-FA97B3FC94DF}"/>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80270D29-0930-CC81-A182-455E959EDF9A}"/>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1390300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C164B6-FF6D-E10D-F21B-849706BAA774}"/>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99C785EC-47E4-2E18-B7F2-13E50843935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9D1B2605-C50A-8F44-AFB1-8BE40B8204E1}"/>
              </a:ext>
            </a:extLst>
          </p:cNvPr>
          <p:cNvSpPr>
            <a:spLocks noGrp="1"/>
          </p:cNvSpPr>
          <p:nvPr>
            <p:ph type="dt" sz="half" idx="10"/>
          </p:nvPr>
        </p:nvSpPr>
        <p:spPr/>
        <p:txBody>
          <a:bodyPr/>
          <a:lstStyle/>
          <a:p>
            <a:fld id="{262B192A-4CFD-4920-BB2A-9A5D59970817}" type="datetime1">
              <a:rPr lang="en-US" altLang="ko-KR" smtClean="0"/>
              <a:t>3/25/2026</a:t>
            </a:fld>
            <a:endParaRPr lang="en-US"/>
          </a:p>
        </p:txBody>
      </p:sp>
      <p:sp>
        <p:nvSpPr>
          <p:cNvPr id="5" name="바닥글 개체 틀 4">
            <a:extLst>
              <a:ext uri="{FF2B5EF4-FFF2-40B4-BE49-F238E27FC236}">
                <a16:creationId xmlns:a16="http://schemas.microsoft.com/office/drawing/2014/main" id="{E47E6CE8-4203-1001-4E3C-AA70C6CB1790}"/>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5C5E88CA-4E96-42F5-F6E2-8D5812631228}"/>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4023515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E934FC9-D78E-B4CB-AEE6-7EFC54DA8AE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2137B47E-7598-2C0C-9182-14761D65F898}"/>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71FD35F8-91A6-768B-5EB8-BA4570AF2083}"/>
              </a:ext>
            </a:extLst>
          </p:cNvPr>
          <p:cNvSpPr>
            <a:spLocks noGrp="1"/>
          </p:cNvSpPr>
          <p:nvPr>
            <p:ph type="dt" sz="half" idx="10"/>
          </p:nvPr>
        </p:nvSpPr>
        <p:spPr/>
        <p:txBody>
          <a:bodyPr/>
          <a:lstStyle/>
          <a:p>
            <a:fld id="{B9820C95-879A-46C2-9ADD-18E5B2DDFA65}" type="datetime1">
              <a:rPr lang="en-US" altLang="ko-KR" smtClean="0"/>
              <a:t>3/25/2026</a:t>
            </a:fld>
            <a:endParaRPr lang="en-US"/>
          </a:p>
        </p:txBody>
      </p:sp>
      <p:sp>
        <p:nvSpPr>
          <p:cNvPr id="5" name="바닥글 개체 틀 4">
            <a:extLst>
              <a:ext uri="{FF2B5EF4-FFF2-40B4-BE49-F238E27FC236}">
                <a16:creationId xmlns:a16="http://schemas.microsoft.com/office/drawing/2014/main" id="{22F4B8DE-15E4-6A6A-D3A9-FEBF74EF748A}"/>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3BC2AF7C-4858-5554-00FC-3F8EF3265B85}"/>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06883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FAE63EF-98BA-4551-9A6E-294EE670BF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DEB9398-1327-EFAC-5562-BE18BF0B69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0251375F-DFD5-2696-D915-D42AF2BDE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7EC35-D2B7-4CF9-B0B6-E5501958E0EB}" type="datetime1">
              <a:rPr lang="en-US" altLang="ko-KR" smtClean="0"/>
              <a:t>3/25/2026</a:t>
            </a:fld>
            <a:endParaRPr lang="en-US"/>
          </a:p>
        </p:txBody>
      </p:sp>
      <p:sp>
        <p:nvSpPr>
          <p:cNvPr id="5" name="바닥글 개체 틀 4">
            <a:extLst>
              <a:ext uri="{FF2B5EF4-FFF2-40B4-BE49-F238E27FC236}">
                <a16:creationId xmlns:a16="http://schemas.microsoft.com/office/drawing/2014/main" id="{624B2157-1A42-A5FE-CD8A-D19B88A451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2023 Copyright ⓒ Autonomous Vehicle Lab</a:t>
            </a:r>
          </a:p>
        </p:txBody>
      </p:sp>
      <p:sp>
        <p:nvSpPr>
          <p:cNvPr id="6" name="슬라이드 번호 개체 틀 5">
            <a:extLst>
              <a:ext uri="{FF2B5EF4-FFF2-40B4-BE49-F238E27FC236}">
                <a16:creationId xmlns:a16="http://schemas.microsoft.com/office/drawing/2014/main" id="{26FD67E3-C466-44B9-48D1-66B3C7B4E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635D17-9D19-4B1E-86C2-B9D6296E4AF7}" type="slidenum">
              <a:rPr lang="en-US" smtClean="0"/>
              <a:t>‹#›</a:t>
            </a:fld>
            <a:endParaRPr lang="en-US"/>
          </a:p>
        </p:txBody>
      </p:sp>
    </p:spTree>
    <p:extLst>
      <p:ext uri="{BB962C8B-B14F-4D97-AF65-F5344CB8AC3E}">
        <p14:creationId xmlns:p14="http://schemas.microsoft.com/office/powerpoint/2010/main" val="41820525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mailto:sckee@cbnu.ac.k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www.hyundai.com/kr/ko/brand/brandstory/design"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3.xml"/><Relationship Id="rId1" Type="http://schemas.openxmlformats.org/officeDocument/2006/relationships/video" Target="https://www.youtube.com/embed/nT8PIMcXM3g?feature=oembe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9.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6.wmf"/></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FB802A-854E-5465-AE50-91E210954DA8}"/>
              </a:ext>
            </a:extLst>
          </p:cNvPr>
          <p:cNvSpPr>
            <a:spLocks noGrp="1"/>
          </p:cNvSpPr>
          <p:nvPr>
            <p:ph type="ctrTitle"/>
          </p:nvPr>
        </p:nvSpPr>
        <p:spPr>
          <a:xfrm>
            <a:off x="346601" y="1407548"/>
            <a:ext cx="8160905" cy="1340630"/>
          </a:xfrm>
        </p:spPr>
        <p:txBody>
          <a:bodyPr>
            <a:normAutofit fontScale="90000"/>
          </a:bodyPr>
          <a:lstStyle/>
          <a:p>
            <a:r>
              <a:rPr kumimoji="1" lang="ko-KR" altLang="en-US" dirty="0"/>
              <a:t>자율주행이동체 실제</a:t>
            </a:r>
            <a:br>
              <a:rPr kumimoji="1" lang="en-US" altLang="ko-KR" dirty="0"/>
            </a:br>
            <a:r>
              <a:rPr kumimoji="1" lang="en-US" altLang="ko-KR" sz="4400" b="1" dirty="0">
                <a:solidFill>
                  <a:schemeClr val="accent4">
                    <a:lumMod val="40000"/>
                    <a:lumOff val="60000"/>
                  </a:schemeClr>
                </a:solidFill>
              </a:rPr>
              <a:t>(4. Vehicle &amp; E/E</a:t>
            </a:r>
            <a:r>
              <a:rPr kumimoji="1" lang="ko-KR" altLang="en-US" sz="4400" b="1" dirty="0">
                <a:solidFill>
                  <a:schemeClr val="accent4">
                    <a:lumMod val="40000"/>
                    <a:lumOff val="60000"/>
                  </a:schemeClr>
                </a:solidFill>
              </a:rPr>
              <a:t> </a:t>
            </a:r>
            <a:r>
              <a:rPr kumimoji="1" lang="en-US" altLang="ko-KR" sz="4400" b="1" dirty="0">
                <a:solidFill>
                  <a:schemeClr val="accent4">
                    <a:lumMod val="40000"/>
                    <a:lumOff val="60000"/>
                  </a:schemeClr>
                </a:solidFill>
              </a:rPr>
              <a:t>Development Process)</a:t>
            </a:r>
            <a:endParaRPr kumimoji="1" lang="ko-Kore-KR" altLang="en-US" b="1" dirty="0">
              <a:solidFill>
                <a:schemeClr val="accent4">
                  <a:lumMod val="40000"/>
                  <a:lumOff val="60000"/>
                </a:schemeClr>
              </a:solidFill>
            </a:endParaRPr>
          </a:p>
        </p:txBody>
      </p:sp>
      <p:sp>
        <p:nvSpPr>
          <p:cNvPr id="3" name="부제목 2">
            <a:extLst>
              <a:ext uri="{FF2B5EF4-FFF2-40B4-BE49-F238E27FC236}">
                <a16:creationId xmlns:a16="http://schemas.microsoft.com/office/drawing/2014/main" id="{EE110584-C3AB-9F0C-B55D-3FF78D9339F4}"/>
              </a:ext>
            </a:extLst>
          </p:cNvPr>
          <p:cNvSpPr>
            <a:spLocks noGrp="1" noChangeAspect="1"/>
          </p:cNvSpPr>
          <p:nvPr>
            <p:ph type="subTitle" idx="1"/>
          </p:nvPr>
        </p:nvSpPr>
        <p:spPr>
          <a:xfrm>
            <a:off x="458482" y="4613366"/>
            <a:ext cx="4655166" cy="1679859"/>
          </a:xfrm>
        </p:spPr>
        <p:txBody>
          <a:bodyPr>
            <a:noAutofit/>
          </a:bodyPr>
          <a:lstStyle/>
          <a:p>
            <a:r>
              <a:rPr kumimoji="1" lang="ko-KR" altLang="en-US" sz="2800" dirty="0"/>
              <a:t>충북대학교 지능로봇공학과</a:t>
            </a:r>
            <a:endParaRPr kumimoji="1" lang="en-US" altLang="ko-KR" sz="2800" dirty="0"/>
          </a:p>
          <a:p>
            <a:r>
              <a:rPr kumimoji="1" lang="ko-KR" altLang="en-US" sz="2800" dirty="0"/>
              <a:t>기석철 교수</a:t>
            </a:r>
            <a:endParaRPr kumimoji="1" lang="en-US" altLang="en-US" sz="2800" dirty="0"/>
          </a:p>
          <a:p>
            <a:r>
              <a:rPr kumimoji="1" lang="en-US" altLang="ko-KR" sz="2800" dirty="0">
                <a:hlinkClick r:id="rId2">
                  <a:extLst>
                    <a:ext uri="{A12FA001-AC4F-418D-AE19-62706E023703}">
                      <ahyp:hlinkClr xmlns:ahyp="http://schemas.microsoft.com/office/drawing/2018/hyperlinkcolor" val="tx"/>
                    </a:ext>
                  </a:extLst>
                </a:hlinkClick>
              </a:rPr>
              <a:t>sckee@cbnu.ac.kr</a:t>
            </a:r>
            <a:r>
              <a:rPr kumimoji="1" lang="en-US" altLang="ko-KR" sz="2800" dirty="0"/>
              <a:t>,  E8-7</a:t>
            </a:r>
            <a:r>
              <a:rPr kumimoji="1" lang="ko-KR" altLang="en-US" sz="2800" dirty="0"/>
              <a:t>동 </a:t>
            </a:r>
            <a:r>
              <a:rPr kumimoji="1" lang="en-US" altLang="ko-KR" sz="2800" dirty="0"/>
              <a:t>341-1</a:t>
            </a:r>
            <a:r>
              <a:rPr kumimoji="1" lang="ko-KR" altLang="en-US" sz="2800" dirty="0"/>
              <a:t>호</a:t>
            </a:r>
            <a:endParaRPr kumimoji="1" lang="en-US" altLang="en-US" sz="2800" dirty="0"/>
          </a:p>
        </p:txBody>
      </p:sp>
      <p:sp>
        <p:nvSpPr>
          <p:cNvPr id="4" name="날짜 개체 틀 3">
            <a:extLst>
              <a:ext uri="{FF2B5EF4-FFF2-40B4-BE49-F238E27FC236}">
                <a16:creationId xmlns:a16="http://schemas.microsoft.com/office/drawing/2014/main" id="{8F84D7F9-C8F2-E238-CFF2-AB910695468D}"/>
              </a:ext>
            </a:extLst>
          </p:cNvPr>
          <p:cNvSpPr>
            <a:spLocks noGrp="1"/>
          </p:cNvSpPr>
          <p:nvPr>
            <p:ph type="dt" sz="half" idx="10"/>
          </p:nvPr>
        </p:nvSpPr>
        <p:spPr/>
        <p:txBody>
          <a:bodyPr/>
          <a:lstStyle/>
          <a:p>
            <a:fld id="{5B85CE0E-9782-4B13-A21D-6F0811112DA0}" type="datetime1">
              <a:rPr lang="en-US" altLang="ko-KR" smtClean="0"/>
              <a:t>3/25/2026</a:t>
            </a:fld>
            <a:endParaRPr lang="en-US" dirty="0"/>
          </a:p>
        </p:txBody>
      </p:sp>
      <p:sp>
        <p:nvSpPr>
          <p:cNvPr id="5" name="바닥글 개체 틀 4">
            <a:extLst>
              <a:ext uri="{FF2B5EF4-FFF2-40B4-BE49-F238E27FC236}">
                <a16:creationId xmlns:a16="http://schemas.microsoft.com/office/drawing/2014/main" id="{EE96FDC7-1F81-15C7-CD99-A5A402CED50D}"/>
              </a:ext>
            </a:extLst>
          </p:cNvPr>
          <p:cNvSpPr>
            <a:spLocks noGrp="1"/>
          </p:cNvSpPr>
          <p:nvPr>
            <p:ph type="ftr" sz="quarter" idx="11"/>
          </p:nvPr>
        </p:nvSpPr>
        <p:spPr/>
        <p:txBody>
          <a:bodyPr/>
          <a:lstStyle/>
          <a:p>
            <a:r>
              <a:rPr lang="en-US"/>
              <a:t>2023 Copyright ⓒ Autonomous Vehicle Lab</a:t>
            </a:r>
            <a:endParaRPr lang="en-US" dirty="0"/>
          </a:p>
        </p:txBody>
      </p:sp>
    </p:spTree>
    <p:extLst>
      <p:ext uri="{BB962C8B-B14F-4D97-AF65-F5344CB8AC3E}">
        <p14:creationId xmlns:p14="http://schemas.microsoft.com/office/powerpoint/2010/main" val="2989658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01D20E-A93C-3581-A606-4533DAF3EB2E}"/>
              </a:ext>
            </a:extLst>
          </p:cNvPr>
          <p:cNvSpPr>
            <a:spLocks noGrp="1"/>
          </p:cNvSpPr>
          <p:nvPr>
            <p:ph type="title"/>
          </p:nvPr>
        </p:nvSpPr>
        <p:spPr/>
        <p:txBody>
          <a:bodyPr>
            <a:normAutofit fontScale="90000"/>
          </a:bodyPr>
          <a:lstStyle/>
          <a:p>
            <a:r>
              <a:rPr kumimoji="1" lang="en-US" altLang="en-US" dirty="0"/>
              <a:t>Contents</a:t>
            </a:r>
            <a:endParaRPr kumimoji="1" lang="ko-Kore-KR" altLang="en-US" dirty="0"/>
          </a:p>
        </p:txBody>
      </p:sp>
      <p:sp>
        <p:nvSpPr>
          <p:cNvPr id="3" name="내용 개체 틀 2">
            <a:extLst>
              <a:ext uri="{FF2B5EF4-FFF2-40B4-BE49-F238E27FC236}">
                <a16:creationId xmlns:a16="http://schemas.microsoft.com/office/drawing/2014/main" id="{A56FBB58-EB8C-4C9A-B5CB-C89C1F4F7CA0}"/>
              </a:ext>
            </a:extLst>
          </p:cNvPr>
          <p:cNvSpPr>
            <a:spLocks noGrp="1"/>
          </p:cNvSpPr>
          <p:nvPr>
            <p:ph idx="1"/>
          </p:nvPr>
        </p:nvSpPr>
        <p:spPr>
          <a:xfrm>
            <a:off x="756556" y="820171"/>
            <a:ext cx="11057492" cy="5075531"/>
          </a:xfrm>
        </p:spPr>
        <p:txBody>
          <a:bodyPr>
            <a:noAutofit/>
          </a:bodyPr>
          <a:lstStyle/>
          <a:p>
            <a:pPr marL="457200" indent="-457200">
              <a:lnSpc>
                <a:spcPct val="100000"/>
              </a:lnSpc>
              <a:buFont typeface="+mj-lt"/>
              <a:buAutoNum type="arabicPeriod"/>
            </a:pPr>
            <a:r>
              <a:rPr lang="en-US" altLang="ko-KR" sz="2400" b="1" dirty="0">
                <a:solidFill>
                  <a:srgbClr val="404040"/>
                </a:solidFill>
                <a:latin typeface="+mn-ea"/>
              </a:rPr>
              <a:t>Process</a:t>
            </a:r>
            <a:r>
              <a:rPr lang="ko-KR" altLang="en-US" sz="2400" b="1" dirty="0">
                <a:solidFill>
                  <a:srgbClr val="404040"/>
                </a:solidFill>
                <a:latin typeface="+mn-ea"/>
              </a:rPr>
              <a:t>의 이해</a:t>
            </a:r>
            <a:endParaRPr lang="en-US" altLang="ko-KR" sz="2400" b="1" dirty="0">
              <a:solidFill>
                <a:srgbClr val="404040"/>
              </a:solidFill>
              <a:latin typeface="+mn-ea"/>
            </a:endParaRPr>
          </a:p>
          <a:p>
            <a:pPr marL="457200" indent="-457200">
              <a:lnSpc>
                <a:spcPct val="100000"/>
              </a:lnSpc>
              <a:buFont typeface="+mj-lt"/>
              <a:buAutoNum type="arabicPeriod"/>
            </a:pPr>
            <a:r>
              <a:rPr lang="ko-KR" altLang="en-US" sz="2400" b="1" dirty="0">
                <a:solidFill>
                  <a:srgbClr val="404040"/>
                </a:solidFill>
                <a:latin typeface="+mn-ea"/>
              </a:rPr>
              <a:t>자동차 개발 프로세스</a:t>
            </a:r>
            <a:r>
              <a:rPr lang="en-US" altLang="ko-KR" sz="2400" b="1" dirty="0">
                <a:solidFill>
                  <a:srgbClr val="404040"/>
                </a:solidFill>
                <a:latin typeface="+mn-ea"/>
              </a:rPr>
              <a:t> </a:t>
            </a:r>
          </a:p>
          <a:p>
            <a:pPr marL="457200" indent="-457200">
              <a:lnSpc>
                <a:spcPct val="100000"/>
              </a:lnSpc>
              <a:buFont typeface="+mj-lt"/>
              <a:buAutoNum type="arabicPeriod"/>
            </a:pPr>
            <a:r>
              <a:rPr lang="ko-KR" altLang="en-US" sz="2400" b="1" dirty="0">
                <a:solidFill>
                  <a:srgbClr val="404040"/>
                </a:solidFill>
                <a:latin typeface="+mn-ea"/>
              </a:rPr>
              <a:t>전장개발 프로세스</a:t>
            </a:r>
            <a:r>
              <a:rPr lang="en-US" altLang="ko-KR" sz="2400" b="1" dirty="0">
                <a:solidFill>
                  <a:srgbClr val="404040"/>
                </a:solidFill>
                <a:latin typeface="+mn-ea"/>
              </a:rPr>
              <a:t> </a:t>
            </a:r>
          </a:p>
        </p:txBody>
      </p:sp>
      <p:sp>
        <p:nvSpPr>
          <p:cNvPr id="4" name="날짜 개체 틀 3">
            <a:extLst>
              <a:ext uri="{FF2B5EF4-FFF2-40B4-BE49-F238E27FC236}">
                <a16:creationId xmlns:a16="http://schemas.microsoft.com/office/drawing/2014/main" id="{A540F8DE-C952-90AA-AAFA-1B246FA8A22C}"/>
              </a:ext>
            </a:extLst>
          </p:cNvPr>
          <p:cNvSpPr>
            <a:spLocks noGrp="1"/>
          </p:cNvSpPr>
          <p:nvPr>
            <p:ph type="dt" sz="half" idx="10"/>
          </p:nvPr>
        </p:nvSpPr>
        <p:spPr/>
        <p:txBody>
          <a:bodyPr/>
          <a:lstStyle/>
          <a:p>
            <a:fld id="{4DC77824-31CF-4EFC-A4E1-67181CD8CA2D}" type="datetime1">
              <a:rPr lang="en-US" altLang="ko-KR" smtClean="0"/>
              <a:t>3/25/2026</a:t>
            </a:fld>
            <a:endParaRPr lang="en-US"/>
          </a:p>
        </p:txBody>
      </p:sp>
      <p:sp>
        <p:nvSpPr>
          <p:cNvPr id="5" name="바닥글 개체 틀 4">
            <a:extLst>
              <a:ext uri="{FF2B5EF4-FFF2-40B4-BE49-F238E27FC236}">
                <a16:creationId xmlns:a16="http://schemas.microsoft.com/office/drawing/2014/main" id="{3C6AA169-C229-FC45-78CD-506D1289F3E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A9E287CA-E392-98B7-BE56-7FB06C0BC5B8}"/>
              </a:ext>
            </a:extLst>
          </p:cNvPr>
          <p:cNvSpPr>
            <a:spLocks noGrp="1"/>
          </p:cNvSpPr>
          <p:nvPr>
            <p:ph type="sldNum" sz="quarter" idx="12"/>
          </p:nvPr>
        </p:nvSpPr>
        <p:spPr/>
        <p:txBody>
          <a:bodyPr/>
          <a:lstStyle/>
          <a:p>
            <a:fld id="{55635D17-9D19-4B1E-86C2-B9D6296E4AF7}" type="slidenum">
              <a:rPr lang="en-US" smtClean="0"/>
              <a:pPr/>
              <a:t>2</a:t>
            </a:fld>
            <a:endParaRPr lang="en-US" dirty="0"/>
          </a:p>
        </p:txBody>
      </p:sp>
    </p:spTree>
    <p:extLst>
      <p:ext uri="{BB962C8B-B14F-4D97-AF65-F5344CB8AC3E}">
        <p14:creationId xmlns:p14="http://schemas.microsoft.com/office/powerpoint/2010/main" val="1534092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409EC7-5240-6DEF-574B-D69537E0E2A9}"/>
              </a:ext>
            </a:extLst>
          </p:cNvPr>
          <p:cNvSpPr>
            <a:spLocks noGrp="1"/>
          </p:cNvSpPr>
          <p:nvPr>
            <p:ph type="title"/>
          </p:nvPr>
        </p:nvSpPr>
        <p:spPr/>
        <p:txBody>
          <a:bodyPr>
            <a:normAutofit fontScale="90000"/>
          </a:bodyPr>
          <a:lstStyle/>
          <a:p>
            <a:r>
              <a:rPr lang="en-US" altLang="ko-KR" dirty="0"/>
              <a:t>Process</a:t>
            </a:r>
            <a:r>
              <a:rPr lang="ko-KR" altLang="en-US" dirty="0"/>
              <a:t>의 필요성</a:t>
            </a:r>
          </a:p>
        </p:txBody>
      </p:sp>
      <p:sp>
        <p:nvSpPr>
          <p:cNvPr id="3" name="내용 개체 틀 2">
            <a:extLst>
              <a:ext uri="{FF2B5EF4-FFF2-40B4-BE49-F238E27FC236}">
                <a16:creationId xmlns:a16="http://schemas.microsoft.com/office/drawing/2014/main" id="{41CCEB7D-A0D7-B423-1002-E2FA782195FC}"/>
              </a:ext>
            </a:extLst>
          </p:cNvPr>
          <p:cNvSpPr>
            <a:spLocks noGrp="1"/>
          </p:cNvSpPr>
          <p:nvPr>
            <p:ph idx="1"/>
          </p:nvPr>
        </p:nvSpPr>
        <p:spPr>
          <a:xfrm>
            <a:off x="756557" y="994352"/>
            <a:ext cx="10876120" cy="4968694"/>
          </a:xfrm>
        </p:spPr>
        <p:txBody>
          <a:bodyPr>
            <a:noAutofit/>
          </a:bodyPr>
          <a:lstStyle/>
          <a:p>
            <a:pPr marL="358775" indent="-358775">
              <a:lnSpc>
                <a:spcPts val="2300"/>
              </a:lnSpc>
              <a:buFont typeface="+mj-ea"/>
              <a:buAutoNum type="circleNumDbPlain"/>
            </a:pPr>
            <a:r>
              <a:rPr lang="ko-KR" altLang="en-US" sz="1800" b="1" dirty="0"/>
              <a:t>안전</a:t>
            </a:r>
            <a:r>
              <a:rPr lang="en-US" altLang="ko-KR" sz="1800" dirty="0"/>
              <a:t>: </a:t>
            </a:r>
            <a:r>
              <a:rPr lang="ko-KR" altLang="en-US" sz="1600" dirty="0"/>
              <a:t>자동차는 사람들의 생명과 안전에 직접적인 영향을 미치는 제품</a:t>
            </a:r>
            <a:r>
              <a:rPr lang="en-US" altLang="ko-KR" sz="1600" dirty="0"/>
              <a:t>. </a:t>
            </a:r>
            <a:r>
              <a:rPr lang="ko-KR" altLang="en-US" sz="1600" dirty="0"/>
              <a:t>안전은 자동차 개발 프로세스에서 가장 중요</a:t>
            </a:r>
            <a:r>
              <a:rPr lang="en-US" altLang="ko-KR" sz="1600" dirty="0"/>
              <a:t>. </a:t>
            </a:r>
            <a:r>
              <a:rPr lang="ko-KR" altLang="en-US" sz="1600" dirty="0"/>
              <a:t>철저한 테스트와 시뮬레이션을 통해 안전성을 보장할 수 있음</a:t>
            </a:r>
            <a:r>
              <a:rPr lang="en-US" altLang="ko-KR" sz="1600" dirty="0"/>
              <a:t>. </a:t>
            </a:r>
            <a:r>
              <a:rPr lang="ko-KR" altLang="en-US" sz="1600" dirty="0"/>
              <a:t>부분적인 개발이나 테스트 과정을 간과하는 경우</a:t>
            </a:r>
            <a:r>
              <a:rPr lang="en-US" altLang="ko-KR" sz="1600" dirty="0"/>
              <a:t>, </a:t>
            </a:r>
            <a:r>
              <a:rPr lang="ko-KR" altLang="en-US" sz="1600" dirty="0"/>
              <a:t>심각한 안전 문제 발생</a:t>
            </a:r>
            <a:r>
              <a:rPr lang="en-US" altLang="ko-KR" sz="1600" dirty="0"/>
              <a:t>.</a:t>
            </a:r>
          </a:p>
          <a:p>
            <a:pPr marL="358775" indent="-358775">
              <a:lnSpc>
                <a:spcPts val="2300"/>
              </a:lnSpc>
              <a:buFont typeface="+mj-ea"/>
              <a:buAutoNum type="circleNumDbPlain"/>
            </a:pPr>
            <a:r>
              <a:rPr lang="ko-KR" altLang="en-US" sz="1800" b="1" dirty="0"/>
              <a:t>품질</a:t>
            </a:r>
            <a:r>
              <a:rPr lang="en-US" altLang="ko-KR" sz="1800" dirty="0"/>
              <a:t>: </a:t>
            </a:r>
            <a:r>
              <a:rPr lang="ko-KR" altLang="en-US" sz="1600" dirty="0"/>
              <a:t>자동차는 고객에게 오랜 시간 동안 신뢰할 수 있는 서비스를 제공해야 하므로 품질은 매우 중요</a:t>
            </a:r>
            <a:r>
              <a:rPr lang="en-US" altLang="ko-KR" sz="1600" dirty="0"/>
              <a:t>. </a:t>
            </a:r>
            <a:r>
              <a:rPr lang="ko-KR" altLang="en-US" sz="1600" dirty="0"/>
              <a:t>품질을 유지하기 위해서는 설계</a:t>
            </a:r>
            <a:r>
              <a:rPr lang="en-US" altLang="ko-KR" sz="1600" dirty="0"/>
              <a:t>, </a:t>
            </a:r>
            <a:r>
              <a:rPr lang="ko-KR" altLang="en-US" sz="1600" dirty="0"/>
              <a:t>제조</a:t>
            </a:r>
            <a:r>
              <a:rPr lang="en-US" altLang="ko-KR" sz="1600" dirty="0"/>
              <a:t>, </a:t>
            </a:r>
            <a:r>
              <a:rPr lang="ko-KR" altLang="en-US" sz="1600" dirty="0"/>
              <a:t>테스트</a:t>
            </a:r>
            <a:r>
              <a:rPr lang="en-US" altLang="ko-KR" sz="1600" dirty="0"/>
              <a:t>, </a:t>
            </a:r>
            <a:r>
              <a:rPr lang="ko-KR" altLang="en-US" sz="1600" dirty="0"/>
              <a:t>그리고 피드백 반영 등의 단계를 포함하는 프로세스가 필요</a:t>
            </a:r>
            <a:r>
              <a:rPr lang="en-US" altLang="ko-KR" sz="1600" dirty="0"/>
              <a:t>. </a:t>
            </a:r>
            <a:endParaRPr lang="en-US" altLang="ko-KR" sz="1800" dirty="0"/>
          </a:p>
          <a:p>
            <a:pPr marL="358775" indent="-358775">
              <a:lnSpc>
                <a:spcPts val="2300"/>
              </a:lnSpc>
              <a:buFont typeface="+mj-ea"/>
              <a:buAutoNum type="circleNumDbPlain"/>
            </a:pPr>
            <a:r>
              <a:rPr lang="ko-KR" altLang="en-US" sz="1800" b="1" dirty="0"/>
              <a:t>비용 효율성</a:t>
            </a:r>
            <a:r>
              <a:rPr lang="en-US" altLang="ko-KR" sz="1800" dirty="0"/>
              <a:t>: </a:t>
            </a:r>
            <a:r>
              <a:rPr lang="ko-KR" altLang="en-US" sz="1600" dirty="0"/>
              <a:t>제품을 개발하고 생산하는 데에는 막대한 비용이 필요해서 효율적인 개발 프로세스를 통해 비용을 절감하고 이익을 극대화해야 함</a:t>
            </a:r>
            <a:r>
              <a:rPr lang="en-US" altLang="ko-KR" sz="1600" dirty="0"/>
              <a:t>. </a:t>
            </a:r>
            <a:r>
              <a:rPr lang="ko-KR" altLang="en-US" sz="1600" dirty="0"/>
              <a:t>초기 단계부터 잠재적인 문제를 파악하고 해결함으로써</a:t>
            </a:r>
            <a:r>
              <a:rPr lang="en-US" altLang="ko-KR" sz="1600" dirty="0"/>
              <a:t>, </a:t>
            </a:r>
            <a:r>
              <a:rPr lang="ko-KR" altLang="en-US" sz="1600" dirty="0"/>
              <a:t>후속 단계에서 비용 절감 가능</a:t>
            </a:r>
            <a:r>
              <a:rPr lang="en-US" altLang="ko-KR" sz="1600" dirty="0"/>
              <a:t>.</a:t>
            </a:r>
          </a:p>
          <a:p>
            <a:pPr marL="358775" indent="-358775">
              <a:lnSpc>
                <a:spcPts val="2300"/>
              </a:lnSpc>
              <a:buFont typeface="+mj-ea"/>
              <a:buAutoNum type="circleNumDbPlain"/>
            </a:pPr>
            <a:r>
              <a:rPr lang="ko-KR" altLang="en-US" sz="1800" b="1" dirty="0"/>
              <a:t>고객 만족도</a:t>
            </a:r>
            <a:r>
              <a:rPr lang="en-US" altLang="ko-KR" sz="1800" dirty="0"/>
              <a:t>: </a:t>
            </a:r>
            <a:r>
              <a:rPr lang="ko-KR" altLang="en-US" sz="1800" dirty="0"/>
              <a:t>고객의 </a:t>
            </a:r>
            <a:r>
              <a:rPr lang="ko-KR" altLang="en-US" sz="1600" dirty="0"/>
              <a:t>요구와 기대를 충족시키기 위해서는 제품이 신뢰성 있고 편리해야 함</a:t>
            </a:r>
            <a:r>
              <a:rPr lang="en-US" altLang="ko-KR" sz="1600" dirty="0"/>
              <a:t>. </a:t>
            </a:r>
            <a:r>
              <a:rPr lang="ko-KR" altLang="en-US" sz="1600" dirty="0"/>
              <a:t>자동차 개발 프로세스는 이러한 고객 요구사항을 분석하고 반영하여 최종 제품을 만들어내는 중요한 단계</a:t>
            </a:r>
            <a:r>
              <a:rPr lang="en-US" altLang="ko-KR" sz="1600" dirty="0"/>
              <a:t>. </a:t>
            </a:r>
            <a:r>
              <a:rPr lang="ko-KR" altLang="en-US" sz="1600" dirty="0"/>
              <a:t>고객들의 피드백을 수용하고 이를 개선에 반영하는 것이 더 나은 제품과 높은 만족도를 얻는 데에 필수적</a:t>
            </a:r>
            <a:r>
              <a:rPr lang="en-US" altLang="ko-KR" sz="1600" dirty="0"/>
              <a:t>.</a:t>
            </a:r>
          </a:p>
          <a:p>
            <a:pPr marL="358775" indent="-358775">
              <a:lnSpc>
                <a:spcPts val="2300"/>
              </a:lnSpc>
              <a:buFont typeface="+mj-ea"/>
              <a:buAutoNum type="circleNumDbPlain"/>
            </a:pPr>
            <a:r>
              <a:rPr lang="ko-KR" altLang="en-US" sz="1800" b="1" dirty="0"/>
              <a:t>규제 준수</a:t>
            </a:r>
            <a:r>
              <a:rPr lang="en-US" altLang="ko-KR" sz="1800" dirty="0"/>
              <a:t>: </a:t>
            </a:r>
            <a:r>
              <a:rPr lang="ko-KR" altLang="en-US" sz="1600" dirty="0"/>
              <a:t>자동차 산업은 법</a:t>
            </a:r>
            <a:r>
              <a:rPr lang="en-US" altLang="ko-KR" sz="1600" dirty="0"/>
              <a:t>, </a:t>
            </a:r>
            <a:r>
              <a:rPr lang="ko-KR" altLang="en-US" sz="1600" dirty="0"/>
              <a:t>제도</a:t>
            </a:r>
            <a:r>
              <a:rPr lang="en-US" altLang="ko-KR" sz="1600" dirty="0"/>
              <a:t>, </a:t>
            </a:r>
            <a:r>
              <a:rPr lang="ko-KR" altLang="en-US" sz="1600" dirty="0"/>
              <a:t>규제가 매우 엄격</a:t>
            </a:r>
            <a:r>
              <a:rPr lang="en-US" altLang="ko-KR" sz="1600" dirty="0"/>
              <a:t>. </a:t>
            </a:r>
            <a:r>
              <a:rPr lang="ko-KR" altLang="en-US" sz="1600" dirty="0"/>
              <a:t>각종 안전</a:t>
            </a:r>
            <a:r>
              <a:rPr lang="en-US" altLang="ko-KR" sz="1600" dirty="0"/>
              <a:t>, </a:t>
            </a:r>
            <a:r>
              <a:rPr lang="ko-KR" altLang="en-US" sz="1600" dirty="0"/>
              <a:t>환경</a:t>
            </a:r>
            <a:r>
              <a:rPr lang="en-US" altLang="ko-KR" sz="1600" dirty="0"/>
              <a:t>, </a:t>
            </a:r>
            <a:r>
              <a:rPr lang="ko-KR" altLang="en-US" sz="1600" dirty="0"/>
              <a:t>품질 규제를 준수하지 않으면 제품을 시장에 출시할 수 없음</a:t>
            </a:r>
            <a:r>
              <a:rPr lang="en-US" altLang="ko-KR" sz="1600" dirty="0"/>
              <a:t>. </a:t>
            </a:r>
            <a:r>
              <a:rPr lang="ko-KR" altLang="en-US" sz="1600" dirty="0"/>
              <a:t>이를 준수하지 않으면 법적 문제 뿐만 아니라 브랜드 이미지에도 심각한 손상</a:t>
            </a:r>
            <a:r>
              <a:rPr lang="en-US" altLang="ko-KR" sz="1600" dirty="0"/>
              <a:t>.</a:t>
            </a:r>
            <a:endParaRPr lang="en-US" altLang="ko-KR" sz="1800" dirty="0"/>
          </a:p>
          <a:p>
            <a:pPr marL="358775" indent="-358775">
              <a:lnSpc>
                <a:spcPts val="2300"/>
              </a:lnSpc>
              <a:buFont typeface="+mj-ea"/>
              <a:buAutoNum type="circleNumDbPlain"/>
            </a:pPr>
            <a:r>
              <a:rPr lang="en-US" altLang="ko-KR" sz="1800" b="1" dirty="0"/>
              <a:t>Supplier</a:t>
            </a:r>
            <a:r>
              <a:rPr lang="ko-KR" altLang="en-US" sz="1800" b="1" dirty="0"/>
              <a:t>와 협업</a:t>
            </a:r>
            <a:r>
              <a:rPr lang="en-US" altLang="ko-KR" sz="1800" dirty="0"/>
              <a:t>: </a:t>
            </a:r>
            <a:r>
              <a:rPr lang="ko-KR" altLang="en-US" sz="1600" dirty="0"/>
              <a:t>개발업무 세분화 및 업무 분장</a:t>
            </a:r>
            <a:r>
              <a:rPr lang="en-US" altLang="ko-KR" sz="1600" dirty="0"/>
              <a:t>, </a:t>
            </a:r>
            <a:r>
              <a:rPr lang="ko-KR" altLang="en-US" sz="1600" dirty="0"/>
              <a:t>업무별 산출물 정의</a:t>
            </a:r>
            <a:r>
              <a:rPr lang="en-US" altLang="ko-KR" sz="1600" dirty="0"/>
              <a:t>, </a:t>
            </a:r>
            <a:r>
              <a:rPr lang="ko-KR" altLang="en-US" sz="1600" dirty="0"/>
              <a:t>모니터링 및 통제 기법</a:t>
            </a:r>
            <a:r>
              <a:rPr lang="en-US" altLang="ko-KR" sz="1600" dirty="0"/>
              <a:t>, Milestone </a:t>
            </a:r>
            <a:r>
              <a:rPr lang="ko-KR" altLang="en-US" sz="1600" dirty="0"/>
              <a:t>준수</a:t>
            </a:r>
          </a:p>
        </p:txBody>
      </p:sp>
      <p:sp>
        <p:nvSpPr>
          <p:cNvPr id="4" name="날짜 개체 틀 3">
            <a:extLst>
              <a:ext uri="{FF2B5EF4-FFF2-40B4-BE49-F238E27FC236}">
                <a16:creationId xmlns:a16="http://schemas.microsoft.com/office/drawing/2014/main" id="{8C31AB58-9C7C-266C-7D77-B4C0835EDE36}"/>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8B95DB43-5CB8-4DA5-2E16-5795C08F75A4}"/>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F30DBDB6-CDFE-504B-51B3-7AD9C0D9E402}"/>
              </a:ext>
            </a:extLst>
          </p:cNvPr>
          <p:cNvSpPr>
            <a:spLocks noGrp="1"/>
          </p:cNvSpPr>
          <p:nvPr>
            <p:ph type="sldNum" sz="quarter" idx="12"/>
          </p:nvPr>
        </p:nvSpPr>
        <p:spPr/>
        <p:txBody>
          <a:bodyPr/>
          <a:lstStyle/>
          <a:p>
            <a:fld id="{55635D17-9D19-4B1E-86C2-B9D6296E4AF7}" type="slidenum">
              <a:rPr lang="en-US" smtClean="0"/>
              <a:pPr/>
              <a:t>3</a:t>
            </a:fld>
            <a:endParaRPr lang="en-US" dirty="0"/>
          </a:p>
        </p:txBody>
      </p:sp>
    </p:spTree>
    <p:extLst>
      <p:ext uri="{BB962C8B-B14F-4D97-AF65-F5344CB8AC3E}">
        <p14:creationId xmlns:p14="http://schemas.microsoft.com/office/powerpoint/2010/main" val="222344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96A4-FD68-6BB8-6A6D-62296AE79CB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D39B63D-6209-D87F-5EDE-6F08E6AE1575}"/>
              </a:ext>
            </a:extLst>
          </p:cNvPr>
          <p:cNvSpPr>
            <a:spLocks noGrp="1"/>
          </p:cNvSpPr>
          <p:nvPr>
            <p:ph type="title"/>
          </p:nvPr>
        </p:nvSpPr>
        <p:spPr/>
        <p:txBody>
          <a:bodyPr>
            <a:normAutofit fontScale="90000"/>
          </a:bodyPr>
          <a:lstStyle/>
          <a:p>
            <a:r>
              <a:rPr lang="en-US" altLang="ko-KR" dirty="0"/>
              <a:t>Process</a:t>
            </a:r>
            <a:r>
              <a:rPr lang="ko-KR" altLang="en-US" dirty="0"/>
              <a:t> 개요</a:t>
            </a:r>
          </a:p>
        </p:txBody>
      </p:sp>
      <p:sp>
        <p:nvSpPr>
          <p:cNvPr id="4" name="날짜 개체 틀 3">
            <a:extLst>
              <a:ext uri="{FF2B5EF4-FFF2-40B4-BE49-F238E27FC236}">
                <a16:creationId xmlns:a16="http://schemas.microsoft.com/office/drawing/2014/main" id="{4DCE912F-1484-54C6-A578-720F92D195E0}"/>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E2AE16CE-4F76-ECB0-7434-9A2372A09477}"/>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EE846FB3-724A-8BB9-512F-C410465065EF}"/>
              </a:ext>
            </a:extLst>
          </p:cNvPr>
          <p:cNvSpPr>
            <a:spLocks noGrp="1"/>
          </p:cNvSpPr>
          <p:nvPr>
            <p:ph type="sldNum" sz="quarter" idx="12"/>
          </p:nvPr>
        </p:nvSpPr>
        <p:spPr/>
        <p:txBody>
          <a:bodyPr/>
          <a:lstStyle/>
          <a:p>
            <a:fld id="{55635D17-9D19-4B1E-86C2-B9D6296E4AF7}" type="slidenum">
              <a:rPr lang="en-US" smtClean="0"/>
              <a:pPr/>
              <a:t>4</a:t>
            </a:fld>
            <a:endParaRPr lang="en-US" dirty="0"/>
          </a:p>
        </p:txBody>
      </p:sp>
      <p:pic>
        <p:nvPicPr>
          <p:cNvPr id="51" name="그림 50">
            <a:extLst>
              <a:ext uri="{FF2B5EF4-FFF2-40B4-BE49-F238E27FC236}">
                <a16:creationId xmlns:a16="http://schemas.microsoft.com/office/drawing/2014/main" id="{5AC9D4E1-E71E-8A0A-22F2-C16FBF8874A6}"/>
              </a:ext>
            </a:extLst>
          </p:cNvPr>
          <p:cNvPicPr>
            <a:picLocks noChangeAspect="1"/>
          </p:cNvPicPr>
          <p:nvPr/>
        </p:nvPicPr>
        <p:blipFill>
          <a:blip r:embed="rId2"/>
          <a:stretch>
            <a:fillRect/>
          </a:stretch>
        </p:blipFill>
        <p:spPr>
          <a:xfrm>
            <a:off x="1514760" y="791101"/>
            <a:ext cx="9163082" cy="5066215"/>
          </a:xfrm>
          <a:prstGeom prst="rect">
            <a:avLst/>
          </a:prstGeom>
        </p:spPr>
      </p:pic>
    </p:spTree>
    <p:extLst>
      <p:ext uri="{BB962C8B-B14F-4D97-AF65-F5344CB8AC3E}">
        <p14:creationId xmlns:p14="http://schemas.microsoft.com/office/powerpoint/2010/main" val="1947668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B2B566-BF4E-4412-F6C2-D91AA5C815E1}"/>
              </a:ext>
            </a:extLst>
          </p:cNvPr>
          <p:cNvSpPr>
            <a:spLocks noGrp="1"/>
          </p:cNvSpPr>
          <p:nvPr>
            <p:ph type="title"/>
          </p:nvPr>
        </p:nvSpPr>
        <p:spPr/>
        <p:txBody>
          <a:bodyPr>
            <a:normAutofit fontScale="90000"/>
          </a:bodyPr>
          <a:lstStyle/>
          <a:p>
            <a:r>
              <a:rPr lang="ko-KR" altLang="en-US" dirty="0"/>
              <a:t>기획 단계</a:t>
            </a:r>
          </a:p>
        </p:txBody>
      </p:sp>
      <p:sp>
        <p:nvSpPr>
          <p:cNvPr id="3" name="내용 개체 틀 2">
            <a:extLst>
              <a:ext uri="{FF2B5EF4-FFF2-40B4-BE49-F238E27FC236}">
                <a16:creationId xmlns:a16="http://schemas.microsoft.com/office/drawing/2014/main" id="{D45CF87C-970C-C119-6322-F7AEBAFB3EF3}"/>
              </a:ext>
            </a:extLst>
          </p:cNvPr>
          <p:cNvSpPr>
            <a:spLocks noGrp="1"/>
          </p:cNvSpPr>
          <p:nvPr>
            <p:ph idx="1"/>
          </p:nvPr>
        </p:nvSpPr>
        <p:spPr/>
        <p:txBody>
          <a:bodyPr>
            <a:normAutofit/>
          </a:bodyPr>
          <a:lstStyle/>
          <a:p>
            <a:pPr>
              <a:lnSpc>
                <a:spcPct val="100000"/>
              </a:lnSpc>
            </a:pPr>
            <a:r>
              <a:rPr lang="ko-KR" altLang="en-US" sz="2400" dirty="0"/>
              <a:t>자동차 생명 주기 전체 기획</a:t>
            </a:r>
          </a:p>
          <a:p>
            <a:pPr lvl="1">
              <a:lnSpc>
                <a:spcPct val="100000"/>
              </a:lnSpc>
            </a:pPr>
            <a:r>
              <a:rPr lang="ko-KR" altLang="en-US" sz="2000" dirty="0"/>
              <a:t>보증 수명 </a:t>
            </a:r>
            <a:r>
              <a:rPr lang="en-US" altLang="ko-KR" sz="2000" dirty="0"/>
              <a:t>+ </a:t>
            </a:r>
            <a:r>
              <a:rPr lang="ko-KR" altLang="en-US" sz="2000" dirty="0"/>
              <a:t>폐차 기간 </a:t>
            </a:r>
            <a:r>
              <a:rPr lang="en-US" altLang="ko-KR" sz="2000" dirty="0"/>
              <a:t>: 20</a:t>
            </a:r>
            <a:r>
              <a:rPr lang="ko-KR" altLang="en-US" sz="2000" dirty="0"/>
              <a:t>년 이상</a:t>
            </a:r>
          </a:p>
          <a:p>
            <a:pPr>
              <a:lnSpc>
                <a:spcPct val="100000"/>
              </a:lnSpc>
            </a:pPr>
            <a:r>
              <a:rPr lang="ko-KR" altLang="en-US" sz="2400" dirty="0"/>
              <a:t>상품 기획</a:t>
            </a:r>
          </a:p>
          <a:p>
            <a:pPr lvl="1">
              <a:lnSpc>
                <a:spcPct val="100000"/>
              </a:lnSpc>
            </a:pPr>
            <a:r>
              <a:rPr lang="ko-KR" altLang="en-US" sz="2000" dirty="0"/>
              <a:t>세계 산업 동향</a:t>
            </a:r>
            <a:r>
              <a:rPr lang="en-US" altLang="ko-KR" sz="2000" dirty="0"/>
              <a:t>, </a:t>
            </a:r>
            <a:r>
              <a:rPr lang="ko-KR" altLang="en-US" sz="2000" dirty="0"/>
              <a:t>자동차업계 동향</a:t>
            </a:r>
            <a:r>
              <a:rPr lang="en-US" altLang="ko-KR" sz="2000" dirty="0"/>
              <a:t>, </a:t>
            </a:r>
            <a:r>
              <a:rPr lang="ko-KR" altLang="en-US" sz="2000" dirty="0"/>
              <a:t>경쟁사 동향</a:t>
            </a:r>
          </a:p>
          <a:p>
            <a:pPr lvl="1">
              <a:lnSpc>
                <a:spcPct val="100000"/>
              </a:lnSpc>
            </a:pPr>
            <a:r>
              <a:rPr lang="ko-KR" altLang="en-US" sz="2000" dirty="0"/>
              <a:t>자사의 기술력</a:t>
            </a:r>
            <a:r>
              <a:rPr lang="en-US" altLang="ko-KR" sz="2000" dirty="0"/>
              <a:t>, </a:t>
            </a:r>
            <a:r>
              <a:rPr lang="ko-KR" altLang="en-US" sz="2000" dirty="0"/>
              <a:t>매출 목표 등 분석</a:t>
            </a:r>
          </a:p>
          <a:p>
            <a:pPr lvl="1">
              <a:lnSpc>
                <a:spcPct val="100000"/>
              </a:lnSpc>
            </a:pPr>
            <a:r>
              <a:rPr lang="ko-KR" altLang="en-US" sz="2000" dirty="0"/>
              <a:t>상품 기획서 </a:t>
            </a:r>
            <a:r>
              <a:rPr lang="en-US" altLang="ko-KR" sz="2000" dirty="0"/>
              <a:t>(</a:t>
            </a:r>
            <a:r>
              <a:rPr lang="ko-KR" altLang="en-US" sz="2000" dirty="0"/>
              <a:t>개발 목표 및 계획 수립</a:t>
            </a:r>
            <a:r>
              <a:rPr lang="en-US" altLang="ko-KR" sz="2000" dirty="0"/>
              <a:t>) </a:t>
            </a:r>
          </a:p>
          <a:p>
            <a:pPr lvl="1">
              <a:lnSpc>
                <a:spcPct val="100000"/>
              </a:lnSpc>
            </a:pPr>
            <a:r>
              <a:rPr lang="ko-KR" altLang="en-US" sz="2000" dirty="0"/>
              <a:t>시장조사 </a:t>
            </a:r>
            <a:r>
              <a:rPr lang="en-US" altLang="ko-KR" sz="2000" dirty="0">
                <a:sym typeface="Wingdings" panose="05000000000000000000" pitchFamily="2" charset="2"/>
              </a:rPr>
              <a:t> </a:t>
            </a:r>
            <a:r>
              <a:rPr lang="ko-KR" altLang="en-US" sz="2000" dirty="0"/>
              <a:t>중장기 상품 기획 </a:t>
            </a:r>
            <a:r>
              <a:rPr lang="en-US" altLang="ko-KR" sz="2000" dirty="0">
                <a:sym typeface="Wingdings" panose="05000000000000000000" pitchFamily="2" charset="2"/>
              </a:rPr>
              <a:t></a:t>
            </a:r>
            <a:r>
              <a:rPr lang="ko-KR" altLang="en-US" sz="2000" dirty="0"/>
              <a:t> 제품 개발 상세 계획 </a:t>
            </a:r>
            <a:r>
              <a:rPr lang="en-US" altLang="ko-KR" sz="2000" dirty="0">
                <a:sym typeface="Wingdings" panose="05000000000000000000" pitchFamily="2" charset="2"/>
              </a:rPr>
              <a:t></a:t>
            </a:r>
            <a:r>
              <a:rPr lang="ko-KR" altLang="en-US" sz="2000" dirty="0"/>
              <a:t> 총괄 </a:t>
            </a:r>
            <a:r>
              <a:rPr lang="en-US" altLang="ko-KR" sz="2000" dirty="0"/>
              <a:t>PM </a:t>
            </a:r>
            <a:r>
              <a:rPr lang="ko-KR" altLang="en-US" sz="2000" dirty="0"/>
              <a:t>임명 </a:t>
            </a:r>
            <a:r>
              <a:rPr lang="en-US" altLang="ko-KR" sz="2000" dirty="0">
                <a:sym typeface="Wingdings" panose="05000000000000000000" pitchFamily="2" charset="2"/>
              </a:rPr>
              <a:t> </a:t>
            </a:r>
            <a:r>
              <a:rPr lang="ko-KR" altLang="en-US" sz="2000" dirty="0"/>
              <a:t>개발 조직 구성 </a:t>
            </a:r>
            <a:r>
              <a:rPr lang="en-US" altLang="ko-KR" sz="2000" dirty="0">
                <a:sym typeface="Wingdings" panose="05000000000000000000" pitchFamily="2" charset="2"/>
              </a:rPr>
              <a:t> </a:t>
            </a:r>
            <a:r>
              <a:rPr lang="ko-KR" altLang="en-US" sz="2000" dirty="0"/>
              <a:t>부문별 </a:t>
            </a:r>
            <a:r>
              <a:rPr lang="en-US" altLang="ko-KR" sz="2000" dirty="0"/>
              <a:t>PM </a:t>
            </a:r>
            <a:r>
              <a:rPr lang="ko-KR" altLang="en-US" sz="2000" dirty="0"/>
              <a:t>임명 </a:t>
            </a:r>
            <a:r>
              <a:rPr lang="en-US" altLang="ko-KR" sz="2000" dirty="0">
                <a:sym typeface="Wingdings" panose="05000000000000000000" pitchFamily="2" charset="2"/>
              </a:rPr>
              <a:t></a:t>
            </a:r>
            <a:r>
              <a:rPr lang="ko-KR" altLang="en-US" sz="2000" dirty="0"/>
              <a:t> 신차 상품 </a:t>
            </a:r>
            <a:r>
              <a:rPr lang="en-US" altLang="ko-KR" sz="2000" dirty="0"/>
              <a:t>Concept </a:t>
            </a:r>
            <a:r>
              <a:rPr lang="ko-KR" altLang="en-US" sz="2000" dirty="0"/>
              <a:t>개발</a:t>
            </a:r>
          </a:p>
          <a:p>
            <a:pPr>
              <a:lnSpc>
                <a:spcPct val="100000"/>
              </a:lnSpc>
            </a:pPr>
            <a:r>
              <a:rPr lang="ko-KR" altLang="en-US" sz="2400" dirty="0"/>
              <a:t>개발 목표 정의</a:t>
            </a:r>
          </a:p>
          <a:p>
            <a:pPr>
              <a:lnSpc>
                <a:spcPct val="100000"/>
              </a:lnSpc>
            </a:pPr>
            <a:endParaRPr lang="ko-KR" altLang="en-US" sz="2400" dirty="0"/>
          </a:p>
        </p:txBody>
      </p:sp>
      <p:sp>
        <p:nvSpPr>
          <p:cNvPr id="4" name="날짜 개체 틀 3">
            <a:extLst>
              <a:ext uri="{FF2B5EF4-FFF2-40B4-BE49-F238E27FC236}">
                <a16:creationId xmlns:a16="http://schemas.microsoft.com/office/drawing/2014/main" id="{FBCED846-5CFE-CC82-50B5-5DD297745A3A}"/>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15F4CC60-F2FC-B34C-996D-EBEE859CC625}"/>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68FEAFFF-5DF9-D940-F934-01D49EA74344}"/>
              </a:ext>
            </a:extLst>
          </p:cNvPr>
          <p:cNvSpPr>
            <a:spLocks noGrp="1"/>
          </p:cNvSpPr>
          <p:nvPr>
            <p:ph type="sldNum" sz="quarter" idx="12"/>
          </p:nvPr>
        </p:nvSpPr>
        <p:spPr/>
        <p:txBody>
          <a:bodyPr/>
          <a:lstStyle/>
          <a:p>
            <a:fld id="{55635D17-9D19-4B1E-86C2-B9D6296E4AF7}" type="slidenum">
              <a:rPr lang="en-US" smtClean="0"/>
              <a:pPr/>
              <a:t>5</a:t>
            </a:fld>
            <a:endParaRPr lang="en-US" dirty="0"/>
          </a:p>
        </p:txBody>
      </p:sp>
      <p:pic>
        <p:nvPicPr>
          <p:cNvPr id="9" name="그림 8">
            <a:extLst>
              <a:ext uri="{FF2B5EF4-FFF2-40B4-BE49-F238E27FC236}">
                <a16:creationId xmlns:a16="http://schemas.microsoft.com/office/drawing/2014/main" id="{F746E6A4-91BC-B6FB-186E-B866C44630E3}"/>
              </a:ext>
            </a:extLst>
          </p:cNvPr>
          <p:cNvPicPr>
            <a:picLocks noChangeAspect="1"/>
          </p:cNvPicPr>
          <p:nvPr/>
        </p:nvPicPr>
        <p:blipFill>
          <a:blip r:embed="rId2"/>
          <a:stretch>
            <a:fillRect/>
          </a:stretch>
        </p:blipFill>
        <p:spPr>
          <a:xfrm>
            <a:off x="1239858" y="4435848"/>
            <a:ext cx="7657240" cy="1511939"/>
          </a:xfrm>
          <a:prstGeom prst="rect">
            <a:avLst/>
          </a:prstGeom>
        </p:spPr>
      </p:pic>
    </p:spTree>
    <p:extLst>
      <p:ext uri="{BB962C8B-B14F-4D97-AF65-F5344CB8AC3E}">
        <p14:creationId xmlns:p14="http://schemas.microsoft.com/office/powerpoint/2010/main" val="2889525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B2B566-BF4E-4412-F6C2-D91AA5C815E1}"/>
              </a:ext>
            </a:extLst>
          </p:cNvPr>
          <p:cNvSpPr>
            <a:spLocks noGrp="1"/>
          </p:cNvSpPr>
          <p:nvPr>
            <p:ph type="title"/>
          </p:nvPr>
        </p:nvSpPr>
        <p:spPr/>
        <p:txBody>
          <a:bodyPr>
            <a:normAutofit fontScale="90000"/>
          </a:bodyPr>
          <a:lstStyle/>
          <a:p>
            <a:r>
              <a:rPr lang="ko-KR" altLang="en-US" dirty="0"/>
              <a:t>선행개발 단계</a:t>
            </a:r>
          </a:p>
        </p:txBody>
      </p:sp>
      <p:sp>
        <p:nvSpPr>
          <p:cNvPr id="3" name="내용 개체 틀 2">
            <a:extLst>
              <a:ext uri="{FF2B5EF4-FFF2-40B4-BE49-F238E27FC236}">
                <a16:creationId xmlns:a16="http://schemas.microsoft.com/office/drawing/2014/main" id="{D45CF87C-970C-C119-6322-F7AEBAFB3EF3}"/>
              </a:ext>
            </a:extLst>
          </p:cNvPr>
          <p:cNvSpPr>
            <a:spLocks noGrp="1"/>
          </p:cNvSpPr>
          <p:nvPr>
            <p:ph idx="1"/>
          </p:nvPr>
        </p:nvSpPr>
        <p:spPr/>
        <p:txBody>
          <a:bodyPr>
            <a:normAutofit/>
          </a:bodyPr>
          <a:lstStyle/>
          <a:p>
            <a:r>
              <a:rPr lang="ko-KR" altLang="en-US" sz="2400" b="1" kern="0" dirty="0">
                <a:ea typeface="굴림" pitchFamily="50" charset="-127"/>
              </a:rPr>
              <a:t>선행 개발</a:t>
            </a:r>
            <a:endParaRPr lang="en-US" altLang="ko-KR" sz="3200" b="1" kern="0" dirty="0">
              <a:ea typeface="굴림" pitchFamily="50" charset="-127"/>
            </a:endParaRPr>
          </a:p>
          <a:p>
            <a:pPr lvl="1"/>
            <a:r>
              <a:rPr lang="ko-KR" altLang="en-US" sz="1800" kern="0" dirty="0">
                <a:solidFill>
                  <a:schemeClr val="tx2"/>
                </a:solidFill>
                <a:ea typeface="굴림" pitchFamily="50" charset="-127"/>
              </a:rPr>
              <a:t>중장기 미래기술 예측하여 기초 연구 또는 신기술 개발</a:t>
            </a:r>
            <a:endParaRPr lang="en-US" altLang="ko-KR" sz="1800" kern="0" dirty="0">
              <a:solidFill>
                <a:schemeClr val="tx2"/>
              </a:solidFill>
              <a:ea typeface="굴림" pitchFamily="50" charset="-127"/>
            </a:endParaRPr>
          </a:p>
          <a:p>
            <a:pPr lvl="1"/>
            <a:r>
              <a:rPr lang="en-US" altLang="ko-KR" sz="1800" kern="0" dirty="0">
                <a:solidFill>
                  <a:schemeClr val="tx2"/>
                </a:solidFill>
                <a:ea typeface="굴림" pitchFamily="50" charset="-127"/>
              </a:rPr>
              <a:t>Efficiency, Convenience, Safety</a:t>
            </a:r>
          </a:p>
          <a:p>
            <a:r>
              <a:rPr lang="en-US" altLang="ko-KR" sz="2400" b="1" kern="0" dirty="0">
                <a:ea typeface="굴림" pitchFamily="50" charset="-127"/>
              </a:rPr>
              <a:t>Concurrent Engineering</a:t>
            </a:r>
            <a:endParaRPr lang="en-US" altLang="ko-KR" sz="3200" b="1" kern="0" dirty="0">
              <a:ea typeface="굴림" pitchFamily="50" charset="-127"/>
            </a:endParaRPr>
          </a:p>
          <a:p>
            <a:pPr lvl="1"/>
            <a:r>
              <a:rPr lang="ko-KR" altLang="en-US" sz="1800" kern="0" dirty="0">
                <a:solidFill>
                  <a:schemeClr val="tx2"/>
                </a:solidFill>
                <a:ea typeface="굴림" pitchFamily="50" charset="-127"/>
              </a:rPr>
              <a:t>동력</a:t>
            </a:r>
            <a:r>
              <a:rPr lang="en-US" altLang="ko-KR" sz="1800" kern="0" dirty="0">
                <a:solidFill>
                  <a:schemeClr val="tx2"/>
                </a:solidFill>
                <a:ea typeface="굴림" pitchFamily="50" charset="-127"/>
              </a:rPr>
              <a:t> </a:t>
            </a:r>
            <a:r>
              <a:rPr lang="ko-KR" altLang="en-US" sz="1800" kern="0" dirty="0">
                <a:solidFill>
                  <a:schemeClr val="tx2"/>
                </a:solidFill>
                <a:ea typeface="굴림" pitchFamily="50" charset="-127"/>
              </a:rPr>
              <a:t>성능</a:t>
            </a:r>
            <a:r>
              <a:rPr lang="en-US" altLang="ko-KR" sz="1800" kern="0" dirty="0">
                <a:solidFill>
                  <a:schemeClr val="tx2"/>
                </a:solidFill>
                <a:ea typeface="굴림" pitchFamily="50" charset="-127"/>
              </a:rPr>
              <a:t>( Powertrain, Vehicle Platform )</a:t>
            </a:r>
            <a:r>
              <a:rPr lang="ko-KR" altLang="en-US" sz="1800" kern="0" dirty="0">
                <a:solidFill>
                  <a:schemeClr val="tx2"/>
                </a:solidFill>
                <a:ea typeface="굴림" pitchFamily="50" charset="-127"/>
              </a:rPr>
              <a:t> 중심으로</a:t>
            </a:r>
            <a:r>
              <a:rPr lang="en-US" altLang="ko-KR" sz="1800" kern="0" dirty="0">
                <a:solidFill>
                  <a:schemeClr val="tx2"/>
                </a:solidFill>
                <a:ea typeface="굴림" pitchFamily="50" charset="-127"/>
              </a:rPr>
              <a:t>  </a:t>
            </a:r>
            <a:r>
              <a:rPr lang="ko-KR" altLang="en-US" sz="1800" kern="0" dirty="0">
                <a:solidFill>
                  <a:schemeClr val="tx2"/>
                </a:solidFill>
                <a:ea typeface="굴림" pitchFamily="50" charset="-127"/>
              </a:rPr>
              <a:t>개별 도메인 신기술 동시 개발</a:t>
            </a:r>
            <a:endParaRPr lang="en-US" altLang="ko-KR" sz="1800" kern="0" dirty="0">
              <a:solidFill>
                <a:schemeClr val="tx2"/>
              </a:solidFill>
              <a:ea typeface="굴림" pitchFamily="50" charset="-127"/>
              <a:sym typeface="Wingdings" panose="05000000000000000000" pitchFamily="2" charset="2"/>
            </a:endParaRPr>
          </a:p>
          <a:p>
            <a:pPr>
              <a:lnSpc>
                <a:spcPct val="100000"/>
              </a:lnSpc>
            </a:pPr>
            <a:endParaRPr lang="ko-KR" altLang="en-US" sz="2400" dirty="0"/>
          </a:p>
        </p:txBody>
      </p:sp>
      <p:sp>
        <p:nvSpPr>
          <p:cNvPr id="4" name="날짜 개체 틀 3">
            <a:extLst>
              <a:ext uri="{FF2B5EF4-FFF2-40B4-BE49-F238E27FC236}">
                <a16:creationId xmlns:a16="http://schemas.microsoft.com/office/drawing/2014/main" id="{FBCED846-5CFE-CC82-50B5-5DD297745A3A}"/>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15F4CC60-F2FC-B34C-996D-EBEE859CC625}"/>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68FEAFFF-5DF9-D940-F934-01D49EA74344}"/>
              </a:ext>
            </a:extLst>
          </p:cNvPr>
          <p:cNvSpPr>
            <a:spLocks noGrp="1"/>
          </p:cNvSpPr>
          <p:nvPr>
            <p:ph type="sldNum" sz="quarter" idx="12"/>
          </p:nvPr>
        </p:nvSpPr>
        <p:spPr/>
        <p:txBody>
          <a:bodyPr/>
          <a:lstStyle/>
          <a:p>
            <a:fld id="{55635D17-9D19-4B1E-86C2-B9D6296E4AF7}" type="slidenum">
              <a:rPr lang="en-US" smtClean="0"/>
              <a:pPr/>
              <a:t>6</a:t>
            </a:fld>
            <a:endParaRPr lang="en-US" dirty="0"/>
          </a:p>
        </p:txBody>
      </p:sp>
      <p:sp>
        <p:nvSpPr>
          <p:cNvPr id="20" name="TextBox 19">
            <a:extLst>
              <a:ext uri="{FF2B5EF4-FFF2-40B4-BE49-F238E27FC236}">
                <a16:creationId xmlns:a16="http://schemas.microsoft.com/office/drawing/2014/main" id="{CF3E0C96-7E3B-98E1-05BD-A50BAAA98885}"/>
              </a:ext>
            </a:extLst>
          </p:cNvPr>
          <p:cNvSpPr txBox="1"/>
          <p:nvPr/>
        </p:nvSpPr>
        <p:spPr>
          <a:xfrm>
            <a:off x="6885996" y="2928136"/>
            <a:ext cx="3552550" cy="830997"/>
          </a:xfrm>
          <a:prstGeom prst="rect">
            <a:avLst/>
          </a:prstGeom>
          <a:noFill/>
        </p:spPr>
        <p:txBody>
          <a:bodyPr wrap="square">
            <a:spAutoFit/>
          </a:bodyPr>
          <a:lstStyle/>
          <a:p>
            <a:pPr marL="179388" indent="-179388">
              <a:buFont typeface="Arial" panose="020B0604020202020204" pitchFamily="34" charset="0"/>
              <a:buChar char="•"/>
            </a:pPr>
            <a:r>
              <a:rPr lang="en-US" altLang="ko-KR" sz="1600" dirty="0"/>
              <a:t>Full</a:t>
            </a:r>
            <a:r>
              <a:rPr lang="ko-KR" altLang="en-US" sz="1600" dirty="0"/>
              <a:t> </a:t>
            </a:r>
            <a:r>
              <a:rPr lang="en-US" altLang="ko-KR" sz="1600" dirty="0"/>
              <a:t>Model Change (</a:t>
            </a:r>
            <a:r>
              <a:rPr lang="ko-KR" altLang="en-US" sz="1600" dirty="0"/>
              <a:t>신규</a:t>
            </a:r>
            <a:r>
              <a:rPr lang="en-US" altLang="ko-KR" sz="1600" dirty="0"/>
              <a:t>)</a:t>
            </a:r>
          </a:p>
          <a:p>
            <a:pPr marL="179388" indent="-179388">
              <a:buFont typeface="Arial" panose="020B0604020202020204" pitchFamily="34" charset="0"/>
              <a:buChar char="•"/>
            </a:pPr>
            <a:r>
              <a:rPr lang="en-US" altLang="ko-KR" sz="1600" dirty="0"/>
              <a:t>Face Lift (</a:t>
            </a:r>
            <a:r>
              <a:rPr lang="ko-KR" altLang="en-US" sz="1600" dirty="0"/>
              <a:t>대규모</a:t>
            </a:r>
            <a:r>
              <a:rPr lang="en-US" altLang="ko-KR" sz="1600" dirty="0"/>
              <a:t>)</a:t>
            </a:r>
          </a:p>
          <a:p>
            <a:pPr marL="179388" indent="-179388">
              <a:buFont typeface="Arial" panose="020B0604020202020204" pitchFamily="34" charset="0"/>
              <a:buChar char="•"/>
            </a:pPr>
            <a:r>
              <a:rPr lang="en-US" altLang="ko-KR" sz="1600" dirty="0"/>
              <a:t>Year Model Change (</a:t>
            </a:r>
            <a:r>
              <a:rPr lang="ko-KR" altLang="en-US" sz="1600" dirty="0"/>
              <a:t>소규모</a:t>
            </a:r>
            <a:r>
              <a:rPr lang="en-US" altLang="ko-KR" sz="1600" dirty="0"/>
              <a:t>)</a:t>
            </a:r>
          </a:p>
        </p:txBody>
      </p:sp>
      <p:pic>
        <p:nvPicPr>
          <p:cNvPr id="22" name="그림 21">
            <a:extLst>
              <a:ext uri="{FF2B5EF4-FFF2-40B4-BE49-F238E27FC236}">
                <a16:creationId xmlns:a16="http://schemas.microsoft.com/office/drawing/2014/main" id="{827D6EC4-908E-DEB7-0A94-CD715316EB3B}"/>
              </a:ext>
            </a:extLst>
          </p:cNvPr>
          <p:cNvPicPr>
            <a:picLocks noChangeAspect="1"/>
          </p:cNvPicPr>
          <p:nvPr/>
        </p:nvPicPr>
        <p:blipFill>
          <a:blip r:embed="rId2"/>
          <a:stretch>
            <a:fillRect/>
          </a:stretch>
        </p:blipFill>
        <p:spPr>
          <a:xfrm>
            <a:off x="6835900" y="4041192"/>
            <a:ext cx="5286550" cy="1194194"/>
          </a:xfrm>
          <a:prstGeom prst="rect">
            <a:avLst/>
          </a:prstGeom>
        </p:spPr>
      </p:pic>
      <p:pic>
        <p:nvPicPr>
          <p:cNvPr id="14" name="그림 13">
            <a:extLst>
              <a:ext uri="{FF2B5EF4-FFF2-40B4-BE49-F238E27FC236}">
                <a16:creationId xmlns:a16="http://schemas.microsoft.com/office/drawing/2014/main" id="{D0C04EA8-30E6-EDF7-6465-073D2BD69450}"/>
              </a:ext>
            </a:extLst>
          </p:cNvPr>
          <p:cNvPicPr>
            <a:picLocks noChangeAspect="1"/>
          </p:cNvPicPr>
          <p:nvPr/>
        </p:nvPicPr>
        <p:blipFill>
          <a:blip r:embed="rId3"/>
          <a:stretch>
            <a:fillRect/>
          </a:stretch>
        </p:blipFill>
        <p:spPr>
          <a:xfrm>
            <a:off x="988258" y="2691502"/>
            <a:ext cx="5669606" cy="3199306"/>
          </a:xfrm>
          <a:prstGeom prst="rect">
            <a:avLst/>
          </a:prstGeom>
        </p:spPr>
      </p:pic>
    </p:spTree>
    <p:extLst>
      <p:ext uri="{BB962C8B-B14F-4D97-AF65-F5344CB8AC3E}">
        <p14:creationId xmlns:p14="http://schemas.microsoft.com/office/powerpoint/2010/main" val="167664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409EC7-5240-6DEF-574B-D69537E0E2A9}"/>
              </a:ext>
            </a:extLst>
          </p:cNvPr>
          <p:cNvSpPr>
            <a:spLocks noGrp="1"/>
          </p:cNvSpPr>
          <p:nvPr>
            <p:ph type="title"/>
          </p:nvPr>
        </p:nvSpPr>
        <p:spPr/>
        <p:txBody>
          <a:bodyPr>
            <a:normAutofit fontScale="90000"/>
          </a:bodyPr>
          <a:lstStyle/>
          <a:p>
            <a:r>
              <a:rPr lang="en-US" altLang="ko-KR" dirty="0"/>
              <a:t>Design</a:t>
            </a:r>
            <a:r>
              <a:rPr lang="ko-KR" altLang="en-US" dirty="0"/>
              <a:t> 단계</a:t>
            </a:r>
          </a:p>
        </p:txBody>
      </p:sp>
      <p:sp>
        <p:nvSpPr>
          <p:cNvPr id="3" name="내용 개체 틀 2">
            <a:extLst>
              <a:ext uri="{FF2B5EF4-FFF2-40B4-BE49-F238E27FC236}">
                <a16:creationId xmlns:a16="http://schemas.microsoft.com/office/drawing/2014/main" id="{41CCEB7D-A0D7-B423-1002-E2FA782195FC}"/>
              </a:ext>
            </a:extLst>
          </p:cNvPr>
          <p:cNvSpPr>
            <a:spLocks noGrp="1"/>
          </p:cNvSpPr>
          <p:nvPr>
            <p:ph idx="1"/>
          </p:nvPr>
        </p:nvSpPr>
        <p:spPr>
          <a:xfrm>
            <a:off x="756557" y="1029180"/>
            <a:ext cx="10876120" cy="3856331"/>
          </a:xfrm>
        </p:spPr>
        <p:txBody>
          <a:bodyPr>
            <a:noAutofit/>
          </a:bodyPr>
          <a:lstStyle/>
          <a:p>
            <a:pPr>
              <a:lnSpc>
                <a:spcPts val="2300"/>
              </a:lnSpc>
            </a:pPr>
            <a:r>
              <a:rPr lang="ko-KR" altLang="en-US" sz="2400" b="1" dirty="0"/>
              <a:t>차량 플랫폼에 적합한 외관 디자인</a:t>
            </a:r>
            <a:r>
              <a:rPr lang="en-US" altLang="ko-KR" sz="2400" b="1" dirty="0"/>
              <a:t>, 4~5</a:t>
            </a:r>
            <a:r>
              <a:rPr lang="ko-KR" altLang="en-US" sz="2400" b="1" dirty="0"/>
              <a:t>개월 소요</a:t>
            </a:r>
          </a:p>
          <a:p>
            <a:pPr>
              <a:lnSpc>
                <a:spcPts val="2300"/>
              </a:lnSpc>
            </a:pPr>
            <a:r>
              <a:rPr lang="en-US" altLang="ko-KR" sz="2400" b="1" dirty="0"/>
              <a:t>Design Process</a:t>
            </a:r>
          </a:p>
          <a:p>
            <a:pPr lvl="1">
              <a:lnSpc>
                <a:spcPts val="2300"/>
              </a:lnSpc>
            </a:pPr>
            <a:r>
              <a:rPr lang="en-US" altLang="ko-KR" sz="1800" b="1" dirty="0"/>
              <a:t>Sketching &amp; Rendering</a:t>
            </a:r>
          </a:p>
          <a:p>
            <a:pPr lvl="1">
              <a:lnSpc>
                <a:spcPts val="2300"/>
              </a:lnSpc>
            </a:pPr>
            <a:r>
              <a:rPr lang="en-US" altLang="ko-KR" sz="1800" b="1" dirty="0"/>
              <a:t>Tape Drawing</a:t>
            </a:r>
          </a:p>
          <a:p>
            <a:pPr lvl="1">
              <a:lnSpc>
                <a:spcPts val="2300"/>
              </a:lnSpc>
            </a:pPr>
            <a:r>
              <a:rPr lang="en-US" altLang="ko-KR" sz="1800" b="1" dirty="0"/>
              <a:t>Digital Modeling</a:t>
            </a:r>
          </a:p>
          <a:p>
            <a:pPr lvl="1">
              <a:lnSpc>
                <a:spcPts val="2300"/>
              </a:lnSpc>
            </a:pPr>
            <a:r>
              <a:rPr lang="en-US" altLang="ko-KR" sz="1800" b="1" dirty="0"/>
              <a:t>Virtual Reality Representation</a:t>
            </a:r>
          </a:p>
          <a:p>
            <a:pPr lvl="1">
              <a:lnSpc>
                <a:spcPts val="2300"/>
              </a:lnSpc>
            </a:pPr>
            <a:r>
              <a:rPr lang="en-US" altLang="ko-KR" sz="1800" b="1" dirty="0"/>
              <a:t>1:1 scale Clay Modeling</a:t>
            </a:r>
          </a:p>
          <a:p>
            <a:pPr>
              <a:lnSpc>
                <a:spcPts val="2300"/>
              </a:lnSpc>
            </a:pPr>
            <a:r>
              <a:rPr lang="en-US" altLang="ko-KR" sz="2400" b="1" dirty="0"/>
              <a:t>Reference site : </a:t>
            </a:r>
            <a:r>
              <a:rPr lang="en-US" altLang="ko-KR" sz="1800" dirty="0"/>
              <a:t>(</a:t>
            </a:r>
            <a:r>
              <a:rPr lang="en-US" altLang="ko-KR" sz="1800" dirty="0">
                <a:hlinkClick r:id="rId2"/>
              </a:rPr>
              <a:t>https://www.hyundai.com/kr/ko/brand/brandstory/design</a:t>
            </a:r>
            <a:r>
              <a:rPr lang="en-US" altLang="ko-KR" sz="1800" dirty="0"/>
              <a:t>)</a:t>
            </a:r>
          </a:p>
          <a:p>
            <a:pPr marL="0" indent="0">
              <a:lnSpc>
                <a:spcPts val="2300"/>
              </a:lnSpc>
              <a:buNone/>
            </a:pPr>
            <a:endParaRPr lang="en-US" altLang="ko-KR" sz="2400" b="1" dirty="0"/>
          </a:p>
        </p:txBody>
      </p:sp>
      <p:sp>
        <p:nvSpPr>
          <p:cNvPr id="4" name="날짜 개체 틀 3">
            <a:extLst>
              <a:ext uri="{FF2B5EF4-FFF2-40B4-BE49-F238E27FC236}">
                <a16:creationId xmlns:a16="http://schemas.microsoft.com/office/drawing/2014/main" id="{8C31AB58-9C7C-266C-7D77-B4C0835EDE36}"/>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8B95DB43-5CB8-4DA5-2E16-5795C08F75A4}"/>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F30DBDB6-CDFE-504B-51B3-7AD9C0D9E402}"/>
              </a:ext>
            </a:extLst>
          </p:cNvPr>
          <p:cNvSpPr>
            <a:spLocks noGrp="1"/>
          </p:cNvSpPr>
          <p:nvPr>
            <p:ph type="sldNum" sz="quarter" idx="12"/>
          </p:nvPr>
        </p:nvSpPr>
        <p:spPr/>
        <p:txBody>
          <a:bodyPr/>
          <a:lstStyle/>
          <a:p>
            <a:fld id="{55635D17-9D19-4B1E-86C2-B9D6296E4AF7}" type="slidenum">
              <a:rPr lang="en-US" smtClean="0"/>
              <a:pPr/>
              <a:t>7</a:t>
            </a:fld>
            <a:endParaRPr lang="en-US" dirty="0"/>
          </a:p>
        </p:txBody>
      </p:sp>
    </p:spTree>
    <p:extLst>
      <p:ext uri="{BB962C8B-B14F-4D97-AF65-F5344CB8AC3E}">
        <p14:creationId xmlns:p14="http://schemas.microsoft.com/office/powerpoint/2010/main" val="2073115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D575436-D4EC-88DD-CF64-2A4B641EC7BC}"/>
              </a:ext>
            </a:extLst>
          </p:cNvPr>
          <p:cNvSpPr>
            <a:spLocks noGrp="1"/>
          </p:cNvSpPr>
          <p:nvPr>
            <p:ph type="title"/>
          </p:nvPr>
        </p:nvSpPr>
        <p:spPr/>
        <p:txBody>
          <a:bodyPr>
            <a:normAutofit fontScale="90000"/>
          </a:bodyPr>
          <a:lstStyle/>
          <a:p>
            <a:r>
              <a:rPr lang="en-US" altLang="ko-KR" dirty="0"/>
              <a:t>BMW</a:t>
            </a:r>
            <a:r>
              <a:rPr lang="ko-KR" altLang="en-US" dirty="0"/>
              <a:t> 디자인</a:t>
            </a:r>
          </a:p>
        </p:txBody>
      </p:sp>
      <p:sp>
        <p:nvSpPr>
          <p:cNvPr id="4" name="날짜 개체 틀 3">
            <a:extLst>
              <a:ext uri="{FF2B5EF4-FFF2-40B4-BE49-F238E27FC236}">
                <a16:creationId xmlns:a16="http://schemas.microsoft.com/office/drawing/2014/main" id="{11A7732F-4C88-A73E-5900-1CA3786B455B}"/>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C1D539C6-16EC-A155-1054-971BD1B1BAB2}"/>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27EB4C7D-19DD-5FE7-E73C-A549316FA969}"/>
              </a:ext>
            </a:extLst>
          </p:cNvPr>
          <p:cNvSpPr>
            <a:spLocks noGrp="1"/>
          </p:cNvSpPr>
          <p:nvPr>
            <p:ph type="sldNum" sz="quarter" idx="12"/>
          </p:nvPr>
        </p:nvSpPr>
        <p:spPr/>
        <p:txBody>
          <a:bodyPr/>
          <a:lstStyle/>
          <a:p>
            <a:fld id="{55635D17-9D19-4B1E-86C2-B9D6296E4AF7}" type="slidenum">
              <a:rPr lang="en-US" smtClean="0"/>
              <a:pPr/>
              <a:t>8</a:t>
            </a:fld>
            <a:endParaRPr lang="en-US" dirty="0"/>
          </a:p>
        </p:txBody>
      </p:sp>
      <p:pic>
        <p:nvPicPr>
          <p:cNvPr id="7" name="온라인 미디어 6" title="The design process of the new BMW 7 Series">
            <a:hlinkClick r:id="" action="ppaction://media"/>
            <a:extLst>
              <a:ext uri="{FF2B5EF4-FFF2-40B4-BE49-F238E27FC236}">
                <a16:creationId xmlns:a16="http://schemas.microsoft.com/office/drawing/2014/main" id="{8CF26F16-65CD-DD70-F591-8AFABB855859}"/>
              </a:ext>
            </a:extLst>
          </p:cNvPr>
          <p:cNvPicPr>
            <a:picLocks noRot="1" noChangeAspect="1"/>
          </p:cNvPicPr>
          <p:nvPr>
            <a:videoFile r:link="rId1"/>
          </p:nvPr>
        </p:nvPicPr>
        <p:blipFill>
          <a:blip r:embed="rId3"/>
          <a:stretch>
            <a:fillRect/>
          </a:stretch>
        </p:blipFill>
        <p:spPr>
          <a:xfrm>
            <a:off x="1960210" y="898409"/>
            <a:ext cx="8290434" cy="4684105"/>
          </a:xfrm>
          <a:prstGeom prst="rect">
            <a:avLst/>
          </a:prstGeom>
        </p:spPr>
      </p:pic>
    </p:spTree>
    <p:extLst>
      <p:ext uri="{BB962C8B-B14F-4D97-AF65-F5344CB8AC3E}">
        <p14:creationId xmlns:p14="http://schemas.microsoft.com/office/powerpoint/2010/main" val="25920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409EC7-5240-6DEF-574B-D69537E0E2A9}"/>
              </a:ext>
            </a:extLst>
          </p:cNvPr>
          <p:cNvSpPr>
            <a:spLocks noGrp="1"/>
          </p:cNvSpPr>
          <p:nvPr>
            <p:ph type="title"/>
          </p:nvPr>
        </p:nvSpPr>
        <p:spPr/>
        <p:txBody>
          <a:bodyPr>
            <a:normAutofit fontScale="90000"/>
          </a:bodyPr>
          <a:lstStyle/>
          <a:p>
            <a:r>
              <a:rPr lang="en-US" altLang="ko-KR" dirty="0"/>
              <a:t>Mass</a:t>
            </a:r>
            <a:r>
              <a:rPr lang="ko-KR" altLang="en-US" dirty="0"/>
              <a:t> </a:t>
            </a:r>
            <a:r>
              <a:rPr lang="en-US" altLang="ko-KR" dirty="0"/>
              <a:t>Production</a:t>
            </a:r>
            <a:r>
              <a:rPr lang="ko-KR" altLang="en-US" dirty="0"/>
              <a:t> </a:t>
            </a:r>
            <a:r>
              <a:rPr lang="en-US" altLang="ko-KR" dirty="0"/>
              <a:t>Process</a:t>
            </a:r>
            <a:endParaRPr lang="ko-KR" altLang="en-US" dirty="0"/>
          </a:p>
        </p:txBody>
      </p:sp>
      <p:sp>
        <p:nvSpPr>
          <p:cNvPr id="4" name="날짜 개체 틀 3">
            <a:extLst>
              <a:ext uri="{FF2B5EF4-FFF2-40B4-BE49-F238E27FC236}">
                <a16:creationId xmlns:a16="http://schemas.microsoft.com/office/drawing/2014/main" id="{8C31AB58-9C7C-266C-7D77-B4C0835EDE36}"/>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8B95DB43-5CB8-4DA5-2E16-5795C08F75A4}"/>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F30DBDB6-CDFE-504B-51B3-7AD9C0D9E402}"/>
              </a:ext>
            </a:extLst>
          </p:cNvPr>
          <p:cNvSpPr>
            <a:spLocks noGrp="1"/>
          </p:cNvSpPr>
          <p:nvPr>
            <p:ph type="sldNum" sz="quarter" idx="12"/>
          </p:nvPr>
        </p:nvSpPr>
        <p:spPr/>
        <p:txBody>
          <a:bodyPr/>
          <a:lstStyle/>
          <a:p>
            <a:fld id="{55635D17-9D19-4B1E-86C2-B9D6296E4AF7}" type="slidenum">
              <a:rPr lang="en-US" smtClean="0"/>
              <a:pPr/>
              <a:t>9</a:t>
            </a:fld>
            <a:endParaRPr lang="en-US" dirty="0"/>
          </a:p>
        </p:txBody>
      </p:sp>
      <p:pic>
        <p:nvPicPr>
          <p:cNvPr id="7" name="그림 6">
            <a:extLst>
              <a:ext uri="{FF2B5EF4-FFF2-40B4-BE49-F238E27FC236}">
                <a16:creationId xmlns:a16="http://schemas.microsoft.com/office/drawing/2014/main" id="{C41A3195-11B9-E7B3-E024-AE5B5BF249B8}"/>
              </a:ext>
            </a:extLst>
          </p:cNvPr>
          <p:cNvPicPr>
            <a:picLocks noChangeAspect="1"/>
          </p:cNvPicPr>
          <p:nvPr/>
        </p:nvPicPr>
        <p:blipFill>
          <a:blip r:embed="rId2"/>
          <a:stretch>
            <a:fillRect/>
          </a:stretch>
        </p:blipFill>
        <p:spPr>
          <a:xfrm>
            <a:off x="3604944" y="660808"/>
            <a:ext cx="5004176" cy="3478079"/>
          </a:xfrm>
          <a:prstGeom prst="rect">
            <a:avLst/>
          </a:prstGeom>
        </p:spPr>
      </p:pic>
      <p:pic>
        <p:nvPicPr>
          <p:cNvPr id="9" name="그림 8">
            <a:extLst>
              <a:ext uri="{FF2B5EF4-FFF2-40B4-BE49-F238E27FC236}">
                <a16:creationId xmlns:a16="http://schemas.microsoft.com/office/drawing/2014/main" id="{1FD77B82-73A0-62EF-6AF5-DB711921ED6C}"/>
              </a:ext>
            </a:extLst>
          </p:cNvPr>
          <p:cNvPicPr>
            <a:picLocks noChangeAspect="1"/>
          </p:cNvPicPr>
          <p:nvPr/>
        </p:nvPicPr>
        <p:blipFill>
          <a:blip r:embed="rId3"/>
          <a:stretch>
            <a:fillRect/>
          </a:stretch>
        </p:blipFill>
        <p:spPr>
          <a:xfrm>
            <a:off x="1707895" y="4182741"/>
            <a:ext cx="8794141" cy="1755678"/>
          </a:xfrm>
          <a:prstGeom prst="rect">
            <a:avLst/>
          </a:prstGeom>
        </p:spPr>
      </p:pic>
      <p:graphicFrame>
        <p:nvGraphicFramePr>
          <p:cNvPr id="10" name="개체 9">
            <a:extLst>
              <a:ext uri="{FF2B5EF4-FFF2-40B4-BE49-F238E27FC236}">
                <a16:creationId xmlns:a16="http://schemas.microsoft.com/office/drawing/2014/main" id="{D1EAFD18-B3A4-2CCE-89AE-EF9574DD17C9}"/>
              </a:ext>
            </a:extLst>
          </p:cNvPr>
          <p:cNvGraphicFramePr>
            <a:graphicFrameLocks noChangeAspect="1"/>
          </p:cNvGraphicFramePr>
          <p:nvPr>
            <p:extLst>
              <p:ext uri="{D42A27DB-BD31-4B8C-83A1-F6EECF244321}">
                <p14:modId xmlns:p14="http://schemas.microsoft.com/office/powerpoint/2010/main" val="3273101296"/>
              </p:ext>
            </p:extLst>
          </p:nvPr>
        </p:nvGraphicFramePr>
        <p:xfrm>
          <a:off x="9972381" y="3411216"/>
          <a:ext cx="914400" cy="771525"/>
        </p:xfrm>
        <a:graphic>
          <a:graphicData uri="http://schemas.openxmlformats.org/presentationml/2006/ole">
            <mc:AlternateContent xmlns:mc="http://schemas.openxmlformats.org/markup-compatibility/2006">
              <mc:Choice xmlns:v="urn:schemas-microsoft-com:vml" Requires="v">
                <p:oleObj name="Acrobat Document" showAsIcon="1" r:id="rId4" imgW="914400" imgH="771656" progId="Acrobat.Document.DC">
                  <p:embed/>
                </p:oleObj>
              </mc:Choice>
              <mc:Fallback>
                <p:oleObj name="Acrobat Document" showAsIcon="1" r:id="rId4" imgW="914400" imgH="771656" progId="Acrobat.Document.DC">
                  <p:embed/>
                  <p:pic>
                    <p:nvPicPr>
                      <p:cNvPr id="0" name=""/>
                      <p:cNvPicPr/>
                      <p:nvPr/>
                    </p:nvPicPr>
                    <p:blipFill>
                      <a:blip r:embed="rId5"/>
                      <a:stretch>
                        <a:fillRect/>
                      </a:stretch>
                    </p:blipFill>
                    <p:spPr>
                      <a:xfrm>
                        <a:off x="9972381" y="3411216"/>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3954060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D268D5-F6B2-0830-1BEE-50D51164BDF4}"/>
              </a:ext>
            </a:extLst>
          </p:cNvPr>
          <p:cNvSpPr>
            <a:spLocks noGrp="1"/>
          </p:cNvSpPr>
          <p:nvPr>
            <p:ph type="title"/>
          </p:nvPr>
        </p:nvSpPr>
        <p:spPr/>
        <p:txBody>
          <a:bodyPr>
            <a:normAutofit fontScale="90000"/>
          </a:bodyPr>
          <a:lstStyle/>
          <a:p>
            <a:r>
              <a:rPr lang="en-US" altLang="ko-KR" dirty="0"/>
              <a:t>Model</a:t>
            </a:r>
            <a:r>
              <a:rPr lang="ko-KR" altLang="en-US" dirty="0"/>
              <a:t> </a:t>
            </a:r>
            <a:r>
              <a:rPr lang="en-US" altLang="ko-KR" dirty="0"/>
              <a:t>Fix</a:t>
            </a:r>
            <a:endParaRPr lang="ko-KR" altLang="en-US" dirty="0"/>
          </a:p>
        </p:txBody>
      </p:sp>
      <p:sp>
        <p:nvSpPr>
          <p:cNvPr id="4" name="날짜 개체 틀 3">
            <a:extLst>
              <a:ext uri="{FF2B5EF4-FFF2-40B4-BE49-F238E27FC236}">
                <a16:creationId xmlns:a16="http://schemas.microsoft.com/office/drawing/2014/main" id="{7EF3FB24-E56F-BFF4-D096-F62FB50A79ED}"/>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9F14E3AE-7C82-3179-1D16-0115D5E6A09B}"/>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E534D14B-6CD9-9FDA-0C31-670D6DE9A244}"/>
              </a:ext>
            </a:extLst>
          </p:cNvPr>
          <p:cNvSpPr>
            <a:spLocks noGrp="1"/>
          </p:cNvSpPr>
          <p:nvPr>
            <p:ph type="sldNum" sz="quarter" idx="12"/>
          </p:nvPr>
        </p:nvSpPr>
        <p:spPr/>
        <p:txBody>
          <a:bodyPr/>
          <a:lstStyle/>
          <a:p>
            <a:fld id="{55635D17-9D19-4B1E-86C2-B9D6296E4AF7}" type="slidenum">
              <a:rPr lang="en-US" smtClean="0"/>
              <a:pPr/>
              <a:t>10</a:t>
            </a:fld>
            <a:endParaRPr lang="en-US" dirty="0"/>
          </a:p>
        </p:txBody>
      </p:sp>
      <p:pic>
        <p:nvPicPr>
          <p:cNvPr id="8" name="그림 7">
            <a:extLst>
              <a:ext uri="{FF2B5EF4-FFF2-40B4-BE49-F238E27FC236}">
                <a16:creationId xmlns:a16="http://schemas.microsoft.com/office/drawing/2014/main" id="{066D1693-6BFA-C562-56AE-1F6242F6443F}"/>
              </a:ext>
            </a:extLst>
          </p:cNvPr>
          <p:cNvPicPr>
            <a:picLocks noChangeAspect="1"/>
          </p:cNvPicPr>
          <p:nvPr/>
        </p:nvPicPr>
        <p:blipFill>
          <a:blip r:embed="rId2"/>
          <a:stretch>
            <a:fillRect/>
          </a:stretch>
        </p:blipFill>
        <p:spPr>
          <a:xfrm>
            <a:off x="554182" y="1016104"/>
            <a:ext cx="11083636" cy="4772004"/>
          </a:xfrm>
          <a:prstGeom prst="rect">
            <a:avLst/>
          </a:prstGeom>
        </p:spPr>
      </p:pic>
    </p:spTree>
    <p:extLst>
      <p:ext uri="{BB962C8B-B14F-4D97-AF65-F5344CB8AC3E}">
        <p14:creationId xmlns:p14="http://schemas.microsoft.com/office/powerpoint/2010/main" val="253544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D268D5-F6B2-0830-1BEE-50D51164BDF4}"/>
              </a:ext>
            </a:extLst>
          </p:cNvPr>
          <p:cNvSpPr>
            <a:spLocks noGrp="1"/>
          </p:cNvSpPr>
          <p:nvPr>
            <p:ph type="title"/>
          </p:nvPr>
        </p:nvSpPr>
        <p:spPr/>
        <p:txBody>
          <a:bodyPr>
            <a:normAutofit fontScale="90000"/>
          </a:bodyPr>
          <a:lstStyle/>
          <a:p>
            <a:r>
              <a:rPr lang="en-US" altLang="ko-KR" dirty="0"/>
              <a:t>Proto</a:t>
            </a:r>
            <a:endParaRPr lang="ko-KR" altLang="en-US" dirty="0"/>
          </a:p>
        </p:txBody>
      </p:sp>
      <p:sp>
        <p:nvSpPr>
          <p:cNvPr id="4" name="날짜 개체 틀 3">
            <a:extLst>
              <a:ext uri="{FF2B5EF4-FFF2-40B4-BE49-F238E27FC236}">
                <a16:creationId xmlns:a16="http://schemas.microsoft.com/office/drawing/2014/main" id="{7EF3FB24-E56F-BFF4-D096-F62FB50A79ED}"/>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9F14E3AE-7C82-3179-1D16-0115D5E6A09B}"/>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E534D14B-6CD9-9FDA-0C31-670D6DE9A244}"/>
              </a:ext>
            </a:extLst>
          </p:cNvPr>
          <p:cNvSpPr>
            <a:spLocks noGrp="1"/>
          </p:cNvSpPr>
          <p:nvPr>
            <p:ph type="sldNum" sz="quarter" idx="12"/>
          </p:nvPr>
        </p:nvSpPr>
        <p:spPr/>
        <p:txBody>
          <a:bodyPr/>
          <a:lstStyle/>
          <a:p>
            <a:fld id="{55635D17-9D19-4B1E-86C2-B9D6296E4AF7}" type="slidenum">
              <a:rPr lang="en-US" smtClean="0"/>
              <a:pPr/>
              <a:t>11</a:t>
            </a:fld>
            <a:endParaRPr lang="en-US" dirty="0"/>
          </a:p>
        </p:txBody>
      </p:sp>
      <p:pic>
        <p:nvPicPr>
          <p:cNvPr id="7" name="그림 6">
            <a:extLst>
              <a:ext uri="{FF2B5EF4-FFF2-40B4-BE49-F238E27FC236}">
                <a16:creationId xmlns:a16="http://schemas.microsoft.com/office/drawing/2014/main" id="{FBC68B40-5F44-AC32-7C2A-41C49EC61849}"/>
              </a:ext>
            </a:extLst>
          </p:cNvPr>
          <p:cNvPicPr>
            <a:picLocks noChangeAspect="1"/>
          </p:cNvPicPr>
          <p:nvPr/>
        </p:nvPicPr>
        <p:blipFill>
          <a:blip r:embed="rId2"/>
          <a:stretch>
            <a:fillRect/>
          </a:stretch>
        </p:blipFill>
        <p:spPr>
          <a:xfrm>
            <a:off x="551207" y="868470"/>
            <a:ext cx="11089585" cy="4816257"/>
          </a:xfrm>
          <a:prstGeom prst="rect">
            <a:avLst/>
          </a:prstGeom>
        </p:spPr>
      </p:pic>
    </p:spTree>
    <p:extLst>
      <p:ext uri="{BB962C8B-B14F-4D97-AF65-F5344CB8AC3E}">
        <p14:creationId xmlns:p14="http://schemas.microsoft.com/office/powerpoint/2010/main" val="1539052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D268D5-F6B2-0830-1BEE-50D51164BDF4}"/>
              </a:ext>
            </a:extLst>
          </p:cNvPr>
          <p:cNvSpPr>
            <a:spLocks noGrp="1"/>
          </p:cNvSpPr>
          <p:nvPr>
            <p:ph type="title"/>
          </p:nvPr>
        </p:nvSpPr>
        <p:spPr/>
        <p:txBody>
          <a:bodyPr>
            <a:normAutofit fontScale="90000"/>
          </a:bodyPr>
          <a:lstStyle/>
          <a:p>
            <a:r>
              <a:rPr lang="en-US" altLang="ko-KR" dirty="0"/>
              <a:t>Pilot 1</a:t>
            </a:r>
            <a:r>
              <a:rPr lang="ko-KR" altLang="en-US" dirty="0"/>
              <a:t> </a:t>
            </a:r>
          </a:p>
        </p:txBody>
      </p:sp>
      <p:sp>
        <p:nvSpPr>
          <p:cNvPr id="4" name="날짜 개체 틀 3">
            <a:extLst>
              <a:ext uri="{FF2B5EF4-FFF2-40B4-BE49-F238E27FC236}">
                <a16:creationId xmlns:a16="http://schemas.microsoft.com/office/drawing/2014/main" id="{7EF3FB24-E56F-BFF4-D096-F62FB50A79ED}"/>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9F14E3AE-7C82-3179-1D16-0115D5E6A09B}"/>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E534D14B-6CD9-9FDA-0C31-670D6DE9A244}"/>
              </a:ext>
            </a:extLst>
          </p:cNvPr>
          <p:cNvSpPr>
            <a:spLocks noGrp="1"/>
          </p:cNvSpPr>
          <p:nvPr>
            <p:ph type="sldNum" sz="quarter" idx="12"/>
          </p:nvPr>
        </p:nvSpPr>
        <p:spPr/>
        <p:txBody>
          <a:bodyPr/>
          <a:lstStyle/>
          <a:p>
            <a:fld id="{55635D17-9D19-4B1E-86C2-B9D6296E4AF7}" type="slidenum">
              <a:rPr lang="en-US" smtClean="0"/>
              <a:pPr/>
              <a:t>12</a:t>
            </a:fld>
            <a:endParaRPr lang="en-US" dirty="0"/>
          </a:p>
        </p:txBody>
      </p:sp>
      <p:pic>
        <p:nvPicPr>
          <p:cNvPr id="24" name="그림 23">
            <a:extLst>
              <a:ext uri="{FF2B5EF4-FFF2-40B4-BE49-F238E27FC236}">
                <a16:creationId xmlns:a16="http://schemas.microsoft.com/office/drawing/2014/main" id="{31567C58-207C-550A-F46F-CDFA66CA11EC}"/>
              </a:ext>
            </a:extLst>
          </p:cNvPr>
          <p:cNvPicPr>
            <a:picLocks noChangeAspect="1"/>
          </p:cNvPicPr>
          <p:nvPr/>
        </p:nvPicPr>
        <p:blipFill>
          <a:blip r:embed="rId2"/>
          <a:stretch>
            <a:fillRect/>
          </a:stretch>
        </p:blipFill>
        <p:spPr>
          <a:xfrm>
            <a:off x="550249" y="719985"/>
            <a:ext cx="11089585" cy="5151566"/>
          </a:xfrm>
          <a:prstGeom prst="rect">
            <a:avLst/>
          </a:prstGeom>
        </p:spPr>
      </p:pic>
    </p:spTree>
    <p:extLst>
      <p:ext uri="{BB962C8B-B14F-4D97-AF65-F5344CB8AC3E}">
        <p14:creationId xmlns:p14="http://schemas.microsoft.com/office/powerpoint/2010/main" val="3241777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D268D5-F6B2-0830-1BEE-50D51164BDF4}"/>
              </a:ext>
            </a:extLst>
          </p:cNvPr>
          <p:cNvSpPr>
            <a:spLocks noGrp="1"/>
          </p:cNvSpPr>
          <p:nvPr>
            <p:ph type="title"/>
          </p:nvPr>
        </p:nvSpPr>
        <p:spPr/>
        <p:txBody>
          <a:bodyPr>
            <a:normAutofit fontScale="90000"/>
          </a:bodyPr>
          <a:lstStyle/>
          <a:p>
            <a:r>
              <a:rPr lang="en-US" altLang="ko-KR" dirty="0">
                <a:sym typeface="Wingdings" panose="05000000000000000000" pitchFamily="2" charset="2"/>
              </a:rPr>
              <a:t>Pilot 2</a:t>
            </a:r>
            <a:endParaRPr lang="ko-KR" altLang="en-US" dirty="0"/>
          </a:p>
        </p:txBody>
      </p:sp>
      <p:sp>
        <p:nvSpPr>
          <p:cNvPr id="4" name="날짜 개체 틀 3">
            <a:extLst>
              <a:ext uri="{FF2B5EF4-FFF2-40B4-BE49-F238E27FC236}">
                <a16:creationId xmlns:a16="http://schemas.microsoft.com/office/drawing/2014/main" id="{7EF3FB24-E56F-BFF4-D096-F62FB50A79ED}"/>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9F14E3AE-7C82-3179-1D16-0115D5E6A09B}"/>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E534D14B-6CD9-9FDA-0C31-670D6DE9A244}"/>
              </a:ext>
            </a:extLst>
          </p:cNvPr>
          <p:cNvSpPr>
            <a:spLocks noGrp="1"/>
          </p:cNvSpPr>
          <p:nvPr>
            <p:ph type="sldNum" sz="quarter" idx="12"/>
          </p:nvPr>
        </p:nvSpPr>
        <p:spPr/>
        <p:txBody>
          <a:bodyPr/>
          <a:lstStyle/>
          <a:p>
            <a:fld id="{55635D17-9D19-4B1E-86C2-B9D6296E4AF7}" type="slidenum">
              <a:rPr lang="en-US" smtClean="0"/>
              <a:pPr/>
              <a:t>13</a:t>
            </a:fld>
            <a:endParaRPr lang="en-US" dirty="0"/>
          </a:p>
        </p:txBody>
      </p:sp>
      <p:pic>
        <p:nvPicPr>
          <p:cNvPr id="9" name="그림 8">
            <a:extLst>
              <a:ext uri="{FF2B5EF4-FFF2-40B4-BE49-F238E27FC236}">
                <a16:creationId xmlns:a16="http://schemas.microsoft.com/office/drawing/2014/main" id="{94B9335D-7BDE-AC64-1AF3-27E4168C4FCA}"/>
              </a:ext>
            </a:extLst>
          </p:cNvPr>
          <p:cNvPicPr>
            <a:picLocks noChangeAspect="1"/>
          </p:cNvPicPr>
          <p:nvPr/>
        </p:nvPicPr>
        <p:blipFill>
          <a:blip r:embed="rId2"/>
          <a:stretch>
            <a:fillRect/>
          </a:stretch>
        </p:blipFill>
        <p:spPr>
          <a:xfrm>
            <a:off x="554182" y="680054"/>
            <a:ext cx="11083636" cy="5290498"/>
          </a:xfrm>
          <a:prstGeom prst="rect">
            <a:avLst/>
          </a:prstGeom>
        </p:spPr>
      </p:pic>
    </p:spTree>
    <p:extLst>
      <p:ext uri="{BB962C8B-B14F-4D97-AF65-F5344CB8AC3E}">
        <p14:creationId xmlns:p14="http://schemas.microsoft.com/office/powerpoint/2010/main" val="3204945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D268D5-F6B2-0830-1BEE-50D51164BDF4}"/>
              </a:ext>
            </a:extLst>
          </p:cNvPr>
          <p:cNvSpPr>
            <a:spLocks noGrp="1"/>
          </p:cNvSpPr>
          <p:nvPr>
            <p:ph type="title"/>
          </p:nvPr>
        </p:nvSpPr>
        <p:spPr/>
        <p:txBody>
          <a:bodyPr>
            <a:normAutofit fontScale="90000"/>
          </a:bodyPr>
          <a:lstStyle/>
          <a:p>
            <a:r>
              <a:rPr lang="en-US" altLang="ko-KR" dirty="0">
                <a:sym typeface="Wingdings" panose="05000000000000000000" pitchFamily="2" charset="2"/>
              </a:rPr>
              <a:t>SOP</a:t>
            </a:r>
            <a:endParaRPr lang="ko-KR" altLang="en-US" dirty="0"/>
          </a:p>
        </p:txBody>
      </p:sp>
      <p:sp>
        <p:nvSpPr>
          <p:cNvPr id="4" name="날짜 개체 틀 3">
            <a:extLst>
              <a:ext uri="{FF2B5EF4-FFF2-40B4-BE49-F238E27FC236}">
                <a16:creationId xmlns:a16="http://schemas.microsoft.com/office/drawing/2014/main" id="{7EF3FB24-E56F-BFF4-D096-F62FB50A79ED}"/>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9F14E3AE-7C82-3179-1D16-0115D5E6A09B}"/>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E534D14B-6CD9-9FDA-0C31-670D6DE9A244}"/>
              </a:ext>
            </a:extLst>
          </p:cNvPr>
          <p:cNvSpPr>
            <a:spLocks noGrp="1"/>
          </p:cNvSpPr>
          <p:nvPr>
            <p:ph type="sldNum" sz="quarter" idx="12"/>
          </p:nvPr>
        </p:nvSpPr>
        <p:spPr/>
        <p:txBody>
          <a:bodyPr/>
          <a:lstStyle/>
          <a:p>
            <a:fld id="{55635D17-9D19-4B1E-86C2-B9D6296E4AF7}" type="slidenum">
              <a:rPr lang="en-US" smtClean="0"/>
              <a:pPr/>
              <a:t>14</a:t>
            </a:fld>
            <a:endParaRPr lang="en-US" dirty="0"/>
          </a:p>
        </p:txBody>
      </p:sp>
      <p:pic>
        <p:nvPicPr>
          <p:cNvPr id="7" name="그림 6">
            <a:extLst>
              <a:ext uri="{FF2B5EF4-FFF2-40B4-BE49-F238E27FC236}">
                <a16:creationId xmlns:a16="http://schemas.microsoft.com/office/drawing/2014/main" id="{384DC63A-E288-C877-92BD-4B32D5843C6D}"/>
              </a:ext>
            </a:extLst>
          </p:cNvPr>
          <p:cNvPicPr>
            <a:picLocks noChangeAspect="1"/>
          </p:cNvPicPr>
          <p:nvPr/>
        </p:nvPicPr>
        <p:blipFill>
          <a:blip r:embed="rId2"/>
          <a:stretch>
            <a:fillRect/>
          </a:stretch>
        </p:blipFill>
        <p:spPr>
          <a:xfrm>
            <a:off x="554182" y="752030"/>
            <a:ext cx="11083636" cy="3141215"/>
          </a:xfrm>
          <a:prstGeom prst="rect">
            <a:avLst/>
          </a:prstGeom>
        </p:spPr>
      </p:pic>
      <p:pic>
        <p:nvPicPr>
          <p:cNvPr id="1026" name="Picture 2" descr="포토] 현대차 인도네시아 생산 착수…1호차 현지전략형 SUV 크레타 - 이투데이">
            <a:extLst>
              <a:ext uri="{FF2B5EF4-FFF2-40B4-BE49-F238E27FC236}">
                <a16:creationId xmlns:a16="http://schemas.microsoft.com/office/drawing/2014/main" id="{5447F284-D7A2-0BBD-659C-A25183AA82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964" y="3946646"/>
            <a:ext cx="3310864" cy="19589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기아차, 니로 PHEV 1호차 전달식 | 연합뉴스">
            <a:extLst>
              <a:ext uri="{FF2B5EF4-FFF2-40B4-BE49-F238E27FC236}">
                <a16:creationId xmlns:a16="http://schemas.microsoft.com/office/drawing/2014/main" id="{5FD5E5DF-407A-1F78-ED6A-6C44C03DB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4891" y="3946647"/>
            <a:ext cx="2917031" cy="1951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858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C68EC5C-2E48-9A7D-D171-686F8826B94F}"/>
              </a:ext>
            </a:extLst>
          </p:cNvPr>
          <p:cNvSpPr>
            <a:spLocks noGrp="1"/>
          </p:cNvSpPr>
          <p:nvPr>
            <p:ph type="title"/>
          </p:nvPr>
        </p:nvSpPr>
        <p:spPr/>
        <p:txBody>
          <a:bodyPr>
            <a:normAutofit fontScale="90000"/>
          </a:bodyPr>
          <a:lstStyle/>
          <a:p>
            <a:r>
              <a:rPr lang="ko-KR" altLang="en-US" dirty="0"/>
              <a:t>전장</a:t>
            </a:r>
            <a:r>
              <a:rPr lang="en-US" altLang="ko-KR" dirty="0"/>
              <a:t> </a:t>
            </a:r>
            <a:r>
              <a:rPr lang="ko-KR" altLang="en-US" dirty="0"/>
              <a:t>부품이 반영된 </a:t>
            </a:r>
            <a:r>
              <a:rPr lang="en-US" altLang="ko-KR" dirty="0"/>
              <a:t>Process</a:t>
            </a:r>
            <a:r>
              <a:rPr lang="ko-KR" altLang="en-US" dirty="0"/>
              <a:t>  </a:t>
            </a:r>
          </a:p>
        </p:txBody>
      </p:sp>
      <p:sp>
        <p:nvSpPr>
          <p:cNvPr id="4" name="날짜 개체 틀 3">
            <a:extLst>
              <a:ext uri="{FF2B5EF4-FFF2-40B4-BE49-F238E27FC236}">
                <a16:creationId xmlns:a16="http://schemas.microsoft.com/office/drawing/2014/main" id="{AB97A9C8-BDD5-A72B-7CB4-234F41783D5C}"/>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8A5FD315-00B0-B272-45C0-7F2138282324}"/>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A306631B-40DF-D530-C594-CDECC07252E9}"/>
              </a:ext>
            </a:extLst>
          </p:cNvPr>
          <p:cNvSpPr>
            <a:spLocks noGrp="1"/>
          </p:cNvSpPr>
          <p:nvPr>
            <p:ph type="sldNum" sz="quarter" idx="12"/>
          </p:nvPr>
        </p:nvSpPr>
        <p:spPr/>
        <p:txBody>
          <a:bodyPr/>
          <a:lstStyle/>
          <a:p>
            <a:fld id="{55635D17-9D19-4B1E-86C2-B9D6296E4AF7}" type="slidenum">
              <a:rPr lang="en-US" smtClean="0"/>
              <a:pPr/>
              <a:t>15</a:t>
            </a:fld>
            <a:endParaRPr lang="en-US" dirty="0"/>
          </a:p>
        </p:txBody>
      </p:sp>
      <p:pic>
        <p:nvPicPr>
          <p:cNvPr id="8" name="그림 7">
            <a:extLst>
              <a:ext uri="{FF2B5EF4-FFF2-40B4-BE49-F238E27FC236}">
                <a16:creationId xmlns:a16="http://schemas.microsoft.com/office/drawing/2014/main" id="{9FF9AF31-C1D8-3CCC-28E1-9F0672936DDD}"/>
              </a:ext>
            </a:extLst>
          </p:cNvPr>
          <p:cNvPicPr>
            <a:picLocks noChangeAspect="1"/>
          </p:cNvPicPr>
          <p:nvPr/>
        </p:nvPicPr>
        <p:blipFill>
          <a:blip r:embed="rId2"/>
          <a:stretch>
            <a:fillRect/>
          </a:stretch>
        </p:blipFill>
        <p:spPr>
          <a:xfrm>
            <a:off x="1062186" y="949083"/>
            <a:ext cx="10076033" cy="4639325"/>
          </a:xfrm>
          <a:prstGeom prst="rect">
            <a:avLst/>
          </a:prstGeom>
        </p:spPr>
      </p:pic>
    </p:spTree>
    <p:extLst>
      <p:ext uri="{BB962C8B-B14F-4D97-AF65-F5344CB8AC3E}">
        <p14:creationId xmlns:p14="http://schemas.microsoft.com/office/powerpoint/2010/main" val="571745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7AF306-0489-FF79-12F4-1E1EB886C776}"/>
              </a:ext>
            </a:extLst>
          </p:cNvPr>
          <p:cNvSpPr>
            <a:spLocks noGrp="1"/>
          </p:cNvSpPr>
          <p:nvPr>
            <p:ph type="title"/>
          </p:nvPr>
        </p:nvSpPr>
        <p:spPr/>
        <p:txBody>
          <a:bodyPr>
            <a:normAutofit fontScale="90000"/>
          </a:bodyPr>
          <a:lstStyle/>
          <a:p>
            <a:r>
              <a:rPr lang="en-US" altLang="ko-KR" dirty="0"/>
              <a:t>V-Cycle</a:t>
            </a:r>
            <a:endParaRPr lang="ko-KR" altLang="en-US" dirty="0"/>
          </a:p>
        </p:txBody>
      </p:sp>
      <p:sp>
        <p:nvSpPr>
          <p:cNvPr id="3" name="내용 개체 틀 2">
            <a:extLst>
              <a:ext uri="{FF2B5EF4-FFF2-40B4-BE49-F238E27FC236}">
                <a16:creationId xmlns:a16="http://schemas.microsoft.com/office/drawing/2014/main" id="{BBFC1F3E-1BE6-14C4-237E-4C83BD8F174C}"/>
              </a:ext>
            </a:extLst>
          </p:cNvPr>
          <p:cNvSpPr>
            <a:spLocks noGrp="1"/>
          </p:cNvSpPr>
          <p:nvPr>
            <p:ph idx="1"/>
          </p:nvPr>
        </p:nvSpPr>
        <p:spPr/>
        <p:txBody>
          <a:bodyPr/>
          <a:lstStyle/>
          <a:p>
            <a:pPr>
              <a:lnSpc>
                <a:spcPct val="100000"/>
              </a:lnSpc>
            </a:pPr>
            <a:r>
              <a:rPr lang="en-US" altLang="ko-KR" sz="2400" dirty="0"/>
              <a:t>Automotive ECU</a:t>
            </a:r>
          </a:p>
          <a:p>
            <a:pPr lvl="1">
              <a:lnSpc>
                <a:spcPct val="100000"/>
              </a:lnSpc>
            </a:pPr>
            <a:r>
              <a:rPr lang="en-US" altLang="ko-KR" sz="2000" dirty="0"/>
              <a:t>System, S/W, H/W level</a:t>
            </a:r>
            <a:r>
              <a:rPr lang="ko-KR" altLang="en-US" sz="2000" dirty="0"/>
              <a:t>로 구분</a:t>
            </a:r>
          </a:p>
          <a:p>
            <a:pPr lvl="1">
              <a:lnSpc>
                <a:spcPct val="100000"/>
              </a:lnSpc>
            </a:pPr>
            <a:r>
              <a:rPr lang="ko-KR" altLang="en-US" sz="2000" dirty="0"/>
              <a:t>결함이나 변경 요청에 의한 </a:t>
            </a:r>
            <a:r>
              <a:rPr lang="en-US" altLang="ko-KR" sz="2000" dirty="0"/>
              <a:t>Feedback</a:t>
            </a:r>
            <a:r>
              <a:rPr lang="ko-KR" altLang="en-US" sz="2000" dirty="0"/>
              <a:t>으로 반복</a:t>
            </a:r>
          </a:p>
          <a:p>
            <a:pPr lvl="1">
              <a:lnSpc>
                <a:spcPct val="100000"/>
              </a:lnSpc>
            </a:pPr>
            <a:r>
              <a:rPr lang="en-US" altLang="ko-KR" sz="2000" dirty="0"/>
              <a:t>A </a:t>
            </a:r>
            <a:r>
              <a:rPr lang="en-US" altLang="ko-KR" sz="2000" dirty="0">
                <a:sym typeface="Wingdings" panose="05000000000000000000" pitchFamily="2" charset="2"/>
              </a:rPr>
              <a:t></a:t>
            </a:r>
            <a:r>
              <a:rPr lang="en-US" altLang="ko-KR" sz="2000" dirty="0"/>
              <a:t> B </a:t>
            </a:r>
            <a:r>
              <a:rPr lang="en-US" altLang="ko-KR" sz="2000" dirty="0">
                <a:sym typeface="Wingdings" panose="05000000000000000000" pitchFamily="2" charset="2"/>
              </a:rPr>
              <a:t> </a:t>
            </a:r>
            <a:r>
              <a:rPr lang="en-US" altLang="ko-KR" sz="2000" dirty="0"/>
              <a:t>C </a:t>
            </a:r>
            <a:r>
              <a:rPr lang="en-US" altLang="ko-KR" sz="2000" dirty="0">
                <a:sym typeface="Wingdings" panose="05000000000000000000" pitchFamily="2" charset="2"/>
              </a:rPr>
              <a:t> </a:t>
            </a:r>
            <a:r>
              <a:rPr lang="en-US" altLang="ko-KR" sz="2000" dirty="0"/>
              <a:t>D Sample </a:t>
            </a:r>
            <a:r>
              <a:rPr lang="ko-KR" altLang="en-US" sz="2000" dirty="0"/>
              <a:t>순으로 개발</a:t>
            </a:r>
          </a:p>
          <a:p>
            <a:pPr>
              <a:lnSpc>
                <a:spcPct val="100000"/>
              </a:lnSpc>
            </a:pPr>
            <a:endParaRPr lang="ko-KR" altLang="en-US" dirty="0"/>
          </a:p>
        </p:txBody>
      </p:sp>
      <p:sp>
        <p:nvSpPr>
          <p:cNvPr id="4" name="날짜 개체 틀 3">
            <a:extLst>
              <a:ext uri="{FF2B5EF4-FFF2-40B4-BE49-F238E27FC236}">
                <a16:creationId xmlns:a16="http://schemas.microsoft.com/office/drawing/2014/main" id="{619F80FE-876F-FBFA-0C2E-CF5F81A18F53}"/>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AA11C6DA-31D6-F0BD-BC91-760B6E8055B6}"/>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2BA784BF-57F8-9A79-A49D-6A7884FECDE9}"/>
              </a:ext>
            </a:extLst>
          </p:cNvPr>
          <p:cNvSpPr>
            <a:spLocks noGrp="1"/>
          </p:cNvSpPr>
          <p:nvPr>
            <p:ph type="sldNum" sz="quarter" idx="12"/>
          </p:nvPr>
        </p:nvSpPr>
        <p:spPr/>
        <p:txBody>
          <a:bodyPr/>
          <a:lstStyle/>
          <a:p>
            <a:fld id="{55635D17-9D19-4B1E-86C2-B9D6296E4AF7}" type="slidenum">
              <a:rPr lang="en-US" smtClean="0"/>
              <a:pPr/>
              <a:t>16</a:t>
            </a:fld>
            <a:endParaRPr lang="en-US" dirty="0"/>
          </a:p>
        </p:txBody>
      </p:sp>
      <p:pic>
        <p:nvPicPr>
          <p:cNvPr id="14" name="그림 13">
            <a:extLst>
              <a:ext uri="{FF2B5EF4-FFF2-40B4-BE49-F238E27FC236}">
                <a16:creationId xmlns:a16="http://schemas.microsoft.com/office/drawing/2014/main" id="{8BE94E01-AD60-2D4E-ED3C-53ACD99CF1D4}"/>
              </a:ext>
            </a:extLst>
          </p:cNvPr>
          <p:cNvPicPr>
            <a:picLocks noChangeAspect="1"/>
          </p:cNvPicPr>
          <p:nvPr/>
        </p:nvPicPr>
        <p:blipFill>
          <a:blip r:embed="rId2"/>
          <a:stretch>
            <a:fillRect/>
          </a:stretch>
        </p:blipFill>
        <p:spPr>
          <a:xfrm>
            <a:off x="1843239" y="2098173"/>
            <a:ext cx="8522947" cy="3828620"/>
          </a:xfrm>
          <a:prstGeom prst="rect">
            <a:avLst/>
          </a:prstGeom>
        </p:spPr>
      </p:pic>
    </p:spTree>
    <p:extLst>
      <p:ext uri="{BB962C8B-B14F-4D97-AF65-F5344CB8AC3E}">
        <p14:creationId xmlns:p14="http://schemas.microsoft.com/office/powerpoint/2010/main" val="3273380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7AF306-0489-FF79-12F4-1E1EB886C776}"/>
              </a:ext>
            </a:extLst>
          </p:cNvPr>
          <p:cNvSpPr>
            <a:spLocks noGrp="1"/>
          </p:cNvSpPr>
          <p:nvPr>
            <p:ph type="title"/>
          </p:nvPr>
        </p:nvSpPr>
        <p:spPr/>
        <p:txBody>
          <a:bodyPr>
            <a:normAutofit fontScale="90000"/>
          </a:bodyPr>
          <a:lstStyle/>
          <a:p>
            <a:r>
              <a:rPr lang="en-US" altLang="ko-KR" dirty="0"/>
              <a:t>What is System</a:t>
            </a:r>
            <a:endParaRPr lang="ko-KR" altLang="en-US" dirty="0"/>
          </a:p>
        </p:txBody>
      </p:sp>
      <p:sp>
        <p:nvSpPr>
          <p:cNvPr id="3" name="내용 개체 틀 2">
            <a:extLst>
              <a:ext uri="{FF2B5EF4-FFF2-40B4-BE49-F238E27FC236}">
                <a16:creationId xmlns:a16="http://schemas.microsoft.com/office/drawing/2014/main" id="{BBFC1F3E-1BE6-14C4-237E-4C83BD8F174C}"/>
              </a:ext>
            </a:extLst>
          </p:cNvPr>
          <p:cNvSpPr>
            <a:spLocks noGrp="1"/>
          </p:cNvSpPr>
          <p:nvPr>
            <p:ph idx="1"/>
          </p:nvPr>
        </p:nvSpPr>
        <p:spPr>
          <a:xfrm>
            <a:off x="756557" y="820172"/>
            <a:ext cx="10416540" cy="4968694"/>
          </a:xfrm>
        </p:spPr>
        <p:txBody>
          <a:bodyPr/>
          <a:lstStyle/>
          <a:p>
            <a:pPr>
              <a:lnSpc>
                <a:spcPct val="100000"/>
              </a:lnSpc>
            </a:pPr>
            <a:r>
              <a:rPr lang="ko-KR" altLang="en-US" sz="2400" dirty="0"/>
              <a:t>그리스 어원 </a:t>
            </a:r>
            <a:r>
              <a:rPr lang="en-US" altLang="ko-KR" sz="2400" dirty="0"/>
              <a:t>( ‘Systema’ )</a:t>
            </a:r>
            <a:endParaRPr lang="en-US" altLang="ko-KR" dirty="0"/>
          </a:p>
          <a:p>
            <a:pPr lvl="1">
              <a:lnSpc>
                <a:spcPct val="100000"/>
              </a:lnSpc>
            </a:pPr>
            <a:r>
              <a:rPr lang="ko-KR" altLang="en-US" sz="2000" dirty="0"/>
              <a:t>조직화된 통일체 </a:t>
            </a:r>
            <a:r>
              <a:rPr lang="en-US" altLang="ko-KR" sz="2000" dirty="0"/>
              <a:t>( An organized whole )</a:t>
            </a:r>
          </a:p>
          <a:p>
            <a:pPr lvl="1">
              <a:lnSpc>
                <a:spcPct val="100000"/>
              </a:lnSpc>
            </a:pPr>
            <a:r>
              <a:rPr lang="ko-KR" altLang="en-US" sz="2000" dirty="0"/>
              <a:t>하나 이상의 목적이 있으며</a:t>
            </a:r>
            <a:r>
              <a:rPr lang="en-US" altLang="ko-KR" sz="2000" dirty="0"/>
              <a:t>, </a:t>
            </a:r>
            <a:r>
              <a:rPr lang="ko-KR" altLang="en-US" sz="2000" dirty="0"/>
              <a:t>목적 달성을 위해 정해진 기능이나 절차에 따라 동작하고 계층구조를 갖는 여러 구성 요소가 유기적인 상호관계를 통해 목적을 달성하는 것 </a:t>
            </a:r>
          </a:p>
          <a:p>
            <a:pPr>
              <a:lnSpc>
                <a:spcPct val="100000"/>
              </a:lnSpc>
            </a:pPr>
            <a:endParaRPr lang="ko-KR" altLang="en-US" dirty="0"/>
          </a:p>
        </p:txBody>
      </p:sp>
      <p:sp>
        <p:nvSpPr>
          <p:cNvPr id="4" name="날짜 개체 틀 3">
            <a:extLst>
              <a:ext uri="{FF2B5EF4-FFF2-40B4-BE49-F238E27FC236}">
                <a16:creationId xmlns:a16="http://schemas.microsoft.com/office/drawing/2014/main" id="{619F80FE-876F-FBFA-0C2E-CF5F81A18F53}"/>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AA11C6DA-31D6-F0BD-BC91-760B6E8055B6}"/>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2BA784BF-57F8-9A79-A49D-6A7884FECDE9}"/>
              </a:ext>
            </a:extLst>
          </p:cNvPr>
          <p:cNvSpPr>
            <a:spLocks noGrp="1"/>
          </p:cNvSpPr>
          <p:nvPr>
            <p:ph type="sldNum" sz="quarter" idx="12"/>
          </p:nvPr>
        </p:nvSpPr>
        <p:spPr/>
        <p:txBody>
          <a:bodyPr/>
          <a:lstStyle/>
          <a:p>
            <a:fld id="{55635D17-9D19-4B1E-86C2-B9D6296E4AF7}" type="slidenum">
              <a:rPr lang="en-US" smtClean="0"/>
              <a:pPr/>
              <a:t>17</a:t>
            </a:fld>
            <a:endParaRPr lang="en-US" dirty="0"/>
          </a:p>
        </p:txBody>
      </p:sp>
      <p:pic>
        <p:nvPicPr>
          <p:cNvPr id="7" name="Picture 2">
            <a:extLst>
              <a:ext uri="{FF2B5EF4-FFF2-40B4-BE49-F238E27FC236}">
                <a16:creationId xmlns:a16="http://schemas.microsoft.com/office/drawing/2014/main" id="{CBDFEF84-566A-F0BD-EAB0-237B2EC55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787" y="2554899"/>
            <a:ext cx="4896544" cy="32064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6FA17E38-9FF4-7085-7025-395572D187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7285" y="2460681"/>
            <a:ext cx="3722814" cy="3485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5327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E1D935-A5C5-C5E2-E8C7-408131F444A9}"/>
              </a:ext>
            </a:extLst>
          </p:cNvPr>
          <p:cNvSpPr>
            <a:spLocks noGrp="1"/>
          </p:cNvSpPr>
          <p:nvPr>
            <p:ph type="title"/>
          </p:nvPr>
        </p:nvSpPr>
        <p:spPr/>
        <p:txBody>
          <a:bodyPr>
            <a:normAutofit fontScale="90000"/>
          </a:bodyPr>
          <a:lstStyle/>
          <a:p>
            <a:r>
              <a:rPr lang="en-US" altLang="ko-KR" dirty="0"/>
              <a:t>Vehicle level System</a:t>
            </a:r>
            <a:endParaRPr lang="ko-KR" altLang="en-US" dirty="0"/>
          </a:p>
        </p:txBody>
      </p:sp>
      <p:sp>
        <p:nvSpPr>
          <p:cNvPr id="3" name="내용 개체 틀 2">
            <a:extLst>
              <a:ext uri="{FF2B5EF4-FFF2-40B4-BE49-F238E27FC236}">
                <a16:creationId xmlns:a16="http://schemas.microsoft.com/office/drawing/2014/main" id="{8786D8AF-3933-344C-4BD7-8E7DA80C0FE4}"/>
              </a:ext>
            </a:extLst>
          </p:cNvPr>
          <p:cNvSpPr>
            <a:spLocks noGrp="1"/>
          </p:cNvSpPr>
          <p:nvPr>
            <p:ph idx="1"/>
          </p:nvPr>
        </p:nvSpPr>
        <p:spPr>
          <a:xfrm>
            <a:off x="756557" y="820172"/>
            <a:ext cx="6192883" cy="4968694"/>
          </a:xfrm>
        </p:spPr>
        <p:txBody>
          <a:bodyPr>
            <a:noAutofit/>
          </a:bodyPr>
          <a:lstStyle/>
          <a:p>
            <a:pPr>
              <a:lnSpc>
                <a:spcPts val="2800"/>
              </a:lnSpc>
            </a:pPr>
            <a:r>
              <a:rPr lang="ko-KR" altLang="en-US" sz="2400" dirty="0"/>
              <a:t>차량 시스템의 기능을 분석해 임무를 할당하는 작업</a:t>
            </a:r>
          </a:p>
          <a:p>
            <a:pPr lvl="1">
              <a:lnSpc>
                <a:spcPts val="2800"/>
              </a:lnSpc>
            </a:pPr>
            <a:r>
              <a:rPr lang="ko-KR" altLang="en-US" sz="2000" dirty="0"/>
              <a:t>차량 상태</a:t>
            </a:r>
            <a:r>
              <a:rPr lang="en-US" altLang="ko-KR" sz="2000" dirty="0"/>
              <a:t>, </a:t>
            </a:r>
            <a:r>
              <a:rPr lang="ko-KR" altLang="en-US" sz="2000" dirty="0"/>
              <a:t>운전모드</a:t>
            </a:r>
            <a:r>
              <a:rPr lang="en-US" altLang="ko-KR" sz="2000" dirty="0"/>
              <a:t>, </a:t>
            </a:r>
            <a:r>
              <a:rPr lang="ko-KR" altLang="en-US" sz="2000" dirty="0"/>
              <a:t>부가기능</a:t>
            </a:r>
            <a:r>
              <a:rPr lang="en-US" altLang="ko-KR" sz="2000" dirty="0"/>
              <a:t>, </a:t>
            </a:r>
            <a:r>
              <a:rPr lang="ko-KR" altLang="en-US" sz="2000" dirty="0"/>
              <a:t>연비목표</a:t>
            </a:r>
            <a:r>
              <a:rPr lang="en-US" altLang="ko-KR" sz="2000" dirty="0"/>
              <a:t>, </a:t>
            </a:r>
            <a:r>
              <a:rPr lang="ko-KR" altLang="en-US" sz="2000" dirty="0"/>
              <a:t>안전목표 등의 성능이나 품질</a:t>
            </a:r>
          </a:p>
          <a:p>
            <a:pPr>
              <a:lnSpc>
                <a:spcPts val="2800"/>
              </a:lnSpc>
            </a:pPr>
            <a:r>
              <a:rPr lang="en-US" altLang="ko-KR" sz="2400" dirty="0"/>
              <a:t>EAST-ADL :</a:t>
            </a:r>
          </a:p>
          <a:p>
            <a:pPr lvl="1">
              <a:lnSpc>
                <a:spcPts val="2800"/>
              </a:lnSpc>
            </a:pPr>
            <a:r>
              <a:rPr lang="en-US" altLang="ko-KR" sz="2000" dirty="0"/>
              <a:t>Architecture Description Language (ADL) initially defined in the ITEA project EAST-EEA around 2000.</a:t>
            </a:r>
          </a:p>
          <a:p>
            <a:pPr lvl="1">
              <a:lnSpc>
                <a:spcPts val="2800"/>
              </a:lnSpc>
            </a:pPr>
            <a:r>
              <a:rPr lang="en-US" altLang="ko-KR" sz="2000" dirty="0"/>
              <a:t>AUTOSAR</a:t>
            </a:r>
            <a:r>
              <a:rPr lang="ko-KR" altLang="en-US" sz="2000" dirty="0"/>
              <a:t>를 포함하는 상위 레벨 개념 </a:t>
            </a:r>
          </a:p>
          <a:p>
            <a:pPr lvl="1">
              <a:lnSpc>
                <a:spcPts val="2800"/>
              </a:lnSpc>
            </a:pPr>
            <a:r>
              <a:rPr lang="en-US" altLang="ko-KR" sz="2000" dirty="0"/>
              <a:t>EAST-ADL is an approach for describing automotive electronic systems through an information model that captures engineering information in a standardized form </a:t>
            </a:r>
          </a:p>
          <a:p>
            <a:pPr>
              <a:lnSpc>
                <a:spcPts val="2800"/>
              </a:lnSpc>
            </a:pPr>
            <a:endParaRPr lang="ko-KR" altLang="en-US" sz="2400" dirty="0"/>
          </a:p>
        </p:txBody>
      </p:sp>
      <p:sp>
        <p:nvSpPr>
          <p:cNvPr id="4" name="날짜 개체 틀 3">
            <a:extLst>
              <a:ext uri="{FF2B5EF4-FFF2-40B4-BE49-F238E27FC236}">
                <a16:creationId xmlns:a16="http://schemas.microsoft.com/office/drawing/2014/main" id="{8AD20B97-5E63-B9AC-6EA9-A14B98BC85C3}"/>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EE41B07A-BDAC-F871-194C-5AD78809B20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4460D8BC-D238-95DC-DBE0-FD3A39B90E09}"/>
              </a:ext>
            </a:extLst>
          </p:cNvPr>
          <p:cNvSpPr>
            <a:spLocks noGrp="1"/>
          </p:cNvSpPr>
          <p:nvPr>
            <p:ph type="sldNum" sz="quarter" idx="12"/>
          </p:nvPr>
        </p:nvSpPr>
        <p:spPr/>
        <p:txBody>
          <a:bodyPr/>
          <a:lstStyle/>
          <a:p>
            <a:fld id="{55635D17-9D19-4B1E-86C2-B9D6296E4AF7}" type="slidenum">
              <a:rPr lang="en-US" smtClean="0"/>
              <a:pPr/>
              <a:t>18</a:t>
            </a:fld>
            <a:endParaRPr lang="en-US" dirty="0"/>
          </a:p>
        </p:txBody>
      </p:sp>
      <p:pic>
        <p:nvPicPr>
          <p:cNvPr id="7" name="Picture 2">
            <a:extLst>
              <a:ext uri="{FF2B5EF4-FFF2-40B4-BE49-F238E27FC236}">
                <a16:creationId xmlns:a16="http://schemas.microsoft.com/office/drawing/2014/main" id="{B2C0B59E-226D-0E54-F98D-19CB33E6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9854" y="2458080"/>
            <a:ext cx="4861171" cy="3227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6664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99CFEC6-B809-D533-FE1D-C84F358661BB}"/>
              </a:ext>
            </a:extLst>
          </p:cNvPr>
          <p:cNvSpPr>
            <a:spLocks noGrp="1"/>
          </p:cNvSpPr>
          <p:nvPr>
            <p:ph type="title"/>
          </p:nvPr>
        </p:nvSpPr>
        <p:spPr/>
        <p:txBody>
          <a:bodyPr>
            <a:normAutofit fontScale="90000"/>
          </a:bodyPr>
          <a:lstStyle/>
          <a:p>
            <a:r>
              <a:rPr lang="ko-KR" altLang="en-US" dirty="0"/>
              <a:t>차량과 전장 개발 프로세스</a:t>
            </a:r>
          </a:p>
        </p:txBody>
      </p:sp>
      <p:sp>
        <p:nvSpPr>
          <p:cNvPr id="3" name="내용 개체 틀 2">
            <a:extLst>
              <a:ext uri="{FF2B5EF4-FFF2-40B4-BE49-F238E27FC236}">
                <a16:creationId xmlns:a16="http://schemas.microsoft.com/office/drawing/2014/main" id="{441430F3-63D3-3BFD-1443-8F0336E46495}"/>
              </a:ext>
            </a:extLst>
          </p:cNvPr>
          <p:cNvSpPr>
            <a:spLocks noGrp="1"/>
          </p:cNvSpPr>
          <p:nvPr>
            <p:ph idx="1"/>
          </p:nvPr>
        </p:nvSpPr>
        <p:spPr/>
        <p:txBody>
          <a:bodyPr>
            <a:normAutofit/>
          </a:bodyPr>
          <a:lstStyle/>
          <a:p>
            <a:pPr>
              <a:lnSpc>
                <a:spcPct val="100000"/>
              </a:lnSpc>
            </a:pPr>
            <a:r>
              <a:rPr lang="ko-KR" altLang="en-US" sz="2400" dirty="0"/>
              <a:t>차량 개발 단계별로 전장 부품 개발 프로세스 반복</a:t>
            </a:r>
          </a:p>
          <a:p>
            <a:pPr>
              <a:lnSpc>
                <a:spcPct val="100000"/>
              </a:lnSpc>
            </a:pPr>
            <a:r>
              <a:rPr lang="en-US" altLang="ko-KR" sz="2400" dirty="0"/>
              <a:t>Trial Car </a:t>
            </a:r>
            <a:r>
              <a:rPr lang="en-US" altLang="ko-KR" sz="2400" dirty="0">
                <a:sym typeface="Wingdings" panose="05000000000000000000" pitchFamily="2" charset="2"/>
              </a:rPr>
              <a:t></a:t>
            </a:r>
            <a:r>
              <a:rPr lang="en-US" altLang="ko-KR" sz="2400" dirty="0"/>
              <a:t> A sample, Proto Car </a:t>
            </a:r>
            <a:r>
              <a:rPr lang="en-US" altLang="ko-KR" sz="2400" dirty="0">
                <a:sym typeface="Wingdings" panose="05000000000000000000" pitchFamily="2" charset="2"/>
              </a:rPr>
              <a:t> </a:t>
            </a:r>
            <a:r>
              <a:rPr lang="en-US" altLang="ko-KR" sz="2400" dirty="0"/>
              <a:t>B sample, Pilot Car </a:t>
            </a:r>
            <a:r>
              <a:rPr lang="en-US" altLang="ko-KR" sz="2400" dirty="0">
                <a:sym typeface="Wingdings" panose="05000000000000000000" pitchFamily="2" charset="2"/>
              </a:rPr>
              <a:t> </a:t>
            </a:r>
            <a:r>
              <a:rPr lang="en-US" altLang="ko-KR" sz="2400" dirty="0"/>
              <a:t>C sample, Production Car </a:t>
            </a:r>
            <a:r>
              <a:rPr lang="en-US" altLang="ko-KR" sz="2400" dirty="0">
                <a:sym typeface="Wingdings" panose="05000000000000000000" pitchFamily="2" charset="2"/>
              </a:rPr>
              <a:t> </a:t>
            </a:r>
            <a:r>
              <a:rPr lang="en-US" altLang="ko-KR" sz="2400" dirty="0"/>
              <a:t>D sample</a:t>
            </a:r>
          </a:p>
          <a:p>
            <a:pPr>
              <a:lnSpc>
                <a:spcPct val="100000"/>
              </a:lnSpc>
            </a:pPr>
            <a:r>
              <a:rPr lang="ko-KR" altLang="en-US" sz="2400" dirty="0"/>
              <a:t>개발 보조 활동</a:t>
            </a:r>
          </a:p>
          <a:p>
            <a:pPr lvl="1">
              <a:lnSpc>
                <a:spcPct val="100000"/>
              </a:lnSpc>
            </a:pPr>
            <a:r>
              <a:rPr lang="en-US" altLang="ko-KR" sz="2000" dirty="0"/>
              <a:t>Version, Tracking, Data Calibration Management, </a:t>
            </a:r>
            <a:r>
              <a:rPr lang="en-US" altLang="ko-KR" sz="2000" dirty="0" err="1"/>
              <a:t>etc</a:t>
            </a:r>
            <a:r>
              <a:rPr lang="en-US" altLang="ko-KR" sz="2000" dirty="0"/>
              <a:t> </a:t>
            </a:r>
          </a:p>
          <a:p>
            <a:pPr>
              <a:lnSpc>
                <a:spcPct val="100000"/>
              </a:lnSpc>
            </a:pPr>
            <a:endParaRPr lang="ko-KR" altLang="en-US" sz="2400" dirty="0"/>
          </a:p>
        </p:txBody>
      </p:sp>
      <p:sp>
        <p:nvSpPr>
          <p:cNvPr id="4" name="날짜 개체 틀 3">
            <a:extLst>
              <a:ext uri="{FF2B5EF4-FFF2-40B4-BE49-F238E27FC236}">
                <a16:creationId xmlns:a16="http://schemas.microsoft.com/office/drawing/2014/main" id="{5A2C8C6B-9AAF-3445-E090-F2D857D72188}"/>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4DC0960A-D6F9-7783-9669-6E91E5331CE3}"/>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3C95FA97-1AA0-6773-3620-3281254EB4B9}"/>
              </a:ext>
            </a:extLst>
          </p:cNvPr>
          <p:cNvSpPr>
            <a:spLocks noGrp="1"/>
          </p:cNvSpPr>
          <p:nvPr>
            <p:ph type="sldNum" sz="quarter" idx="12"/>
          </p:nvPr>
        </p:nvSpPr>
        <p:spPr/>
        <p:txBody>
          <a:bodyPr/>
          <a:lstStyle/>
          <a:p>
            <a:fld id="{55635D17-9D19-4B1E-86C2-B9D6296E4AF7}" type="slidenum">
              <a:rPr lang="en-US" smtClean="0"/>
              <a:pPr/>
              <a:t>19</a:t>
            </a:fld>
            <a:endParaRPr lang="en-US" dirty="0"/>
          </a:p>
        </p:txBody>
      </p:sp>
      <p:pic>
        <p:nvPicPr>
          <p:cNvPr id="9" name="그림 8">
            <a:extLst>
              <a:ext uri="{FF2B5EF4-FFF2-40B4-BE49-F238E27FC236}">
                <a16:creationId xmlns:a16="http://schemas.microsoft.com/office/drawing/2014/main" id="{C7862FFE-303C-B3B8-263F-B11C3DE517C3}"/>
              </a:ext>
            </a:extLst>
          </p:cNvPr>
          <p:cNvPicPr>
            <a:picLocks noChangeAspect="1"/>
          </p:cNvPicPr>
          <p:nvPr/>
        </p:nvPicPr>
        <p:blipFill>
          <a:blip r:embed="rId2"/>
          <a:stretch>
            <a:fillRect/>
          </a:stretch>
        </p:blipFill>
        <p:spPr>
          <a:xfrm>
            <a:off x="2287055" y="3017178"/>
            <a:ext cx="7570273" cy="2938212"/>
          </a:xfrm>
          <a:prstGeom prst="rect">
            <a:avLst/>
          </a:prstGeom>
        </p:spPr>
      </p:pic>
    </p:spTree>
    <p:extLst>
      <p:ext uri="{BB962C8B-B14F-4D97-AF65-F5344CB8AC3E}">
        <p14:creationId xmlns:p14="http://schemas.microsoft.com/office/powerpoint/2010/main" val="2903373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AEFECB-A5F8-85B2-3A7F-D5E3948CA411}"/>
              </a:ext>
            </a:extLst>
          </p:cNvPr>
          <p:cNvSpPr>
            <a:spLocks noGrp="1"/>
          </p:cNvSpPr>
          <p:nvPr>
            <p:ph type="title"/>
          </p:nvPr>
        </p:nvSpPr>
        <p:spPr/>
        <p:txBody>
          <a:bodyPr>
            <a:normAutofit fontScale="90000"/>
          </a:bodyPr>
          <a:lstStyle/>
          <a:p>
            <a:r>
              <a:rPr lang="ko-KR" altLang="en-US" dirty="0"/>
              <a:t>협업 관리</a:t>
            </a:r>
          </a:p>
        </p:txBody>
      </p:sp>
      <p:sp>
        <p:nvSpPr>
          <p:cNvPr id="3" name="내용 개체 틀 2">
            <a:extLst>
              <a:ext uri="{FF2B5EF4-FFF2-40B4-BE49-F238E27FC236}">
                <a16:creationId xmlns:a16="http://schemas.microsoft.com/office/drawing/2014/main" id="{867E5CB4-104A-732F-1AAB-F4783FA2B90F}"/>
              </a:ext>
            </a:extLst>
          </p:cNvPr>
          <p:cNvSpPr>
            <a:spLocks noGrp="1"/>
          </p:cNvSpPr>
          <p:nvPr>
            <p:ph idx="1"/>
          </p:nvPr>
        </p:nvSpPr>
        <p:spPr/>
        <p:txBody>
          <a:bodyPr>
            <a:normAutofit/>
          </a:bodyPr>
          <a:lstStyle/>
          <a:p>
            <a:r>
              <a:rPr lang="en-US" altLang="ko-KR" sz="2400" dirty="0"/>
              <a:t>WBS(Work Breakdown Structure) Define</a:t>
            </a:r>
          </a:p>
          <a:p>
            <a:r>
              <a:rPr lang="ko-KR" altLang="en-US" sz="2400" dirty="0"/>
              <a:t>산출물 </a:t>
            </a:r>
            <a:r>
              <a:rPr lang="en-US" altLang="ko-KR" sz="2400" dirty="0"/>
              <a:t>(Deliverables) </a:t>
            </a:r>
            <a:r>
              <a:rPr lang="ko-KR" altLang="en-US" sz="2400" dirty="0"/>
              <a:t>지원 및 관리 계획 수립</a:t>
            </a:r>
          </a:p>
          <a:p>
            <a:r>
              <a:rPr lang="en-US" altLang="ko-KR" sz="2400" dirty="0"/>
              <a:t>Deliverables </a:t>
            </a:r>
            <a:r>
              <a:rPr lang="ko-KR" altLang="en-US" sz="2400" dirty="0"/>
              <a:t>배포 기준과 절차 정의 및 평가 계획 수립</a:t>
            </a:r>
          </a:p>
          <a:p>
            <a:r>
              <a:rPr lang="ko-KR" altLang="en-US" sz="2400" dirty="0"/>
              <a:t>착수 시점 대비 변경 발생 시 계획 조정 및 공유 절차도 정의 되어야 함 </a:t>
            </a:r>
          </a:p>
          <a:p>
            <a:endParaRPr lang="ko-KR" altLang="en-US" sz="2400" dirty="0"/>
          </a:p>
        </p:txBody>
      </p:sp>
      <p:sp>
        <p:nvSpPr>
          <p:cNvPr id="4" name="날짜 개체 틀 3">
            <a:extLst>
              <a:ext uri="{FF2B5EF4-FFF2-40B4-BE49-F238E27FC236}">
                <a16:creationId xmlns:a16="http://schemas.microsoft.com/office/drawing/2014/main" id="{6863DA99-4B30-F4D8-FA14-5D60B0E99DBA}"/>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49FC7004-85FC-A367-B1F3-DD8FC8DAA647}"/>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6249DD00-9A8F-25F1-C4FF-AB36C5843252}"/>
              </a:ext>
            </a:extLst>
          </p:cNvPr>
          <p:cNvSpPr>
            <a:spLocks noGrp="1"/>
          </p:cNvSpPr>
          <p:nvPr>
            <p:ph type="sldNum" sz="quarter" idx="12"/>
          </p:nvPr>
        </p:nvSpPr>
        <p:spPr/>
        <p:txBody>
          <a:bodyPr/>
          <a:lstStyle/>
          <a:p>
            <a:fld id="{55635D17-9D19-4B1E-86C2-B9D6296E4AF7}" type="slidenum">
              <a:rPr lang="en-US" smtClean="0"/>
              <a:pPr/>
              <a:t>20</a:t>
            </a:fld>
            <a:endParaRPr lang="en-US" dirty="0"/>
          </a:p>
        </p:txBody>
      </p:sp>
      <p:pic>
        <p:nvPicPr>
          <p:cNvPr id="7" name="Picture 2">
            <a:extLst>
              <a:ext uri="{FF2B5EF4-FFF2-40B4-BE49-F238E27FC236}">
                <a16:creationId xmlns:a16="http://schemas.microsoft.com/office/drawing/2014/main" id="{A77ECE68-8F6D-66B6-6C9D-BFC8742EA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9187" y="2741874"/>
            <a:ext cx="6653539" cy="3128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2886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D853A5-2753-59C0-9556-06EDF9DED8FD}"/>
              </a:ext>
            </a:extLst>
          </p:cNvPr>
          <p:cNvSpPr>
            <a:spLocks noGrp="1"/>
          </p:cNvSpPr>
          <p:nvPr>
            <p:ph type="title"/>
          </p:nvPr>
        </p:nvSpPr>
        <p:spPr/>
        <p:txBody>
          <a:bodyPr>
            <a:normAutofit fontScale="90000"/>
          </a:bodyPr>
          <a:lstStyle/>
          <a:p>
            <a:r>
              <a:rPr lang="en-US" altLang="ko-KR" dirty="0"/>
              <a:t>System</a:t>
            </a:r>
            <a:r>
              <a:rPr lang="ko-KR" altLang="en-US" dirty="0"/>
              <a:t> </a:t>
            </a:r>
            <a:r>
              <a:rPr lang="en-US" altLang="ko-KR" dirty="0"/>
              <a:t>Requirements</a:t>
            </a:r>
            <a:endParaRPr lang="ko-KR" altLang="en-US" dirty="0"/>
          </a:p>
        </p:txBody>
      </p:sp>
      <p:sp>
        <p:nvSpPr>
          <p:cNvPr id="3" name="내용 개체 틀 2">
            <a:extLst>
              <a:ext uri="{FF2B5EF4-FFF2-40B4-BE49-F238E27FC236}">
                <a16:creationId xmlns:a16="http://schemas.microsoft.com/office/drawing/2014/main" id="{C4AA013D-CD1D-6731-93E4-FB45E488FED0}"/>
              </a:ext>
            </a:extLst>
          </p:cNvPr>
          <p:cNvSpPr>
            <a:spLocks noGrp="1"/>
          </p:cNvSpPr>
          <p:nvPr>
            <p:ph idx="1"/>
          </p:nvPr>
        </p:nvSpPr>
        <p:spPr/>
        <p:txBody>
          <a:bodyPr>
            <a:normAutofit/>
          </a:bodyPr>
          <a:lstStyle/>
          <a:p>
            <a:pPr>
              <a:lnSpc>
                <a:spcPct val="100000"/>
              </a:lnSpc>
            </a:pPr>
            <a:r>
              <a:rPr lang="ko-KR" altLang="en-US" sz="2400" dirty="0"/>
              <a:t>언제</a:t>
            </a:r>
            <a:r>
              <a:rPr lang="en-US" altLang="ko-KR" sz="2400" dirty="0"/>
              <a:t>, </a:t>
            </a:r>
            <a:r>
              <a:rPr lang="ko-KR" altLang="en-US" sz="2400" dirty="0"/>
              <a:t>무엇을 얼만큼 수행해야 하는지 시스템 관점에서 정의 필요</a:t>
            </a:r>
          </a:p>
          <a:p>
            <a:pPr lvl="1">
              <a:lnSpc>
                <a:spcPct val="100000"/>
              </a:lnSpc>
            </a:pPr>
            <a:r>
              <a:rPr lang="ko-KR" altLang="en-US" sz="2000" dirty="0"/>
              <a:t>시스템 운용 관점 </a:t>
            </a:r>
            <a:r>
              <a:rPr lang="en-US" altLang="ko-KR" sz="2000" dirty="0"/>
              <a:t>: </a:t>
            </a:r>
            <a:r>
              <a:rPr lang="ko-KR" altLang="en-US" sz="2000" dirty="0"/>
              <a:t>차량의 상태와 동작 모드에 따라 시스템이 수행해야 할 역할과 기능 분석을 요구사항으로 정의</a:t>
            </a:r>
          </a:p>
          <a:p>
            <a:pPr lvl="1">
              <a:lnSpc>
                <a:spcPct val="100000"/>
              </a:lnSpc>
            </a:pPr>
            <a:r>
              <a:rPr lang="ko-KR" altLang="en-US" sz="2000" dirty="0"/>
              <a:t>시스템 관점</a:t>
            </a:r>
            <a:r>
              <a:rPr lang="en-US" altLang="ko-KR" sz="2000" dirty="0"/>
              <a:t>, </a:t>
            </a:r>
            <a:r>
              <a:rPr lang="ko-KR" altLang="en-US" sz="2000" dirty="0"/>
              <a:t>기술적 관점 </a:t>
            </a:r>
            <a:endParaRPr lang="ko-KR" altLang="en-US" sz="2400" dirty="0"/>
          </a:p>
          <a:p>
            <a:pPr>
              <a:lnSpc>
                <a:spcPct val="100000"/>
              </a:lnSpc>
            </a:pPr>
            <a:r>
              <a:rPr lang="ko-KR" altLang="en-US" sz="2400" dirty="0"/>
              <a:t>시스템 요구 사항의 종류</a:t>
            </a:r>
          </a:p>
          <a:p>
            <a:pPr>
              <a:lnSpc>
                <a:spcPct val="100000"/>
              </a:lnSpc>
            </a:pPr>
            <a:endParaRPr lang="ko-KR" altLang="en-US" sz="2400" dirty="0"/>
          </a:p>
        </p:txBody>
      </p:sp>
      <p:sp>
        <p:nvSpPr>
          <p:cNvPr id="4" name="날짜 개체 틀 3">
            <a:extLst>
              <a:ext uri="{FF2B5EF4-FFF2-40B4-BE49-F238E27FC236}">
                <a16:creationId xmlns:a16="http://schemas.microsoft.com/office/drawing/2014/main" id="{2E817080-D1FC-3A67-0DC3-A000C6860D93}"/>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92ACE958-1867-5784-8005-D3351A488AF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AC3F978C-4D4D-505B-4789-EE202D20EAC8}"/>
              </a:ext>
            </a:extLst>
          </p:cNvPr>
          <p:cNvSpPr>
            <a:spLocks noGrp="1"/>
          </p:cNvSpPr>
          <p:nvPr>
            <p:ph type="sldNum" sz="quarter" idx="12"/>
          </p:nvPr>
        </p:nvSpPr>
        <p:spPr/>
        <p:txBody>
          <a:bodyPr/>
          <a:lstStyle/>
          <a:p>
            <a:fld id="{55635D17-9D19-4B1E-86C2-B9D6296E4AF7}" type="slidenum">
              <a:rPr lang="en-US" smtClean="0"/>
              <a:pPr/>
              <a:t>21</a:t>
            </a:fld>
            <a:endParaRPr lang="en-US" dirty="0"/>
          </a:p>
        </p:txBody>
      </p:sp>
      <p:pic>
        <p:nvPicPr>
          <p:cNvPr id="9" name="그림 8">
            <a:extLst>
              <a:ext uri="{FF2B5EF4-FFF2-40B4-BE49-F238E27FC236}">
                <a16:creationId xmlns:a16="http://schemas.microsoft.com/office/drawing/2014/main" id="{91E3E455-9C86-95D9-C4A7-FDB12AE3BE01}"/>
              </a:ext>
            </a:extLst>
          </p:cNvPr>
          <p:cNvPicPr>
            <a:picLocks noChangeAspect="1"/>
          </p:cNvPicPr>
          <p:nvPr/>
        </p:nvPicPr>
        <p:blipFill>
          <a:blip r:embed="rId2"/>
          <a:stretch>
            <a:fillRect/>
          </a:stretch>
        </p:blipFill>
        <p:spPr>
          <a:xfrm>
            <a:off x="1922824" y="2804146"/>
            <a:ext cx="8327300" cy="3107124"/>
          </a:xfrm>
          <a:prstGeom prst="rect">
            <a:avLst/>
          </a:prstGeom>
        </p:spPr>
      </p:pic>
    </p:spTree>
    <p:extLst>
      <p:ext uri="{BB962C8B-B14F-4D97-AF65-F5344CB8AC3E}">
        <p14:creationId xmlns:p14="http://schemas.microsoft.com/office/powerpoint/2010/main" val="857606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BE0B7-7F39-46F5-C8B1-158EF1F109E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132D9B6-9184-1D3F-4F98-B192C455E684}"/>
              </a:ext>
            </a:extLst>
          </p:cNvPr>
          <p:cNvSpPr>
            <a:spLocks noGrp="1"/>
          </p:cNvSpPr>
          <p:nvPr>
            <p:ph type="title"/>
          </p:nvPr>
        </p:nvSpPr>
        <p:spPr/>
        <p:txBody>
          <a:bodyPr>
            <a:normAutofit fontScale="90000"/>
          </a:bodyPr>
          <a:lstStyle/>
          <a:p>
            <a:r>
              <a:rPr lang="en-US" altLang="ko-KR" dirty="0"/>
              <a:t>System</a:t>
            </a:r>
            <a:r>
              <a:rPr lang="ko-KR" altLang="en-US" dirty="0"/>
              <a:t> </a:t>
            </a:r>
            <a:r>
              <a:rPr lang="en-US" altLang="ko-KR" dirty="0"/>
              <a:t>Requirements</a:t>
            </a:r>
            <a:endParaRPr lang="ko-KR" altLang="en-US" dirty="0"/>
          </a:p>
        </p:txBody>
      </p:sp>
      <p:sp>
        <p:nvSpPr>
          <p:cNvPr id="4" name="날짜 개체 틀 3">
            <a:extLst>
              <a:ext uri="{FF2B5EF4-FFF2-40B4-BE49-F238E27FC236}">
                <a16:creationId xmlns:a16="http://schemas.microsoft.com/office/drawing/2014/main" id="{D1AA048F-125F-5A6D-E0F1-70254620CCFC}"/>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FE74A871-0638-377E-8986-488480710A92}"/>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1D68F61B-583F-026B-1974-25EDCE530003}"/>
              </a:ext>
            </a:extLst>
          </p:cNvPr>
          <p:cNvSpPr>
            <a:spLocks noGrp="1"/>
          </p:cNvSpPr>
          <p:nvPr>
            <p:ph type="sldNum" sz="quarter" idx="12"/>
          </p:nvPr>
        </p:nvSpPr>
        <p:spPr/>
        <p:txBody>
          <a:bodyPr/>
          <a:lstStyle/>
          <a:p>
            <a:fld id="{55635D17-9D19-4B1E-86C2-B9D6296E4AF7}" type="slidenum">
              <a:rPr lang="en-US" smtClean="0"/>
              <a:pPr/>
              <a:t>22</a:t>
            </a:fld>
            <a:endParaRPr lang="en-US" dirty="0"/>
          </a:p>
        </p:txBody>
      </p:sp>
      <p:pic>
        <p:nvPicPr>
          <p:cNvPr id="10" name="Picture 2">
            <a:extLst>
              <a:ext uri="{FF2B5EF4-FFF2-40B4-BE49-F238E27FC236}">
                <a16:creationId xmlns:a16="http://schemas.microsoft.com/office/drawing/2014/main" id="{B5563BA4-79EE-9BA3-93C4-4E1BFE38E6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65" y="1071492"/>
            <a:ext cx="6708986" cy="40049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a:extLst>
              <a:ext uri="{FF2B5EF4-FFF2-40B4-BE49-F238E27FC236}">
                <a16:creationId xmlns:a16="http://schemas.microsoft.com/office/drawing/2014/main" id="{4EB3BE40-5DB1-C8B6-1660-A2F6CF543D67}"/>
              </a:ext>
            </a:extLst>
          </p:cNvPr>
          <p:cNvSpPr txBox="1"/>
          <p:nvPr/>
        </p:nvSpPr>
        <p:spPr>
          <a:xfrm>
            <a:off x="3734921" y="5177071"/>
            <a:ext cx="2948683" cy="646331"/>
          </a:xfrm>
          <a:prstGeom prst="rect">
            <a:avLst/>
          </a:prstGeom>
          <a:solidFill>
            <a:srgbClr val="FFFF00"/>
          </a:solidFill>
        </p:spPr>
        <p:txBody>
          <a:bodyPr wrap="square" rtlCol="0">
            <a:spAutoFit/>
          </a:bodyPr>
          <a:lstStyle/>
          <a:p>
            <a:pPr marL="92075" indent="-92075">
              <a:buFont typeface="Arial" panose="020B0604020202020204" pitchFamily="34" charset="0"/>
              <a:buChar char="•"/>
            </a:pPr>
            <a:r>
              <a:rPr lang="en-US" altLang="ko-KR" sz="1200" b="1" dirty="0"/>
              <a:t>Function</a:t>
            </a:r>
            <a:r>
              <a:rPr lang="en-US" altLang="ko-KR" sz="1200" dirty="0"/>
              <a:t> : Driving, Braking, Steering, </a:t>
            </a:r>
            <a:r>
              <a:rPr lang="en-US" altLang="ko-KR" sz="1200" dirty="0" err="1"/>
              <a:t>etc</a:t>
            </a:r>
            <a:endParaRPr lang="en-US" altLang="ko-KR" sz="1200" dirty="0"/>
          </a:p>
          <a:p>
            <a:pPr marL="92075" indent="-92075">
              <a:buFont typeface="Arial" panose="020B0604020202020204" pitchFamily="34" charset="0"/>
              <a:buChar char="•"/>
            </a:pPr>
            <a:r>
              <a:rPr lang="en-US" altLang="ko-KR" sz="1200" b="1" dirty="0"/>
              <a:t>Non-Function</a:t>
            </a:r>
            <a:r>
              <a:rPr lang="en-US" altLang="ko-KR" sz="1200" dirty="0"/>
              <a:t> : Response time, Memory consumption, Reliability, </a:t>
            </a:r>
            <a:r>
              <a:rPr lang="en-US" altLang="ko-KR" sz="1200" dirty="0" err="1"/>
              <a:t>etc</a:t>
            </a:r>
            <a:endParaRPr lang="ko-KR" altLang="en-US" sz="1200" dirty="0"/>
          </a:p>
        </p:txBody>
      </p:sp>
      <p:graphicFrame>
        <p:nvGraphicFramePr>
          <p:cNvPr id="12" name="개체 11">
            <a:hlinkClick r:id="" action="ppaction://ole?verb=0"/>
            <a:extLst>
              <a:ext uri="{FF2B5EF4-FFF2-40B4-BE49-F238E27FC236}">
                <a16:creationId xmlns:a16="http://schemas.microsoft.com/office/drawing/2014/main" id="{9316281F-A36B-41F9-9B9E-7D5C810805CE}"/>
              </a:ext>
            </a:extLst>
          </p:cNvPr>
          <p:cNvGraphicFramePr>
            <a:graphicFrameLocks noChangeAspect="1"/>
          </p:cNvGraphicFramePr>
          <p:nvPr>
            <p:extLst>
              <p:ext uri="{D42A27DB-BD31-4B8C-83A1-F6EECF244321}">
                <p14:modId xmlns:p14="http://schemas.microsoft.com/office/powerpoint/2010/main" val="2886538404"/>
              </p:ext>
            </p:extLst>
          </p:nvPr>
        </p:nvGraphicFramePr>
        <p:xfrm>
          <a:off x="9032016" y="2314964"/>
          <a:ext cx="1338773" cy="1159806"/>
        </p:xfrm>
        <a:graphic>
          <a:graphicData uri="http://schemas.openxmlformats.org/presentationml/2006/ole">
            <mc:AlternateContent xmlns:mc="http://schemas.openxmlformats.org/markup-compatibility/2006">
              <mc:Choice xmlns:v="urn:schemas-microsoft-com:vml" Requires="v">
                <p:oleObj name="Presentation" showAsIcon="1" r:id="rId3" imgW="914400" imgH="792360" progId="PowerPoint.Show.8">
                  <p:embed/>
                </p:oleObj>
              </mc:Choice>
              <mc:Fallback>
                <p:oleObj name="Presentation" showAsIcon="1" r:id="rId3" imgW="914400" imgH="792360" progId="PowerPoint.Show.8">
                  <p:embed/>
                  <p:pic>
                    <p:nvPicPr>
                      <p:cNvPr id="2" name="개체 1">
                        <a:hlinkClick r:id="" action="ppaction://ole?verb=0"/>
                      </p:cNvPr>
                      <p:cNvPicPr/>
                      <p:nvPr/>
                    </p:nvPicPr>
                    <p:blipFill>
                      <a:blip r:embed="rId4"/>
                      <a:stretch>
                        <a:fillRect/>
                      </a:stretch>
                    </p:blipFill>
                    <p:spPr>
                      <a:xfrm>
                        <a:off x="9032016" y="2314964"/>
                        <a:ext cx="1338773" cy="1159806"/>
                      </a:xfrm>
                      <a:prstGeom prst="rect">
                        <a:avLst/>
                      </a:prstGeom>
                    </p:spPr>
                  </p:pic>
                </p:oleObj>
              </mc:Fallback>
            </mc:AlternateContent>
          </a:graphicData>
        </a:graphic>
      </p:graphicFrame>
    </p:spTree>
    <p:extLst>
      <p:ext uri="{BB962C8B-B14F-4D97-AF65-F5344CB8AC3E}">
        <p14:creationId xmlns:p14="http://schemas.microsoft.com/office/powerpoint/2010/main" val="796219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8C8109-26B5-8E5F-FD6A-F86E598122B2}"/>
              </a:ext>
            </a:extLst>
          </p:cNvPr>
          <p:cNvSpPr>
            <a:spLocks noGrp="1"/>
          </p:cNvSpPr>
          <p:nvPr>
            <p:ph type="title"/>
          </p:nvPr>
        </p:nvSpPr>
        <p:spPr/>
        <p:txBody>
          <a:bodyPr>
            <a:normAutofit fontScale="90000"/>
          </a:bodyPr>
          <a:lstStyle/>
          <a:p>
            <a:r>
              <a:rPr lang="en-US" altLang="ko-KR" dirty="0"/>
              <a:t>System Architecture Design</a:t>
            </a:r>
            <a:endParaRPr lang="ko-KR" altLang="en-US" dirty="0"/>
          </a:p>
        </p:txBody>
      </p:sp>
      <p:sp>
        <p:nvSpPr>
          <p:cNvPr id="3" name="내용 개체 틀 2">
            <a:extLst>
              <a:ext uri="{FF2B5EF4-FFF2-40B4-BE49-F238E27FC236}">
                <a16:creationId xmlns:a16="http://schemas.microsoft.com/office/drawing/2014/main" id="{7074D99D-67CA-69C9-9735-7C22D5F98CEA}"/>
              </a:ext>
            </a:extLst>
          </p:cNvPr>
          <p:cNvSpPr>
            <a:spLocks noGrp="1"/>
          </p:cNvSpPr>
          <p:nvPr>
            <p:ph idx="1"/>
          </p:nvPr>
        </p:nvSpPr>
        <p:spPr>
          <a:xfrm>
            <a:off x="756557" y="820172"/>
            <a:ext cx="10515600" cy="4968694"/>
          </a:xfrm>
        </p:spPr>
        <p:txBody>
          <a:bodyPr>
            <a:normAutofit/>
          </a:bodyPr>
          <a:lstStyle/>
          <a:p>
            <a:pPr>
              <a:lnSpc>
                <a:spcPct val="100000"/>
              </a:lnSpc>
            </a:pPr>
            <a:r>
              <a:rPr lang="ko-KR" altLang="en-US" sz="2000" dirty="0"/>
              <a:t>시스템 요구사항과 아키텍처 설계는 시간에 따라 서로 정합성을 맞춰가면서 변경하고 개선하는 개념</a:t>
            </a:r>
          </a:p>
          <a:p>
            <a:pPr>
              <a:lnSpc>
                <a:spcPct val="100000"/>
              </a:lnSpc>
            </a:pPr>
            <a:r>
              <a:rPr lang="ko-KR" altLang="en-US" sz="2000" dirty="0"/>
              <a:t>논리 아키텍처 설계 후 영향 분석으로 선정된 최상의 해결책을 기반으로  기술적 아키텍처 설계를 수행</a:t>
            </a:r>
          </a:p>
          <a:p>
            <a:pPr>
              <a:lnSpc>
                <a:spcPct val="100000"/>
              </a:lnSpc>
            </a:pPr>
            <a:r>
              <a:rPr lang="ko-KR" altLang="en-US" sz="2000" dirty="0"/>
              <a:t>기술적 아키텍처가 완성되면 시스템 엔지니어링 사양을 정의하고 하위 구성요소들의 요구 사항을 정의</a:t>
            </a:r>
          </a:p>
          <a:p>
            <a:pPr>
              <a:lnSpc>
                <a:spcPct val="100000"/>
              </a:lnSpc>
            </a:pPr>
            <a:endParaRPr lang="ko-KR" altLang="en-US" sz="2000" dirty="0"/>
          </a:p>
        </p:txBody>
      </p:sp>
      <p:sp>
        <p:nvSpPr>
          <p:cNvPr id="4" name="날짜 개체 틀 3">
            <a:extLst>
              <a:ext uri="{FF2B5EF4-FFF2-40B4-BE49-F238E27FC236}">
                <a16:creationId xmlns:a16="http://schemas.microsoft.com/office/drawing/2014/main" id="{5700D80C-3075-D8BA-23B0-7EF9A5D2AD8A}"/>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481982DC-053A-F3FF-7680-2CAA1FFBAB55}"/>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C4A1D451-D516-9D9D-CBC7-02AD947C6B11}"/>
              </a:ext>
            </a:extLst>
          </p:cNvPr>
          <p:cNvSpPr>
            <a:spLocks noGrp="1"/>
          </p:cNvSpPr>
          <p:nvPr>
            <p:ph type="sldNum" sz="quarter" idx="12"/>
          </p:nvPr>
        </p:nvSpPr>
        <p:spPr/>
        <p:txBody>
          <a:bodyPr/>
          <a:lstStyle/>
          <a:p>
            <a:fld id="{55635D17-9D19-4B1E-86C2-B9D6296E4AF7}" type="slidenum">
              <a:rPr lang="en-US" smtClean="0"/>
              <a:pPr/>
              <a:t>23</a:t>
            </a:fld>
            <a:endParaRPr lang="en-US" dirty="0"/>
          </a:p>
        </p:txBody>
      </p:sp>
      <p:pic>
        <p:nvPicPr>
          <p:cNvPr id="7" name="Picture 2">
            <a:extLst>
              <a:ext uri="{FF2B5EF4-FFF2-40B4-BE49-F238E27FC236}">
                <a16:creationId xmlns:a16="http://schemas.microsoft.com/office/drawing/2014/main" id="{6F0F09F8-B4C6-81F1-872B-7F282A2D649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687" y="2790457"/>
            <a:ext cx="3061686" cy="3096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336B3969-AB82-AB62-BD3D-547E6C93F1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2572" y="2797460"/>
            <a:ext cx="4759572" cy="3089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18310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E0295D-ED00-F773-E6FD-0E955689218A}"/>
              </a:ext>
            </a:extLst>
          </p:cNvPr>
          <p:cNvSpPr>
            <a:spLocks noGrp="1"/>
          </p:cNvSpPr>
          <p:nvPr>
            <p:ph type="title"/>
          </p:nvPr>
        </p:nvSpPr>
        <p:spPr/>
        <p:txBody>
          <a:bodyPr>
            <a:normAutofit fontScale="90000"/>
          </a:bodyPr>
          <a:lstStyle/>
          <a:p>
            <a:r>
              <a:rPr lang="en-US" altLang="ko-KR" dirty="0"/>
              <a:t>Logical Architecture</a:t>
            </a:r>
            <a:endParaRPr lang="ko-KR" altLang="en-US" dirty="0"/>
          </a:p>
        </p:txBody>
      </p:sp>
      <p:sp>
        <p:nvSpPr>
          <p:cNvPr id="3" name="내용 개체 틀 2">
            <a:extLst>
              <a:ext uri="{FF2B5EF4-FFF2-40B4-BE49-F238E27FC236}">
                <a16:creationId xmlns:a16="http://schemas.microsoft.com/office/drawing/2014/main" id="{BE5A712D-7E5D-0427-06E9-1CF1FC31825A}"/>
              </a:ext>
            </a:extLst>
          </p:cNvPr>
          <p:cNvSpPr>
            <a:spLocks noGrp="1"/>
          </p:cNvSpPr>
          <p:nvPr>
            <p:ph idx="1"/>
          </p:nvPr>
        </p:nvSpPr>
        <p:spPr>
          <a:xfrm>
            <a:off x="756557" y="820172"/>
            <a:ext cx="9750078" cy="4968694"/>
          </a:xfrm>
        </p:spPr>
        <p:txBody>
          <a:bodyPr>
            <a:normAutofit/>
          </a:bodyPr>
          <a:lstStyle/>
          <a:p>
            <a:pPr>
              <a:lnSpc>
                <a:spcPct val="150000"/>
              </a:lnSpc>
            </a:pPr>
            <a:r>
              <a:rPr lang="ko-KR" altLang="en-US" sz="2400" dirty="0"/>
              <a:t>논리적으로 수행해야 하는 기능과 기능들 간의 관계 정의</a:t>
            </a:r>
          </a:p>
          <a:p>
            <a:pPr lvl="1">
              <a:lnSpc>
                <a:spcPct val="150000"/>
              </a:lnSpc>
            </a:pPr>
            <a:r>
              <a:rPr lang="ko-KR" altLang="en-US" sz="2000" dirty="0"/>
              <a:t>복잡한 시스템을 명확하게 정의하고 개발 기간 산정</a:t>
            </a:r>
          </a:p>
          <a:p>
            <a:pPr lvl="1">
              <a:lnSpc>
                <a:spcPct val="150000"/>
              </a:lnSpc>
            </a:pPr>
            <a:r>
              <a:rPr lang="ko-KR" altLang="en-US" sz="2000" dirty="0"/>
              <a:t>시스템 사용관점의 요구사항과 제약 사항을 분석해서 기능을 도출하고 기능별 인터페이스 정의</a:t>
            </a:r>
          </a:p>
          <a:p>
            <a:pPr lvl="1">
              <a:lnSpc>
                <a:spcPct val="150000"/>
              </a:lnSpc>
            </a:pPr>
            <a:r>
              <a:rPr lang="ko-KR" altLang="en-US" sz="2000" dirty="0"/>
              <a:t>구조적 기능과 동적 기능 아키텍처로 구분</a:t>
            </a:r>
          </a:p>
          <a:p>
            <a:pPr lvl="1">
              <a:lnSpc>
                <a:spcPct val="150000"/>
              </a:lnSpc>
            </a:pPr>
            <a:r>
              <a:rPr lang="ko-KR" altLang="en-US" sz="2000" dirty="0"/>
              <a:t>추상적인 개념의 기능 네트워크</a:t>
            </a:r>
            <a:r>
              <a:rPr lang="en-US" altLang="ko-KR" sz="2000" dirty="0"/>
              <a:t>(function network) </a:t>
            </a:r>
            <a:r>
              <a:rPr lang="ko-KR" altLang="en-US" sz="2000" dirty="0"/>
              <a:t>설계</a:t>
            </a:r>
          </a:p>
          <a:p>
            <a:pPr lvl="1">
              <a:lnSpc>
                <a:spcPct val="150000"/>
              </a:lnSpc>
            </a:pPr>
            <a:r>
              <a:rPr lang="en-US" altLang="ko-KR" sz="2000" dirty="0"/>
              <a:t>Deliverable : formal architecture model</a:t>
            </a:r>
          </a:p>
          <a:p>
            <a:pPr>
              <a:lnSpc>
                <a:spcPct val="150000"/>
              </a:lnSpc>
            </a:pPr>
            <a:endParaRPr lang="ko-KR" altLang="en-US" sz="2400" dirty="0"/>
          </a:p>
        </p:txBody>
      </p:sp>
      <p:sp>
        <p:nvSpPr>
          <p:cNvPr id="4" name="날짜 개체 틀 3">
            <a:extLst>
              <a:ext uri="{FF2B5EF4-FFF2-40B4-BE49-F238E27FC236}">
                <a16:creationId xmlns:a16="http://schemas.microsoft.com/office/drawing/2014/main" id="{4C12C90E-20C6-31AA-511C-A58D6B4D5C74}"/>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BB07BE89-7B38-B9A4-D6B3-5B4C0A234FC6}"/>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472889D9-72B9-D9E8-1E3B-71B2DA325258}"/>
              </a:ext>
            </a:extLst>
          </p:cNvPr>
          <p:cNvSpPr>
            <a:spLocks noGrp="1"/>
          </p:cNvSpPr>
          <p:nvPr>
            <p:ph type="sldNum" sz="quarter" idx="12"/>
          </p:nvPr>
        </p:nvSpPr>
        <p:spPr/>
        <p:txBody>
          <a:bodyPr/>
          <a:lstStyle/>
          <a:p>
            <a:fld id="{55635D17-9D19-4B1E-86C2-B9D6296E4AF7}" type="slidenum">
              <a:rPr lang="en-US" smtClean="0"/>
              <a:pPr/>
              <a:t>24</a:t>
            </a:fld>
            <a:endParaRPr lang="en-US" dirty="0"/>
          </a:p>
        </p:txBody>
      </p:sp>
    </p:spTree>
    <p:extLst>
      <p:ext uri="{BB962C8B-B14F-4D97-AF65-F5344CB8AC3E}">
        <p14:creationId xmlns:p14="http://schemas.microsoft.com/office/powerpoint/2010/main" val="2346826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44681A-2C16-D1D9-FF71-62343F1DC91F}"/>
              </a:ext>
            </a:extLst>
          </p:cNvPr>
          <p:cNvSpPr>
            <a:spLocks noGrp="1"/>
          </p:cNvSpPr>
          <p:nvPr>
            <p:ph type="title"/>
          </p:nvPr>
        </p:nvSpPr>
        <p:spPr/>
        <p:txBody>
          <a:bodyPr>
            <a:normAutofit fontScale="90000"/>
          </a:bodyPr>
          <a:lstStyle/>
          <a:p>
            <a:r>
              <a:rPr lang="en-US" altLang="ko-KR" dirty="0"/>
              <a:t>Technical Architecture</a:t>
            </a:r>
            <a:endParaRPr lang="ko-KR" altLang="en-US" dirty="0"/>
          </a:p>
        </p:txBody>
      </p:sp>
      <p:sp>
        <p:nvSpPr>
          <p:cNvPr id="3" name="내용 개체 틀 2">
            <a:extLst>
              <a:ext uri="{FF2B5EF4-FFF2-40B4-BE49-F238E27FC236}">
                <a16:creationId xmlns:a16="http://schemas.microsoft.com/office/drawing/2014/main" id="{98F8119A-A52A-3D14-C1DB-58C8CBC05F05}"/>
              </a:ext>
            </a:extLst>
          </p:cNvPr>
          <p:cNvSpPr>
            <a:spLocks noGrp="1"/>
          </p:cNvSpPr>
          <p:nvPr>
            <p:ph idx="1"/>
          </p:nvPr>
        </p:nvSpPr>
        <p:spPr>
          <a:xfrm>
            <a:off x="756557" y="820172"/>
            <a:ext cx="10414206" cy="4968694"/>
          </a:xfrm>
        </p:spPr>
        <p:txBody>
          <a:bodyPr>
            <a:normAutofit/>
          </a:bodyPr>
          <a:lstStyle/>
          <a:p>
            <a:pPr>
              <a:lnSpc>
                <a:spcPts val="3000"/>
              </a:lnSpc>
            </a:pPr>
            <a:r>
              <a:rPr lang="ko-KR" altLang="en-US" sz="2400" dirty="0"/>
              <a:t>기술적으로 구현해야 하는 해결책 정의</a:t>
            </a:r>
          </a:p>
          <a:p>
            <a:pPr lvl="1">
              <a:lnSpc>
                <a:spcPts val="3000"/>
              </a:lnSpc>
            </a:pPr>
            <a:r>
              <a:rPr lang="ko-KR" altLang="en-US" sz="2000" dirty="0"/>
              <a:t>시스템 구성 요소 간의 상호작용을 위한 내부 인터페이스</a:t>
            </a:r>
            <a:r>
              <a:rPr lang="en-US" altLang="ko-KR" sz="2000" dirty="0"/>
              <a:t>, </a:t>
            </a:r>
            <a:r>
              <a:rPr lang="ko-KR" altLang="en-US" sz="2000" dirty="0"/>
              <a:t>송</a:t>
            </a:r>
            <a:r>
              <a:rPr lang="en-US" altLang="ko-KR" sz="2000" dirty="0"/>
              <a:t>/</a:t>
            </a:r>
            <a:r>
              <a:rPr lang="ko-KR" altLang="en-US" sz="2000" dirty="0"/>
              <a:t>수신 데이터 특성</a:t>
            </a:r>
            <a:r>
              <a:rPr lang="en-US" altLang="ko-KR" sz="2000" dirty="0"/>
              <a:t>, </a:t>
            </a:r>
            <a:r>
              <a:rPr lang="ko-KR" altLang="en-US" sz="2000" dirty="0"/>
              <a:t>통신 방식 등 시스템 구성 설계</a:t>
            </a:r>
          </a:p>
          <a:p>
            <a:pPr lvl="1">
              <a:lnSpc>
                <a:spcPts val="3000"/>
              </a:lnSpc>
            </a:pPr>
            <a:r>
              <a:rPr lang="ko-KR" altLang="en-US" sz="2000" dirty="0"/>
              <a:t>구성 요소간 전기적</a:t>
            </a:r>
            <a:r>
              <a:rPr lang="en-US" altLang="ko-KR" sz="2000" dirty="0"/>
              <a:t>, </a:t>
            </a:r>
            <a:r>
              <a:rPr lang="ko-KR" altLang="en-US" sz="2000" dirty="0"/>
              <a:t>물리적 특성 등 시스템 구성 설계</a:t>
            </a:r>
          </a:p>
          <a:p>
            <a:pPr lvl="1">
              <a:lnSpc>
                <a:spcPts val="3000"/>
              </a:lnSpc>
            </a:pPr>
            <a:r>
              <a:rPr lang="ko-KR" altLang="en-US" sz="2000" dirty="0"/>
              <a:t>동작 순서</a:t>
            </a:r>
            <a:r>
              <a:rPr lang="en-US" altLang="ko-KR" sz="2000" dirty="0"/>
              <a:t>, </a:t>
            </a:r>
            <a:r>
              <a:rPr lang="ko-KR" altLang="en-US" sz="2000" dirty="0"/>
              <a:t>시간 조건 등 동작 개념 포함</a:t>
            </a:r>
          </a:p>
          <a:p>
            <a:pPr lvl="1">
              <a:lnSpc>
                <a:spcPts val="3000"/>
              </a:lnSpc>
            </a:pPr>
            <a:r>
              <a:rPr lang="ko-KR" altLang="en-US" sz="2000" dirty="0"/>
              <a:t>시스템의 계층 구조에 따라 점진적으로 정의</a:t>
            </a:r>
          </a:p>
          <a:p>
            <a:pPr lvl="1">
              <a:lnSpc>
                <a:spcPts val="3000"/>
              </a:lnSpc>
            </a:pPr>
            <a:r>
              <a:rPr lang="ko-KR" altLang="en-US" sz="2000" dirty="0"/>
              <a:t>고장과 위험 요소 식별하여 이를 감지하거나 인식</a:t>
            </a:r>
            <a:r>
              <a:rPr lang="en-US" altLang="ko-KR" sz="2000" dirty="0"/>
              <a:t>,</a:t>
            </a:r>
            <a:r>
              <a:rPr lang="ko-KR" altLang="en-US" sz="2000" dirty="0"/>
              <a:t>통제할 수 있는 기술적 해결책 정의</a:t>
            </a:r>
          </a:p>
          <a:p>
            <a:pPr lvl="1">
              <a:lnSpc>
                <a:spcPts val="3000"/>
              </a:lnSpc>
            </a:pPr>
            <a:r>
              <a:rPr lang="ko-KR" altLang="en-US" sz="2000" dirty="0"/>
              <a:t>기술적 구현 가능성 검토 </a:t>
            </a:r>
            <a:r>
              <a:rPr lang="en-US" altLang="ko-KR" sz="2000" dirty="0"/>
              <a:t>(feasibility)</a:t>
            </a:r>
          </a:p>
          <a:p>
            <a:pPr lvl="1">
              <a:lnSpc>
                <a:spcPts val="3000"/>
              </a:lnSpc>
            </a:pPr>
            <a:r>
              <a:rPr lang="ko-KR" altLang="en-US" sz="2000" dirty="0"/>
              <a:t>엔지니어링 표준 규격 정의</a:t>
            </a:r>
          </a:p>
          <a:p>
            <a:pPr lvl="1">
              <a:lnSpc>
                <a:spcPts val="3000"/>
              </a:lnSpc>
            </a:pPr>
            <a:r>
              <a:rPr lang="ko-KR" altLang="en-US" sz="2000" dirty="0"/>
              <a:t>제어 기술이 필요한 요소는 제어 알고리즘 설계</a:t>
            </a:r>
          </a:p>
          <a:p>
            <a:pPr>
              <a:lnSpc>
                <a:spcPts val="3000"/>
              </a:lnSpc>
            </a:pPr>
            <a:endParaRPr lang="ko-KR" altLang="en-US" sz="2400" dirty="0"/>
          </a:p>
        </p:txBody>
      </p:sp>
      <p:sp>
        <p:nvSpPr>
          <p:cNvPr id="4" name="날짜 개체 틀 3">
            <a:extLst>
              <a:ext uri="{FF2B5EF4-FFF2-40B4-BE49-F238E27FC236}">
                <a16:creationId xmlns:a16="http://schemas.microsoft.com/office/drawing/2014/main" id="{6F6330AF-00E3-0D9E-8400-0D80A4F8278C}"/>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1F1476A7-A0A2-697E-09F7-9D7EA6000F29}"/>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2CA38648-250C-2349-FC81-6F8F6C9FC8D6}"/>
              </a:ext>
            </a:extLst>
          </p:cNvPr>
          <p:cNvSpPr>
            <a:spLocks noGrp="1"/>
          </p:cNvSpPr>
          <p:nvPr>
            <p:ph type="sldNum" sz="quarter" idx="12"/>
          </p:nvPr>
        </p:nvSpPr>
        <p:spPr/>
        <p:txBody>
          <a:bodyPr/>
          <a:lstStyle/>
          <a:p>
            <a:fld id="{55635D17-9D19-4B1E-86C2-B9D6296E4AF7}" type="slidenum">
              <a:rPr lang="en-US" smtClean="0"/>
              <a:pPr/>
              <a:t>25</a:t>
            </a:fld>
            <a:endParaRPr lang="en-US" dirty="0"/>
          </a:p>
        </p:txBody>
      </p:sp>
    </p:spTree>
    <p:extLst>
      <p:ext uri="{BB962C8B-B14F-4D97-AF65-F5344CB8AC3E}">
        <p14:creationId xmlns:p14="http://schemas.microsoft.com/office/powerpoint/2010/main" val="228336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25F9A7-BDAB-9314-33CB-BB37BF3CEEEC}"/>
              </a:ext>
            </a:extLst>
          </p:cNvPr>
          <p:cNvSpPr>
            <a:spLocks noGrp="1"/>
          </p:cNvSpPr>
          <p:nvPr>
            <p:ph type="title"/>
          </p:nvPr>
        </p:nvSpPr>
        <p:spPr/>
        <p:txBody>
          <a:bodyPr>
            <a:normAutofit fontScale="90000"/>
          </a:bodyPr>
          <a:lstStyle/>
          <a:p>
            <a:r>
              <a:rPr lang="en-US" altLang="ko-KR" dirty="0"/>
              <a:t>System Implementation</a:t>
            </a:r>
            <a:endParaRPr lang="ko-KR" altLang="en-US" dirty="0"/>
          </a:p>
        </p:txBody>
      </p:sp>
      <p:sp>
        <p:nvSpPr>
          <p:cNvPr id="3" name="내용 개체 틀 2">
            <a:extLst>
              <a:ext uri="{FF2B5EF4-FFF2-40B4-BE49-F238E27FC236}">
                <a16:creationId xmlns:a16="http://schemas.microsoft.com/office/drawing/2014/main" id="{909BE644-EEB5-A43F-424D-03097E4A00F2}"/>
              </a:ext>
            </a:extLst>
          </p:cNvPr>
          <p:cNvSpPr>
            <a:spLocks noGrp="1"/>
          </p:cNvSpPr>
          <p:nvPr>
            <p:ph idx="1"/>
          </p:nvPr>
        </p:nvSpPr>
        <p:spPr/>
        <p:txBody>
          <a:bodyPr>
            <a:normAutofit/>
          </a:bodyPr>
          <a:lstStyle/>
          <a:p>
            <a:pPr>
              <a:lnSpc>
                <a:spcPct val="100000"/>
              </a:lnSpc>
            </a:pPr>
            <a:r>
              <a:rPr lang="ko-KR" altLang="en-US" sz="2400" dirty="0"/>
              <a:t>설계된 내용을 기반으로 시스템을 구체화하는 과정</a:t>
            </a:r>
          </a:p>
          <a:p>
            <a:pPr lvl="1">
              <a:lnSpc>
                <a:spcPct val="100000"/>
              </a:lnSpc>
            </a:pPr>
            <a:r>
              <a:rPr lang="en-US" altLang="ko-KR" sz="2000" dirty="0"/>
              <a:t>Vehicle Network, S/W, H/W, Sensor, Actuator, </a:t>
            </a:r>
            <a:r>
              <a:rPr lang="en-US" altLang="ko-KR" sz="2000" dirty="0" err="1"/>
              <a:t>etc</a:t>
            </a:r>
            <a:endParaRPr lang="en-US" altLang="ko-KR" sz="2000" dirty="0"/>
          </a:p>
          <a:p>
            <a:pPr lvl="1">
              <a:lnSpc>
                <a:spcPct val="100000"/>
              </a:lnSpc>
            </a:pPr>
            <a:r>
              <a:rPr lang="en-US" altLang="ko-KR" sz="2000" dirty="0"/>
              <a:t>ABL : Allocation Baseline</a:t>
            </a:r>
          </a:p>
          <a:p>
            <a:pPr lvl="1">
              <a:lnSpc>
                <a:spcPct val="100000"/>
              </a:lnSpc>
            </a:pPr>
            <a:r>
              <a:rPr lang="en-US" altLang="ko-KR" sz="2000" dirty="0"/>
              <a:t>BBL : Development Baseline ( Start &amp; Integration )</a:t>
            </a:r>
          </a:p>
          <a:p>
            <a:pPr lvl="1">
              <a:lnSpc>
                <a:spcPct val="100000"/>
              </a:lnSpc>
            </a:pPr>
            <a:r>
              <a:rPr lang="en-US" altLang="ko-KR" sz="2000" dirty="0"/>
              <a:t>IBL : Integration Baseline</a:t>
            </a:r>
          </a:p>
          <a:p>
            <a:pPr>
              <a:lnSpc>
                <a:spcPct val="100000"/>
              </a:lnSpc>
            </a:pPr>
            <a:endParaRPr lang="ko-KR" altLang="en-US" sz="2400" dirty="0"/>
          </a:p>
        </p:txBody>
      </p:sp>
      <p:sp>
        <p:nvSpPr>
          <p:cNvPr id="4" name="날짜 개체 틀 3">
            <a:extLst>
              <a:ext uri="{FF2B5EF4-FFF2-40B4-BE49-F238E27FC236}">
                <a16:creationId xmlns:a16="http://schemas.microsoft.com/office/drawing/2014/main" id="{2689B750-7580-E432-E3A9-989C7D856938}"/>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4592B32F-C0F9-9CF1-83F8-2191512A8E0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B21F5496-11C6-F5D0-2E39-C75495E4F3D8}"/>
              </a:ext>
            </a:extLst>
          </p:cNvPr>
          <p:cNvSpPr>
            <a:spLocks noGrp="1"/>
          </p:cNvSpPr>
          <p:nvPr>
            <p:ph type="sldNum" sz="quarter" idx="12"/>
          </p:nvPr>
        </p:nvSpPr>
        <p:spPr/>
        <p:txBody>
          <a:bodyPr/>
          <a:lstStyle/>
          <a:p>
            <a:fld id="{55635D17-9D19-4B1E-86C2-B9D6296E4AF7}" type="slidenum">
              <a:rPr lang="en-US" smtClean="0"/>
              <a:pPr/>
              <a:t>26</a:t>
            </a:fld>
            <a:endParaRPr lang="en-US" dirty="0"/>
          </a:p>
        </p:txBody>
      </p:sp>
      <p:pic>
        <p:nvPicPr>
          <p:cNvPr id="9" name="그림 8">
            <a:extLst>
              <a:ext uri="{FF2B5EF4-FFF2-40B4-BE49-F238E27FC236}">
                <a16:creationId xmlns:a16="http://schemas.microsoft.com/office/drawing/2014/main" id="{63EAB7DB-1479-F1D7-4ACD-D4376B2150E4}"/>
              </a:ext>
            </a:extLst>
          </p:cNvPr>
          <p:cNvPicPr>
            <a:picLocks noChangeAspect="1"/>
          </p:cNvPicPr>
          <p:nvPr/>
        </p:nvPicPr>
        <p:blipFill>
          <a:blip r:embed="rId2"/>
          <a:stretch>
            <a:fillRect/>
          </a:stretch>
        </p:blipFill>
        <p:spPr>
          <a:xfrm>
            <a:off x="2654967" y="2782136"/>
            <a:ext cx="6882066" cy="3158394"/>
          </a:xfrm>
          <a:prstGeom prst="rect">
            <a:avLst/>
          </a:prstGeom>
        </p:spPr>
      </p:pic>
    </p:spTree>
    <p:extLst>
      <p:ext uri="{BB962C8B-B14F-4D97-AF65-F5344CB8AC3E}">
        <p14:creationId xmlns:p14="http://schemas.microsoft.com/office/powerpoint/2010/main" val="4054864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01EF4E-B02A-C4A6-D0C4-F71CA93C58A4}"/>
              </a:ext>
            </a:extLst>
          </p:cNvPr>
          <p:cNvSpPr>
            <a:spLocks noGrp="1"/>
          </p:cNvSpPr>
          <p:nvPr>
            <p:ph type="title"/>
          </p:nvPr>
        </p:nvSpPr>
        <p:spPr/>
        <p:txBody>
          <a:bodyPr>
            <a:normAutofit fontScale="90000"/>
          </a:bodyPr>
          <a:lstStyle/>
          <a:p>
            <a:r>
              <a:rPr lang="en-US" altLang="ko-KR" dirty="0"/>
              <a:t>SW</a:t>
            </a:r>
            <a:r>
              <a:rPr lang="ko-KR" altLang="en-US" dirty="0"/>
              <a:t> </a:t>
            </a:r>
            <a:r>
              <a:rPr lang="en-US" altLang="ko-KR" dirty="0"/>
              <a:t>Architecture</a:t>
            </a:r>
            <a:r>
              <a:rPr lang="ko-KR" altLang="en-US" dirty="0"/>
              <a:t> </a:t>
            </a:r>
            <a:r>
              <a:rPr lang="en-US" altLang="ko-KR" dirty="0"/>
              <a:t>Design</a:t>
            </a:r>
            <a:endParaRPr lang="ko-KR" altLang="en-US" dirty="0"/>
          </a:p>
        </p:txBody>
      </p:sp>
      <p:sp>
        <p:nvSpPr>
          <p:cNvPr id="3" name="내용 개체 틀 2">
            <a:extLst>
              <a:ext uri="{FF2B5EF4-FFF2-40B4-BE49-F238E27FC236}">
                <a16:creationId xmlns:a16="http://schemas.microsoft.com/office/drawing/2014/main" id="{EF9AB58C-9AC4-7142-0E2F-67942C81A6F3}"/>
              </a:ext>
            </a:extLst>
          </p:cNvPr>
          <p:cNvSpPr>
            <a:spLocks noGrp="1"/>
          </p:cNvSpPr>
          <p:nvPr>
            <p:ph idx="1"/>
          </p:nvPr>
        </p:nvSpPr>
        <p:spPr>
          <a:xfrm>
            <a:off x="756557" y="820172"/>
            <a:ext cx="10834808" cy="4968694"/>
          </a:xfrm>
        </p:spPr>
        <p:txBody>
          <a:bodyPr>
            <a:normAutofit/>
          </a:bodyPr>
          <a:lstStyle/>
          <a:p>
            <a:pPr>
              <a:lnSpc>
                <a:spcPct val="100000"/>
              </a:lnSpc>
            </a:pPr>
            <a:r>
              <a:rPr lang="en-US" altLang="ko-KR" sz="2400" dirty="0"/>
              <a:t>Embedded system</a:t>
            </a:r>
            <a:r>
              <a:rPr lang="ko-KR" altLang="en-US" sz="2400" dirty="0"/>
              <a:t>에서 </a:t>
            </a:r>
            <a:r>
              <a:rPr lang="en-US" altLang="ko-KR" sz="2400" dirty="0"/>
              <a:t>Architecture Design </a:t>
            </a:r>
            <a:r>
              <a:rPr lang="ko-KR" altLang="en-US" sz="2400" dirty="0"/>
              <a:t>중요</a:t>
            </a:r>
          </a:p>
          <a:p>
            <a:pPr lvl="1">
              <a:lnSpc>
                <a:spcPct val="100000"/>
              </a:lnSpc>
            </a:pPr>
            <a:r>
              <a:rPr lang="ko-KR" altLang="en-US" sz="2000" dirty="0"/>
              <a:t>전체적인 </a:t>
            </a:r>
            <a:r>
              <a:rPr lang="en-US" altLang="ko-KR" sz="2000" dirty="0"/>
              <a:t>S/W </a:t>
            </a:r>
            <a:r>
              <a:rPr lang="ko-KR" altLang="en-US" sz="2000" dirty="0"/>
              <a:t>구조를 </a:t>
            </a:r>
            <a:r>
              <a:rPr lang="ko-KR" altLang="en-US" sz="2000" dirty="0" err="1"/>
              <a:t>추상화하여</a:t>
            </a:r>
            <a:r>
              <a:rPr lang="ko-KR" altLang="en-US" sz="2000" dirty="0"/>
              <a:t> 표현</a:t>
            </a:r>
          </a:p>
          <a:p>
            <a:pPr lvl="1">
              <a:lnSpc>
                <a:spcPct val="100000"/>
              </a:lnSpc>
            </a:pPr>
            <a:r>
              <a:rPr lang="ko-KR" altLang="en-US" sz="2000" dirty="0"/>
              <a:t>선행 품질 확보</a:t>
            </a:r>
            <a:r>
              <a:rPr lang="en-US" altLang="ko-KR" sz="2000" dirty="0"/>
              <a:t>, </a:t>
            </a:r>
            <a:r>
              <a:rPr lang="ko-KR" altLang="en-US" sz="2000" dirty="0"/>
              <a:t>제한된 </a:t>
            </a:r>
            <a:r>
              <a:rPr lang="en-US" altLang="ko-KR" sz="2000" dirty="0"/>
              <a:t>Resource </a:t>
            </a:r>
            <a:r>
              <a:rPr lang="ko-KR" altLang="en-US" sz="2000" dirty="0"/>
              <a:t>확인</a:t>
            </a:r>
          </a:p>
          <a:p>
            <a:pPr lvl="1">
              <a:lnSpc>
                <a:spcPct val="100000"/>
              </a:lnSpc>
            </a:pPr>
            <a:r>
              <a:rPr lang="ko-KR" altLang="en-US" sz="2000" dirty="0"/>
              <a:t>기본적인 동작 예측 가능</a:t>
            </a:r>
            <a:r>
              <a:rPr lang="en-US" altLang="ko-KR" sz="2000" dirty="0"/>
              <a:t>, </a:t>
            </a:r>
            <a:r>
              <a:rPr lang="ko-KR" altLang="en-US" sz="2000" dirty="0"/>
              <a:t>설계 변경에 대처 용이 </a:t>
            </a:r>
          </a:p>
          <a:p>
            <a:pPr lvl="1">
              <a:lnSpc>
                <a:spcPct val="100000"/>
              </a:lnSpc>
            </a:pPr>
            <a:r>
              <a:rPr lang="en-US" altLang="ko-KR" sz="2000" dirty="0"/>
              <a:t>Variant </a:t>
            </a:r>
            <a:r>
              <a:rPr lang="ko-KR" altLang="en-US" sz="2000" dirty="0"/>
              <a:t>차종에 재사용 고려</a:t>
            </a:r>
            <a:endParaRPr lang="en-US" altLang="ko-KR" sz="2000" dirty="0"/>
          </a:p>
          <a:p>
            <a:pPr>
              <a:lnSpc>
                <a:spcPct val="100000"/>
              </a:lnSpc>
            </a:pPr>
            <a:r>
              <a:rPr lang="ko-KR" altLang="en-US" sz="2400" dirty="0"/>
              <a:t>형상 관리 </a:t>
            </a:r>
            <a:r>
              <a:rPr lang="en-US" altLang="ko-KR" sz="2400" dirty="0"/>
              <a:t>(SCM : S/W Configuration Management) </a:t>
            </a:r>
            <a:endParaRPr lang="ko-KR" altLang="en-US" sz="2400" dirty="0"/>
          </a:p>
          <a:p>
            <a:pPr>
              <a:lnSpc>
                <a:spcPct val="100000"/>
              </a:lnSpc>
            </a:pPr>
            <a:endParaRPr lang="ko-KR" altLang="en-US" sz="2400" dirty="0"/>
          </a:p>
        </p:txBody>
      </p:sp>
      <p:sp>
        <p:nvSpPr>
          <p:cNvPr id="4" name="날짜 개체 틀 3">
            <a:extLst>
              <a:ext uri="{FF2B5EF4-FFF2-40B4-BE49-F238E27FC236}">
                <a16:creationId xmlns:a16="http://schemas.microsoft.com/office/drawing/2014/main" id="{A8932492-0436-4609-B6EE-A117B571AEBC}"/>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CFF2C135-63E2-C651-1156-A834F2F811C2}"/>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D29E58DF-5DD5-A186-5C4F-E42A4E20F2F0}"/>
              </a:ext>
            </a:extLst>
          </p:cNvPr>
          <p:cNvSpPr>
            <a:spLocks noGrp="1"/>
          </p:cNvSpPr>
          <p:nvPr>
            <p:ph type="sldNum" sz="quarter" idx="12"/>
          </p:nvPr>
        </p:nvSpPr>
        <p:spPr/>
        <p:txBody>
          <a:bodyPr/>
          <a:lstStyle/>
          <a:p>
            <a:fld id="{55635D17-9D19-4B1E-86C2-B9D6296E4AF7}" type="slidenum">
              <a:rPr lang="en-US" smtClean="0"/>
              <a:pPr/>
              <a:t>27</a:t>
            </a:fld>
            <a:endParaRPr lang="en-US" dirty="0"/>
          </a:p>
        </p:txBody>
      </p:sp>
      <p:pic>
        <p:nvPicPr>
          <p:cNvPr id="1026" name="Picture 2" descr="autosarCapture">
            <a:extLst>
              <a:ext uri="{FF2B5EF4-FFF2-40B4-BE49-F238E27FC236}">
                <a16:creationId xmlns:a16="http://schemas.microsoft.com/office/drawing/2014/main" id="{D45B675F-C09E-DBB2-B5F0-842D1F8B2C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3" t="11721" r="10823"/>
          <a:stretch/>
        </p:blipFill>
        <p:spPr bwMode="auto">
          <a:xfrm>
            <a:off x="2940423" y="3442445"/>
            <a:ext cx="6329082" cy="2358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6962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886212-33AA-3095-2C5E-3D63E9DA5EC0}"/>
              </a:ext>
            </a:extLst>
          </p:cNvPr>
          <p:cNvSpPr>
            <a:spLocks noGrp="1"/>
          </p:cNvSpPr>
          <p:nvPr>
            <p:ph type="title"/>
          </p:nvPr>
        </p:nvSpPr>
        <p:spPr/>
        <p:txBody>
          <a:bodyPr>
            <a:normAutofit fontScale="90000"/>
          </a:bodyPr>
          <a:lstStyle/>
          <a:p>
            <a:r>
              <a:rPr lang="en-US" altLang="ko-KR" dirty="0"/>
              <a:t>SW</a:t>
            </a:r>
            <a:r>
              <a:rPr lang="ko-KR" altLang="en-US" dirty="0"/>
              <a:t> </a:t>
            </a:r>
            <a:r>
              <a:rPr lang="en-US" altLang="ko-KR" dirty="0"/>
              <a:t>Unit Implementation</a:t>
            </a:r>
            <a:endParaRPr lang="ko-KR" altLang="en-US" dirty="0"/>
          </a:p>
        </p:txBody>
      </p:sp>
      <p:sp>
        <p:nvSpPr>
          <p:cNvPr id="3" name="내용 개체 틀 2">
            <a:extLst>
              <a:ext uri="{FF2B5EF4-FFF2-40B4-BE49-F238E27FC236}">
                <a16:creationId xmlns:a16="http://schemas.microsoft.com/office/drawing/2014/main" id="{C276E2FF-CF08-C787-17E5-8BA76C3D579A}"/>
              </a:ext>
            </a:extLst>
          </p:cNvPr>
          <p:cNvSpPr>
            <a:spLocks noGrp="1"/>
          </p:cNvSpPr>
          <p:nvPr>
            <p:ph idx="1"/>
          </p:nvPr>
        </p:nvSpPr>
        <p:spPr/>
        <p:txBody>
          <a:bodyPr>
            <a:normAutofit/>
          </a:bodyPr>
          <a:lstStyle/>
          <a:p>
            <a:pPr>
              <a:lnSpc>
                <a:spcPct val="100000"/>
              </a:lnSpc>
            </a:pPr>
            <a:r>
              <a:rPr lang="en-US" altLang="ko-KR" sz="2400" dirty="0"/>
              <a:t>Auto Code Generation</a:t>
            </a:r>
          </a:p>
          <a:p>
            <a:pPr lvl="1">
              <a:lnSpc>
                <a:spcPct val="100000"/>
              </a:lnSpc>
            </a:pPr>
            <a:r>
              <a:rPr lang="en-US" altLang="ko-KR" sz="2000" dirty="0" err="1"/>
              <a:t>Mathworks</a:t>
            </a:r>
            <a:r>
              <a:rPr lang="en-US" altLang="ko-KR" sz="2000" dirty="0"/>
              <a:t> “Real Time Workshop”</a:t>
            </a:r>
          </a:p>
          <a:p>
            <a:pPr lvl="1">
              <a:lnSpc>
                <a:spcPct val="100000"/>
              </a:lnSpc>
            </a:pPr>
            <a:r>
              <a:rPr lang="ko-KR" altLang="en-US" sz="2000" dirty="0"/>
              <a:t>개발자간 의사 소통</a:t>
            </a:r>
            <a:r>
              <a:rPr lang="en-US" altLang="ko-KR" sz="2000" dirty="0"/>
              <a:t>, Human error </a:t>
            </a:r>
            <a:r>
              <a:rPr lang="ko-KR" altLang="en-US" sz="2000" dirty="0"/>
              <a:t>제거</a:t>
            </a:r>
            <a:r>
              <a:rPr lang="en-US" altLang="ko-KR" sz="2000" dirty="0"/>
              <a:t>, Coding </a:t>
            </a:r>
            <a:r>
              <a:rPr lang="ko-KR" altLang="en-US" sz="2000" dirty="0"/>
              <a:t>시간 단축</a:t>
            </a:r>
          </a:p>
          <a:p>
            <a:pPr>
              <a:lnSpc>
                <a:spcPct val="100000"/>
              </a:lnSpc>
            </a:pPr>
            <a:endParaRPr lang="ko-KR" altLang="en-US" sz="2400" dirty="0"/>
          </a:p>
        </p:txBody>
      </p:sp>
      <p:sp>
        <p:nvSpPr>
          <p:cNvPr id="4" name="날짜 개체 틀 3">
            <a:extLst>
              <a:ext uri="{FF2B5EF4-FFF2-40B4-BE49-F238E27FC236}">
                <a16:creationId xmlns:a16="http://schemas.microsoft.com/office/drawing/2014/main" id="{C1893698-4B86-2104-38F8-07D156D4439C}"/>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7BE224E6-6ABE-EDDE-471E-7A75748CCD20}"/>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A7FD1B05-3A85-61CB-09C9-8ECD085B8C40}"/>
              </a:ext>
            </a:extLst>
          </p:cNvPr>
          <p:cNvSpPr>
            <a:spLocks noGrp="1"/>
          </p:cNvSpPr>
          <p:nvPr>
            <p:ph type="sldNum" sz="quarter" idx="12"/>
          </p:nvPr>
        </p:nvSpPr>
        <p:spPr/>
        <p:txBody>
          <a:bodyPr/>
          <a:lstStyle/>
          <a:p>
            <a:fld id="{55635D17-9D19-4B1E-86C2-B9D6296E4AF7}" type="slidenum">
              <a:rPr lang="en-US" smtClean="0"/>
              <a:pPr/>
              <a:t>28</a:t>
            </a:fld>
            <a:endParaRPr lang="en-US" dirty="0"/>
          </a:p>
        </p:txBody>
      </p:sp>
      <p:pic>
        <p:nvPicPr>
          <p:cNvPr id="10" name="그림 9">
            <a:extLst>
              <a:ext uri="{FF2B5EF4-FFF2-40B4-BE49-F238E27FC236}">
                <a16:creationId xmlns:a16="http://schemas.microsoft.com/office/drawing/2014/main" id="{93CC5B81-8BD1-F39A-8109-989567B3B7F1}"/>
              </a:ext>
            </a:extLst>
          </p:cNvPr>
          <p:cNvPicPr>
            <a:picLocks noChangeAspect="1"/>
          </p:cNvPicPr>
          <p:nvPr/>
        </p:nvPicPr>
        <p:blipFill rotWithShape="1">
          <a:blip r:embed="rId2"/>
          <a:srcRect t="4804" b="12994"/>
          <a:stretch/>
        </p:blipFill>
        <p:spPr>
          <a:xfrm>
            <a:off x="2128302" y="2205975"/>
            <a:ext cx="6494318" cy="3523372"/>
          </a:xfrm>
          <a:prstGeom prst="rect">
            <a:avLst/>
          </a:prstGeom>
        </p:spPr>
      </p:pic>
    </p:spTree>
    <p:extLst>
      <p:ext uri="{BB962C8B-B14F-4D97-AF65-F5344CB8AC3E}">
        <p14:creationId xmlns:p14="http://schemas.microsoft.com/office/powerpoint/2010/main" val="3863492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8FEC434-5914-852B-C720-6118DB6BD075}"/>
              </a:ext>
            </a:extLst>
          </p:cNvPr>
          <p:cNvSpPr>
            <a:spLocks noGrp="1"/>
          </p:cNvSpPr>
          <p:nvPr>
            <p:ph type="title"/>
          </p:nvPr>
        </p:nvSpPr>
        <p:spPr/>
        <p:txBody>
          <a:bodyPr>
            <a:normAutofit fontScale="90000"/>
          </a:bodyPr>
          <a:lstStyle/>
          <a:p>
            <a:r>
              <a:rPr lang="en-US" altLang="ko-KR" dirty="0"/>
              <a:t>MISRA-C</a:t>
            </a:r>
            <a:endParaRPr lang="ko-KR" altLang="en-US" dirty="0"/>
          </a:p>
        </p:txBody>
      </p:sp>
      <p:sp>
        <p:nvSpPr>
          <p:cNvPr id="3" name="내용 개체 틀 2">
            <a:extLst>
              <a:ext uri="{FF2B5EF4-FFF2-40B4-BE49-F238E27FC236}">
                <a16:creationId xmlns:a16="http://schemas.microsoft.com/office/drawing/2014/main" id="{245BD406-3CBC-FFBC-900D-C7C27132F641}"/>
              </a:ext>
            </a:extLst>
          </p:cNvPr>
          <p:cNvSpPr>
            <a:spLocks noGrp="1"/>
          </p:cNvSpPr>
          <p:nvPr>
            <p:ph idx="1"/>
          </p:nvPr>
        </p:nvSpPr>
        <p:spPr/>
        <p:txBody>
          <a:bodyPr>
            <a:normAutofit/>
          </a:bodyPr>
          <a:lstStyle/>
          <a:p>
            <a:r>
              <a:rPr lang="en-US" altLang="ko-KR" sz="2000" dirty="0"/>
              <a:t>Coding guidelines and rules for the C programming language</a:t>
            </a:r>
          </a:p>
          <a:p>
            <a:r>
              <a:rPr lang="en-US" altLang="ko-KR" sz="2000" dirty="0"/>
              <a:t>MISRA(Motor Industry Software Reliability Association)</a:t>
            </a:r>
          </a:p>
          <a:p>
            <a:r>
              <a:rPr lang="en-US" altLang="ko-KR" sz="2000" dirty="0"/>
              <a:t>The aim is to promote the use of safe, secure, and reliable code in embedded systems, particularly in automotive industry</a:t>
            </a:r>
          </a:p>
          <a:p>
            <a:pPr marL="914400" lvl="1" indent="-457200">
              <a:buFont typeface="+mj-ea"/>
              <a:buAutoNum type="circleNumDbPlain"/>
            </a:pPr>
            <a:r>
              <a:rPr lang="en-US" altLang="ko-KR" sz="1800" b="1" dirty="0"/>
              <a:t>Code safety</a:t>
            </a:r>
            <a:r>
              <a:rPr lang="en-US" altLang="ko-KR" sz="1800" dirty="0"/>
              <a:t>: Ensuring that code is free from undefined behaviors, which can lead to unpredictable program execution.</a:t>
            </a:r>
          </a:p>
          <a:p>
            <a:pPr marL="914400" lvl="1" indent="-457200">
              <a:buFont typeface="+mj-ea"/>
              <a:buAutoNum type="circleNumDbPlain"/>
            </a:pPr>
            <a:r>
              <a:rPr lang="en-US" altLang="ko-KR" sz="1800" b="1" dirty="0"/>
              <a:t>Code readability and maintainability</a:t>
            </a:r>
            <a:r>
              <a:rPr lang="en-US" altLang="ko-KR" sz="1800" dirty="0"/>
              <a:t>: Guidelines to make the code more understandable and easier to maintain.</a:t>
            </a:r>
          </a:p>
          <a:p>
            <a:pPr marL="914400" lvl="1" indent="-457200">
              <a:buFont typeface="+mj-ea"/>
              <a:buAutoNum type="circleNumDbPlain"/>
            </a:pPr>
            <a:r>
              <a:rPr lang="en-US" altLang="ko-KR" sz="1800" b="1" dirty="0"/>
              <a:t>Portability</a:t>
            </a:r>
            <a:r>
              <a:rPr lang="en-US" altLang="ko-KR" sz="1800" dirty="0"/>
              <a:t>: Recommendations to make code more portable across different platforms and compilers.</a:t>
            </a:r>
          </a:p>
          <a:p>
            <a:pPr marL="914400" lvl="1" indent="-457200">
              <a:buFont typeface="+mj-ea"/>
              <a:buAutoNum type="circleNumDbPlain"/>
            </a:pPr>
            <a:r>
              <a:rPr lang="en-US" altLang="ko-KR" sz="1800" b="1" dirty="0"/>
              <a:t>Use of language features</a:t>
            </a:r>
            <a:r>
              <a:rPr lang="en-US" altLang="ko-KR" sz="1800" dirty="0"/>
              <a:t>: Providing guidance on the use of various C language features to minimize potential issues. </a:t>
            </a:r>
            <a:endParaRPr lang="ko-KR" altLang="en-US" sz="1800" dirty="0"/>
          </a:p>
        </p:txBody>
      </p:sp>
      <p:sp>
        <p:nvSpPr>
          <p:cNvPr id="4" name="날짜 개체 틀 3">
            <a:extLst>
              <a:ext uri="{FF2B5EF4-FFF2-40B4-BE49-F238E27FC236}">
                <a16:creationId xmlns:a16="http://schemas.microsoft.com/office/drawing/2014/main" id="{688F4873-79A6-FD72-246F-BD6C10B328E0}"/>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A6F1B9D5-82A1-8641-83C6-CCF397C8E668}"/>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FB7518C6-8A16-F15B-AAED-CDA36A6E35F8}"/>
              </a:ext>
            </a:extLst>
          </p:cNvPr>
          <p:cNvSpPr>
            <a:spLocks noGrp="1"/>
          </p:cNvSpPr>
          <p:nvPr>
            <p:ph type="sldNum" sz="quarter" idx="12"/>
          </p:nvPr>
        </p:nvSpPr>
        <p:spPr/>
        <p:txBody>
          <a:bodyPr/>
          <a:lstStyle/>
          <a:p>
            <a:fld id="{55635D17-9D19-4B1E-86C2-B9D6296E4AF7}" type="slidenum">
              <a:rPr lang="en-US" smtClean="0"/>
              <a:pPr/>
              <a:t>29</a:t>
            </a:fld>
            <a:endParaRPr lang="en-US" dirty="0"/>
          </a:p>
        </p:txBody>
      </p:sp>
      <p:pic>
        <p:nvPicPr>
          <p:cNvPr id="3074" name="Picture 2" descr="What Is MISRA C? – A Safe and Secure Coding Standard for Embedded Software  - MATLAB &amp; Simulink">
            <a:extLst>
              <a:ext uri="{FF2B5EF4-FFF2-40B4-BE49-F238E27FC236}">
                <a16:creationId xmlns:a16="http://schemas.microsoft.com/office/drawing/2014/main" id="{B9A408E4-B9CE-A825-A777-52DA36CE55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5825" y="4122658"/>
            <a:ext cx="7671956" cy="183572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ISRA-C">
            <a:extLst>
              <a:ext uri="{FF2B5EF4-FFF2-40B4-BE49-F238E27FC236}">
                <a16:creationId xmlns:a16="http://schemas.microsoft.com/office/drawing/2014/main" id="{2F877FE8-58C3-6E45-3712-7D1639B53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3570" y="4541697"/>
            <a:ext cx="1053105" cy="942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338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F593C9-2C23-2E1B-D0C4-5E23C4880532}"/>
              </a:ext>
            </a:extLst>
          </p:cNvPr>
          <p:cNvSpPr>
            <a:spLocks noGrp="1"/>
          </p:cNvSpPr>
          <p:nvPr>
            <p:ph type="title"/>
          </p:nvPr>
        </p:nvSpPr>
        <p:spPr/>
        <p:txBody>
          <a:bodyPr>
            <a:normAutofit fontScale="90000"/>
          </a:bodyPr>
          <a:lstStyle/>
          <a:p>
            <a:r>
              <a:rPr lang="en-US" altLang="ko-KR" dirty="0"/>
              <a:t>MISRA-C</a:t>
            </a:r>
            <a:r>
              <a:rPr lang="ko-KR" altLang="en-US" dirty="0"/>
              <a:t> </a:t>
            </a:r>
            <a:r>
              <a:rPr lang="en-US" altLang="ko-KR" dirty="0"/>
              <a:t>(example)</a:t>
            </a:r>
            <a:endParaRPr lang="ko-KR" altLang="en-US" dirty="0"/>
          </a:p>
        </p:txBody>
      </p:sp>
      <p:pic>
        <p:nvPicPr>
          <p:cNvPr id="10" name="내용 개체 틀 9">
            <a:extLst>
              <a:ext uri="{FF2B5EF4-FFF2-40B4-BE49-F238E27FC236}">
                <a16:creationId xmlns:a16="http://schemas.microsoft.com/office/drawing/2014/main" id="{F8825514-381A-C97C-6DB3-A10E47C1DA2E}"/>
              </a:ext>
            </a:extLst>
          </p:cNvPr>
          <p:cNvPicPr>
            <a:picLocks noGrp="1" noChangeAspect="1"/>
          </p:cNvPicPr>
          <p:nvPr>
            <p:ph idx="1"/>
          </p:nvPr>
        </p:nvPicPr>
        <p:blipFill rotWithShape="1">
          <a:blip r:embed="rId2"/>
          <a:srcRect t="5390"/>
          <a:stretch/>
        </p:blipFill>
        <p:spPr>
          <a:xfrm>
            <a:off x="474263" y="843274"/>
            <a:ext cx="9086273" cy="5171146"/>
          </a:xfrm>
          <a:prstGeom prst="rect">
            <a:avLst/>
          </a:prstGeom>
        </p:spPr>
      </p:pic>
      <p:sp>
        <p:nvSpPr>
          <p:cNvPr id="4" name="날짜 개체 틀 3">
            <a:extLst>
              <a:ext uri="{FF2B5EF4-FFF2-40B4-BE49-F238E27FC236}">
                <a16:creationId xmlns:a16="http://schemas.microsoft.com/office/drawing/2014/main" id="{56E0FFD9-DF6A-27D4-3332-529AD7378C1C}"/>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43703CD4-5538-9FEF-81F6-64BB0B326335}"/>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28B7C08-1DDD-5E4C-6CCD-C746457F2D0E}"/>
              </a:ext>
            </a:extLst>
          </p:cNvPr>
          <p:cNvSpPr>
            <a:spLocks noGrp="1"/>
          </p:cNvSpPr>
          <p:nvPr>
            <p:ph type="sldNum" sz="quarter" idx="12"/>
          </p:nvPr>
        </p:nvSpPr>
        <p:spPr/>
        <p:txBody>
          <a:bodyPr/>
          <a:lstStyle/>
          <a:p>
            <a:fld id="{55635D17-9D19-4B1E-86C2-B9D6296E4AF7}" type="slidenum">
              <a:rPr lang="en-US" smtClean="0"/>
              <a:pPr/>
              <a:t>30</a:t>
            </a:fld>
            <a:endParaRPr lang="en-US" dirty="0"/>
          </a:p>
        </p:txBody>
      </p:sp>
      <p:pic>
        <p:nvPicPr>
          <p:cNvPr id="13" name="그림 12">
            <a:extLst>
              <a:ext uri="{FF2B5EF4-FFF2-40B4-BE49-F238E27FC236}">
                <a16:creationId xmlns:a16="http://schemas.microsoft.com/office/drawing/2014/main" id="{784A99D7-716A-741F-40A9-14E4DB467820}"/>
              </a:ext>
            </a:extLst>
          </p:cNvPr>
          <p:cNvPicPr>
            <a:picLocks noChangeAspect="1"/>
          </p:cNvPicPr>
          <p:nvPr/>
        </p:nvPicPr>
        <p:blipFill>
          <a:blip r:embed="rId3"/>
          <a:stretch>
            <a:fillRect/>
          </a:stretch>
        </p:blipFill>
        <p:spPr>
          <a:xfrm>
            <a:off x="7852050" y="4091615"/>
            <a:ext cx="3139712" cy="1292464"/>
          </a:xfrm>
          <a:prstGeom prst="rect">
            <a:avLst/>
          </a:prstGeom>
        </p:spPr>
      </p:pic>
    </p:spTree>
    <p:extLst>
      <p:ext uri="{BB962C8B-B14F-4D97-AF65-F5344CB8AC3E}">
        <p14:creationId xmlns:p14="http://schemas.microsoft.com/office/powerpoint/2010/main" val="1350108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0B43FF-C2CB-EBFC-C8FF-4EDE1E89E8C2}"/>
              </a:ext>
            </a:extLst>
          </p:cNvPr>
          <p:cNvSpPr>
            <a:spLocks noGrp="1"/>
          </p:cNvSpPr>
          <p:nvPr>
            <p:ph type="title"/>
          </p:nvPr>
        </p:nvSpPr>
        <p:spPr/>
        <p:txBody>
          <a:bodyPr>
            <a:normAutofit fontScale="90000"/>
          </a:bodyPr>
          <a:lstStyle/>
          <a:p>
            <a:r>
              <a:rPr lang="en-US" altLang="ko-KR" dirty="0"/>
              <a:t>SW Unit Validation </a:t>
            </a:r>
            <a:endParaRPr lang="ko-KR" altLang="en-US" dirty="0"/>
          </a:p>
        </p:txBody>
      </p:sp>
      <p:sp>
        <p:nvSpPr>
          <p:cNvPr id="3" name="내용 개체 틀 2">
            <a:extLst>
              <a:ext uri="{FF2B5EF4-FFF2-40B4-BE49-F238E27FC236}">
                <a16:creationId xmlns:a16="http://schemas.microsoft.com/office/drawing/2014/main" id="{B6C89258-4346-3E4C-C272-54F0BEC602BB}"/>
              </a:ext>
            </a:extLst>
          </p:cNvPr>
          <p:cNvSpPr>
            <a:spLocks noGrp="1"/>
          </p:cNvSpPr>
          <p:nvPr>
            <p:ph idx="1"/>
          </p:nvPr>
        </p:nvSpPr>
        <p:spPr/>
        <p:txBody>
          <a:bodyPr>
            <a:normAutofit/>
          </a:bodyPr>
          <a:lstStyle/>
          <a:p>
            <a:pPr>
              <a:lnSpc>
                <a:spcPct val="100000"/>
              </a:lnSpc>
            </a:pPr>
            <a:r>
              <a:rPr lang="en-US" altLang="ko-KR" sz="2400" dirty="0"/>
              <a:t>S/W unit</a:t>
            </a:r>
            <a:r>
              <a:rPr lang="ko-KR" altLang="en-US" sz="2400" dirty="0"/>
              <a:t>이 정상적인 기능을 수행하는지</a:t>
            </a:r>
            <a:r>
              <a:rPr lang="en-US" altLang="ko-KR" sz="2400" dirty="0"/>
              <a:t>,</a:t>
            </a:r>
            <a:r>
              <a:rPr lang="ko-KR" altLang="en-US" sz="2400" dirty="0"/>
              <a:t> 결함은 내포하지 않는지 확인하는 과정 </a:t>
            </a:r>
            <a:r>
              <a:rPr lang="en-US" altLang="ko-KR" sz="2400" dirty="0">
                <a:solidFill>
                  <a:srgbClr val="FF0000"/>
                </a:solidFill>
              </a:rPr>
              <a:t>(</a:t>
            </a:r>
            <a:r>
              <a:rPr lang="ko-KR" altLang="en-US" sz="2400" dirty="0">
                <a:solidFill>
                  <a:srgbClr val="FF0000"/>
                </a:solidFill>
              </a:rPr>
              <a:t>개발자 검증</a:t>
            </a:r>
            <a:r>
              <a:rPr lang="en-US" altLang="ko-KR" sz="2400" dirty="0">
                <a:solidFill>
                  <a:srgbClr val="FF0000"/>
                </a:solidFill>
              </a:rPr>
              <a:t>)</a:t>
            </a:r>
          </a:p>
          <a:p>
            <a:pPr>
              <a:lnSpc>
                <a:spcPct val="100000"/>
              </a:lnSpc>
            </a:pPr>
            <a:endParaRPr lang="ko-KR" altLang="en-US" sz="2400" dirty="0"/>
          </a:p>
        </p:txBody>
      </p:sp>
      <p:sp>
        <p:nvSpPr>
          <p:cNvPr id="4" name="날짜 개체 틀 3">
            <a:extLst>
              <a:ext uri="{FF2B5EF4-FFF2-40B4-BE49-F238E27FC236}">
                <a16:creationId xmlns:a16="http://schemas.microsoft.com/office/drawing/2014/main" id="{4C8F2259-910A-9783-CF0B-6653B0ABF040}"/>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0DA96910-074A-87FC-DF65-F914BF7EC1A4}"/>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CF249593-0C0C-85A8-CC00-7DD44EADED01}"/>
              </a:ext>
            </a:extLst>
          </p:cNvPr>
          <p:cNvSpPr>
            <a:spLocks noGrp="1"/>
          </p:cNvSpPr>
          <p:nvPr>
            <p:ph type="sldNum" sz="quarter" idx="12"/>
          </p:nvPr>
        </p:nvSpPr>
        <p:spPr/>
        <p:txBody>
          <a:bodyPr/>
          <a:lstStyle/>
          <a:p>
            <a:fld id="{55635D17-9D19-4B1E-86C2-B9D6296E4AF7}" type="slidenum">
              <a:rPr lang="en-US" smtClean="0"/>
              <a:pPr/>
              <a:t>31</a:t>
            </a:fld>
            <a:endParaRPr lang="en-US" dirty="0"/>
          </a:p>
        </p:txBody>
      </p:sp>
      <p:pic>
        <p:nvPicPr>
          <p:cNvPr id="9" name="그림 8">
            <a:extLst>
              <a:ext uri="{FF2B5EF4-FFF2-40B4-BE49-F238E27FC236}">
                <a16:creationId xmlns:a16="http://schemas.microsoft.com/office/drawing/2014/main" id="{7402D296-7684-234C-646C-86316316E34B}"/>
              </a:ext>
            </a:extLst>
          </p:cNvPr>
          <p:cNvPicPr>
            <a:picLocks noChangeAspect="1"/>
          </p:cNvPicPr>
          <p:nvPr/>
        </p:nvPicPr>
        <p:blipFill>
          <a:blip r:embed="rId2"/>
          <a:stretch>
            <a:fillRect/>
          </a:stretch>
        </p:blipFill>
        <p:spPr>
          <a:xfrm>
            <a:off x="2310864" y="1668199"/>
            <a:ext cx="7570273" cy="4256201"/>
          </a:xfrm>
          <a:prstGeom prst="rect">
            <a:avLst/>
          </a:prstGeom>
        </p:spPr>
      </p:pic>
    </p:spTree>
    <p:extLst>
      <p:ext uri="{BB962C8B-B14F-4D97-AF65-F5344CB8AC3E}">
        <p14:creationId xmlns:p14="http://schemas.microsoft.com/office/powerpoint/2010/main" val="2386506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B6E96B1-A273-5E50-B936-28C13FE0D600}"/>
              </a:ext>
            </a:extLst>
          </p:cNvPr>
          <p:cNvSpPr>
            <a:spLocks noGrp="1"/>
          </p:cNvSpPr>
          <p:nvPr>
            <p:ph type="title"/>
          </p:nvPr>
        </p:nvSpPr>
        <p:spPr/>
        <p:txBody>
          <a:bodyPr>
            <a:normAutofit fontScale="90000"/>
          </a:bodyPr>
          <a:lstStyle/>
          <a:p>
            <a:r>
              <a:rPr lang="en-US" altLang="ko-KR" dirty="0"/>
              <a:t>SW</a:t>
            </a:r>
            <a:r>
              <a:rPr lang="ko-KR" altLang="en-US" dirty="0"/>
              <a:t> </a:t>
            </a:r>
            <a:r>
              <a:rPr lang="en-US" altLang="ko-KR" dirty="0"/>
              <a:t>Integration &amp; Validation</a:t>
            </a:r>
            <a:endParaRPr lang="ko-KR" altLang="en-US" dirty="0"/>
          </a:p>
        </p:txBody>
      </p:sp>
      <p:sp>
        <p:nvSpPr>
          <p:cNvPr id="3" name="내용 개체 틀 2">
            <a:extLst>
              <a:ext uri="{FF2B5EF4-FFF2-40B4-BE49-F238E27FC236}">
                <a16:creationId xmlns:a16="http://schemas.microsoft.com/office/drawing/2014/main" id="{C59D91A3-3C9F-BCD4-7B45-1DB7F60130B7}"/>
              </a:ext>
            </a:extLst>
          </p:cNvPr>
          <p:cNvSpPr>
            <a:spLocks noGrp="1"/>
          </p:cNvSpPr>
          <p:nvPr>
            <p:ph idx="1"/>
          </p:nvPr>
        </p:nvSpPr>
        <p:spPr/>
        <p:txBody>
          <a:bodyPr>
            <a:normAutofit/>
          </a:bodyPr>
          <a:lstStyle/>
          <a:p>
            <a:r>
              <a:rPr lang="en-US" altLang="ko-KR" sz="2400" dirty="0"/>
              <a:t>S/W unit </a:t>
            </a:r>
            <a:r>
              <a:rPr lang="ko-KR" altLang="en-US" sz="2400" dirty="0"/>
              <a:t>간의 기능 의존성 검증</a:t>
            </a:r>
            <a:r>
              <a:rPr lang="en-US" altLang="ko-KR" sz="2400" dirty="0">
                <a:solidFill>
                  <a:srgbClr val="FF0000"/>
                </a:solidFill>
              </a:rPr>
              <a:t>(</a:t>
            </a:r>
            <a:r>
              <a:rPr lang="ko-KR" altLang="en-US" sz="2400" dirty="0">
                <a:solidFill>
                  <a:srgbClr val="FF0000"/>
                </a:solidFill>
              </a:rPr>
              <a:t>품질부서 검증</a:t>
            </a:r>
            <a:r>
              <a:rPr lang="en-US" altLang="ko-KR" sz="2400" dirty="0">
                <a:solidFill>
                  <a:srgbClr val="FF0000"/>
                </a:solidFill>
              </a:rPr>
              <a:t>)</a:t>
            </a:r>
          </a:p>
          <a:p>
            <a:endParaRPr lang="ko-KR" altLang="en-US" sz="2400" dirty="0"/>
          </a:p>
        </p:txBody>
      </p:sp>
      <p:sp>
        <p:nvSpPr>
          <p:cNvPr id="4" name="날짜 개체 틀 3">
            <a:extLst>
              <a:ext uri="{FF2B5EF4-FFF2-40B4-BE49-F238E27FC236}">
                <a16:creationId xmlns:a16="http://schemas.microsoft.com/office/drawing/2014/main" id="{D13D11AA-CBC7-6389-4E19-7A3570147186}"/>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FC53FF21-A219-99BA-0527-F18BDFCF397B}"/>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805B18-8A21-CB46-7F2E-5F6924919D0D}"/>
              </a:ext>
            </a:extLst>
          </p:cNvPr>
          <p:cNvSpPr>
            <a:spLocks noGrp="1"/>
          </p:cNvSpPr>
          <p:nvPr>
            <p:ph type="sldNum" sz="quarter" idx="12"/>
          </p:nvPr>
        </p:nvSpPr>
        <p:spPr/>
        <p:txBody>
          <a:bodyPr/>
          <a:lstStyle/>
          <a:p>
            <a:fld id="{55635D17-9D19-4B1E-86C2-B9D6296E4AF7}" type="slidenum">
              <a:rPr lang="en-US" smtClean="0"/>
              <a:pPr/>
              <a:t>32</a:t>
            </a:fld>
            <a:endParaRPr lang="en-US" dirty="0"/>
          </a:p>
        </p:txBody>
      </p:sp>
      <p:pic>
        <p:nvPicPr>
          <p:cNvPr id="9" name="그림 8">
            <a:extLst>
              <a:ext uri="{FF2B5EF4-FFF2-40B4-BE49-F238E27FC236}">
                <a16:creationId xmlns:a16="http://schemas.microsoft.com/office/drawing/2014/main" id="{EC89CC4D-1D37-C213-8E73-F4F3DB483FD5}"/>
              </a:ext>
            </a:extLst>
          </p:cNvPr>
          <p:cNvPicPr>
            <a:picLocks noChangeAspect="1"/>
          </p:cNvPicPr>
          <p:nvPr/>
        </p:nvPicPr>
        <p:blipFill>
          <a:blip r:embed="rId2"/>
          <a:stretch>
            <a:fillRect/>
          </a:stretch>
        </p:blipFill>
        <p:spPr>
          <a:xfrm>
            <a:off x="2799778" y="1247293"/>
            <a:ext cx="6592445" cy="4684105"/>
          </a:xfrm>
          <a:prstGeom prst="rect">
            <a:avLst/>
          </a:prstGeom>
        </p:spPr>
      </p:pic>
    </p:spTree>
    <p:extLst>
      <p:ext uri="{BB962C8B-B14F-4D97-AF65-F5344CB8AC3E}">
        <p14:creationId xmlns:p14="http://schemas.microsoft.com/office/powerpoint/2010/main" val="38525780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1F987B-CAEB-AB63-B6F4-E74CB309A2A8}"/>
              </a:ext>
            </a:extLst>
          </p:cNvPr>
          <p:cNvSpPr>
            <a:spLocks noGrp="1"/>
          </p:cNvSpPr>
          <p:nvPr>
            <p:ph type="title"/>
          </p:nvPr>
        </p:nvSpPr>
        <p:spPr/>
        <p:txBody>
          <a:bodyPr>
            <a:normAutofit fontScale="90000"/>
          </a:bodyPr>
          <a:lstStyle/>
          <a:p>
            <a:r>
              <a:rPr lang="en-US" altLang="ko-KR" dirty="0"/>
              <a:t>System Integration &amp; Validation</a:t>
            </a:r>
            <a:endParaRPr lang="ko-KR" altLang="en-US" dirty="0"/>
          </a:p>
        </p:txBody>
      </p:sp>
      <p:sp>
        <p:nvSpPr>
          <p:cNvPr id="3" name="내용 개체 틀 2">
            <a:extLst>
              <a:ext uri="{FF2B5EF4-FFF2-40B4-BE49-F238E27FC236}">
                <a16:creationId xmlns:a16="http://schemas.microsoft.com/office/drawing/2014/main" id="{D7438081-108F-4E71-F497-33F984651114}"/>
              </a:ext>
            </a:extLst>
          </p:cNvPr>
          <p:cNvSpPr>
            <a:spLocks noGrp="1"/>
          </p:cNvSpPr>
          <p:nvPr>
            <p:ph idx="1"/>
          </p:nvPr>
        </p:nvSpPr>
        <p:spPr>
          <a:xfrm>
            <a:off x="756557" y="820172"/>
            <a:ext cx="10915490" cy="4968694"/>
          </a:xfrm>
        </p:spPr>
        <p:txBody>
          <a:bodyPr>
            <a:normAutofit/>
          </a:bodyPr>
          <a:lstStyle/>
          <a:p>
            <a:pPr>
              <a:lnSpc>
                <a:spcPct val="100000"/>
              </a:lnSpc>
            </a:pPr>
            <a:r>
              <a:rPr lang="ko-KR" altLang="en-US" sz="2000" dirty="0" err="1"/>
              <a:t>완성차</a:t>
            </a:r>
            <a:r>
              <a:rPr lang="ko-KR" altLang="en-US" sz="2000" dirty="0"/>
              <a:t> 업체의 승인을 받고 협력업체들은 개발 시스템 납품</a:t>
            </a:r>
          </a:p>
          <a:p>
            <a:pPr>
              <a:lnSpc>
                <a:spcPct val="100000"/>
              </a:lnSpc>
            </a:pPr>
            <a:r>
              <a:rPr lang="ko-KR" altLang="en-US" sz="2000" dirty="0"/>
              <a:t>구현이 완료된 부품을 통합해 시스템</a:t>
            </a:r>
            <a:r>
              <a:rPr lang="en-US" altLang="ko-KR" sz="2000" dirty="0"/>
              <a:t>(</a:t>
            </a:r>
            <a:r>
              <a:rPr lang="ko-KR" altLang="en-US" sz="2000" dirty="0"/>
              <a:t>차량</a:t>
            </a:r>
            <a:r>
              <a:rPr lang="en-US" altLang="ko-KR" sz="2000" dirty="0"/>
              <a:t>)</a:t>
            </a:r>
            <a:r>
              <a:rPr lang="ko-KR" altLang="en-US" sz="2000" dirty="0"/>
              <a:t>이 요구하는 기능이나 성능을 만족하는지 통합 검증</a:t>
            </a:r>
          </a:p>
          <a:p>
            <a:pPr>
              <a:lnSpc>
                <a:spcPct val="100000"/>
              </a:lnSpc>
            </a:pPr>
            <a:r>
              <a:rPr lang="ko-KR" altLang="en-US" sz="2000" dirty="0"/>
              <a:t>하위 구성 요소 중에서 하나라도 미비하면 전체 시스템 개발 지연</a:t>
            </a:r>
          </a:p>
          <a:p>
            <a:pPr lvl="1">
              <a:lnSpc>
                <a:spcPct val="100000"/>
              </a:lnSpc>
            </a:pPr>
            <a:r>
              <a:rPr lang="ko-KR" altLang="en-US" sz="1800" dirty="0"/>
              <a:t>각 부품의 개발 일정을 준수하는 것이 중요</a:t>
            </a:r>
          </a:p>
          <a:p>
            <a:pPr>
              <a:lnSpc>
                <a:spcPct val="100000"/>
              </a:lnSpc>
            </a:pPr>
            <a:endParaRPr lang="ko-KR" altLang="en-US" sz="2000" dirty="0"/>
          </a:p>
        </p:txBody>
      </p:sp>
      <p:sp>
        <p:nvSpPr>
          <p:cNvPr id="4" name="날짜 개체 틀 3">
            <a:extLst>
              <a:ext uri="{FF2B5EF4-FFF2-40B4-BE49-F238E27FC236}">
                <a16:creationId xmlns:a16="http://schemas.microsoft.com/office/drawing/2014/main" id="{D827DBD6-F564-50A6-FD93-6EDF2F8A49BF}"/>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A7E26EC7-EBC4-A701-CA08-D1E1CCBF5E03}"/>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328A627E-BB1A-C5C6-F7A8-4246AD5E0CC5}"/>
              </a:ext>
            </a:extLst>
          </p:cNvPr>
          <p:cNvSpPr>
            <a:spLocks noGrp="1"/>
          </p:cNvSpPr>
          <p:nvPr>
            <p:ph type="sldNum" sz="quarter" idx="12"/>
          </p:nvPr>
        </p:nvSpPr>
        <p:spPr/>
        <p:txBody>
          <a:bodyPr/>
          <a:lstStyle/>
          <a:p>
            <a:fld id="{55635D17-9D19-4B1E-86C2-B9D6296E4AF7}" type="slidenum">
              <a:rPr lang="en-US" smtClean="0"/>
              <a:pPr/>
              <a:t>33</a:t>
            </a:fld>
            <a:endParaRPr lang="en-US" dirty="0"/>
          </a:p>
        </p:txBody>
      </p:sp>
      <p:pic>
        <p:nvPicPr>
          <p:cNvPr id="9" name="그림 8">
            <a:extLst>
              <a:ext uri="{FF2B5EF4-FFF2-40B4-BE49-F238E27FC236}">
                <a16:creationId xmlns:a16="http://schemas.microsoft.com/office/drawing/2014/main" id="{5A4CF20C-01EB-4FC0-2356-464A4166A763}"/>
              </a:ext>
            </a:extLst>
          </p:cNvPr>
          <p:cNvPicPr>
            <a:picLocks noChangeAspect="1"/>
          </p:cNvPicPr>
          <p:nvPr/>
        </p:nvPicPr>
        <p:blipFill>
          <a:blip r:embed="rId2"/>
          <a:stretch>
            <a:fillRect/>
          </a:stretch>
        </p:blipFill>
        <p:spPr>
          <a:xfrm>
            <a:off x="3416891" y="2421397"/>
            <a:ext cx="5376146" cy="3519237"/>
          </a:xfrm>
          <a:prstGeom prst="rect">
            <a:avLst/>
          </a:prstGeom>
        </p:spPr>
      </p:pic>
    </p:spTree>
    <p:extLst>
      <p:ext uri="{BB962C8B-B14F-4D97-AF65-F5344CB8AC3E}">
        <p14:creationId xmlns:p14="http://schemas.microsoft.com/office/powerpoint/2010/main" val="339413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54899F-1544-7E05-ECE3-E2514A80D9A0}"/>
              </a:ext>
            </a:extLst>
          </p:cNvPr>
          <p:cNvSpPr>
            <a:spLocks noGrp="1"/>
          </p:cNvSpPr>
          <p:nvPr>
            <p:ph type="title"/>
          </p:nvPr>
        </p:nvSpPr>
        <p:spPr/>
        <p:txBody>
          <a:bodyPr>
            <a:normAutofit fontScale="90000"/>
          </a:bodyPr>
          <a:lstStyle/>
          <a:p>
            <a:r>
              <a:rPr lang="en-US" altLang="ko-KR" dirty="0"/>
              <a:t>System Release</a:t>
            </a:r>
            <a:endParaRPr lang="ko-KR" altLang="en-US" dirty="0"/>
          </a:p>
        </p:txBody>
      </p:sp>
      <p:sp>
        <p:nvSpPr>
          <p:cNvPr id="3" name="내용 개체 틀 2">
            <a:extLst>
              <a:ext uri="{FF2B5EF4-FFF2-40B4-BE49-F238E27FC236}">
                <a16:creationId xmlns:a16="http://schemas.microsoft.com/office/drawing/2014/main" id="{A7DEEA59-DAAF-A76D-956F-471C313AD06F}"/>
              </a:ext>
            </a:extLst>
          </p:cNvPr>
          <p:cNvSpPr>
            <a:spLocks noGrp="1"/>
          </p:cNvSpPr>
          <p:nvPr>
            <p:ph idx="1"/>
          </p:nvPr>
        </p:nvSpPr>
        <p:spPr/>
        <p:txBody>
          <a:bodyPr>
            <a:normAutofit/>
          </a:bodyPr>
          <a:lstStyle/>
          <a:p>
            <a:pPr>
              <a:lnSpc>
                <a:spcPct val="100000"/>
              </a:lnSpc>
            </a:pPr>
            <a:r>
              <a:rPr lang="ko-KR" altLang="en-US" sz="2000" dirty="0"/>
              <a:t>차량에서의 기능 평가</a:t>
            </a:r>
            <a:r>
              <a:rPr lang="en-US" altLang="ko-KR" sz="2000" dirty="0"/>
              <a:t>, Data Calibration </a:t>
            </a:r>
            <a:r>
              <a:rPr lang="ko-KR" altLang="en-US" sz="2000" dirty="0"/>
              <a:t>통해 성능 평가 수행하고 데이터를 확정하는 작업</a:t>
            </a:r>
          </a:p>
        </p:txBody>
      </p:sp>
      <p:sp>
        <p:nvSpPr>
          <p:cNvPr id="4" name="날짜 개체 틀 3">
            <a:extLst>
              <a:ext uri="{FF2B5EF4-FFF2-40B4-BE49-F238E27FC236}">
                <a16:creationId xmlns:a16="http://schemas.microsoft.com/office/drawing/2014/main" id="{730B9326-FB72-F6A0-510E-9E1CB4108088}"/>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DB35CC0D-C1A8-6A72-D26D-27BBD8EC8EA8}"/>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662DC8BF-3A8E-AFAD-9B95-454FC3B0F1D4}"/>
              </a:ext>
            </a:extLst>
          </p:cNvPr>
          <p:cNvSpPr>
            <a:spLocks noGrp="1"/>
          </p:cNvSpPr>
          <p:nvPr>
            <p:ph type="sldNum" sz="quarter" idx="12"/>
          </p:nvPr>
        </p:nvSpPr>
        <p:spPr/>
        <p:txBody>
          <a:bodyPr/>
          <a:lstStyle/>
          <a:p>
            <a:fld id="{55635D17-9D19-4B1E-86C2-B9D6296E4AF7}" type="slidenum">
              <a:rPr lang="en-US" smtClean="0"/>
              <a:pPr/>
              <a:t>34</a:t>
            </a:fld>
            <a:endParaRPr lang="en-US" dirty="0"/>
          </a:p>
        </p:txBody>
      </p:sp>
      <p:sp>
        <p:nvSpPr>
          <p:cNvPr id="8" name="TextBox 7">
            <a:extLst>
              <a:ext uri="{FF2B5EF4-FFF2-40B4-BE49-F238E27FC236}">
                <a16:creationId xmlns:a16="http://schemas.microsoft.com/office/drawing/2014/main" id="{2AC39A24-902B-C6E9-4962-9A9698DEFE58}"/>
              </a:ext>
            </a:extLst>
          </p:cNvPr>
          <p:cNvSpPr txBox="1"/>
          <p:nvPr/>
        </p:nvSpPr>
        <p:spPr>
          <a:xfrm>
            <a:off x="8599003" y="5051208"/>
            <a:ext cx="2593980" cy="276999"/>
          </a:xfrm>
          <a:prstGeom prst="rect">
            <a:avLst/>
          </a:prstGeom>
          <a:solidFill>
            <a:srgbClr val="FFFF00"/>
          </a:solidFill>
        </p:spPr>
        <p:txBody>
          <a:bodyPr wrap="none" rtlCol="0">
            <a:spAutoFit/>
          </a:bodyPr>
          <a:lstStyle/>
          <a:p>
            <a:r>
              <a:rPr lang="en-US" altLang="ko-KR" sz="1200" dirty="0"/>
              <a:t>* BOM(Bill of Materials) </a:t>
            </a:r>
            <a:r>
              <a:rPr lang="ko-KR" altLang="en-US" sz="1200" dirty="0"/>
              <a:t>자재명세서</a:t>
            </a:r>
            <a:endParaRPr lang="en-US" altLang="ko-KR" sz="1200" dirty="0"/>
          </a:p>
        </p:txBody>
      </p:sp>
      <p:pic>
        <p:nvPicPr>
          <p:cNvPr id="10" name="그림 9">
            <a:extLst>
              <a:ext uri="{FF2B5EF4-FFF2-40B4-BE49-F238E27FC236}">
                <a16:creationId xmlns:a16="http://schemas.microsoft.com/office/drawing/2014/main" id="{6E4F656D-0EF3-954E-B275-AB50C8AD66E8}"/>
              </a:ext>
            </a:extLst>
          </p:cNvPr>
          <p:cNvPicPr>
            <a:picLocks noChangeAspect="1"/>
          </p:cNvPicPr>
          <p:nvPr/>
        </p:nvPicPr>
        <p:blipFill>
          <a:blip r:embed="rId2"/>
          <a:stretch>
            <a:fillRect/>
          </a:stretch>
        </p:blipFill>
        <p:spPr>
          <a:xfrm>
            <a:off x="1515985" y="1403913"/>
            <a:ext cx="9160030" cy="3463636"/>
          </a:xfrm>
          <a:prstGeom prst="rect">
            <a:avLst/>
          </a:prstGeom>
          <a:ln>
            <a:solidFill>
              <a:schemeClr val="bg1">
                <a:lumMod val="50000"/>
              </a:schemeClr>
            </a:solidFill>
          </a:ln>
        </p:spPr>
      </p:pic>
    </p:spTree>
    <p:extLst>
      <p:ext uri="{BB962C8B-B14F-4D97-AF65-F5344CB8AC3E}">
        <p14:creationId xmlns:p14="http://schemas.microsoft.com/office/powerpoint/2010/main" val="2075010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2C1E915-7E3D-8725-8014-66085F586592}"/>
              </a:ext>
            </a:extLst>
          </p:cNvPr>
          <p:cNvSpPr>
            <a:spLocks noGrp="1"/>
          </p:cNvSpPr>
          <p:nvPr>
            <p:ph type="title"/>
          </p:nvPr>
        </p:nvSpPr>
        <p:spPr/>
        <p:txBody>
          <a:bodyPr>
            <a:normAutofit fontScale="90000"/>
          </a:bodyPr>
          <a:lstStyle/>
          <a:p>
            <a:r>
              <a:rPr lang="en-US" altLang="ko-KR" dirty="0"/>
              <a:t>Support &amp; management Process</a:t>
            </a:r>
            <a:endParaRPr lang="ko-KR" altLang="en-US" dirty="0"/>
          </a:p>
        </p:txBody>
      </p:sp>
      <p:sp>
        <p:nvSpPr>
          <p:cNvPr id="3" name="내용 개체 틀 2">
            <a:extLst>
              <a:ext uri="{FF2B5EF4-FFF2-40B4-BE49-F238E27FC236}">
                <a16:creationId xmlns:a16="http://schemas.microsoft.com/office/drawing/2014/main" id="{A2D27CC3-66E8-86EA-0D37-3660ECBB305E}"/>
              </a:ext>
            </a:extLst>
          </p:cNvPr>
          <p:cNvSpPr>
            <a:spLocks noGrp="1"/>
          </p:cNvSpPr>
          <p:nvPr>
            <p:ph idx="1"/>
          </p:nvPr>
        </p:nvSpPr>
        <p:spPr/>
        <p:txBody>
          <a:bodyPr>
            <a:normAutofit/>
          </a:bodyPr>
          <a:lstStyle/>
          <a:p>
            <a:r>
              <a:rPr lang="ko-KR" altLang="en-US" sz="2400" dirty="0"/>
              <a:t>제품의 품질과 신뢰성을 보장하기 위해서는 관리 중요</a:t>
            </a:r>
          </a:p>
          <a:p>
            <a:r>
              <a:rPr lang="ko-KR" altLang="en-US" sz="2400" dirty="0"/>
              <a:t>복잡한 시스템일수록 중요성 높아짐</a:t>
            </a:r>
          </a:p>
          <a:p>
            <a:r>
              <a:rPr lang="ko-KR" altLang="en-US" sz="2400" dirty="0"/>
              <a:t>관리 대상 </a:t>
            </a:r>
            <a:r>
              <a:rPr lang="en-US" altLang="ko-KR" sz="2400" dirty="0"/>
              <a:t>: </a:t>
            </a:r>
            <a:r>
              <a:rPr lang="ko-KR" altLang="en-US" sz="2400" dirty="0"/>
              <a:t>품질</a:t>
            </a:r>
            <a:r>
              <a:rPr lang="en-US" altLang="ko-KR" sz="2400" dirty="0"/>
              <a:t>, </a:t>
            </a:r>
            <a:r>
              <a:rPr lang="ko-KR" altLang="en-US" sz="2400" dirty="0"/>
              <a:t>비용</a:t>
            </a:r>
            <a:r>
              <a:rPr lang="en-US" altLang="ko-KR" sz="2400" dirty="0"/>
              <a:t>, </a:t>
            </a:r>
            <a:r>
              <a:rPr lang="ko-KR" altLang="en-US" sz="2400" dirty="0"/>
              <a:t>일정</a:t>
            </a:r>
            <a:r>
              <a:rPr lang="en-US" altLang="ko-KR" sz="2400" dirty="0"/>
              <a:t>, </a:t>
            </a:r>
            <a:r>
              <a:rPr lang="ko-KR" altLang="en-US" sz="2400" dirty="0"/>
              <a:t>인력</a:t>
            </a:r>
            <a:r>
              <a:rPr lang="en-US" altLang="ko-KR" sz="2400" dirty="0"/>
              <a:t>, </a:t>
            </a:r>
            <a:r>
              <a:rPr lang="ko-KR" altLang="en-US" sz="2400" dirty="0"/>
              <a:t>기술</a:t>
            </a:r>
            <a:r>
              <a:rPr lang="en-US" altLang="ko-KR" sz="2400" dirty="0"/>
              <a:t>, </a:t>
            </a:r>
            <a:r>
              <a:rPr lang="en-US" altLang="ko-KR" sz="2400" dirty="0" err="1"/>
              <a:t>etc</a:t>
            </a:r>
            <a:endParaRPr lang="en-US" altLang="ko-KR" sz="2400" dirty="0"/>
          </a:p>
          <a:p>
            <a:r>
              <a:rPr lang="ko-KR" altLang="en-US" sz="2400" dirty="0"/>
              <a:t>관리의 영역</a:t>
            </a:r>
          </a:p>
          <a:p>
            <a:pPr lvl="1"/>
            <a:r>
              <a:rPr lang="ko-KR" altLang="en-US" sz="2000" dirty="0"/>
              <a:t>프로젝트 관리 </a:t>
            </a:r>
            <a:r>
              <a:rPr lang="en-US" altLang="ko-KR" sz="2000" dirty="0"/>
              <a:t>(</a:t>
            </a:r>
            <a:r>
              <a:rPr lang="ko-KR" altLang="en-US" sz="2000" dirty="0"/>
              <a:t>의사소통</a:t>
            </a:r>
            <a:r>
              <a:rPr lang="en-US" altLang="ko-KR" sz="2000" dirty="0"/>
              <a:t>, </a:t>
            </a:r>
            <a:r>
              <a:rPr lang="ko-KR" altLang="en-US" sz="2000" dirty="0"/>
              <a:t>진척</a:t>
            </a:r>
            <a:r>
              <a:rPr lang="en-US" altLang="ko-KR" sz="2000" dirty="0"/>
              <a:t>, </a:t>
            </a:r>
            <a:r>
              <a:rPr lang="ko-KR" altLang="en-US" sz="2000" dirty="0"/>
              <a:t>위험</a:t>
            </a:r>
            <a:r>
              <a:rPr lang="en-US" altLang="ko-KR" sz="2000" dirty="0"/>
              <a:t>, </a:t>
            </a:r>
            <a:r>
              <a:rPr lang="ko-KR" altLang="en-US" sz="2000" dirty="0"/>
              <a:t>이슈</a:t>
            </a:r>
            <a:r>
              <a:rPr lang="en-US" altLang="ko-KR" sz="2000" dirty="0"/>
              <a:t>, …)</a:t>
            </a:r>
          </a:p>
          <a:p>
            <a:pPr lvl="1"/>
            <a:r>
              <a:rPr lang="ko-KR" altLang="en-US" sz="2000" dirty="0"/>
              <a:t>요구사항 관리</a:t>
            </a:r>
          </a:p>
          <a:p>
            <a:pPr lvl="1"/>
            <a:r>
              <a:rPr lang="ko-KR" altLang="en-US" sz="2000" dirty="0"/>
              <a:t>형상 관리</a:t>
            </a:r>
          </a:p>
          <a:p>
            <a:pPr lvl="1"/>
            <a:r>
              <a:rPr lang="ko-KR" altLang="en-US" sz="2000" dirty="0"/>
              <a:t>변경 관리 </a:t>
            </a:r>
            <a:r>
              <a:rPr lang="en-US" altLang="ko-KR" sz="2000" dirty="0"/>
              <a:t>(</a:t>
            </a:r>
            <a:r>
              <a:rPr lang="ko-KR" altLang="en-US" sz="2000" dirty="0"/>
              <a:t>이력 관리</a:t>
            </a:r>
            <a:r>
              <a:rPr lang="en-US" altLang="ko-KR" sz="2000" dirty="0"/>
              <a:t>)</a:t>
            </a:r>
          </a:p>
          <a:p>
            <a:pPr lvl="1"/>
            <a:r>
              <a:rPr lang="ko-KR" altLang="en-US" sz="2000" dirty="0"/>
              <a:t>품질 관리 </a:t>
            </a:r>
          </a:p>
          <a:p>
            <a:endParaRPr lang="ko-KR" altLang="en-US" sz="2400" dirty="0"/>
          </a:p>
        </p:txBody>
      </p:sp>
      <p:sp>
        <p:nvSpPr>
          <p:cNvPr id="4" name="날짜 개체 틀 3">
            <a:extLst>
              <a:ext uri="{FF2B5EF4-FFF2-40B4-BE49-F238E27FC236}">
                <a16:creationId xmlns:a16="http://schemas.microsoft.com/office/drawing/2014/main" id="{595C3527-8A84-FB3E-3FA0-B6D7694F53D3}"/>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505BF521-7D23-D99F-1BA1-0EE4700B16C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2DC63CB-FE17-B6C2-25FD-D83E83E234B8}"/>
              </a:ext>
            </a:extLst>
          </p:cNvPr>
          <p:cNvSpPr>
            <a:spLocks noGrp="1"/>
          </p:cNvSpPr>
          <p:nvPr>
            <p:ph type="sldNum" sz="quarter" idx="12"/>
          </p:nvPr>
        </p:nvSpPr>
        <p:spPr/>
        <p:txBody>
          <a:bodyPr/>
          <a:lstStyle/>
          <a:p>
            <a:fld id="{55635D17-9D19-4B1E-86C2-B9D6296E4AF7}" type="slidenum">
              <a:rPr lang="en-US" smtClean="0"/>
              <a:pPr/>
              <a:t>35</a:t>
            </a:fld>
            <a:endParaRPr lang="en-US" dirty="0"/>
          </a:p>
        </p:txBody>
      </p:sp>
      <p:pic>
        <p:nvPicPr>
          <p:cNvPr id="9" name="그림 8">
            <a:extLst>
              <a:ext uri="{FF2B5EF4-FFF2-40B4-BE49-F238E27FC236}">
                <a16:creationId xmlns:a16="http://schemas.microsoft.com/office/drawing/2014/main" id="{E6BB042B-F478-5CE7-0F58-ED18D6799D28}"/>
              </a:ext>
            </a:extLst>
          </p:cNvPr>
          <p:cNvPicPr>
            <a:picLocks noChangeAspect="1"/>
          </p:cNvPicPr>
          <p:nvPr/>
        </p:nvPicPr>
        <p:blipFill>
          <a:blip r:embed="rId2"/>
          <a:srcRect t="10074"/>
          <a:stretch>
            <a:fillRect/>
          </a:stretch>
        </p:blipFill>
        <p:spPr>
          <a:xfrm>
            <a:off x="6856412" y="1235008"/>
            <a:ext cx="5010616" cy="4633443"/>
          </a:xfrm>
          <a:prstGeom prst="rect">
            <a:avLst/>
          </a:prstGeom>
        </p:spPr>
      </p:pic>
    </p:spTree>
    <p:extLst>
      <p:ext uri="{BB962C8B-B14F-4D97-AF65-F5344CB8AC3E}">
        <p14:creationId xmlns:p14="http://schemas.microsoft.com/office/powerpoint/2010/main" val="1607205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E6F5035-0045-CEF6-2279-55B509650B1D}"/>
              </a:ext>
            </a:extLst>
          </p:cNvPr>
          <p:cNvSpPr>
            <a:spLocks noGrp="1"/>
          </p:cNvSpPr>
          <p:nvPr>
            <p:ph type="title"/>
          </p:nvPr>
        </p:nvSpPr>
        <p:spPr/>
        <p:txBody>
          <a:bodyPr>
            <a:normAutofit fontScale="90000"/>
          </a:bodyPr>
          <a:lstStyle/>
          <a:p>
            <a:r>
              <a:rPr lang="en-US" altLang="ko-KR" dirty="0"/>
              <a:t>Quality Management</a:t>
            </a:r>
            <a:endParaRPr lang="ko-KR" altLang="en-US" dirty="0"/>
          </a:p>
        </p:txBody>
      </p:sp>
      <p:sp>
        <p:nvSpPr>
          <p:cNvPr id="3" name="내용 개체 틀 2">
            <a:extLst>
              <a:ext uri="{FF2B5EF4-FFF2-40B4-BE49-F238E27FC236}">
                <a16:creationId xmlns:a16="http://schemas.microsoft.com/office/drawing/2014/main" id="{E608C6D4-19E0-3C6E-D90B-F3E61E32A3CF}"/>
              </a:ext>
            </a:extLst>
          </p:cNvPr>
          <p:cNvSpPr>
            <a:spLocks noGrp="1"/>
          </p:cNvSpPr>
          <p:nvPr>
            <p:ph idx="1"/>
          </p:nvPr>
        </p:nvSpPr>
        <p:spPr>
          <a:xfrm>
            <a:off x="469172" y="820172"/>
            <a:ext cx="9673024" cy="4968694"/>
          </a:xfrm>
        </p:spPr>
        <p:txBody>
          <a:bodyPr>
            <a:normAutofit/>
          </a:bodyPr>
          <a:lstStyle/>
          <a:p>
            <a:pPr>
              <a:lnSpc>
                <a:spcPts val="3000"/>
              </a:lnSpc>
            </a:pPr>
            <a:r>
              <a:rPr lang="ko-KR" altLang="en-US" sz="2400" dirty="0"/>
              <a:t>프로젝트 수행기간 동안 최소의 노력과 비용으로 요구된 품질 수준에 도달할 수 있도록 개발 산출물에 대한 품질을 통제하고 보증하는 활동</a:t>
            </a:r>
          </a:p>
          <a:p>
            <a:pPr>
              <a:lnSpc>
                <a:spcPts val="3000"/>
              </a:lnSpc>
            </a:pPr>
            <a:r>
              <a:rPr lang="en-US" altLang="ko-KR" sz="2400" dirty="0"/>
              <a:t>Development Life Cycle</a:t>
            </a:r>
          </a:p>
          <a:p>
            <a:pPr lvl="1">
              <a:lnSpc>
                <a:spcPts val="3000"/>
              </a:lnSpc>
            </a:pPr>
            <a:r>
              <a:rPr lang="en-US" altLang="ko-KR" sz="2000" dirty="0"/>
              <a:t> CMMI, Automotive SPICE</a:t>
            </a:r>
          </a:p>
          <a:p>
            <a:pPr>
              <a:lnSpc>
                <a:spcPts val="3000"/>
              </a:lnSpc>
            </a:pPr>
            <a:r>
              <a:rPr lang="en-US" altLang="ko-KR" sz="2400" dirty="0"/>
              <a:t>Deliverables</a:t>
            </a:r>
          </a:p>
          <a:p>
            <a:pPr lvl="1">
              <a:lnSpc>
                <a:spcPts val="3000"/>
              </a:lnSpc>
            </a:pPr>
            <a:r>
              <a:rPr lang="en-US" altLang="ko-KR" sz="2000" dirty="0"/>
              <a:t>ISO 9126: </a:t>
            </a:r>
            <a:r>
              <a:rPr lang="ko-KR" altLang="en-US" sz="2000" dirty="0"/>
              <a:t>국제 표준 </a:t>
            </a:r>
            <a:r>
              <a:rPr lang="en-US" altLang="ko-KR" sz="2000" dirty="0"/>
              <a:t>Software Quality Model. 					  </a:t>
            </a:r>
            <a:r>
              <a:rPr lang="ko-KR" altLang="en-US" sz="2000" dirty="0"/>
              <a:t>현재는 </a:t>
            </a:r>
            <a:r>
              <a:rPr lang="en-US" altLang="ko-KR" sz="2000" dirty="0"/>
              <a:t>ISO/IEC 25000(</a:t>
            </a:r>
            <a:r>
              <a:rPr lang="en-US" altLang="ko-KR" sz="2000" dirty="0" err="1"/>
              <a:t>SQuaRE</a:t>
            </a:r>
            <a:r>
              <a:rPr lang="en-US" altLang="ko-KR" sz="2000" dirty="0"/>
              <a:t>)</a:t>
            </a:r>
            <a:r>
              <a:rPr lang="ko-KR" altLang="en-US" sz="2000" dirty="0"/>
              <a:t>으로 통합</a:t>
            </a:r>
            <a:endParaRPr lang="en-US" altLang="ko-KR" sz="2000" dirty="0"/>
          </a:p>
          <a:p>
            <a:pPr lvl="1">
              <a:lnSpc>
                <a:spcPts val="3000"/>
              </a:lnSpc>
            </a:pPr>
            <a:r>
              <a:rPr lang="en-US" altLang="ko-KR" sz="2000" dirty="0"/>
              <a:t>ISO 14598: </a:t>
            </a:r>
            <a:r>
              <a:rPr lang="ko-KR" altLang="en-US" sz="2000" dirty="0"/>
              <a:t>소프트웨어 제품평가에 대한 표준</a:t>
            </a:r>
            <a:r>
              <a:rPr lang="en-US" altLang="ko-KR" sz="2000" dirty="0"/>
              <a:t>				. ISO 9126</a:t>
            </a:r>
            <a:r>
              <a:rPr lang="ko-KR" altLang="en-US" sz="2000" dirty="0"/>
              <a:t>의 사용을 위한 절차와 기본 상황 및 </a:t>
            </a:r>
            <a:r>
              <a:rPr lang="en-US" altLang="ko-KR" sz="2000" dirty="0"/>
              <a:t>				  </a:t>
            </a:r>
            <a:r>
              <a:rPr lang="ko-KR" altLang="en-US" sz="2000" dirty="0"/>
              <a:t>소프트웨어 평가 프로세스에 대한 표준</a:t>
            </a:r>
          </a:p>
        </p:txBody>
      </p:sp>
      <p:sp>
        <p:nvSpPr>
          <p:cNvPr id="4" name="날짜 개체 틀 3">
            <a:extLst>
              <a:ext uri="{FF2B5EF4-FFF2-40B4-BE49-F238E27FC236}">
                <a16:creationId xmlns:a16="http://schemas.microsoft.com/office/drawing/2014/main" id="{FD60B59D-07D0-2E32-9DA4-AE7DA375DA6F}"/>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A3F36569-3200-F948-F490-5E1FB875A75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AF1314B9-5F1F-C876-6ADF-9FF4537A742C}"/>
              </a:ext>
            </a:extLst>
          </p:cNvPr>
          <p:cNvSpPr>
            <a:spLocks noGrp="1"/>
          </p:cNvSpPr>
          <p:nvPr>
            <p:ph type="sldNum" sz="quarter" idx="12"/>
          </p:nvPr>
        </p:nvSpPr>
        <p:spPr/>
        <p:txBody>
          <a:bodyPr/>
          <a:lstStyle/>
          <a:p>
            <a:fld id="{55635D17-9D19-4B1E-86C2-B9D6296E4AF7}" type="slidenum">
              <a:rPr lang="en-US" smtClean="0"/>
              <a:pPr/>
              <a:t>36</a:t>
            </a:fld>
            <a:endParaRPr lang="en-US" dirty="0"/>
          </a:p>
        </p:txBody>
      </p:sp>
      <p:pic>
        <p:nvPicPr>
          <p:cNvPr id="8" name="그림 7">
            <a:extLst>
              <a:ext uri="{FF2B5EF4-FFF2-40B4-BE49-F238E27FC236}">
                <a16:creationId xmlns:a16="http://schemas.microsoft.com/office/drawing/2014/main" id="{B085C8D9-FA98-2E4B-E252-2A85EFC3361F}"/>
              </a:ext>
            </a:extLst>
          </p:cNvPr>
          <p:cNvPicPr>
            <a:picLocks noChangeAspect="1"/>
          </p:cNvPicPr>
          <p:nvPr/>
        </p:nvPicPr>
        <p:blipFill>
          <a:blip r:embed="rId2"/>
          <a:stretch>
            <a:fillRect/>
          </a:stretch>
        </p:blipFill>
        <p:spPr>
          <a:xfrm>
            <a:off x="6221803" y="2143370"/>
            <a:ext cx="5687658" cy="3111198"/>
          </a:xfrm>
          <a:prstGeom prst="rect">
            <a:avLst/>
          </a:prstGeom>
        </p:spPr>
      </p:pic>
    </p:spTree>
    <p:extLst>
      <p:ext uri="{BB962C8B-B14F-4D97-AF65-F5344CB8AC3E}">
        <p14:creationId xmlns:p14="http://schemas.microsoft.com/office/powerpoint/2010/main" val="250303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B17413-A57D-A375-9799-B5A2F2688077}"/>
              </a:ext>
            </a:extLst>
          </p:cNvPr>
          <p:cNvSpPr>
            <a:spLocks noGrp="1"/>
          </p:cNvSpPr>
          <p:nvPr>
            <p:ph type="title"/>
          </p:nvPr>
        </p:nvSpPr>
        <p:spPr/>
        <p:txBody>
          <a:bodyPr>
            <a:normAutofit fontScale="90000"/>
          </a:bodyPr>
          <a:lstStyle/>
          <a:p>
            <a:r>
              <a:rPr lang="en-US" altLang="ko-KR" dirty="0"/>
              <a:t>CMMI</a:t>
            </a:r>
            <a:endParaRPr lang="ko-KR" altLang="en-US" dirty="0"/>
          </a:p>
        </p:txBody>
      </p:sp>
      <p:sp>
        <p:nvSpPr>
          <p:cNvPr id="3" name="내용 개체 틀 2">
            <a:extLst>
              <a:ext uri="{FF2B5EF4-FFF2-40B4-BE49-F238E27FC236}">
                <a16:creationId xmlns:a16="http://schemas.microsoft.com/office/drawing/2014/main" id="{6CD456D1-49C5-7D57-FEE8-3216AE562548}"/>
              </a:ext>
            </a:extLst>
          </p:cNvPr>
          <p:cNvSpPr>
            <a:spLocks noGrp="1"/>
          </p:cNvSpPr>
          <p:nvPr>
            <p:ph idx="1"/>
          </p:nvPr>
        </p:nvSpPr>
        <p:spPr>
          <a:xfrm>
            <a:off x="756557" y="820172"/>
            <a:ext cx="10287961" cy="4968694"/>
          </a:xfrm>
        </p:spPr>
        <p:txBody>
          <a:bodyPr>
            <a:normAutofit/>
          </a:bodyPr>
          <a:lstStyle/>
          <a:p>
            <a:r>
              <a:rPr lang="en-US" altLang="ko-KR" sz="2400" dirty="0"/>
              <a:t>CMM(Capability Maturity Model)</a:t>
            </a:r>
          </a:p>
          <a:p>
            <a:pPr lvl="1"/>
            <a:r>
              <a:rPr lang="ko-KR" altLang="en-US" sz="2000" dirty="0"/>
              <a:t>미 국방성은 우수 소프트웨어 개발업체를 객관적인 기준으로 선정하기 위해 </a:t>
            </a:r>
            <a:r>
              <a:rPr lang="en-US" altLang="ko-KR" sz="2000" dirty="0"/>
              <a:t>1984</a:t>
            </a:r>
            <a:r>
              <a:rPr lang="ko-KR" altLang="en-US" sz="2000" dirty="0"/>
              <a:t>년 </a:t>
            </a:r>
            <a:r>
              <a:rPr lang="ko-KR" altLang="en-US" sz="2000" dirty="0" err="1"/>
              <a:t>카네기멜론대학에</a:t>
            </a:r>
            <a:r>
              <a:rPr lang="ko-KR" altLang="en-US" sz="2000" dirty="0"/>
              <a:t> </a:t>
            </a:r>
            <a:r>
              <a:rPr lang="en-US" altLang="ko-KR" sz="2000" dirty="0"/>
              <a:t>SEI(Software Engineering Institute)</a:t>
            </a:r>
            <a:r>
              <a:rPr lang="ko-KR" altLang="en-US" sz="2000" dirty="0"/>
              <a:t>를 설립</a:t>
            </a:r>
          </a:p>
          <a:p>
            <a:pPr lvl="1"/>
            <a:r>
              <a:rPr lang="en-US" altLang="ko-KR" sz="2000" dirty="0"/>
              <a:t>SEI</a:t>
            </a:r>
            <a:r>
              <a:rPr lang="ko-KR" altLang="en-US" sz="2000" dirty="0"/>
              <a:t>는 </a:t>
            </a:r>
            <a:r>
              <a:rPr lang="en-US" altLang="ko-KR" sz="2000" dirty="0"/>
              <a:t>1991</a:t>
            </a:r>
            <a:r>
              <a:rPr lang="ko-KR" altLang="en-US" sz="2000" dirty="0"/>
              <a:t>년에 </a:t>
            </a:r>
            <a:r>
              <a:rPr lang="en-US" altLang="ko-KR" sz="2000" dirty="0"/>
              <a:t>SW </a:t>
            </a:r>
            <a:r>
              <a:rPr lang="ko-KR" altLang="en-US" sz="2000" dirty="0"/>
              <a:t>개발 조직이 높은 품질의 </a:t>
            </a:r>
            <a:r>
              <a:rPr lang="en-US" altLang="ko-KR" sz="2000" dirty="0"/>
              <a:t>SW</a:t>
            </a:r>
            <a:r>
              <a:rPr lang="ko-KR" altLang="en-US" sz="2000" dirty="0"/>
              <a:t>를 일관성 있고 예측 가능하게 생산하는 능력을 갖추도록 프로세스 모델인 </a:t>
            </a:r>
            <a:r>
              <a:rPr lang="en-US" altLang="ko-KR" sz="2000" dirty="0"/>
              <a:t>SW-CMM</a:t>
            </a:r>
            <a:r>
              <a:rPr lang="ko-KR" altLang="en-US" sz="2000" dirty="0"/>
              <a:t>을 개발</a:t>
            </a:r>
          </a:p>
          <a:p>
            <a:pPr lvl="1"/>
            <a:r>
              <a:rPr lang="en-US" altLang="ko-KR" sz="2000" dirty="0"/>
              <a:t>SW-CMM</a:t>
            </a:r>
            <a:r>
              <a:rPr lang="ko-KR" altLang="en-US" sz="2000" dirty="0"/>
              <a:t>은 </a:t>
            </a:r>
            <a:r>
              <a:rPr lang="en-US" altLang="ko-KR" sz="2000" dirty="0"/>
              <a:t>SW </a:t>
            </a:r>
            <a:r>
              <a:rPr lang="ko-KR" altLang="en-US" sz="2000" dirty="0"/>
              <a:t>개발 능력 측정 기준과 </a:t>
            </a:r>
            <a:r>
              <a:rPr lang="en-US" altLang="ko-KR" sz="2000" dirty="0"/>
              <a:t>SW </a:t>
            </a:r>
            <a:r>
              <a:rPr lang="ko-KR" altLang="en-US" sz="2000" dirty="0"/>
              <a:t>프로세스 평가 기준을 제공함으로써</a:t>
            </a:r>
            <a:r>
              <a:rPr lang="en-US" altLang="ko-KR" sz="2000" dirty="0"/>
              <a:t>, </a:t>
            </a:r>
            <a:r>
              <a:rPr lang="ko-KR" altLang="en-US" sz="2000" dirty="0"/>
              <a:t>개발 조직의 성숙 수준을 평가할 수 있는 프로세스 모델로 개발</a:t>
            </a:r>
          </a:p>
          <a:p>
            <a:endParaRPr lang="ko-KR" altLang="en-US" sz="2400" dirty="0"/>
          </a:p>
        </p:txBody>
      </p:sp>
      <p:sp>
        <p:nvSpPr>
          <p:cNvPr id="4" name="날짜 개체 틀 3">
            <a:extLst>
              <a:ext uri="{FF2B5EF4-FFF2-40B4-BE49-F238E27FC236}">
                <a16:creationId xmlns:a16="http://schemas.microsoft.com/office/drawing/2014/main" id="{C1CD068E-3FF9-1904-568E-049771E8FE4B}"/>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A95A8E30-7B33-9714-5736-38F0AF5BE40D}"/>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9D434A4-3283-5E33-5439-D70683C4EF09}"/>
              </a:ext>
            </a:extLst>
          </p:cNvPr>
          <p:cNvSpPr>
            <a:spLocks noGrp="1"/>
          </p:cNvSpPr>
          <p:nvPr>
            <p:ph type="sldNum" sz="quarter" idx="12"/>
          </p:nvPr>
        </p:nvSpPr>
        <p:spPr/>
        <p:txBody>
          <a:bodyPr/>
          <a:lstStyle/>
          <a:p>
            <a:fld id="{55635D17-9D19-4B1E-86C2-B9D6296E4AF7}" type="slidenum">
              <a:rPr lang="en-US" smtClean="0"/>
              <a:pPr/>
              <a:t>37</a:t>
            </a:fld>
            <a:endParaRPr lang="en-US" dirty="0"/>
          </a:p>
        </p:txBody>
      </p:sp>
      <p:sp>
        <p:nvSpPr>
          <p:cNvPr id="7" name="직사각형 6">
            <a:extLst>
              <a:ext uri="{FF2B5EF4-FFF2-40B4-BE49-F238E27FC236}">
                <a16:creationId xmlns:a16="http://schemas.microsoft.com/office/drawing/2014/main" id="{4E40B0A0-9029-30FD-5883-7B143A9CE7A9}"/>
              </a:ext>
            </a:extLst>
          </p:cNvPr>
          <p:cNvSpPr/>
          <p:nvPr/>
        </p:nvSpPr>
        <p:spPr>
          <a:xfrm>
            <a:off x="2043948" y="3801037"/>
            <a:ext cx="3307981" cy="1371599"/>
          </a:xfrm>
          <a:prstGeom prst="rect">
            <a:avLst/>
          </a:prstGeom>
          <a:solidFill>
            <a:srgbClr val="FFFF00"/>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8900" lvl="1">
              <a:lnSpc>
                <a:spcPts val="2300"/>
              </a:lnSpc>
            </a:pPr>
            <a:r>
              <a:rPr lang="ko-KR" altLang="en-US" sz="1400" dirty="0">
                <a:solidFill>
                  <a:schemeClr val="tx1"/>
                </a:solidFill>
              </a:rPr>
              <a:t>프로세스 </a:t>
            </a:r>
            <a:r>
              <a:rPr lang="en-US" altLang="ko-KR" sz="1400" dirty="0">
                <a:solidFill>
                  <a:schemeClr val="tx1"/>
                </a:solidFill>
              </a:rPr>
              <a:t>: </a:t>
            </a:r>
            <a:r>
              <a:rPr lang="ko-KR" altLang="en-US" sz="1400" dirty="0">
                <a:solidFill>
                  <a:schemeClr val="tx1"/>
                </a:solidFill>
              </a:rPr>
              <a:t>일정한 목적을 위해 수행되는 일의 수행 과정을 의미하며 여기에는 필요한 역량</a:t>
            </a:r>
            <a:r>
              <a:rPr lang="en-US" altLang="ko-KR" sz="1400" dirty="0">
                <a:solidFill>
                  <a:schemeClr val="tx1"/>
                </a:solidFill>
              </a:rPr>
              <a:t>, </a:t>
            </a:r>
            <a:r>
              <a:rPr lang="ko-KR" altLang="en-US" sz="1400" dirty="0">
                <a:solidFill>
                  <a:schemeClr val="tx1"/>
                </a:solidFill>
              </a:rPr>
              <a:t>인원 및 이를 지원하는 도구와 장비를 포함</a:t>
            </a:r>
          </a:p>
        </p:txBody>
      </p:sp>
      <p:pic>
        <p:nvPicPr>
          <p:cNvPr id="5122" name="Picture 2" descr="CMMI – VWAY">
            <a:extLst>
              <a:ext uri="{FF2B5EF4-FFF2-40B4-BE49-F238E27FC236}">
                <a16:creationId xmlns:a16="http://schemas.microsoft.com/office/drawing/2014/main" id="{825FD70B-FBF2-EE2E-90B7-FED6ED9597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8292" y="3008269"/>
            <a:ext cx="4435706" cy="2957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247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76E7404-2EF4-0BE2-9522-22045978CB43}"/>
              </a:ext>
            </a:extLst>
          </p:cNvPr>
          <p:cNvSpPr>
            <a:spLocks noGrp="1"/>
          </p:cNvSpPr>
          <p:nvPr>
            <p:ph type="title"/>
          </p:nvPr>
        </p:nvSpPr>
        <p:spPr/>
        <p:txBody>
          <a:bodyPr>
            <a:normAutofit fontScale="90000"/>
          </a:bodyPr>
          <a:lstStyle/>
          <a:p>
            <a:r>
              <a:rPr lang="en-US" altLang="ko-KR" dirty="0"/>
              <a:t>ASPICE(Automotive SPICE) </a:t>
            </a:r>
            <a:endParaRPr lang="ko-KR" altLang="en-US" dirty="0"/>
          </a:p>
        </p:txBody>
      </p:sp>
      <p:sp>
        <p:nvSpPr>
          <p:cNvPr id="3" name="내용 개체 틀 2">
            <a:extLst>
              <a:ext uri="{FF2B5EF4-FFF2-40B4-BE49-F238E27FC236}">
                <a16:creationId xmlns:a16="http://schemas.microsoft.com/office/drawing/2014/main" id="{4E319F2D-F75B-B4A2-AA1F-920383A6D327}"/>
              </a:ext>
            </a:extLst>
          </p:cNvPr>
          <p:cNvSpPr>
            <a:spLocks noGrp="1"/>
          </p:cNvSpPr>
          <p:nvPr>
            <p:ph idx="1"/>
          </p:nvPr>
        </p:nvSpPr>
        <p:spPr>
          <a:xfrm>
            <a:off x="756558" y="820172"/>
            <a:ext cx="6137302" cy="4968694"/>
          </a:xfrm>
        </p:spPr>
        <p:txBody>
          <a:bodyPr>
            <a:normAutofit/>
          </a:bodyPr>
          <a:lstStyle/>
          <a:p>
            <a:r>
              <a:rPr lang="en-US" altLang="ko-KR" sz="2000" dirty="0"/>
              <a:t>Automotive SPICE(Software Process Improvement and Capability Determination)</a:t>
            </a:r>
          </a:p>
          <a:p>
            <a:pPr lvl="1"/>
            <a:r>
              <a:rPr lang="en-US" altLang="ko-KR" sz="1800" dirty="0"/>
              <a:t>The Automotive SPICE </a:t>
            </a:r>
            <a:r>
              <a:rPr lang="en-US" altLang="ko-KR" sz="1800" b="1" dirty="0"/>
              <a:t>Process Assessment Model (PAM) </a:t>
            </a:r>
            <a:r>
              <a:rPr lang="en-US" altLang="ko-KR" sz="1800" dirty="0"/>
              <a:t>has been developed by consensus of the car manufacturers within the Automotive Special Interest Group (SIG) of the joint Procurement Forum / SPICE User Group under the Automotive SPICE initiative. The Automotive SPICE Process Assessment Model (PAM) is available for use when performing conformant assessments of the software process capability of automotive suppliers in accordance with the requirements of ISO/IEC 15504-2. The Automotive SPICE </a:t>
            </a:r>
            <a:r>
              <a:rPr lang="en-US" altLang="ko-KR" sz="1800" b="1" dirty="0"/>
              <a:t>Process Reference Model (PRM) </a:t>
            </a:r>
            <a:r>
              <a:rPr lang="en-US" altLang="ko-KR" sz="1800" dirty="0"/>
              <a:t>is used in conjunction with the Automotive SPICE Process Assessment Model (PAM) when performing an assessment</a:t>
            </a:r>
          </a:p>
          <a:p>
            <a:pPr lvl="1"/>
            <a:r>
              <a:rPr lang="en-US" altLang="ko-KR" sz="1800" dirty="0"/>
              <a:t>The Automotive SPICE Process Reference Model (PRM), which is defined in a separate document, is derived from Annex F and H of ISO/IEC 12207 AMD1: 2002 and ISO/IEC 12207 AMD2: 2004..</a:t>
            </a:r>
          </a:p>
          <a:p>
            <a:endParaRPr lang="ko-KR" altLang="en-US" sz="2000" dirty="0"/>
          </a:p>
        </p:txBody>
      </p:sp>
      <p:sp>
        <p:nvSpPr>
          <p:cNvPr id="4" name="날짜 개체 틀 3">
            <a:extLst>
              <a:ext uri="{FF2B5EF4-FFF2-40B4-BE49-F238E27FC236}">
                <a16:creationId xmlns:a16="http://schemas.microsoft.com/office/drawing/2014/main" id="{36955C2A-5EDD-4203-F826-8557533C45E5}"/>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3FC676BD-24E2-16A2-DD66-643BCCCF6524}"/>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3B375D24-D682-58B4-F232-0CA86004ED3F}"/>
              </a:ext>
            </a:extLst>
          </p:cNvPr>
          <p:cNvSpPr>
            <a:spLocks noGrp="1"/>
          </p:cNvSpPr>
          <p:nvPr>
            <p:ph type="sldNum" sz="quarter" idx="12"/>
          </p:nvPr>
        </p:nvSpPr>
        <p:spPr/>
        <p:txBody>
          <a:bodyPr/>
          <a:lstStyle/>
          <a:p>
            <a:fld id="{55635D17-9D19-4B1E-86C2-B9D6296E4AF7}" type="slidenum">
              <a:rPr lang="en-US" smtClean="0"/>
              <a:pPr/>
              <a:t>38</a:t>
            </a:fld>
            <a:endParaRPr lang="en-US" dirty="0"/>
          </a:p>
        </p:txBody>
      </p:sp>
      <p:pic>
        <p:nvPicPr>
          <p:cNvPr id="21" name="그림 20">
            <a:extLst>
              <a:ext uri="{FF2B5EF4-FFF2-40B4-BE49-F238E27FC236}">
                <a16:creationId xmlns:a16="http://schemas.microsoft.com/office/drawing/2014/main" id="{1850BCB5-DCB8-0181-7B7C-9912CE2EE074}"/>
              </a:ext>
            </a:extLst>
          </p:cNvPr>
          <p:cNvPicPr>
            <a:picLocks noChangeAspect="1"/>
          </p:cNvPicPr>
          <p:nvPr/>
        </p:nvPicPr>
        <p:blipFill>
          <a:blip r:embed="rId2"/>
          <a:stretch>
            <a:fillRect/>
          </a:stretch>
        </p:blipFill>
        <p:spPr>
          <a:xfrm>
            <a:off x="7008940" y="521632"/>
            <a:ext cx="4852837" cy="5383235"/>
          </a:xfrm>
          <a:prstGeom prst="rect">
            <a:avLst/>
          </a:prstGeom>
        </p:spPr>
      </p:pic>
    </p:spTree>
    <p:extLst>
      <p:ext uri="{BB962C8B-B14F-4D97-AF65-F5344CB8AC3E}">
        <p14:creationId xmlns:p14="http://schemas.microsoft.com/office/powerpoint/2010/main" val="2397124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6810D-C631-50CB-967A-DA86B3B86FBB}"/>
              </a:ext>
            </a:extLst>
          </p:cNvPr>
          <p:cNvSpPr>
            <a:spLocks noGrp="1"/>
          </p:cNvSpPr>
          <p:nvPr>
            <p:ph type="title"/>
          </p:nvPr>
        </p:nvSpPr>
        <p:spPr/>
        <p:txBody>
          <a:bodyPr>
            <a:normAutofit fontScale="90000"/>
          </a:bodyPr>
          <a:lstStyle/>
          <a:p>
            <a:r>
              <a:rPr lang="en-US" altLang="ko-KR" dirty="0"/>
              <a:t>Functional Safety</a:t>
            </a:r>
            <a:endParaRPr lang="ko-KR" altLang="en-US" dirty="0"/>
          </a:p>
        </p:txBody>
      </p:sp>
      <p:sp>
        <p:nvSpPr>
          <p:cNvPr id="3" name="내용 개체 틀 2">
            <a:extLst>
              <a:ext uri="{FF2B5EF4-FFF2-40B4-BE49-F238E27FC236}">
                <a16:creationId xmlns:a16="http://schemas.microsoft.com/office/drawing/2014/main" id="{8DE3F3E8-28FB-0B10-A921-4BE9364A7552}"/>
              </a:ext>
            </a:extLst>
          </p:cNvPr>
          <p:cNvSpPr>
            <a:spLocks noGrp="1"/>
          </p:cNvSpPr>
          <p:nvPr>
            <p:ph idx="1"/>
          </p:nvPr>
        </p:nvSpPr>
        <p:spPr/>
        <p:txBody>
          <a:bodyPr>
            <a:normAutofit/>
          </a:bodyPr>
          <a:lstStyle/>
          <a:p>
            <a:r>
              <a:rPr lang="en-US" altLang="ko-KR" sz="2400" dirty="0"/>
              <a:t>Double V-Cycle for Functional Safety</a:t>
            </a:r>
          </a:p>
          <a:p>
            <a:pPr lvl="1"/>
            <a:r>
              <a:rPr lang="ko-KR" altLang="en-US" sz="2000" dirty="0"/>
              <a:t>차량의 안전을 확보하기 위한 </a:t>
            </a:r>
            <a:r>
              <a:rPr lang="en-US" altLang="ko-KR" sz="2000" dirty="0"/>
              <a:t>Process</a:t>
            </a:r>
          </a:p>
          <a:p>
            <a:pPr lvl="1"/>
            <a:r>
              <a:rPr lang="en-US" altLang="ko-KR" sz="2000" dirty="0"/>
              <a:t>ISO 26262 </a:t>
            </a:r>
            <a:r>
              <a:rPr lang="en-US" altLang="ko-KR" sz="2000" dirty="0">
                <a:sym typeface="Wingdings" panose="05000000000000000000" pitchFamily="2" charset="2"/>
              </a:rPr>
              <a:t> </a:t>
            </a:r>
            <a:r>
              <a:rPr lang="en-US" altLang="ko-KR" sz="2000" dirty="0"/>
              <a:t>ASIL (Automotive Safety Integrity Level) A ~ D</a:t>
            </a:r>
          </a:p>
          <a:p>
            <a:pPr lvl="1"/>
            <a:r>
              <a:rPr lang="en-US" altLang="ko-KR" sz="2000" dirty="0"/>
              <a:t>SDV</a:t>
            </a:r>
            <a:r>
              <a:rPr lang="ko-KR" altLang="en-US" sz="2000" dirty="0"/>
              <a:t> 를 위해 </a:t>
            </a:r>
            <a:r>
              <a:rPr lang="en-US" altLang="ko-KR" sz="2000" dirty="0"/>
              <a:t>Cybersecurity </a:t>
            </a:r>
            <a:r>
              <a:rPr lang="ko-KR" altLang="en-US" sz="2000" dirty="0"/>
              <a:t>추가 </a:t>
            </a:r>
            <a:r>
              <a:rPr lang="en-US" altLang="ko-KR" sz="2000" dirty="0">
                <a:sym typeface="Wingdings" panose="05000000000000000000" pitchFamily="2" charset="2"/>
              </a:rPr>
              <a:t> Triple V-Cycle</a:t>
            </a:r>
            <a:endParaRPr lang="en-US" altLang="ko-KR" sz="2000" dirty="0"/>
          </a:p>
          <a:p>
            <a:endParaRPr lang="ko-KR" altLang="en-US" sz="2400" dirty="0"/>
          </a:p>
        </p:txBody>
      </p:sp>
      <p:sp>
        <p:nvSpPr>
          <p:cNvPr id="4" name="날짜 개체 틀 3">
            <a:extLst>
              <a:ext uri="{FF2B5EF4-FFF2-40B4-BE49-F238E27FC236}">
                <a16:creationId xmlns:a16="http://schemas.microsoft.com/office/drawing/2014/main" id="{AA72FD05-8CDB-950F-8AFA-DE480D407D58}"/>
              </a:ext>
            </a:extLst>
          </p:cNvPr>
          <p:cNvSpPr>
            <a:spLocks noGrp="1"/>
          </p:cNvSpPr>
          <p:nvPr>
            <p:ph type="dt" sz="half" idx="10"/>
          </p:nvPr>
        </p:nvSpPr>
        <p:spPr/>
        <p:txBody>
          <a:bodyPr/>
          <a:lstStyle/>
          <a:p>
            <a:fld id="{9539328B-81D7-470F-B07E-C60C8A68D98A}" type="datetime1">
              <a:rPr lang="en-US" altLang="ko-KR" smtClean="0"/>
              <a:t>3/25/2026</a:t>
            </a:fld>
            <a:endParaRPr lang="en-US"/>
          </a:p>
        </p:txBody>
      </p:sp>
      <p:sp>
        <p:nvSpPr>
          <p:cNvPr id="5" name="바닥글 개체 틀 4">
            <a:extLst>
              <a:ext uri="{FF2B5EF4-FFF2-40B4-BE49-F238E27FC236}">
                <a16:creationId xmlns:a16="http://schemas.microsoft.com/office/drawing/2014/main" id="{D11CDADF-EE38-0506-1E54-22BABC82D341}"/>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1F51A9CE-8A6E-46C2-17BA-E8CA695559DA}"/>
              </a:ext>
            </a:extLst>
          </p:cNvPr>
          <p:cNvSpPr>
            <a:spLocks noGrp="1"/>
          </p:cNvSpPr>
          <p:nvPr>
            <p:ph type="sldNum" sz="quarter" idx="12"/>
          </p:nvPr>
        </p:nvSpPr>
        <p:spPr/>
        <p:txBody>
          <a:bodyPr/>
          <a:lstStyle/>
          <a:p>
            <a:fld id="{55635D17-9D19-4B1E-86C2-B9D6296E4AF7}" type="slidenum">
              <a:rPr lang="en-US" smtClean="0"/>
              <a:pPr/>
              <a:t>39</a:t>
            </a:fld>
            <a:endParaRPr lang="en-US" dirty="0"/>
          </a:p>
        </p:txBody>
      </p:sp>
      <p:pic>
        <p:nvPicPr>
          <p:cNvPr id="7172" name="Picture 4" descr="ISO26262 Archives Semiconductor Engineering">
            <a:extLst>
              <a:ext uri="{FF2B5EF4-FFF2-40B4-BE49-F238E27FC236}">
                <a16:creationId xmlns:a16="http://schemas.microsoft.com/office/drawing/2014/main" id="{E86741F1-7A0B-2562-6EEC-E0FA304B0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398" y="2272205"/>
            <a:ext cx="6882066" cy="37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125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F3C119-FD72-381C-7B45-A5864829DED1}"/>
              </a:ext>
            </a:extLst>
          </p:cNvPr>
          <p:cNvSpPr>
            <a:spLocks noGrp="1"/>
          </p:cNvSpPr>
          <p:nvPr>
            <p:ph type="ctrTitle"/>
          </p:nvPr>
        </p:nvSpPr>
        <p:spPr/>
        <p:txBody>
          <a:bodyPr>
            <a:normAutofit fontScale="90000"/>
          </a:bodyPr>
          <a:lstStyle/>
          <a:p>
            <a:r>
              <a:rPr lang="en-US" altLang="ko-KR" dirty="0"/>
              <a:t>Thank you for Attention</a:t>
            </a:r>
            <a:endParaRPr lang="ko-KR" altLang="en-US" dirty="0"/>
          </a:p>
        </p:txBody>
      </p:sp>
      <p:sp>
        <p:nvSpPr>
          <p:cNvPr id="3" name="부제목 2">
            <a:extLst>
              <a:ext uri="{FF2B5EF4-FFF2-40B4-BE49-F238E27FC236}">
                <a16:creationId xmlns:a16="http://schemas.microsoft.com/office/drawing/2014/main" id="{B239DF30-6CE6-5B24-A93C-DB87D43D3472}"/>
              </a:ext>
            </a:extLst>
          </p:cNvPr>
          <p:cNvSpPr>
            <a:spLocks noGrp="1"/>
          </p:cNvSpPr>
          <p:nvPr>
            <p:ph type="subTitle" idx="1"/>
          </p:nvPr>
        </p:nvSpPr>
        <p:spPr/>
        <p:txBody>
          <a:bodyPr>
            <a:normAutofit/>
          </a:bodyPr>
          <a:lstStyle/>
          <a:p>
            <a:r>
              <a:rPr lang="en-US" altLang="ko-KR" sz="6000" dirty="0"/>
              <a:t>Q &amp; A</a:t>
            </a:r>
            <a:endParaRPr lang="ko-KR" altLang="en-US" sz="6000" dirty="0"/>
          </a:p>
        </p:txBody>
      </p:sp>
      <p:sp>
        <p:nvSpPr>
          <p:cNvPr id="4" name="날짜 개체 틀 3">
            <a:extLst>
              <a:ext uri="{FF2B5EF4-FFF2-40B4-BE49-F238E27FC236}">
                <a16:creationId xmlns:a16="http://schemas.microsoft.com/office/drawing/2014/main" id="{D3FBEE31-68DA-2D9B-BF3B-467F273600EF}"/>
              </a:ext>
            </a:extLst>
          </p:cNvPr>
          <p:cNvSpPr>
            <a:spLocks noGrp="1"/>
          </p:cNvSpPr>
          <p:nvPr>
            <p:ph type="dt" sz="half" idx="10"/>
          </p:nvPr>
        </p:nvSpPr>
        <p:spPr/>
        <p:txBody>
          <a:bodyPr/>
          <a:lstStyle/>
          <a:p>
            <a:fld id="{403539CC-A984-43CF-A1AB-B2D79FDF199E}" type="datetime1">
              <a:rPr lang="en-US" altLang="ko-KR" smtClean="0"/>
              <a:t>3/25/2026</a:t>
            </a:fld>
            <a:endParaRPr lang="en-US" dirty="0"/>
          </a:p>
        </p:txBody>
      </p:sp>
      <p:sp>
        <p:nvSpPr>
          <p:cNvPr id="5" name="바닥글 개체 틀 4">
            <a:extLst>
              <a:ext uri="{FF2B5EF4-FFF2-40B4-BE49-F238E27FC236}">
                <a16:creationId xmlns:a16="http://schemas.microsoft.com/office/drawing/2014/main" id="{2AC62E0C-4F92-40A3-B653-FBE11E73BA24}"/>
              </a:ext>
            </a:extLst>
          </p:cNvPr>
          <p:cNvSpPr>
            <a:spLocks noGrp="1"/>
          </p:cNvSpPr>
          <p:nvPr>
            <p:ph type="ftr" sz="quarter" idx="11"/>
          </p:nvPr>
        </p:nvSpPr>
        <p:spPr/>
        <p:txBody>
          <a:bodyPr/>
          <a:lstStyle/>
          <a:p>
            <a:r>
              <a:rPr lang="en-US"/>
              <a:t>2023 Copyright ⓒ Autonomous Vehicle Lab</a:t>
            </a:r>
            <a:endParaRPr lang="en-US" dirty="0"/>
          </a:p>
        </p:txBody>
      </p:sp>
    </p:spTree>
    <p:extLst>
      <p:ext uri="{BB962C8B-B14F-4D97-AF65-F5344CB8AC3E}">
        <p14:creationId xmlns:p14="http://schemas.microsoft.com/office/powerpoint/2010/main" val="427069424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VL PPT Template 20230825" id="{4D6343C7-50D9-6B4B-85E6-E597BE3B7908}" vid="{4EF1CB53-9F52-CF4D-8F1D-B194FC3BEBD5}"/>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ToD 기술동향_인하대 강연</Template>
  <TotalTime>1710</TotalTime>
  <Words>1993</Words>
  <Application>Microsoft Office PowerPoint</Application>
  <PresentationFormat>와이드스크린</PresentationFormat>
  <Paragraphs>296</Paragraphs>
  <Slides>40</Slides>
  <Notes>0</Notes>
  <HiddenSlides>0</HiddenSlides>
  <MMClips>1</MMClips>
  <ScaleCrop>false</ScaleCrop>
  <HeadingPairs>
    <vt:vector size="8" baseType="variant">
      <vt:variant>
        <vt:lpstr>사용한 글꼴</vt:lpstr>
      </vt:variant>
      <vt:variant>
        <vt:i4>6</vt:i4>
      </vt:variant>
      <vt:variant>
        <vt:lpstr>테마</vt:lpstr>
      </vt:variant>
      <vt:variant>
        <vt:i4>1</vt:i4>
      </vt:variant>
      <vt:variant>
        <vt:lpstr>포함된 OLE 서버</vt:lpstr>
      </vt:variant>
      <vt:variant>
        <vt:i4>2</vt:i4>
      </vt:variant>
      <vt:variant>
        <vt:lpstr>슬라이드 제목</vt:lpstr>
      </vt:variant>
      <vt:variant>
        <vt:i4>40</vt:i4>
      </vt:variant>
    </vt:vector>
  </HeadingPairs>
  <TitlesOfParts>
    <vt:vector size="49" baseType="lpstr">
      <vt:lpstr>Chungbuk National University</vt:lpstr>
      <vt:lpstr>굴림</vt:lpstr>
      <vt:lpstr>Arial</vt:lpstr>
      <vt:lpstr>Calibri</vt:lpstr>
      <vt:lpstr>Calibri Light</vt:lpstr>
      <vt:lpstr>Wingdings</vt:lpstr>
      <vt:lpstr>Office 테마</vt:lpstr>
      <vt:lpstr>Acrobat Document</vt:lpstr>
      <vt:lpstr>Presentation</vt:lpstr>
      <vt:lpstr>자율주행이동체 실제 (4. Vehicle &amp; E/E Development Process)</vt:lpstr>
      <vt:lpstr>Contents</vt:lpstr>
      <vt:lpstr>Process의 필요성</vt:lpstr>
      <vt:lpstr>Process 개요</vt:lpstr>
      <vt:lpstr>기획 단계</vt:lpstr>
      <vt:lpstr>선행개발 단계</vt:lpstr>
      <vt:lpstr>Design 단계</vt:lpstr>
      <vt:lpstr>BMW 디자인</vt:lpstr>
      <vt:lpstr>Mass Production Process</vt:lpstr>
      <vt:lpstr>Model Fix</vt:lpstr>
      <vt:lpstr>Proto</vt:lpstr>
      <vt:lpstr>Pilot 1 </vt:lpstr>
      <vt:lpstr>Pilot 2</vt:lpstr>
      <vt:lpstr>SOP</vt:lpstr>
      <vt:lpstr>전장 부품이 반영된 Process  </vt:lpstr>
      <vt:lpstr>V-Cycle</vt:lpstr>
      <vt:lpstr>What is System</vt:lpstr>
      <vt:lpstr>Vehicle level System</vt:lpstr>
      <vt:lpstr>차량과 전장 개발 프로세스</vt:lpstr>
      <vt:lpstr>협업 관리</vt:lpstr>
      <vt:lpstr>System Requirements</vt:lpstr>
      <vt:lpstr>System Requirements</vt:lpstr>
      <vt:lpstr>System Architecture Design</vt:lpstr>
      <vt:lpstr>Logical Architecture</vt:lpstr>
      <vt:lpstr>Technical Architecture</vt:lpstr>
      <vt:lpstr>System Implementation</vt:lpstr>
      <vt:lpstr>SW Architecture Design</vt:lpstr>
      <vt:lpstr>SW Unit Implementation</vt:lpstr>
      <vt:lpstr>MISRA-C</vt:lpstr>
      <vt:lpstr>MISRA-C (example)</vt:lpstr>
      <vt:lpstr>SW Unit Validation </vt:lpstr>
      <vt:lpstr>SW Integration &amp; Validation</vt:lpstr>
      <vt:lpstr>System Integration &amp; Validation</vt:lpstr>
      <vt:lpstr>System Release</vt:lpstr>
      <vt:lpstr>Support &amp; management Process</vt:lpstr>
      <vt:lpstr>Quality Management</vt:lpstr>
      <vt:lpstr>CMMI</vt:lpstr>
      <vt:lpstr>ASPICE(Automotive SPICE) </vt:lpstr>
      <vt:lpstr>Functional Safety</vt:lpstr>
      <vt:lpstr>Thank you for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Teleoperated Driving(ToD)</dc:title>
  <dc:creator>Seok-Cheol Kee</dc:creator>
  <cp:lastModifiedBy>기석철</cp:lastModifiedBy>
  <cp:revision>111</cp:revision>
  <dcterms:created xsi:type="dcterms:W3CDTF">2023-09-28T08:32:26Z</dcterms:created>
  <dcterms:modified xsi:type="dcterms:W3CDTF">2026-03-25T04:41:06Z</dcterms:modified>
</cp:coreProperties>
</file>