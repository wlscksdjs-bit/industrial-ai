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2"/>
  </p:notesMasterIdLst>
  <p:sldIdLst>
    <p:sldId id="256" r:id="rId2"/>
    <p:sldId id="260" r:id="rId3"/>
    <p:sldId id="291" r:id="rId4"/>
    <p:sldId id="292" r:id="rId5"/>
    <p:sldId id="293" r:id="rId6"/>
    <p:sldId id="296" r:id="rId7"/>
    <p:sldId id="297" r:id="rId8"/>
    <p:sldId id="298" r:id="rId9"/>
    <p:sldId id="300" r:id="rId10"/>
    <p:sldId id="301" r:id="rId11"/>
    <p:sldId id="302" r:id="rId12"/>
    <p:sldId id="303" r:id="rId13"/>
    <p:sldId id="304" r:id="rId14"/>
    <p:sldId id="305" r:id="rId15"/>
    <p:sldId id="294" r:id="rId16"/>
    <p:sldId id="306" r:id="rId17"/>
    <p:sldId id="307" r:id="rId18"/>
    <p:sldId id="308" r:id="rId19"/>
    <p:sldId id="310" r:id="rId20"/>
    <p:sldId id="309" r:id="rId21"/>
    <p:sldId id="311" r:id="rId22"/>
    <p:sldId id="312" r:id="rId23"/>
    <p:sldId id="313" r:id="rId24"/>
    <p:sldId id="314" r:id="rId25"/>
    <p:sldId id="315" r:id="rId26"/>
    <p:sldId id="316" r:id="rId27"/>
    <p:sldId id="321" r:id="rId28"/>
    <p:sldId id="322" r:id="rId29"/>
    <p:sldId id="323" r:id="rId30"/>
    <p:sldId id="324" r:id="rId31"/>
    <p:sldId id="325" r:id="rId32"/>
    <p:sldId id="326" r:id="rId33"/>
    <p:sldId id="327" r:id="rId34"/>
    <p:sldId id="295" r:id="rId35"/>
    <p:sldId id="329" r:id="rId36"/>
    <p:sldId id="330" r:id="rId37"/>
    <p:sldId id="331" r:id="rId38"/>
    <p:sldId id="332" r:id="rId39"/>
    <p:sldId id="333" r:id="rId40"/>
    <p:sldId id="334" r:id="rId41"/>
    <p:sldId id="328" r:id="rId42"/>
    <p:sldId id="336" r:id="rId43"/>
    <p:sldId id="335" r:id="rId44"/>
    <p:sldId id="337" r:id="rId45"/>
    <p:sldId id="339" r:id="rId46"/>
    <p:sldId id="340" r:id="rId47"/>
    <p:sldId id="341" r:id="rId48"/>
    <p:sldId id="342" r:id="rId49"/>
    <p:sldId id="343" r:id="rId50"/>
    <p:sldId id="345" r:id="rId51"/>
    <p:sldId id="355" r:id="rId52"/>
    <p:sldId id="356" r:id="rId53"/>
    <p:sldId id="338" r:id="rId54"/>
    <p:sldId id="352" r:id="rId55"/>
    <p:sldId id="317" r:id="rId56"/>
    <p:sldId id="319" r:id="rId57"/>
    <p:sldId id="353" r:id="rId58"/>
    <p:sldId id="354" r:id="rId59"/>
    <p:sldId id="318" r:id="rId60"/>
    <p:sldId id="290" r:id="rId6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72654"/>
    <a:srgbClr val="02EBF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D540C0C-C21C-E045-B8C3-239DFA703933}" v="73" dt="2023-08-24T12:14:55.372"/>
  </p1510:revLst>
</p1510:revInfo>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82297" autoAdjust="0"/>
  </p:normalViewPr>
  <p:slideViewPr>
    <p:cSldViewPr snapToGrid="0">
      <p:cViewPr varScale="1">
        <p:scale>
          <a:sx n="107" d="100"/>
          <a:sy n="107" d="100"/>
        </p:scale>
        <p:origin x="672" y="120"/>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microsoft.com/office/2015/10/relationships/revisionInfo" Target="revisionInfo.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132CE4C-95C4-494A-B5AE-E71AEE35764F}" type="datetimeFigureOut">
              <a:rPr lang="en-US" smtClean="0"/>
              <a:t>4/12/2026</a:t>
            </a:fld>
            <a:endParaRPr lang="en-US"/>
          </a:p>
        </p:txBody>
      </p:sp>
      <p:sp>
        <p:nvSpPr>
          <p:cNvPr id="4" name="슬라이드 이미지 개체 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C413004-8050-43C5-BBC1-EEC5CF6D074E}" type="slidenum">
              <a:rPr lang="en-US" smtClean="0"/>
              <a:t>‹#›</a:t>
            </a:fld>
            <a:endParaRPr lang="en-US"/>
          </a:p>
        </p:txBody>
      </p:sp>
    </p:spTree>
    <p:extLst>
      <p:ext uri="{BB962C8B-B14F-4D97-AF65-F5344CB8AC3E}">
        <p14:creationId xmlns:p14="http://schemas.microsoft.com/office/powerpoint/2010/main" val="19465148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bg>
      <p:bgPr>
        <a:solidFill>
          <a:schemeClr val="bg1"/>
        </a:solidFill>
        <a:effectLst/>
      </p:bgPr>
    </p:bg>
    <p:spTree>
      <p:nvGrpSpPr>
        <p:cNvPr id="1" name=""/>
        <p:cNvGrpSpPr/>
        <p:nvPr/>
      </p:nvGrpSpPr>
      <p:grpSpPr>
        <a:xfrm>
          <a:off x="0" y="0"/>
          <a:ext cx="0" cy="0"/>
          <a:chOff x="0" y="0"/>
          <a:chExt cx="0" cy="0"/>
        </a:xfrm>
      </p:grpSpPr>
      <p:sp>
        <p:nvSpPr>
          <p:cNvPr id="7" name="평행 사변형 6">
            <a:extLst>
              <a:ext uri="{FF2B5EF4-FFF2-40B4-BE49-F238E27FC236}">
                <a16:creationId xmlns:a16="http://schemas.microsoft.com/office/drawing/2014/main" id="{DE4CDD50-5537-4DF1-14C1-1E2D5F241FBE}"/>
              </a:ext>
            </a:extLst>
          </p:cNvPr>
          <p:cNvSpPr/>
          <p:nvPr userDrawn="1"/>
        </p:nvSpPr>
        <p:spPr>
          <a:xfrm>
            <a:off x="-21450" y="0"/>
            <a:ext cx="10068965" cy="6868160"/>
          </a:xfrm>
          <a:custGeom>
            <a:avLst/>
            <a:gdLst>
              <a:gd name="connsiteX0" fmla="*/ 0 w 12921344"/>
              <a:gd name="connsiteY0" fmla="*/ 6858000 h 6858000"/>
              <a:gd name="connsiteX1" fmla="*/ 2852379 w 12921344"/>
              <a:gd name="connsiteY1" fmla="*/ 0 h 6858000"/>
              <a:gd name="connsiteX2" fmla="*/ 12921344 w 12921344"/>
              <a:gd name="connsiteY2" fmla="*/ 0 h 6858000"/>
              <a:gd name="connsiteX3" fmla="*/ 10068965 w 12921344"/>
              <a:gd name="connsiteY3" fmla="*/ 6858000 h 6858000"/>
              <a:gd name="connsiteX4" fmla="*/ 0 w 12921344"/>
              <a:gd name="connsiteY4" fmla="*/ 6858000 h 6858000"/>
              <a:gd name="connsiteX0" fmla="*/ 384307 w 10068965"/>
              <a:gd name="connsiteY0" fmla="*/ 6872514 h 6872514"/>
              <a:gd name="connsiteX1" fmla="*/ 0 w 10068965"/>
              <a:gd name="connsiteY1" fmla="*/ 0 h 6872514"/>
              <a:gd name="connsiteX2" fmla="*/ 10068965 w 10068965"/>
              <a:gd name="connsiteY2" fmla="*/ 0 h 6872514"/>
              <a:gd name="connsiteX3" fmla="*/ 7216586 w 10068965"/>
              <a:gd name="connsiteY3" fmla="*/ 6858000 h 6872514"/>
              <a:gd name="connsiteX4" fmla="*/ 384307 w 10068965"/>
              <a:gd name="connsiteY4" fmla="*/ 6872514 h 6872514"/>
              <a:gd name="connsiteX0" fmla="*/ 22902 w 10068965"/>
              <a:gd name="connsiteY0" fmla="*/ 6868160 h 6868160"/>
              <a:gd name="connsiteX1" fmla="*/ 0 w 10068965"/>
              <a:gd name="connsiteY1" fmla="*/ 0 h 6868160"/>
              <a:gd name="connsiteX2" fmla="*/ 10068965 w 10068965"/>
              <a:gd name="connsiteY2" fmla="*/ 0 h 6868160"/>
              <a:gd name="connsiteX3" fmla="*/ 7216586 w 10068965"/>
              <a:gd name="connsiteY3" fmla="*/ 6858000 h 6868160"/>
              <a:gd name="connsiteX4" fmla="*/ 22902 w 10068965"/>
              <a:gd name="connsiteY4" fmla="*/ 6868160 h 68681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68965" h="6868160">
                <a:moveTo>
                  <a:pt x="22902" y="6868160"/>
                </a:moveTo>
                <a:lnTo>
                  <a:pt x="0" y="0"/>
                </a:lnTo>
                <a:lnTo>
                  <a:pt x="10068965" y="0"/>
                </a:lnTo>
                <a:lnTo>
                  <a:pt x="7216586" y="6858000"/>
                </a:lnTo>
                <a:lnTo>
                  <a:pt x="22902" y="6868160"/>
                </a:lnTo>
                <a:close/>
              </a:path>
            </a:pathLst>
          </a:custGeom>
          <a:gradFill flip="none" rotWithShape="1">
            <a:gsLst>
              <a:gs pos="0">
                <a:schemeClr val="bg2">
                  <a:lumMod val="25000"/>
                  <a:shade val="30000"/>
                  <a:satMod val="115000"/>
                </a:schemeClr>
              </a:gs>
              <a:gs pos="50000">
                <a:schemeClr val="bg2">
                  <a:lumMod val="25000"/>
                  <a:shade val="67500"/>
                  <a:satMod val="115000"/>
                </a:schemeClr>
              </a:gs>
              <a:gs pos="100000">
                <a:schemeClr val="bg2">
                  <a:lumMod val="25000"/>
                  <a:shade val="100000"/>
                  <a:satMod val="115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제목 1">
            <a:extLst>
              <a:ext uri="{FF2B5EF4-FFF2-40B4-BE49-F238E27FC236}">
                <a16:creationId xmlns:a16="http://schemas.microsoft.com/office/drawing/2014/main" id="{7BA3774A-E868-88D7-FBB5-D8FDDB5DA9EE}"/>
              </a:ext>
            </a:extLst>
          </p:cNvPr>
          <p:cNvSpPr>
            <a:spLocks noGrp="1"/>
          </p:cNvSpPr>
          <p:nvPr>
            <p:ph type="ctrTitle"/>
          </p:nvPr>
        </p:nvSpPr>
        <p:spPr>
          <a:xfrm>
            <a:off x="108857" y="1407548"/>
            <a:ext cx="7173685" cy="1340630"/>
          </a:xfrm>
        </p:spPr>
        <p:txBody>
          <a:bodyPr anchor="b"/>
          <a:lstStyle>
            <a:lvl1pPr algn="ctr">
              <a:defRPr sz="6000">
                <a:solidFill>
                  <a:schemeClr val="bg1"/>
                </a:solidFill>
              </a:defRPr>
            </a:lvl1pPr>
          </a:lstStyle>
          <a:p>
            <a:r>
              <a:rPr lang="ko-KR" altLang="en-US"/>
              <a:t>마스터 제목 스타일 편집</a:t>
            </a:r>
            <a:endParaRPr lang="en-US" dirty="0"/>
          </a:p>
        </p:txBody>
      </p:sp>
      <p:sp>
        <p:nvSpPr>
          <p:cNvPr id="3" name="부제목 2">
            <a:extLst>
              <a:ext uri="{FF2B5EF4-FFF2-40B4-BE49-F238E27FC236}">
                <a16:creationId xmlns:a16="http://schemas.microsoft.com/office/drawing/2014/main" id="{4DA73DA5-7890-A51F-6FA3-3B1A6CA0CF04}"/>
              </a:ext>
            </a:extLst>
          </p:cNvPr>
          <p:cNvSpPr>
            <a:spLocks noGrp="1"/>
          </p:cNvSpPr>
          <p:nvPr>
            <p:ph type="subTitle" idx="1"/>
          </p:nvPr>
        </p:nvSpPr>
        <p:spPr>
          <a:xfrm>
            <a:off x="108858" y="3887223"/>
            <a:ext cx="3795486" cy="929705"/>
          </a:xfrm>
        </p:spPr>
        <p:txBody>
          <a:bodyPr>
            <a:normAutofit/>
          </a:bodyPr>
          <a:lstStyle>
            <a:lvl1pPr marL="0" indent="0" algn="ctr">
              <a:buNone/>
              <a:defRPr sz="4000" baseline="30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ko-KR" altLang="en-US"/>
              <a:t>클릭하여 마스터 부제목 스타일 편집</a:t>
            </a:r>
            <a:endParaRPr lang="en-US" dirty="0"/>
          </a:p>
        </p:txBody>
      </p:sp>
      <p:sp>
        <p:nvSpPr>
          <p:cNvPr id="4" name="날짜 개체 틀 3">
            <a:extLst>
              <a:ext uri="{FF2B5EF4-FFF2-40B4-BE49-F238E27FC236}">
                <a16:creationId xmlns:a16="http://schemas.microsoft.com/office/drawing/2014/main" id="{03EA0EA5-F501-AE3E-6AF3-768A3F6C211F}"/>
              </a:ext>
            </a:extLst>
          </p:cNvPr>
          <p:cNvSpPr>
            <a:spLocks noGrp="1"/>
          </p:cNvSpPr>
          <p:nvPr>
            <p:ph type="dt" sz="half" idx="10"/>
          </p:nvPr>
        </p:nvSpPr>
        <p:spPr/>
        <p:txBody>
          <a:bodyPr/>
          <a:lstStyle/>
          <a:p>
            <a:fld id="{403539CC-A984-43CF-A1AB-B2D79FDF199E}" type="datetime1">
              <a:rPr lang="en-US" altLang="ko-KR" smtClean="0"/>
              <a:t>4/12/2026</a:t>
            </a:fld>
            <a:endParaRPr lang="en-US" dirty="0"/>
          </a:p>
        </p:txBody>
      </p:sp>
      <p:sp>
        <p:nvSpPr>
          <p:cNvPr id="5" name="바닥글 개체 틀 4">
            <a:extLst>
              <a:ext uri="{FF2B5EF4-FFF2-40B4-BE49-F238E27FC236}">
                <a16:creationId xmlns:a16="http://schemas.microsoft.com/office/drawing/2014/main" id="{74C08EBE-82B6-5566-45E9-5156CC422DAC}"/>
              </a:ext>
            </a:extLst>
          </p:cNvPr>
          <p:cNvSpPr>
            <a:spLocks noGrp="1"/>
          </p:cNvSpPr>
          <p:nvPr>
            <p:ph type="ftr" sz="quarter" idx="11"/>
          </p:nvPr>
        </p:nvSpPr>
        <p:spPr/>
        <p:txBody>
          <a:bodyPr/>
          <a:lstStyle/>
          <a:p>
            <a:r>
              <a:rPr lang="en-US"/>
              <a:t>2023 Copyright ⓒ Autonomous Vehicle Lab</a:t>
            </a:r>
            <a:endParaRPr lang="en-US" dirty="0"/>
          </a:p>
        </p:txBody>
      </p:sp>
      <p:pic>
        <p:nvPicPr>
          <p:cNvPr id="14" name="그림 13" descr="텍스트, 클립아트이(가) 표시된 사진&#10;&#10;자동 생성된 설명">
            <a:extLst>
              <a:ext uri="{FF2B5EF4-FFF2-40B4-BE49-F238E27FC236}">
                <a16:creationId xmlns:a16="http://schemas.microsoft.com/office/drawing/2014/main" id="{7713B203-74E6-96A9-24D0-F13987C31F0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763332" y="5586125"/>
            <a:ext cx="1976252" cy="759622"/>
          </a:xfrm>
          <a:prstGeom prst="rect">
            <a:avLst/>
          </a:prstGeom>
        </p:spPr>
      </p:pic>
      <p:sp>
        <p:nvSpPr>
          <p:cNvPr id="19" name="평행 사변형 18">
            <a:extLst>
              <a:ext uri="{FF2B5EF4-FFF2-40B4-BE49-F238E27FC236}">
                <a16:creationId xmlns:a16="http://schemas.microsoft.com/office/drawing/2014/main" id="{7E53A931-DC2C-3C8D-14E6-BCAF0EDDDFB7}"/>
              </a:ext>
            </a:extLst>
          </p:cNvPr>
          <p:cNvSpPr/>
          <p:nvPr userDrawn="1"/>
        </p:nvSpPr>
        <p:spPr>
          <a:xfrm>
            <a:off x="7843157" y="-2445"/>
            <a:ext cx="4197804" cy="6862440"/>
          </a:xfrm>
          <a:custGeom>
            <a:avLst/>
            <a:gdLst>
              <a:gd name="connsiteX0" fmla="*/ 0 w 2999015"/>
              <a:gd name="connsiteY0" fmla="*/ 6878769 h 6878769"/>
              <a:gd name="connsiteX1" fmla="*/ 1974551 w 2999015"/>
              <a:gd name="connsiteY1" fmla="*/ 0 h 6878769"/>
              <a:gd name="connsiteX2" fmla="*/ 2999015 w 2999015"/>
              <a:gd name="connsiteY2" fmla="*/ 0 h 6878769"/>
              <a:gd name="connsiteX3" fmla="*/ 1024464 w 2999015"/>
              <a:gd name="connsiteY3" fmla="*/ 6878769 h 6878769"/>
              <a:gd name="connsiteX4" fmla="*/ 0 w 2999015"/>
              <a:gd name="connsiteY4" fmla="*/ 6878769 h 6878769"/>
              <a:gd name="connsiteX0" fmla="*/ 0 w 4131129"/>
              <a:gd name="connsiteY0" fmla="*/ 6878769 h 6878769"/>
              <a:gd name="connsiteX1" fmla="*/ 1974551 w 4131129"/>
              <a:gd name="connsiteY1" fmla="*/ 0 h 6878769"/>
              <a:gd name="connsiteX2" fmla="*/ 4131129 w 4131129"/>
              <a:gd name="connsiteY2" fmla="*/ 70757 h 6878769"/>
              <a:gd name="connsiteX3" fmla="*/ 1024464 w 4131129"/>
              <a:gd name="connsiteY3" fmla="*/ 6878769 h 6878769"/>
              <a:gd name="connsiteX4" fmla="*/ 0 w 4131129"/>
              <a:gd name="connsiteY4" fmla="*/ 6878769 h 6878769"/>
              <a:gd name="connsiteX0" fmla="*/ 0 w 4203246"/>
              <a:gd name="connsiteY0" fmla="*/ 6878769 h 6878769"/>
              <a:gd name="connsiteX1" fmla="*/ 1974551 w 4203246"/>
              <a:gd name="connsiteY1" fmla="*/ 0 h 6878769"/>
              <a:gd name="connsiteX2" fmla="*/ 4203246 w 4203246"/>
              <a:gd name="connsiteY2" fmla="*/ 8164 h 6878769"/>
              <a:gd name="connsiteX3" fmla="*/ 1024464 w 4203246"/>
              <a:gd name="connsiteY3" fmla="*/ 6878769 h 6878769"/>
              <a:gd name="connsiteX4" fmla="*/ 0 w 4203246"/>
              <a:gd name="connsiteY4" fmla="*/ 6878769 h 6878769"/>
              <a:gd name="connsiteX0" fmla="*/ 0 w 4203246"/>
              <a:gd name="connsiteY0" fmla="*/ 6870605 h 6870605"/>
              <a:gd name="connsiteX1" fmla="*/ 3004612 w 4203246"/>
              <a:gd name="connsiteY1" fmla="*/ 63954 h 6870605"/>
              <a:gd name="connsiteX2" fmla="*/ 4203246 w 4203246"/>
              <a:gd name="connsiteY2" fmla="*/ 0 h 6870605"/>
              <a:gd name="connsiteX3" fmla="*/ 1024464 w 4203246"/>
              <a:gd name="connsiteY3" fmla="*/ 6870605 h 6870605"/>
              <a:gd name="connsiteX4" fmla="*/ 0 w 4203246"/>
              <a:gd name="connsiteY4" fmla="*/ 6870605 h 6870605"/>
              <a:gd name="connsiteX0" fmla="*/ 0 w 4203246"/>
              <a:gd name="connsiteY0" fmla="*/ 6870605 h 6870605"/>
              <a:gd name="connsiteX1" fmla="*/ 2864459 w 4203246"/>
              <a:gd name="connsiteY1" fmla="*/ 1361 h 6870605"/>
              <a:gd name="connsiteX2" fmla="*/ 4203246 w 4203246"/>
              <a:gd name="connsiteY2" fmla="*/ 0 h 6870605"/>
              <a:gd name="connsiteX3" fmla="*/ 1024464 w 4203246"/>
              <a:gd name="connsiteY3" fmla="*/ 6870605 h 6870605"/>
              <a:gd name="connsiteX4" fmla="*/ 0 w 4203246"/>
              <a:gd name="connsiteY4" fmla="*/ 6870605 h 6870605"/>
              <a:gd name="connsiteX0" fmla="*/ 0 w 4203246"/>
              <a:gd name="connsiteY0" fmla="*/ 6870605 h 6870605"/>
              <a:gd name="connsiteX1" fmla="*/ 2864459 w 4203246"/>
              <a:gd name="connsiteY1" fmla="*/ 1361 h 6870605"/>
              <a:gd name="connsiteX2" fmla="*/ 4203246 w 4203246"/>
              <a:gd name="connsiteY2" fmla="*/ 0 h 6870605"/>
              <a:gd name="connsiteX3" fmla="*/ 1443564 w 4203246"/>
              <a:gd name="connsiteY3" fmla="*/ 6862440 h 6870605"/>
              <a:gd name="connsiteX4" fmla="*/ 0 w 4203246"/>
              <a:gd name="connsiteY4" fmla="*/ 6870605 h 6870605"/>
              <a:gd name="connsiteX0" fmla="*/ 0 w 4151539"/>
              <a:gd name="connsiteY0" fmla="*/ 6843391 h 6862440"/>
              <a:gd name="connsiteX1" fmla="*/ 2812752 w 4151539"/>
              <a:gd name="connsiteY1" fmla="*/ 1361 h 6862440"/>
              <a:gd name="connsiteX2" fmla="*/ 4151539 w 4151539"/>
              <a:gd name="connsiteY2" fmla="*/ 0 h 6862440"/>
              <a:gd name="connsiteX3" fmla="*/ 1391857 w 4151539"/>
              <a:gd name="connsiteY3" fmla="*/ 6862440 h 6862440"/>
              <a:gd name="connsiteX4" fmla="*/ 0 w 4151539"/>
              <a:gd name="connsiteY4" fmla="*/ 6843391 h 6862440"/>
              <a:gd name="connsiteX0" fmla="*/ 0 w 4197804"/>
              <a:gd name="connsiteY0" fmla="*/ 6859719 h 6862440"/>
              <a:gd name="connsiteX1" fmla="*/ 2859017 w 4197804"/>
              <a:gd name="connsiteY1" fmla="*/ 1361 h 6862440"/>
              <a:gd name="connsiteX2" fmla="*/ 4197804 w 4197804"/>
              <a:gd name="connsiteY2" fmla="*/ 0 h 6862440"/>
              <a:gd name="connsiteX3" fmla="*/ 1438122 w 4197804"/>
              <a:gd name="connsiteY3" fmla="*/ 6862440 h 6862440"/>
              <a:gd name="connsiteX4" fmla="*/ 0 w 4197804"/>
              <a:gd name="connsiteY4" fmla="*/ 6859719 h 68624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97804" h="6862440">
                <a:moveTo>
                  <a:pt x="0" y="6859719"/>
                </a:moveTo>
                <a:lnTo>
                  <a:pt x="2859017" y="1361"/>
                </a:lnTo>
                <a:lnTo>
                  <a:pt x="4197804" y="0"/>
                </a:lnTo>
                <a:lnTo>
                  <a:pt x="1438122" y="6862440"/>
                </a:lnTo>
                <a:lnTo>
                  <a:pt x="0" y="6859719"/>
                </a:lnTo>
                <a:close/>
              </a:path>
            </a:pathLst>
          </a:custGeom>
          <a:solidFill>
            <a:srgbClr val="B726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145132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1_제목 슬라이드">
    <p:bg>
      <p:bgPr>
        <a:solidFill>
          <a:schemeClr val="bg1"/>
        </a:solidFill>
        <a:effectLst/>
      </p:bgPr>
    </p:bg>
    <p:spTree>
      <p:nvGrpSpPr>
        <p:cNvPr id="1" name=""/>
        <p:cNvGrpSpPr/>
        <p:nvPr/>
      </p:nvGrpSpPr>
      <p:grpSpPr>
        <a:xfrm>
          <a:off x="0" y="0"/>
          <a:ext cx="0" cy="0"/>
          <a:chOff x="0" y="0"/>
          <a:chExt cx="0" cy="0"/>
        </a:xfrm>
      </p:grpSpPr>
      <p:sp>
        <p:nvSpPr>
          <p:cNvPr id="7" name="평행 사변형 6">
            <a:extLst>
              <a:ext uri="{FF2B5EF4-FFF2-40B4-BE49-F238E27FC236}">
                <a16:creationId xmlns:a16="http://schemas.microsoft.com/office/drawing/2014/main" id="{DE4CDD50-5537-4DF1-14C1-1E2D5F241FBE}"/>
              </a:ext>
            </a:extLst>
          </p:cNvPr>
          <p:cNvSpPr/>
          <p:nvPr userDrawn="1"/>
        </p:nvSpPr>
        <p:spPr>
          <a:xfrm>
            <a:off x="-21450" y="0"/>
            <a:ext cx="10068965" cy="6868160"/>
          </a:xfrm>
          <a:custGeom>
            <a:avLst/>
            <a:gdLst>
              <a:gd name="connsiteX0" fmla="*/ 0 w 12921344"/>
              <a:gd name="connsiteY0" fmla="*/ 6858000 h 6858000"/>
              <a:gd name="connsiteX1" fmla="*/ 2852379 w 12921344"/>
              <a:gd name="connsiteY1" fmla="*/ 0 h 6858000"/>
              <a:gd name="connsiteX2" fmla="*/ 12921344 w 12921344"/>
              <a:gd name="connsiteY2" fmla="*/ 0 h 6858000"/>
              <a:gd name="connsiteX3" fmla="*/ 10068965 w 12921344"/>
              <a:gd name="connsiteY3" fmla="*/ 6858000 h 6858000"/>
              <a:gd name="connsiteX4" fmla="*/ 0 w 12921344"/>
              <a:gd name="connsiteY4" fmla="*/ 6858000 h 6858000"/>
              <a:gd name="connsiteX0" fmla="*/ 384307 w 10068965"/>
              <a:gd name="connsiteY0" fmla="*/ 6872514 h 6872514"/>
              <a:gd name="connsiteX1" fmla="*/ 0 w 10068965"/>
              <a:gd name="connsiteY1" fmla="*/ 0 h 6872514"/>
              <a:gd name="connsiteX2" fmla="*/ 10068965 w 10068965"/>
              <a:gd name="connsiteY2" fmla="*/ 0 h 6872514"/>
              <a:gd name="connsiteX3" fmla="*/ 7216586 w 10068965"/>
              <a:gd name="connsiteY3" fmla="*/ 6858000 h 6872514"/>
              <a:gd name="connsiteX4" fmla="*/ 384307 w 10068965"/>
              <a:gd name="connsiteY4" fmla="*/ 6872514 h 6872514"/>
              <a:gd name="connsiteX0" fmla="*/ 22902 w 10068965"/>
              <a:gd name="connsiteY0" fmla="*/ 6868160 h 6868160"/>
              <a:gd name="connsiteX1" fmla="*/ 0 w 10068965"/>
              <a:gd name="connsiteY1" fmla="*/ 0 h 6868160"/>
              <a:gd name="connsiteX2" fmla="*/ 10068965 w 10068965"/>
              <a:gd name="connsiteY2" fmla="*/ 0 h 6868160"/>
              <a:gd name="connsiteX3" fmla="*/ 7216586 w 10068965"/>
              <a:gd name="connsiteY3" fmla="*/ 6858000 h 6868160"/>
              <a:gd name="connsiteX4" fmla="*/ 22902 w 10068965"/>
              <a:gd name="connsiteY4" fmla="*/ 6868160 h 68681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68965" h="6868160">
                <a:moveTo>
                  <a:pt x="22902" y="6868160"/>
                </a:moveTo>
                <a:lnTo>
                  <a:pt x="0" y="0"/>
                </a:lnTo>
                <a:lnTo>
                  <a:pt x="10068965" y="0"/>
                </a:lnTo>
                <a:lnTo>
                  <a:pt x="7216586" y="6858000"/>
                </a:lnTo>
                <a:lnTo>
                  <a:pt x="22902" y="6868160"/>
                </a:lnTo>
                <a:close/>
              </a:path>
            </a:pathLst>
          </a:custGeom>
          <a:gradFill flip="none" rotWithShape="1">
            <a:gsLst>
              <a:gs pos="0">
                <a:schemeClr val="bg2">
                  <a:lumMod val="25000"/>
                </a:schemeClr>
              </a:gs>
              <a:gs pos="71000">
                <a:schemeClr val="bg2">
                  <a:lumMod val="10000"/>
                </a:schemeClr>
              </a:gs>
              <a:gs pos="100000">
                <a:srgbClr val="B72654">
                  <a:lumMod val="6100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제목 1">
            <a:extLst>
              <a:ext uri="{FF2B5EF4-FFF2-40B4-BE49-F238E27FC236}">
                <a16:creationId xmlns:a16="http://schemas.microsoft.com/office/drawing/2014/main" id="{7BA3774A-E868-88D7-FBB5-D8FDDB5DA9EE}"/>
              </a:ext>
            </a:extLst>
          </p:cNvPr>
          <p:cNvSpPr>
            <a:spLocks noGrp="1"/>
          </p:cNvSpPr>
          <p:nvPr>
            <p:ph type="ctrTitle"/>
          </p:nvPr>
        </p:nvSpPr>
        <p:spPr>
          <a:xfrm>
            <a:off x="108857" y="1407548"/>
            <a:ext cx="7173685" cy="1340630"/>
          </a:xfrm>
        </p:spPr>
        <p:txBody>
          <a:bodyPr anchor="b"/>
          <a:lstStyle>
            <a:lvl1pPr algn="ctr">
              <a:defRPr sz="6000">
                <a:solidFill>
                  <a:schemeClr val="bg1"/>
                </a:solidFill>
              </a:defRPr>
            </a:lvl1pPr>
          </a:lstStyle>
          <a:p>
            <a:r>
              <a:rPr lang="ko-KR" altLang="en-US"/>
              <a:t>마스터 제목 스타일 편집</a:t>
            </a:r>
            <a:endParaRPr lang="en-US" dirty="0"/>
          </a:p>
        </p:txBody>
      </p:sp>
      <p:sp>
        <p:nvSpPr>
          <p:cNvPr id="3" name="부제목 2">
            <a:extLst>
              <a:ext uri="{FF2B5EF4-FFF2-40B4-BE49-F238E27FC236}">
                <a16:creationId xmlns:a16="http://schemas.microsoft.com/office/drawing/2014/main" id="{4DA73DA5-7890-A51F-6FA3-3B1A6CA0CF04}"/>
              </a:ext>
            </a:extLst>
          </p:cNvPr>
          <p:cNvSpPr>
            <a:spLocks noGrp="1"/>
          </p:cNvSpPr>
          <p:nvPr>
            <p:ph type="subTitle" idx="1"/>
          </p:nvPr>
        </p:nvSpPr>
        <p:spPr>
          <a:xfrm>
            <a:off x="108858" y="3887223"/>
            <a:ext cx="3795486" cy="929705"/>
          </a:xfrm>
        </p:spPr>
        <p:txBody>
          <a:bodyPr>
            <a:normAutofit/>
          </a:bodyPr>
          <a:lstStyle>
            <a:lvl1pPr marL="0" indent="0" algn="ctr">
              <a:buNone/>
              <a:defRPr sz="4000" baseline="30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ko-KR" altLang="en-US"/>
              <a:t>클릭하여 마스터 부제목 스타일 편집</a:t>
            </a:r>
            <a:endParaRPr lang="en-US" dirty="0"/>
          </a:p>
        </p:txBody>
      </p:sp>
      <p:sp>
        <p:nvSpPr>
          <p:cNvPr id="4" name="날짜 개체 틀 3">
            <a:extLst>
              <a:ext uri="{FF2B5EF4-FFF2-40B4-BE49-F238E27FC236}">
                <a16:creationId xmlns:a16="http://schemas.microsoft.com/office/drawing/2014/main" id="{03EA0EA5-F501-AE3E-6AF3-768A3F6C211F}"/>
              </a:ext>
            </a:extLst>
          </p:cNvPr>
          <p:cNvSpPr>
            <a:spLocks noGrp="1"/>
          </p:cNvSpPr>
          <p:nvPr>
            <p:ph type="dt" sz="half" idx="10"/>
          </p:nvPr>
        </p:nvSpPr>
        <p:spPr/>
        <p:txBody>
          <a:bodyPr/>
          <a:lstStyle/>
          <a:p>
            <a:fld id="{C48D7A99-2130-4CBE-8FCE-06D03B75E5DD}" type="datetime1">
              <a:rPr lang="en-US" altLang="ko-KR" smtClean="0"/>
              <a:t>4/12/2026</a:t>
            </a:fld>
            <a:endParaRPr lang="en-US" dirty="0"/>
          </a:p>
        </p:txBody>
      </p:sp>
      <p:sp>
        <p:nvSpPr>
          <p:cNvPr id="5" name="바닥글 개체 틀 4">
            <a:extLst>
              <a:ext uri="{FF2B5EF4-FFF2-40B4-BE49-F238E27FC236}">
                <a16:creationId xmlns:a16="http://schemas.microsoft.com/office/drawing/2014/main" id="{74C08EBE-82B6-5566-45E9-5156CC422DAC}"/>
              </a:ext>
            </a:extLst>
          </p:cNvPr>
          <p:cNvSpPr>
            <a:spLocks noGrp="1"/>
          </p:cNvSpPr>
          <p:nvPr>
            <p:ph type="ftr" sz="quarter" idx="11"/>
          </p:nvPr>
        </p:nvSpPr>
        <p:spPr/>
        <p:txBody>
          <a:bodyPr/>
          <a:lstStyle/>
          <a:p>
            <a:r>
              <a:rPr lang="en-US"/>
              <a:t>2023 Copyright ⓒ Autonomous Vehicle Lab</a:t>
            </a:r>
            <a:endParaRPr lang="en-US" dirty="0"/>
          </a:p>
        </p:txBody>
      </p:sp>
      <p:pic>
        <p:nvPicPr>
          <p:cNvPr id="14" name="그림 13" descr="텍스트, 클립아트이(가) 표시된 사진&#10;&#10;자동 생성된 설명">
            <a:extLst>
              <a:ext uri="{FF2B5EF4-FFF2-40B4-BE49-F238E27FC236}">
                <a16:creationId xmlns:a16="http://schemas.microsoft.com/office/drawing/2014/main" id="{7713B203-74E6-96A9-24D0-F13987C31F0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763332" y="5586125"/>
            <a:ext cx="1976252" cy="759622"/>
          </a:xfrm>
          <a:prstGeom prst="rect">
            <a:avLst/>
          </a:prstGeom>
        </p:spPr>
      </p:pic>
      <p:sp>
        <p:nvSpPr>
          <p:cNvPr id="19" name="평행 사변형 18">
            <a:extLst>
              <a:ext uri="{FF2B5EF4-FFF2-40B4-BE49-F238E27FC236}">
                <a16:creationId xmlns:a16="http://schemas.microsoft.com/office/drawing/2014/main" id="{7E53A931-DC2C-3C8D-14E6-BCAF0EDDDFB7}"/>
              </a:ext>
            </a:extLst>
          </p:cNvPr>
          <p:cNvSpPr/>
          <p:nvPr userDrawn="1"/>
        </p:nvSpPr>
        <p:spPr>
          <a:xfrm>
            <a:off x="7843157" y="-2445"/>
            <a:ext cx="4197804" cy="6862440"/>
          </a:xfrm>
          <a:custGeom>
            <a:avLst/>
            <a:gdLst>
              <a:gd name="connsiteX0" fmla="*/ 0 w 2999015"/>
              <a:gd name="connsiteY0" fmla="*/ 6878769 h 6878769"/>
              <a:gd name="connsiteX1" fmla="*/ 1974551 w 2999015"/>
              <a:gd name="connsiteY1" fmla="*/ 0 h 6878769"/>
              <a:gd name="connsiteX2" fmla="*/ 2999015 w 2999015"/>
              <a:gd name="connsiteY2" fmla="*/ 0 h 6878769"/>
              <a:gd name="connsiteX3" fmla="*/ 1024464 w 2999015"/>
              <a:gd name="connsiteY3" fmla="*/ 6878769 h 6878769"/>
              <a:gd name="connsiteX4" fmla="*/ 0 w 2999015"/>
              <a:gd name="connsiteY4" fmla="*/ 6878769 h 6878769"/>
              <a:gd name="connsiteX0" fmla="*/ 0 w 4131129"/>
              <a:gd name="connsiteY0" fmla="*/ 6878769 h 6878769"/>
              <a:gd name="connsiteX1" fmla="*/ 1974551 w 4131129"/>
              <a:gd name="connsiteY1" fmla="*/ 0 h 6878769"/>
              <a:gd name="connsiteX2" fmla="*/ 4131129 w 4131129"/>
              <a:gd name="connsiteY2" fmla="*/ 70757 h 6878769"/>
              <a:gd name="connsiteX3" fmla="*/ 1024464 w 4131129"/>
              <a:gd name="connsiteY3" fmla="*/ 6878769 h 6878769"/>
              <a:gd name="connsiteX4" fmla="*/ 0 w 4131129"/>
              <a:gd name="connsiteY4" fmla="*/ 6878769 h 6878769"/>
              <a:gd name="connsiteX0" fmla="*/ 0 w 4203246"/>
              <a:gd name="connsiteY0" fmla="*/ 6878769 h 6878769"/>
              <a:gd name="connsiteX1" fmla="*/ 1974551 w 4203246"/>
              <a:gd name="connsiteY1" fmla="*/ 0 h 6878769"/>
              <a:gd name="connsiteX2" fmla="*/ 4203246 w 4203246"/>
              <a:gd name="connsiteY2" fmla="*/ 8164 h 6878769"/>
              <a:gd name="connsiteX3" fmla="*/ 1024464 w 4203246"/>
              <a:gd name="connsiteY3" fmla="*/ 6878769 h 6878769"/>
              <a:gd name="connsiteX4" fmla="*/ 0 w 4203246"/>
              <a:gd name="connsiteY4" fmla="*/ 6878769 h 6878769"/>
              <a:gd name="connsiteX0" fmla="*/ 0 w 4203246"/>
              <a:gd name="connsiteY0" fmla="*/ 6870605 h 6870605"/>
              <a:gd name="connsiteX1" fmla="*/ 3004612 w 4203246"/>
              <a:gd name="connsiteY1" fmla="*/ 63954 h 6870605"/>
              <a:gd name="connsiteX2" fmla="*/ 4203246 w 4203246"/>
              <a:gd name="connsiteY2" fmla="*/ 0 h 6870605"/>
              <a:gd name="connsiteX3" fmla="*/ 1024464 w 4203246"/>
              <a:gd name="connsiteY3" fmla="*/ 6870605 h 6870605"/>
              <a:gd name="connsiteX4" fmla="*/ 0 w 4203246"/>
              <a:gd name="connsiteY4" fmla="*/ 6870605 h 6870605"/>
              <a:gd name="connsiteX0" fmla="*/ 0 w 4203246"/>
              <a:gd name="connsiteY0" fmla="*/ 6870605 h 6870605"/>
              <a:gd name="connsiteX1" fmla="*/ 2864459 w 4203246"/>
              <a:gd name="connsiteY1" fmla="*/ 1361 h 6870605"/>
              <a:gd name="connsiteX2" fmla="*/ 4203246 w 4203246"/>
              <a:gd name="connsiteY2" fmla="*/ 0 h 6870605"/>
              <a:gd name="connsiteX3" fmla="*/ 1024464 w 4203246"/>
              <a:gd name="connsiteY3" fmla="*/ 6870605 h 6870605"/>
              <a:gd name="connsiteX4" fmla="*/ 0 w 4203246"/>
              <a:gd name="connsiteY4" fmla="*/ 6870605 h 6870605"/>
              <a:gd name="connsiteX0" fmla="*/ 0 w 4203246"/>
              <a:gd name="connsiteY0" fmla="*/ 6870605 h 6870605"/>
              <a:gd name="connsiteX1" fmla="*/ 2864459 w 4203246"/>
              <a:gd name="connsiteY1" fmla="*/ 1361 h 6870605"/>
              <a:gd name="connsiteX2" fmla="*/ 4203246 w 4203246"/>
              <a:gd name="connsiteY2" fmla="*/ 0 h 6870605"/>
              <a:gd name="connsiteX3" fmla="*/ 1443564 w 4203246"/>
              <a:gd name="connsiteY3" fmla="*/ 6862440 h 6870605"/>
              <a:gd name="connsiteX4" fmla="*/ 0 w 4203246"/>
              <a:gd name="connsiteY4" fmla="*/ 6870605 h 6870605"/>
              <a:gd name="connsiteX0" fmla="*/ 0 w 4151539"/>
              <a:gd name="connsiteY0" fmla="*/ 6843391 h 6862440"/>
              <a:gd name="connsiteX1" fmla="*/ 2812752 w 4151539"/>
              <a:gd name="connsiteY1" fmla="*/ 1361 h 6862440"/>
              <a:gd name="connsiteX2" fmla="*/ 4151539 w 4151539"/>
              <a:gd name="connsiteY2" fmla="*/ 0 h 6862440"/>
              <a:gd name="connsiteX3" fmla="*/ 1391857 w 4151539"/>
              <a:gd name="connsiteY3" fmla="*/ 6862440 h 6862440"/>
              <a:gd name="connsiteX4" fmla="*/ 0 w 4151539"/>
              <a:gd name="connsiteY4" fmla="*/ 6843391 h 6862440"/>
              <a:gd name="connsiteX0" fmla="*/ 0 w 4197804"/>
              <a:gd name="connsiteY0" fmla="*/ 6859719 h 6862440"/>
              <a:gd name="connsiteX1" fmla="*/ 2859017 w 4197804"/>
              <a:gd name="connsiteY1" fmla="*/ 1361 h 6862440"/>
              <a:gd name="connsiteX2" fmla="*/ 4197804 w 4197804"/>
              <a:gd name="connsiteY2" fmla="*/ 0 h 6862440"/>
              <a:gd name="connsiteX3" fmla="*/ 1438122 w 4197804"/>
              <a:gd name="connsiteY3" fmla="*/ 6862440 h 6862440"/>
              <a:gd name="connsiteX4" fmla="*/ 0 w 4197804"/>
              <a:gd name="connsiteY4" fmla="*/ 6859719 h 68624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97804" h="6862440">
                <a:moveTo>
                  <a:pt x="0" y="6859719"/>
                </a:moveTo>
                <a:lnTo>
                  <a:pt x="2859017" y="1361"/>
                </a:lnTo>
                <a:lnTo>
                  <a:pt x="4197804" y="0"/>
                </a:lnTo>
                <a:lnTo>
                  <a:pt x="1438122" y="6862440"/>
                </a:lnTo>
                <a:lnTo>
                  <a:pt x="0" y="6859719"/>
                </a:lnTo>
                <a:close/>
              </a:path>
            </a:pathLst>
          </a:cu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840766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10" name="평행 사변형 18">
            <a:extLst>
              <a:ext uri="{FF2B5EF4-FFF2-40B4-BE49-F238E27FC236}">
                <a16:creationId xmlns:a16="http://schemas.microsoft.com/office/drawing/2014/main" id="{A4352786-598C-D5A1-065B-1EB632E63159}"/>
              </a:ext>
            </a:extLst>
          </p:cNvPr>
          <p:cNvSpPr/>
          <p:nvPr userDrawn="1"/>
        </p:nvSpPr>
        <p:spPr>
          <a:xfrm>
            <a:off x="331471" y="109536"/>
            <a:ext cx="312692" cy="511178"/>
          </a:xfrm>
          <a:custGeom>
            <a:avLst/>
            <a:gdLst>
              <a:gd name="connsiteX0" fmla="*/ 0 w 2999015"/>
              <a:gd name="connsiteY0" fmla="*/ 6878769 h 6878769"/>
              <a:gd name="connsiteX1" fmla="*/ 1974551 w 2999015"/>
              <a:gd name="connsiteY1" fmla="*/ 0 h 6878769"/>
              <a:gd name="connsiteX2" fmla="*/ 2999015 w 2999015"/>
              <a:gd name="connsiteY2" fmla="*/ 0 h 6878769"/>
              <a:gd name="connsiteX3" fmla="*/ 1024464 w 2999015"/>
              <a:gd name="connsiteY3" fmla="*/ 6878769 h 6878769"/>
              <a:gd name="connsiteX4" fmla="*/ 0 w 2999015"/>
              <a:gd name="connsiteY4" fmla="*/ 6878769 h 6878769"/>
              <a:gd name="connsiteX0" fmla="*/ 0 w 4131129"/>
              <a:gd name="connsiteY0" fmla="*/ 6878769 h 6878769"/>
              <a:gd name="connsiteX1" fmla="*/ 1974551 w 4131129"/>
              <a:gd name="connsiteY1" fmla="*/ 0 h 6878769"/>
              <a:gd name="connsiteX2" fmla="*/ 4131129 w 4131129"/>
              <a:gd name="connsiteY2" fmla="*/ 70757 h 6878769"/>
              <a:gd name="connsiteX3" fmla="*/ 1024464 w 4131129"/>
              <a:gd name="connsiteY3" fmla="*/ 6878769 h 6878769"/>
              <a:gd name="connsiteX4" fmla="*/ 0 w 4131129"/>
              <a:gd name="connsiteY4" fmla="*/ 6878769 h 6878769"/>
              <a:gd name="connsiteX0" fmla="*/ 0 w 4203246"/>
              <a:gd name="connsiteY0" fmla="*/ 6878769 h 6878769"/>
              <a:gd name="connsiteX1" fmla="*/ 1974551 w 4203246"/>
              <a:gd name="connsiteY1" fmla="*/ 0 h 6878769"/>
              <a:gd name="connsiteX2" fmla="*/ 4203246 w 4203246"/>
              <a:gd name="connsiteY2" fmla="*/ 8164 h 6878769"/>
              <a:gd name="connsiteX3" fmla="*/ 1024464 w 4203246"/>
              <a:gd name="connsiteY3" fmla="*/ 6878769 h 6878769"/>
              <a:gd name="connsiteX4" fmla="*/ 0 w 4203246"/>
              <a:gd name="connsiteY4" fmla="*/ 6878769 h 6878769"/>
              <a:gd name="connsiteX0" fmla="*/ 0 w 4203246"/>
              <a:gd name="connsiteY0" fmla="*/ 6870605 h 6870605"/>
              <a:gd name="connsiteX1" fmla="*/ 3004612 w 4203246"/>
              <a:gd name="connsiteY1" fmla="*/ 63954 h 6870605"/>
              <a:gd name="connsiteX2" fmla="*/ 4203246 w 4203246"/>
              <a:gd name="connsiteY2" fmla="*/ 0 h 6870605"/>
              <a:gd name="connsiteX3" fmla="*/ 1024464 w 4203246"/>
              <a:gd name="connsiteY3" fmla="*/ 6870605 h 6870605"/>
              <a:gd name="connsiteX4" fmla="*/ 0 w 4203246"/>
              <a:gd name="connsiteY4" fmla="*/ 6870605 h 6870605"/>
              <a:gd name="connsiteX0" fmla="*/ 0 w 4203246"/>
              <a:gd name="connsiteY0" fmla="*/ 6870605 h 6870605"/>
              <a:gd name="connsiteX1" fmla="*/ 2864459 w 4203246"/>
              <a:gd name="connsiteY1" fmla="*/ 1361 h 6870605"/>
              <a:gd name="connsiteX2" fmla="*/ 4203246 w 4203246"/>
              <a:gd name="connsiteY2" fmla="*/ 0 h 6870605"/>
              <a:gd name="connsiteX3" fmla="*/ 1024464 w 4203246"/>
              <a:gd name="connsiteY3" fmla="*/ 6870605 h 6870605"/>
              <a:gd name="connsiteX4" fmla="*/ 0 w 4203246"/>
              <a:gd name="connsiteY4" fmla="*/ 6870605 h 6870605"/>
              <a:gd name="connsiteX0" fmla="*/ 0 w 4203246"/>
              <a:gd name="connsiteY0" fmla="*/ 6870605 h 6870605"/>
              <a:gd name="connsiteX1" fmla="*/ 2864459 w 4203246"/>
              <a:gd name="connsiteY1" fmla="*/ 1361 h 6870605"/>
              <a:gd name="connsiteX2" fmla="*/ 4203246 w 4203246"/>
              <a:gd name="connsiteY2" fmla="*/ 0 h 6870605"/>
              <a:gd name="connsiteX3" fmla="*/ 1443564 w 4203246"/>
              <a:gd name="connsiteY3" fmla="*/ 6862440 h 6870605"/>
              <a:gd name="connsiteX4" fmla="*/ 0 w 4203246"/>
              <a:gd name="connsiteY4" fmla="*/ 6870605 h 6870605"/>
              <a:gd name="connsiteX0" fmla="*/ 0 w 4151539"/>
              <a:gd name="connsiteY0" fmla="*/ 6843391 h 6862440"/>
              <a:gd name="connsiteX1" fmla="*/ 2812752 w 4151539"/>
              <a:gd name="connsiteY1" fmla="*/ 1361 h 6862440"/>
              <a:gd name="connsiteX2" fmla="*/ 4151539 w 4151539"/>
              <a:gd name="connsiteY2" fmla="*/ 0 h 6862440"/>
              <a:gd name="connsiteX3" fmla="*/ 1391857 w 4151539"/>
              <a:gd name="connsiteY3" fmla="*/ 6862440 h 6862440"/>
              <a:gd name="connsiteX4" fmla="*/ 0 w 4151539"/>
              <a:gd name="connsiteY4" fmla="*/ 6843391 h 6862440"/>
              <a:gd name="connsiteX0" fmla="*/ 0 w 4197804"/>
              <a:gd name="connsiteY0" fmla="*/ 6859719 h 6862440"/>
              <a:gd name="connsiteX1" fmla="*/ 2859017 w 4197804"/>
              <a:gd name="connsiteY1" fmla="*/ 1361 h 6862440"/>
              <a:gd name="connsiteX2" fmla="*/ 4197804 w 4197804"/>
              <a:gd name="connsiteY2" fmla="*/ 0 h 6862440"/>
              <a:gd name="connsiteX3" fmla="*/ 1438122 w 4197804"/>
              <a:gd name="connsiteY3" fmla="*/ 6862440 h 6862440"/>
              <a:gd name="connsiteX4" fmla="*/ 0 w 4197804"/>
              <a:gd name="connsiteY4" fmla="*/ 6859719 h 68624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97804" h="6862440">
                <a:moveTo>
                  <a:pt x="0" y="6859719"/>
                </a:moveTo>
                <a:lnTo>
                  <a:pt x="2859017" y="1361"/>
                </a:lnTo>
                <a:lnTo>
                  <a:pt x="4197804" y="0"/>
                </a:lnTo>
                <a:lnTo>
                  <a:pt x="1438122" y="6862440"/>
                </a:lnTo>
                <a:lnTo>
                  <a:pt x="0" y="6859719"/>
                </a:lnTo>
                <a:close/>
              </a:path>
            </a:pathLst>
          </a:custGeom>
          <a:solidFill>
            <a:srgbClr val="B726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그림 7" descr="텍스트, 클립아트이(가) 표시된 사진&#10;&#10;자동 생성된 설명">
            <a:extLst>
              <a:ext uri="{FF2B5EF4-FFF2-40B4-BE49-F238E27FC236}">
                <a16:creationId xmlns:a16="http://schemas.microsoft.com/office/drawing/2014/main" id="{E1AB845A-B7E0-2561-9CF7-783B4C5492F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306759" y="5870498"/>
            <a:ext cx="1794528" cy="689772"/>
          </a:xfrm>
          <a:prstGeom prst="rect">
            <a:avLst/>
          </a:prstGeom>
        </p:spPr>
      </p:pic>
      <p:sp>
        <p:nvSpPr>
          <p:cNvPr id="9" name="평행 사변형 6">
            <a:extLst>
              <a:ext uri="{FF2B5EF4-FFF2-40B4-BE49-F238E27FC236}">
                <a16:creationId xmlns:a16="http://schemas.microsoft.com/office/drawing/2014/main" id="{8FD59531-7B60-F3B2-90C1-261754F833C1}"/>
              </a:ext>
            </a:extLst>
          </p:cNvPr>
          <p:cNvSpPr/>
          <p:nvPr userDrawn="1"/>
        </p:nvSpPr>
        <p:spPr>
          <a:xfrm>
            <a:off x="-2376" y="5988324"/>
            <a:ext cx="10541363" cy="336277"/>
          </a:xfrm>
          <a:custGeom>
            <a:avLst/>
            <a:gdLst>
              <a:gd name="connsiteX0" fmla="*/ 0 w 12921344"/>
              <a:gd name="connsiteY0" fmla="*/ 6858000 h 6858000"/>
              <a:gd name="connsiteX1" fmla="*/ 2852379 w 12921344"/>
              <a:gd name="connsiteY1" fmla="*/ 0 h 6858000"/>
              <a:gd name="connsiteX2" fmla="*/ 12921344 w 12921344"/>
              <a:gd name="connsiteY2" fmla="*/ 0 h 6858000"/>
              <a:gd name="connsiteX3" fmla="*/ 10068965 w 12921344"/>
              <a:gd name="connsiteY3" fmla="*/ 6858000 h 6858000"/>
              <a:gd name="connsiteX4" fmla="*/ 0 w 12921344"/>
              <a:gd name="connsiteY4" fmla="*/ 6858000 h 6858000"/>
              <a:gd name="connsiteX0" fmla="*/ 384307 w 10068965"/>
              <a:gd name="connsiteY0" fmla="*/ 6872514 h 6872514"/>
              <a:gd name="connsiteX1" fmla="*/ 0 w 10068965"/>
              <a:gd name="connsiteY1" fmla="*/ 0 h 6872514"/>
              <a:gd name="connsiteX2" fmla="*/ 10068965 w 10068965"/>
              <a:gd name="connsiteY2" fmla="*/ 0 h 6872514"/>
              <a:gd name="connsiteX3" fmla="*/ 7216586 w 10068965"/>
              <a:gd name="connsiteY3" fmla="*/ 6858000 h 6872514"/>
              <a:gd name="connsiteX4" fmla="*/ 384307 w 10068965"/>
              <a:gd name="connsiteY4" fmla="*/ 6872514 h 6872514"/>
              <a:gd name="connsiteX0" fmla="*/ 22902 w 10068965"/>
              <a:gd name="connsiteY0" fmla="*/ 6868160 h 6868160"/>
              <a:gd name="connsiteX1" fmla="*/ 0 w 10068965"/>
              <a:gd name="connsiteY1" fmla="*/ 0 h 6868160"/>
              <a:gd name="connsiteX2" fmla="*/ 10068965 w 10068965"/>
              <a:gd name="connsiteY2" fmla="*/ 0 h 6868160"/>
              <a:gd name="connsiteX3" fmla="*/ 7216586 w 10068965"/>
              <a:gd name="connsiteY3" fmla="*/ 6858000 h 6868160"/>
              <a:gd name="connsiteX4" fmla="*/ 22902 w 10068965"/>
              <a:gd name="connsiteY4" fmla="*/ 6868160 h 6868160"/>
              <a:gd name="connsiteX0" fmla="*/ 22902 w 10444695"/>
              <a:gd name="connsiteY0" fmla="*/ 6868160 h 6942518"/>
              <a:gd name="connsiteX1" fmla="*/ 0 w 10444695"/>
              <a:gd name="connsiteY1" fmla="*/ 0 h 6942518"/>
              <a:gd name="connsiteX2" fmla="*/ 10068965 w 10444695"/>
              <a:gd name="connsiteY2" fmla="*/ 0 h 6942518"/>
              <a:gd name="connsiteX3" fmla="*/ 10444695 w 10444695"/>
              <a:gd name="connsiteY3" fmla="*/ 6942518 h 6942518"/>
              <a:gd name="connsiteX4" fmla="*/ 22902 w 10444695"/>
              <a:gd name="connsiteY4" fmla="*/ 6868160 h 6942518"/>
              <a:gd name="connsiteX0" fmla="*/ 22902 w 10576965"/>
              <a:gd name="connsiteY0" fmla="*/ 6868160 h 6942518"/>
              <a:gd name="connsiteX1" fmla="*/ 0 w 10576965"/>
              <a:gd name="connsiteY1" fmla="*/ 0 h 6942518"/>
              <a:gd name="connsiteX2" fmla="*/ 10576965 w 10576965"/>
              <a:gd name="connsiteY2" fmla="*/ 169030 h 6942518"/>
              <a:gd name="connsiteX3" fmla="*/ 10444695 w 10576965"/>
              <a:gd name="connsiteY3" fmla="*/ 6942518 h 6942518"/>
              <a:gd name="connsiteX4" fmla="*/ 22902 w 10576965"/>
              <a:gd name="connsiteY4" fmla="*/ 6868160 h 6942518"/>
              <a:gd name="connsiteX0" fmla="*/ 0 w 10554063"/>
              <a:gd name="connsiteY0" fmla="*/ 6868160 h 6942518"/>
              <a:gd name="connsiteX1" fmla="*/ 53298 w 10554063"/>
              <a:gd name="connsiteY1" fmla="*/ 0 h 6942518"/>
              <a:gd name="connsiteX2" fmla="*/ 10554063 w 10554063"/>
              <a:gd name="connsiteY2" fmla="*/ 169030 h 6942518"/>
              <a:gd name="connsiteX3" fmla="*/ 10421793 w 10554063"/>
              <a:gd name="connsiteY3" fmla="*/ 6942518 h 6942518"/>
              <a:gd name="connsiteX4" fmla="*/ 0 w 10554063"/>
              <a:gd name="connsiteY4" fmla="*/ 6868160 h 6942518"/>
              <a:gd name="connsiteX0" fmla="*/ 0 w 10554063"/>
              <a:gd name="connsiteY0" fmla="*/ 6868160 h 6942518"/>
              <a:gd name="connsiteX1" fmla="*/ 15198 w 10554063"/>
              <a:gd name="connsiteY1" fmla="*/ 0 h 6942518"/>
              <a:gd name="connsiteX2" fmla="*/ 10554063 w 10554063"/>
              <a:gd name="connsiteY2" fmla="*/ 169030 h 6942518"/>
              <a:gd name="connsiteX3" fmla="*/ 10421793 w 10554063"/>
              <a:gd name="connsiteY3" fmla="*/ 6942518 h 6942518"/>
              <a:gd name="connsiteX4" fmla="*/ 0 w 10554063"/>
              <a:gd name="connsiteY4" fmla="*/ 6868160 h 6942518"/>
              <a:gd name="connsiteX0" fmla="*/ 0 w 10541363"/>
              <a:gd name="connsiteY0" fmla="*/ 6901359 h 6942518"/>
              <a:gd name="connsiteX1" fmla="*/ 2498 w 10541363"/>
              <a:gd name="connsiteY1" fmla="*/ 0 h 6942518"/>
              <a:gd name="connsiteX2" fmla="*/ 10541363 w 10541363"/>
              <a:gd name="connsiteY2" fmla="*/ 169030 h 6942518"/>
              <a:gd name="connsiteX3" fmla="*/ 10409093 w 10541363"/>
              <a:gd name="connsiteY3" fmla="*/ 6942518 h 6942518"/>
              <a:gd name="connsiteX4" fmla="*/ 0 w 10541363"/>
              <a:gd name="connsiteY4" fmla="*/ 6901359 h 69425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541363" h="6942518">
                <a:moveTo>
                  <a:pt x="0" y="6901359"/>
                </a:moveTo>
                <a:cubicBezTo>
                  <a:pt x="833" y="4600906"/>
                  <a:pt x="1665" y="2300453"/>
                  <a:pt x="2498" y="0"/>
                </a:cubicBezTo>
                <a:lnTo>
                  <a:pt x="10541363" y="169030"/>
                </a:lnTo>
                <a:lnTo>
                  <a:pt x="10409093" y="6942518"/>
                </a:lnTo>
                <a:lnTo>
                  <a:pt x="0" y="6901359"/>
                </a:lnTo>
                <a:close/>
              </a:path>
            </a:pathLst>
          </a:custGeom>
          <a:gradFill flip="none" rotWithShape="1">
            <a:gsLst>
              <a:gs pos="0">
                <a:schemeClr val="bg2">
                  <a:lumMod val="25000"/>
                  <a:shade val="30000"/>
                  <a:satMod val="115000"/>
                </a:schemeClr>
              </a:gs>
              <a:gs pos="50000">
                <a:schemeClr val="bg2">
                  <a:lumMod val="25000"/>
                  <a:shade val="67500"/>
                  <a:satMod val="115000"/>
                </a:schemeClr>
              </a:gs>
              <a:gs pos="100000">
                <a:schemeClr val="bg2">
                  <a:lumMod val="25000"/>
                  <a:shade val="100000"/>
                  <a:satMod val="115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제목 1">
            <a:extLst>
              <a:ext uri="{FF2B5EF4-FFF2-40B4-BE49-F238E27FC236}">
                <a16:creationId xmlns:a16="http://schemas.microsoft.com/office/drawing/2014/main" id="{F23C5002-480D-BCB1-A981-EC02BC4A38D9}"/>
              </a:ext>
            </a:extLst>
          </p:cNvPr>
          <p:cNvSpPr>
            <a:spLocks noGrp="1"/>
          </p:cNvSpPr>
          <p:nvPr>
            <p:ph type="title"/>
          </p:nvPr>
        </p:nvSpPr>
        <p:spPr>
          <a:xfrm>
            <a:off x="756557" y="115388"/>
            <a:ext cx="10515600" cy="539024"/>
          </a:xfrm>
        </p:spPr>
        <p:txBody>
          <a:bodyPr/>
          <a:lstStyle/>
          <a:p>
            <a:r>
              <a:rPr lang="ko-KR" altLang="en-US"/>
              <a:t>마스터 제목 스타일 편집</a:t>
            </a:r>
            <a:endParaRPr lang="en-US" dirty="0"/>
          </a:p>
        </p:txBody>
      </p:sp>
      <p:sp>
        <p:nvSpPr>
          <p:cNvPr id="3" name="내용 개체 틀 2">
            <a:extLst>
              <a:ext uri="{FF2B5EF4-FFF2-40B4-BE49-F238E27FC236}">
                <a16:creationId xmlns:a16="http://schemas.microsoft.com/office/drawing/2014/main" id="{AD9CE4F6-E429-F9BB-3B7B-61CD76180426}"/>
              </a:ext>
            </a:extLst>
          </p:cNvPr>
          <p:cNvSpPr>
            <a:spLocks noGrp="1"/>
          </p:cNvSpPr>
          <p:nvPr>
            <p:ph idx="1"/>
          </p:nvPr>
        </p:nvSpPr>
        <p:spPr>
          <a:xfrm>
            <a:off x="756557" y="820172"/>
            <a:ext cx="10515600" cy="4968694"/>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날짜 개체 틀 3">
            <a:extLst>
              <a:ext uri="{FF2B5EF4-FFF2-40B4-BE49-F238E27FC236}">
                <a16:creationId xmlns:a16="http://schemas.microsoft.com/office/drawing/2014/main" id="{35FD8349-5EBE-7768-1C19-996A74FF0FA0}"/>
              </a:ext>
            </a:extLst>
          </p:cNvPr>
          <p:cNvSpPr>
            <a:spLocks noGrp="1"/>
          </p:cNvSpPr>
          <p:nvPr>
            <p:ph type="dt" sz="half" idx="10"/>
          </p:nvPr>
        </p:nvSpPr>
        <p:spPr>
          <a:xfrm>
            <a:off x="747670" y="6356350"/>
            <a:ext cx="2743200" cy="365125"/>
          </a:xfrm>
        </p:spPr>
        <p:txBody>
          <a:bodyPr/>
          <a:lstStyle>
            <a:lvl1pPr>
              <a:defRPr>
                <a:solidFill>
                  <a:schemeClr val="tx1">
                    <a:lumMod val="50000"/>
                    <a:lumOff val="50000"/>
                  </a:schemeClr>
                </a:solidFill>
              </a:defRPr>
            </a:lvl1pPr>
          </a:lstStyle>
          <a:p>
            <a:fld id="{9539328B-81D7-470F-B07E-C60C8A68D98A}" type="datetime1">
              <a:rPr lang="en-US" altLang="ko-KR" smtClean="0"/>
              <a:t>4/12/2026</a:t>
            </a:fld>
            <a:endParaRPr lang="en-US"/>
          </a:p>
        </p:txBody>
      </p:sp>
      <p:sp>
        <p:nvSpPr>
          <p:cNvPr id="5" name="바닥글 개체 틀 4">
            <a:extLst>
              <a:ext uri="{FF2B5EF4-FFF2-40B4-BE49-F238E27FC236}">
                <a16:creationId xmlns:a16="http://schemas.microsoft.com/office/drawing/2014/main" id="{13DB45C7-E87F-4ECB-9470-92641A7D5EE8}"/>
              </a:ext>
            </a:extLst>
          </p:cNvPr>
          <p:cNvSpPr>
            <a:spLocks noGrp="1"/>
          </p:cNvSpPr>
          <p:nvPr>
            <p:ph type="ftr" sz="quarter" idx="11"/>
          </p:nvPr>
        </p:nvSpPr>
        <p:spPr/>
        <p:txBody>
          <a:bodyPr/>
          <a:lstStyle>
            <a:lvl1pPr>
              <a:defRPr>
                <a:solidFill>
                  <a:schemeClr val="tx1">
                    <a:lumMod val="50000"/>
                    <a:lumOff val="50000"/>
                  </a:schemeClr>
                </a:solidFill>
              </a:defRPr>
            </a:lvl1pPr>
          </a:lstStyle>
          <a:p>
            <a:r>
              <a:rPr lang="en-US"/>
              <a:t>2023 Copyright </a:t>
            </a:r>
            <a:r>
              <a:rPr lang="ko-KR" altLang="en-US"/>
              <a:t>ⓒ </a:t>
            </a:r>
            <a:r>
              <a:rPr lang="en-US" altLang="ko-KR"/>
              <a:t>Autonomous Vehicle Lab</a:t>
            </a:r>
            <a:endParaRPr lang="en-US" dirty="0"/>
          </a:p>
        </p:txBody>
      </p:sp>
      <p:sp>
        <p:nvSpPr>
          <p:cNvPr id="6" name="슬라이드 번호 개체 틀 5">
            <a:extLst>
              <a:ext uri="{FF2B5EF4-FFF2-40B4-BE49-F238E27FC236}">
                <a16:creationId xmlns:a16="http://schemas.microsoft.com/office/drawing/2014/main" id="{D455E40A-CD56-E811-5351-26DB944DDF65}"/>
              </a:ext>
            </a:extLst>
          </p:cNvPr>
          <p:cNvSpPr>
            <a:spLocks noGrp="1"/>
          </p:cNvSpPr>
          <p:nvPr>
            <p:ph type="sldNum" sz="quarter" idx="12"/>
          </p:nvPr>
        </p:nvSpPr>
        <p:spPr>
          <a:xfrm>
            <a:off x="10429581" y="202462"/>
            <a:ext cx="1322567" cy="365125"/>
          </a:xfrm>
        </p:spPr>
        <p:txBody>
          <a:bodyPr/>
          <a:lstStyle>
            <a:lvl1pPr>
              <a:defRPr sz="1600" b="1">
                <a:solidFill>
                  <a:schemeClr val="tx1">
                    <a:lumMod val="50000"/>
                    <a:lumOff val="50000"/>
                  </a:schemeClr>
                </a:solidFill>
                <a:latin typeface="Chungbuk National University" panose="020B0000000000000000" pitchFamily="34" charset="-127"/>
                <a:ea typeface="Chungbuk National University" panose="020B0000000000000000" pitchFamily="34" charset="-127"/>
                <a:cs typeface="Times New Roman" panose="02020603050405020304" pitchFamily="18" charset="0"/>
              </a:defRPr>
            </a:lvl1pPr>
          </a:lstStyle>
          <a:p>
            <a:fld id="{55635D17-9D19-4B1E-86C2-B9D6296E4AF7}" type="slidenum">
              <a:rPr lang="en-US" smtClean="0"/>
              <a:pPr/>
              <a:t>‹#›</a:t>
            </a:fld>
            <a:endParaRPr lang="en-US" dirty="0"/>
          </a:p>
        </p:txBody>
      </p:sp>
    </p:spTree>
    <p:extLst>
      <p:ext uri="{BB962C8B-B14F-4D97-AF65-F5344CB8AC3E}">
        <p14:creationId xmlns:p14="http://schemas.microsoft.com/office/powerpoint/2010/main" val="29740520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15DE2A47-CA08-E1B9-94D8-94AEC3D949AD}"/>
              </a:ext>
            </a:extLst>
          </p:cNvPr>
          <p:cNvSpPr>
            <a:spLocks noGrp="1"/>
          </p:cNvSpPr>
          <p:nvPr>
            <p:ph type="title"/>
          </p:nvPr>
        </p:nvSpPr>
        <p:spPr>
          <a:xfrm>
            <a:off x="831850" y="1709738"/>
            <a:ext cx="10515600" cy="2852737"/>
          </a:xfrm>
        </p:spPr>
        <p:txBody>
          <a:bodyPr anchor="b"/>
          <a:lstStyle>
            <a:lvl1pPr>
              <a:defRPr sz="6000"/>
            </a:lvl1pPr>
          </a:lstStyle>
          <a:p>
            <a:r>
              <a:rPr lang="ko-KR" altLang="en-US"/>
              <a:t>마스터 제목 스타일 편집</a:t>
            </a:r>
            <a:endParaRPr lang="en-US"/>
          </a:p>
        </p:txBody>
      </p:sp>
      <p:sp>
        <p:nvSpPr>
          <p:cNvPr id="3" name="텍스트 개체 틀 2">
            <a:extLst>
              <a:ext uri="{FF2B5EF4-FFF2-40B4-BE49-F238E27FC236}">
                <a16:creationId xmlns:a16="http://schemas.microsoft.com/office/drawing/2014/main" id="{B3D2EB67-86A4-71DE-B3B8-0BB9ECC47B1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ko-KR" altLang="en-US"/>
              <a:t>마스터 텍스트 스타일을 편집하려면 클릭</a:t>
            </a:r>
          </a:p>
        </p:txBody>
      </p:sp>
      <p:sp>
        <p:nvSpPr>
          <p:cNvPr id="4" name="날짜 개체 틀 3">
            <a:extLst>
              <a:ext uri="{FF2B5EF4-FFF2-40B4-BE49-F238E27FC236}">
                <a16:creationId xmlns:a16="http://schemas.microsoft.com/office/drawing/2014/main" id="{5DEC72B4-4F7B-42C2-F48B-E4863811DF7E}"/>
              </a:ext>
            </a:extLst>
          </p:cNvPr>
          <p:cNvSpPr>
            <a:spLocks noGrp="1"/>
          </p:cNvSpPr>
          <p:nvPr>
            <p:ph type="dt" sz="half" idx="10"/>
          </p:nvPr>
        </p:nvSpPr>
        <p:spPr/>
        <p:txBody>
          <a:bodyPr/>
          <a:lstStyle/>
          <a:p>
            <a:fld id="{6E096974-3B65-4D17-9D4B-FE7B544206CA}" type="datetime1">
              <a:rPr lang="en-US" altLang="ko-KR" smtClean="0"/>
              <a:t>4/12/2026</a:t>
            </a:fld>
            <a:endParaRPr lang="en-US"/>
          </a:p>
        </p:txBody>
      </p:sp>
      <p:sp>
        <p:nvSpPr>
          <p:cNvPr id="5" name="바닥글 개체 틀 4">
            <a:extLst>
              <a:ext uri="{FF2B5EF4-FFF2-40B4-BE49-F238E27FC236}">
                <a16:creationId xmlns:a16="http://schemas.microsoft.com/office/drawing/2014/main" id="{84E9D97D-A3A5-5A2B-A2F2-B0FF552A765D}"/>
              </a:ext>
            </a:extLst>
          </p:cNvPr>
          <p:cNvSpPr>
            <a:spLocks noGrp="1"/>
          </p:cNvSpPr>
          <p:nvPr>
            <p:ph type="ftr" sz="quarter" idx="11"/>
          </p:nvPr>
        </p:nvSpPr>
        <p:spPr/>
        <p:txBody>
          <a:bodyPr/>
          <a:lstStyle/>
          <a:p>
            <a:r>
              <a:rPr lang="en-US"/>
              <a:t>2023 Copyright ⓒ Autonomous Vehicle Lab</a:t>
            </a:r>
          </a:p>
        </p:txBody>
      </p:sp>
      <p:sp>
        <p:nvSpPr>
          <p:cNvPr id="6" name="슬라이드 번호 개체 틀 5">
            <a:extLst>
              <a:ext uri="{FF2B5EF4-FFF2-40B4-BE49-F238E27FC236}">
                <a16:creationId xmlns:a16="http://schemas.microsoft.com/office/drawing/2014/main" id="{26852378-06C4-FFD7-6332-8A113FC70DBB}"/>
              </a:ext>
            </a:extLst>
          </p:cNvPr>
          <p:cNvSpPr>
            <a:spLocks noGrp="1"/>
          </p:cNvSpPr>
          <p:nvPr>
            <p:ph type="sldNum" sz="quarter" idx="12"/>
          </p:nvPr>
        </p:nvSpPr>
        <p:spPr/>
        <p:txBody>
          <a:bodyPr/>
          <a:lstStyle/>
          <a:p>
            <a:fld id="{55635D17-9D19-4B1E-86C2-B9D6296E4AF7}" type="slidenum">
              <a:rPr lang="en-US" smtClean="0"/>
              <a:t>‹#›</a:t>
            </a:fld>
            <a:endParaRPr lang="en-US"/>
          </a:p>
        </p:txBody>
      </p:sp>
    </p:spTree>
    <p:extLst>
      <p:ext uri="{BB962C8B-B14F-4D97-AF65-F5344CB8AC3E}">
        <p14:creationId xmlns:p14="http://schemas.microsoft.com/office/powerpoint/2010/main" val="33044912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3AD50085-FAD7-0BD7-4B44-5FABD41AD5F0}"/>
              </a:ext>
            </a:extLst>
          </p:cNvPr>
          <p:cNvSpPr>
            <a:spLocks noGrp="1"/>
          </p:cNvSpPr>
          <p:nvPr>
            <p:ph type="title"/>
          </p:nvPr>
        </p:nvSpPr>
        <p:spPr/>
        <p:txBody>
          <a:bodyPr/>
          <a:lstStyle/>
          <a:p>
            <a:r>
              <a:rPr lang="ko-KR" altLang="en-US"/>
              <a:t>마스터 제목 스타일 편집</a:t>
            </a:r>
            <a:endParaRPr lang="en-US"/>
          </a:p>
        </p:txBody>
      </p:sp>
      <p:sp>
        <p:nvSpPr>
          <p:cNvPr id="3" name="내용 개체 틀 2">
            <a:extLst>
              <a:ext uri="{FF2B5EF4-FFF2-40B4-BE49-F238E27FC236}">
                <a16:creationId xmlns:a16="http://schemas.microsoft.com/office/drawing/2014/main" id="{FC37C97D-1000-D40A-CAF0-275AC9F61623}"/>
              </a:ext>
            </a:extLst>
          </p:cNvPr>
          <p:cNvSpPr>
            <a:spLocks noGrp="1"/>
          </p:cNvSpPr>
          <p:nvPr>
            <p:ph sz="half" idx="1"/>
          </p:nvPr>
        </p:nvSpPr>
        <p:spPr>
          <a:xfrm>
            <a:off x="838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a:p>
        </p:txBody>
      </p:sp>
      <p:sp>
        <p:nvSpPr>
          <p:cNvPr id="4" name="내용 개체 틀 3">
            <a:extLst>
              <a:ext uri="{FF2B5EF4-FFF2-40B4-BE49-F238E27FC236}">
                <a16:creationId xmlns:a16="http://schemas.microsoft.com/office/drawing/2014/main" id="{0D057AC6-829C-4448-6EDA-8D142C281831}"/>
              </a:ext>
            </a:extLst>
          </p:cNvPr>
          <p:cNvSpPr>
            <a:spLocks noGrp="1"/>
          </p:cNvSpPr>
          <p:nvPr>
            <p:ph sz="half" idx="2"/>
          </p:nvPr>
        </p:nvSpPr>
        <p:spPr>
          <a:xfrm>
            <a:off x="6172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a:p>
        </p:txBody>
      </p:sp>
      <p:sp>
        <p:nvSpPr>
          <p:cNvPr id="5" name="날짜 개체 틀 4">
            <a:extLst>
              <a:ext uri="{FF2B5EF4-FFF2-40B4-BE49-F238E27FC236}">
                <a16:creationId xmlns:a16="http://schemas.microsoft.com/office/drawing/2014/main" id="{AC11E26D-04C8-4B2C-F2B8-4C9B53E2278B}"/>
              </a:ext>
            </a:extLst>
          </p:cNvPr>
          <p:cNvSpPr>
            <a:spLocks noGrp="1"/>
          </p:cNvSpPr>
          <p:nvPr>
            <p:ph type="dt" sz="half" idx="10"/>
          </p:nvPr>
        </p:nvSpPr>
        <p:spPr/>
        <p:txBody>
          <a:bodyPr/>
          <a:lstStyle/>
          <a:p>
            <a:fld id="{9F5A69F0-7D62-4129-84BD-9572E40A3531}" type="datetime1">
              <a:rPr lang="en-US" altLang="ko-KR" smtClean="0"/>
              <a:t>4/12/2026</a:t>
            </a:fld>
            <a:endParaRPr lang="en-US"/>
          </a:p>
        </p:txBody>
      </p:sp>
      <p:sp>
        <p:nvSpPr>
          <p:cNvPr id="6" name="바닥글 개체 틀 5">
            <a:extLst>
              <a:ext uri="{FF2B5EF4-FFF2-40B4-BE49-F238E27FC236}">
                <a16:creationId xmlns:a16="http://schemas.microsoft.com/office/drawing/2014/main" id="{E50A1855-C2F2-E282-756C-1F306B17ECA8}"/>
              </a:ext>
            </a:extLst>
          </p:cNvPr>
          <p:cNvSpPr>
            <a:spLocks noGrp="1"/>
          </p:cNvSpPr>
          <p:nvPr>
            <p:ph type="ftr" sz="quarter" idx="11"/>
          </p:nvPr>
        </p:nvSpPr>
        <p:spPr/>
        <p:txBody>
          <a:bodyPr/>
          <a:lstStyle/>
          <a:p>
            <a:r>
              <a:rPr lang="en-US"/>
              <a:t>2023 Copyright ⓒ Autonomous Vehicle Lab</a:t>
            </a:r>
          </a:p>
        </p:txBody>
      </p:sp>
      <p:sp>
        <p:nvSpPr>
          <p:cNvPr id="7" name="슬라이드 번호 개체 틀 6">
            <a:extLst>
              <a:ext uri="{FF2B5EF4-FFF2-40B4-BE49-F238E27FC236}">
                <a16:creationId xmlns:a16="http://schemas.microsoft.com/office/drawing/2014/main" id="{BE53622D-B5DB-D600-717A-B45A6D3845AD}"/>
              </a:ext>
            </a:extLst>
          </p:cNvPr>
          <p:cNvSpPr>
            <a:spLocks noGrp="1"/>
          </p:cNvSpPr>
          <p:nvPr>
            <p:ph type="sldNum" sz="quarter" idx="12"/>
          </p:nvPr>
        </p:nvSpPr>
        <p:spPr/>
        <p:txBody>
          <a:bodyPr/>
          <a:lstStyle/>
          <a:p>
            <a:fld id="{55635D17-9D19-4B1E-86C2-B9D6296E4AF7}" type="slidenum">
              <a:rPr lang="en-US" smtClean="0"/>
              <a:t>‹#›</a:t>
            </a:fld>
            <a:endParaRPr lang="en-US"/>
          </a:p>
        </p:txBody>
      </p:sp>
    </p:spTree>
    <p:extLst>
      <p:ext uri="{BB962C8B-B14F-4D97-AF65-F5344CB8AC3E}">
        <p14:creationId xmlns:p14="http://schemas.microsoft.com/office/powerpoint/2010/main" val="6012388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A77C7C7-680F-FCD4-53BC-7D4E35679301}"/>
              </a:ext>
            </a:extLst>
          </p:cNvPr>
          <p:cNvSpPr>
            <a:spLocks noGrp="1"/>
          </p:cNvSpPr>
          <p:nvPr>
            <p:ph type="title"/>
          </p:nvPr>
        </p:nvSpPr>
        <p:spPr>
          <a:xfrm>
            <a:off x="839788" y="365125"/>
            <a:ext cx="10515600" cy="1325563"/>
          </a:xfrm>
        </p:spPr>
        <p:txBody>
          <a:bodyPr/>
          <a:lstStyle/>
          <a:p>
            <a:r>
              <a:rPr lang="ko-KR" altLang="en-US"/>
              <a:t>마스터 제목 스타일 편집</a:t>
            </a:r>
            <a:endParaRPr lang="en-US"/>
          </a:p>
        </p:txBody>
      </p:sp>
      <p:sp>
        <p:nvSpPr>
          <p:cNvPr id="3" name="텍스트 개체 틀 2">
            <a:extLst>
              <a:ext uri="{FF2B5EF4-FFF2-40B4-BE49-F238E27FC236}">
                <a16:creationId xmlns:a16="http://schemas.microsoft.com/office/drawing/2014/main" id="{62258D83-06DA-DE72-2CED-4E9BF1DCC91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4" name="내용 개체 틀 3">
            <a:extLst>
              <a:ext uri="{FF2B5EF4-FFF2-40B4-BE49-F238E27FC236}">
                <a16:creationId xmlns:a16="http://schemas.microsoft.com/office/drawing/2014/main" id="{28D5943B-24BE-32D2-954C-B6CC046EDD4F}"/>
              </a:ext>
            </a:extLst>
          </p:cNvPr>
          <p:cNvSpPr>
            <a:spLocks noGrp="1"/>
          </p:cNvSpPr>
          <p:nvPr>
            <p:ph sz="half" idx="2"/>
          </p:nvPr>
        </p:nvSpPr>
        <p:spPr>
          <a:xfrm>
            <a:off x="839788" y="2505075"/>
            <a:ext cx="5157787"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a:p>
        </p:txBody>
      </p:sp>
      <p:sp>
        <p:nvSpPr>
          <p:cNvPr id="5" name="텍스트 개체 틀 4">
            <a:extLst>
              <a:ext uri="{FF2B5EF4-FFF2-40B4-BE49-F238E27FC236}">
                <a16:creationId xmlns:a16="http://schemas.microsoft.com/office/drawing/2014/main" id="{CB117783-1C6F-1288-C251-ABE5C71DEAB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6" name="내용 개체 틀 5">
            <a:extLst>
              <a:ext uri="{FF2B5EF4-FFF2-40B4-BE49-F238E27FC236}">
                <a16:creationId xmlns:a16="http://schemas.microsoft.com/office/drawing/2014/main" id="{924A06BD-9389-AA58-7408-30DD46BB6475}"/>
              </a:ext>
            </a:extLst>
          </p:cNvPr>
          <p:cNvSpPr>
            <a:spLocks noGrp="1"/>
          </p:cNvSpPr>
          <p:nvPr>
            <p:ph sz="quarter" idx="4"/>
          </p:nvPr>
        </p:nvSpPr>
        <p:spPr>
          <a:xfrm>
            <a:off x="6172200" y="2505075"/>
            <a:ext cx="5183188"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a:p>
        </p:txBody>
      </p:sp>
      <p:sp>
        <p:nvSpPr>
          <p:cNvPr id="7" name="날짜 개체 틀 6">
            <a:extLst>
              <a:ext uri="{FF2B5EF4-FFF2-40B4-BE49-F238E27FC236}">
                <a16:creationId xmlns:a16="http://schemas.microsoft.com/office/drawing/2014/main" id="{DD53D327-E218-6095-2BBC-32D373762F31}"/>
              </a:ext>
            </a:extLst>
          </p:cNvPr>
          <p:cNvSpPr>
            <a:spLocks noGrp="1"/>
          </p:cNvSpPr>
          <p:nvPr>
            <p:ph type="dt" sz="half" idx="10"/>
          </p:nvPr>
        </p:nvSpPr>
        <p:spPr/>
        <p:txBody>
          <a:bodyPr/>
          <a:lstStyle/>
          <a:p>
            <a:fld id="{CBF0AB5A-E051-47CE-A1D7-136B028500CC}" type="datetime1">
              <a:rPr lang="en-US" altLang="ko-KR" smtClean="0"/>
              <a:t>4/12/2026</a:t>
            </a:fld>
            <a:endParaRPr lang="en-US"/>
          </a:p>
        </p:txBody>
      </p:sp>
      <p:sp>
        <p:nvSpPr>
          <p:cNvPr id="8" name="바닥글 개체 틀 7">
            <a:extLst>
              <a:ext uri="{FF2B5EF4-FFF2-40B4-BE49-F238E27FC236}">
                <a16:creationId xmlns:a16="http://schemas.microsoft.com/office/drawing/2014/main" id="{678F717C-DE9A-7D20-7674-17FB08F6FA12}"/>
              </a:ext>
            </a:extLst>
          </p:cNvPr>
          <p:cNvSpPr>
            <a:spLocks noGrp="1"/>
          </p:cNvSpPr>
          <p:nvPr>
            <p:ph type="ftr" sz="quarter" idx="11"/>
          </p:nvPr>
        </p:nvSpPr>
        <p:spPr/>
        <p:txBody>
          <a:bodyPr/>
          <a:lstStyle/>
          <a:p>
            <a:r>
              <a:rPr lang="en-US"/>
              <a:t>2023 Copyright ⓒ Autonomous Vehicle Lab</a:t>
            </a:r>
          </a:p>
        </p:txBody>
      </p:sp>
      <p:sp>
        <p:nvSpPr>
          <p:cNvPr id="9" name="슬라이드 번호 개체 틀 8">
            <a:extLst>
              <a:ext uri="{FF2B5EF4-FFF2-40B4-BE49-F238E27FC236}">
                <a16:creationId xmlns:a16="http://schemas.microsoft.com/office/drawing/2014/main" id="{41E894E9-BDDA-D13B-B581-F2D66D1C2511}"/>
              </a:ext>
            </a:extLst>
          </p:cNvPr>
          <p:cNvSpPr>
            <a:spLocks noGrp="1"/>
          </p:cNvSpPr>
          <p:nvPr>
            <p:ph type="sldNum" sz="quarter" idx="12"/>
          </p:nvPr>
        </p:nvSpPr>
        <p:spPr/>
        <p:txBody>
          <a:bodyPr/>
          <a:lstStyle/>
          <a:p>
            <a:fld id="{55635D17-9D19-4B1E-86C2-B9D6296E4AF7}" type="slidenum">
              <a:rPr lang="en-US" smtClean="0"/>
              <a:t>‹#›</a:t>
            </a:fld>
            <a:endParaRPr lang="en-US"/>
          </a:p>
        </p:txBody>
      </p:sp>
    </p:spTree>
    <p:extLst>
      <p:ext uri="{BB962C8B-B14F-4D97-AF65-F5344CB8AC3E}">
        <p14:creationId xmlns:p14="http://schemas.microsoft.com/office/powerpoint/2010/main" val="8862296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FE57AC9C-9A4A-F862-E786-F1B34589B60F}"/>
              </a:ext>
            </a:extLst>
          </p:cNvPr>
          <p:cNvSpPr>
            <a:spLocks noGrp="1"/>
          </p:cNvSpPr>
          <p:nvPr>
            <p:ph type="title"/>
          </p:nvPr>
        </p:nvSpPr>
        <p:spPr/>
        <p:txBody>
          <a:bodyPr/>
          <a:lstStyle/>
          <a:p>
            <a:r>
              <a:rPr lang="ko-KR" altLang="en-US"/>
              <a:t>마스터 제목 스타일 편집</a:t>
            </a:r>
            <a:endParaRPr lang="en-US"/>
          </a:p>
        </p:txBody>
      </p:sp>
      <p:sp>
        <p:nvSpPr>
          <p:cNvPr id="3" name="날짜 개체 틀 2">
            <a:extLst>
              <a:ext uri="{FF2B5EF4-FFF2-40B4-BE49-F238E27FC236}">
                <a16:creationId xmlns:a16="http://schemas.microsoft.com/office/drawing/2014/main" id="{0FDB4298-98D2-5E47-9895-AD48A29AD7D1}"/>
              </a:ext>
            </a:extLst>
          </p:cNvPr>
          <p:cNvSpPr>
            <a:spLocks noGrp="1"/>
          </p:cNvSpPr>
          <p:nvPr>
            <p:ph type="dt" sz="half" idx="10"/>
          </p:nvPr>
        </p:nvSpPr>
        <p:spPr/>
        <p:txBody>
          <a:bodyPr/>
          <a:lstStyle/>
          <a:p>
            <a:fld id="{0C80D9D7-BE2A-4278-B7C1-94B51107F5C4}" type="datetime1">
              <a:rPr lang="en-US" altLang="ko-KR" smtClean="0"/>
              <a:t>4/12/2026</a:t>
            </a:fld>
            <a:endParaRPr lang="en-US"/>
          </a:p>
        </p:txBody>
      </p:sp>
      <p:sp>
        <p:nvSpPr>
          <p:cNvPr id="4" name="바닥글 개체 틀 3">
            <a:extLst>
              <a:ext uri="{FF2B5EF4-FFF2-40B4-BE49-F238E27FC236}">
                <a16:creationId xmlns:a16="http://schemas.microsoft.com/office/drawing/2014/main" id="{00C684BA-4F45-266E-C9F1-45A5BF349C50}"/>
              </a:ext>
            </a:extLst>
          </p:cNvPr>
          <p:cNvSpPr>
            <a:spLocks noGrp="1"/>
          </p:cNvSpPr>
          <p:nvPr>
            <p:ph type="ftr" sz="quarter" idx="11"/>
          </p:nvPr>
        </p:nvSpPr>
        <p:spPr/>
        <p:txBody>
          <a:bodyPr/>
          <a:lstStyle/>
          <a:p>
            <a:r>
              <a:rPr lang="en-US"/>
              <a:t>2023 Copyright ⓒ Autonomous Vehicle Lab</a:t>
            </a:r>
          </a:p>
        </p:txBody>
      </p:sp>
      <p:sp>
        <p:nvSpPr>
          <p:cNvPr id="5" name="슬라이드 번호 개체 틀 4">
            <a:extLst>
              <a:ext uri="{FF2B5EF4-FFF2-40B4-BE49-F238E27FC236}">
                <a16:creationId xmlns:a16="http://schemas.microsoft.com/office/drawing/2014/main" id="{F5994CB8-C1F5-2FAD-929B-2E6C65DA304E}"/>
              </a:ext>
            </a:extLst>
          </p:cNvPr>
          <p:cNvSpPr>
            <a:spLocks noGrp="1"/>
          </p:cNvSpPr>
          <p:nvPr>
            <p:ph type="sldNum" sz="quarter" idx="12"/>
          </p:nvPr>
        </p:nvSpPr>
        <p:spPr/>
        <p:txBody>
          <a:bodyPr/>
          <a:lstStyle/>
          <a:p>
            <a:fld id="{55635D17-9D19-4B1E-86C2-B9D6296E4AF7}" type="slidenum">
              <a:rPr lang="en-US" smtClean="0"/>
              <a:t>‹#›</a:t>
            </a:fld>
            <a:endParaRPr lang="en-US"/>
          </a:p>
        </p:txBody>
      </p:sp>
    </p:spTree>
    <p:extLst>
      <p:ext uri="{BB962C8B-B14F-4D97-AF65-F5344CB8AC3E}">
        <p14:creationId xmlns:p14="http://schemas.microsoft.com/office/powerpoint/2010/main" val="29844325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a:extLst>
              <a:ext uri="{FF2B5EF4-FFF2-40B4-BE49-F238E27FC236}">
                <a16:creationId xmlns:a16="http://schemas.microsoft.com/office/drawing/2014/main" id="{D405D644-F2E4-FE1D-1250-1A8A5681D693}"/>
              </a:ext>
            </a:extLst>
          </p:cNvPr>
          <p:cNvSpPr>
            <a:spLocks noGrp="1"/>
          </p:cNvSpPr>
          <p:nvPr>
            <p:ph type="dt" sz="half" idx="10"/>
          </p:nvPr>
        </p:nvSpPr>
        <p:spPr/>
        <p:txBody>
          <a:bodyPr/>
          <a:lstStyle/>
          <a:p>
            <a:fld id="{3B86C294-B472-48D6-B34D-7F4B4917D485}" type="datetime1">
              <a:rPr lang="en-US" altLang="ko-KR" smtClean="0"/>
              <a:t>4/12/2026</a:t>
            </a:fld>
            <a:endParaRPr lang="en-US"/>
          </a:p>
        </p:txBody>
      </p:sp>
      <p:sp>
        <p:nvSpPr>
          <p:cNvPr id="3" name="바닥글 개체 틀 2">
            <a:extLst>
              <a:ext uri="{FF2B5EF4-FFF2-40B4-BE49-F238E27FC236}">
                <a16:creationId xmlns:a16="http://schemas.microsoft.com/office/drawing/2014/main" id="{87A69C97-9499-E286-496D-57D5F1E30440}"/>
              </a:ext>
            </a:extLst>
          </p:cNvPr>
          <p:cNvSpPr>
            <a:spLocks noGrp="1"/>
          </p:cNvSpPr>
          <p:nvPr>
            <p:ph type="ftr" sz="quarter" idx="11"/>
          </p:nvPr>
        </p:nvSpPr>
        <p:spPr/>
        <p:txBody>
          <a:bodyPr/>
          <a:lstStyle/>
          <a:p>
            <a:r>
              <a:rPr lang="en-US"/>
              <a:t>2023 Copyright ⓒ Autonomous Vehicle Lab</a:t>
            </a:r>
          </a:p>
        </p:txBody>
      </p:sp>
      <p:sp>
        <p:nvSpPr>
          <p:cNvPr id="4" name="슬라이드 번호 개체 틀 3">
            <a:extLst>
              <a:ext uri="{FF2B5EF4-FFF2-40B4-BE49-F238E27FC236}">
                <a16:creationId xmlns:a16="http://schemas.microsoft.com/office/drawing/2014/main" id="{104445F3-858C-4967-685F-95DBE426631A}"/>
              </a:ext>
            </a:extLst>
          </p:cNvPr>
          <p:cNvSpPr>
            <a:spLocks noGrp="1"/>
          </p:cNvSpPr>
          <p:nvPr>
            <p:ph type="sldNum" sz="quarter" idx="12"/>
          </p:nvPr>
        </p:nvSpPr>
        <p:spPr/>
        <p:txBody>
          <a:bodyPr/>
          <a:lstStyle/>
          <a:p>
            <a:fld id="{55635D17-9D19-4B1E-86C2-B9D6296E4AF7}" type="slidenum">
              <a:rPr lang="en-US" smtClean="0"/>
              <a:t>‹#›</a:t>
            </a:fld>
            <a:endParaRPr lang="en-US"/>
          </a:p>
        </p:txBody>
      </p:sp>
    </p:spTree>
    <p:extLst>
      <p:ext uri="{BB962C8B-B14F-4D97-AF65-F5344CB8AC3E}">
        <p14:creationId xmlns:p14="http://schemas.microsoft.com/office/powerpoint/2010/main" val="21905287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F702536B-A3CF-3BF5-86CA-2050C8CD33EF}"/>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endParaRPr lang="en-US"/>
          </a:p>
        </p:txBody>
      </p:sp>
      <p:sp>
        <p:nvSpPr>
          <p:cNvPr id="3" name="내용 개체 틀 2">
            <a:extLst>
              <a:ext uri="{FF2B5EF4-FFF2-40B4-BE49-F238E27FC236}">
                <a16:creationId xmlns:a16="http://schemas.microsoft.com/office/drawing/2014/main" id="{3503A982-AD4B-8414-5D3C-BD3EFBD3164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a:p>
        </p:txBody>
      </p:sp>
      <p:sp>
        <p:nvSpPr>
          <p:cNvPr id="4" name="텍스트 개체 틀 3">
            <a:extLst>
              <a:ext uri="{FF2B5EF4-FFF2-40B4-BE49-F238E27FC236}">
                <a16:creationId xmlns:a16="http://schemas.microsoft.com/office/drawing/2014/main" id="{EE85E761-F9B1-3D96-8E53-8EFBECBFC88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5AA56E60-43BE-CFA9-D15A-F69DE11C4881}"/>
              </a:ext>
            </a:extLst>
          </p:cNvPr>
          <p:cNvSpPr>
            <a:spLocks noGrp="1"/>
          </p:cNvSpPr>
          <p:nvPr>
            <p:ph type="dt" sz="half" idx="10"/>
          </p:nvPr>
        </p:nvSpPr>
        <p:spPr/>
        <p:txBody>
          <a:bodyPr/>
          <a:lstStyle/>
          <a:p>
            <a:fld id="{1A618C3A-F8DF-4BAF-9CFF-537EB6C17DE4}" type="datetime1">
              <a:rPr lang="en-US" altLang="ko-KR" smtClean="0"/>
              <a:t>4/12/2026</a:t>
            </a:fld>
            <a:endParaRPr lang="en-US"/>
          </a:p>
        </p:txBody>
      </p:sp>
      <p:sp>
        <p:nvSpPr>
          <p:cNvPr id="6" name="바닥글 개체 틀 5">
            <a:extLst>
              <a:ext uri="{FF2B5EF4-FFF2-40B4-BE49-F238E27FC236}">
                <a16:creationId xmlns:a16="http://schemas.microsoft.com/office/drawing/2014/main" id="{41188857-E9E6-A8D2-148A-613E46011B79}"/>
              </a:ext>
            </a:extLst>
          </p:cNvPr>
          <p:cNvSpPr>
            <a:spLocks noGrp="1"/>
          </p:cNvSpPr>
          <p:nvPr>
            <p:ph type="ftr" sz="quarter" idx="11"/>
          </p:nvPr>
        </p:nvSpPr>
        <p:spPr/>
        <p:txBody>
          <a:bodyPr/>
          <a:lstStyle/>
          <a:p>
            <a:r>
              <a:rPr lang="en-US"/>
              <a:t>2023 Copyright ⓒ Autonomous Vehicle Lab</a:t>
            </a:r>
          </a:p>
        </p:txBody>
      </p:sp>
      <p:sp>
        <p:nvSpPr>
          <p:cNvPr id="7" name="슬라이드 번호 개체 틀 6">
            <a:extLst>
              <a:ext uri="{FF2B5EF4-FFF2-40B4-BE49-F238E27FC236}">
                <a16:creationId xmlns:a16="http://schemas.microsoft.com/office/drawing/2014/main" id="{1DB4C6CD-B4E5-5A99-4BD0-805C62CA1CB4}"/>
              </a:ext>
            </a:extLst>
          </p:cNvPr>
          <p:cNvSpPr>
            <a:spLocks noGrp="1"/>
          </p:cNvSpPr>
          <p:nvPr>
            <p:ph type="sldNum" sz="quarter" idx="12"/>
          </p:nvPr>
        </p:nvSpPr>
        <p:spPr/>
        <p:txBody>
          <a:bodyPr/>
          <a:lstStyle/>
          <a:p>
            <a:fld id="{55635D17-9D19-4B1E-86C2-B9D6296E4AF7}" type="slidenum">
              <a:rPr lang="en-US" smtClean="0"/>
              <a:t>‹#›</a:t>
            </a:fld>
            <a:endParaRPr lang="en-US"/>
          </a:p>
        </p:txBody>
      </p:sp>
    </p:spTree>
    <p:extLst>
      <p:ext uri="{BB962C8B-B14F-4D97-AF65-F5344CB8AC3E}">
        <p14:creationId xmlns:p14="http://schemas.microsoft.com/office/powerpoint/2010/main" val="2594552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55D2EAE-6884-46E5-E2E6-BE5B945AE00A}"/>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endParaRPr lang="en-US"/>
          </a:p>
        </p:txBody>
      </p:sp>
      <p:sp>
        <p:nvSpPr>
          <p:cNvPr id="3" name="그림 개체 틀 2">
            <a:extLst>
              <a:ext uri="{FF2B5EF4-FFF2-40B4-BE49-F238E27FC236}">
                <a16:creationId xmlns:a16="http://schemas.microsoft.com/office/drawing/2014/main" id="{FDA492A4-8844-E42C-1A19-7F8E22D1F40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ko-KR" altLang="en-US"/>
              <a:t>그림을 추가하려면 아이콘을 클릭하십시오</a:t>
            </a:r>
            <a:endParaRPr lang="en-US"/>
          </a:p>
        </p:txBody>
      </p:sp>
      <p:sp>
        <p:nvSpPr>
          <p:cNvPr id="4" name="텍스트 개체 틀 3">
            <a:extLst>
              <a:ext uri="{FF2B5EF4-FFF2-40B4-BE49-F238E27FC236}">
                <a16:creationId xmlns:a16="http://schemas.microsoft.com/office/drawing/2014/main" id="{46D0BC40-CE3A-8977-0D4F-76248C80F3F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E7ACB566-6E73-00F9-D29D-7BFE712D142B}"/>
              </a:ext>
            </a:extLst>
          </p:cNvPr>
          <p:cNvSpPr>
            <a:spLocks noGrp="1"/>
          </p:cNvSpPr>
          <p:nvPr>
            <p:ph type="dt" sz="half" idx="10"/>
          </p:nvPr>
        </p:nvSpPr>
        <p:spPr/>
        <p:txBody>
          <a:bodyPr/>
          <a:lstStyle/>
          <a:p>
            <a:fld id="{03111ECB-F47A-4558-AC49-0692DCB364D2}" type="datetime1">
              <a:rPr lang="en-US" altLang="ko-KR" smtClean="0"/>
              <a:t>4/12/2026</a:t>
            </a:fld>
            <a:endParaRPr lang="en-US"/>
          </a:p>
        </p:txBody>
      </p:sp>
      <p:sp>
        <p:nvSpPr>
          <p:cNvPr id="6" name="바닥글 개체 틀 5">
            <a:extLst>
              <a:ext uri="{FF2B5EF4-FFF2-40B4-BE49-F238E27FC236}">
                <a16:creationId xmlns:a16="http://schemas.microsoft.com/office/drawing/2014/main" id="{557F6972-C0CE-EB37-BB1E-FA97B3FC94DF}"/>
              </a:ext>
            </a:extLst>
          </p:cNvPr>
          <p:cNvSpPr>
            <a:spLocks noGrp="1"/>
          </p:cNvSpPr>
          <p:nvPr>
            <p:ph type="ftr" sz="quarter" idx="11"/>
          </p:nvPr>
        </p:nvSpPr>
        <p:spPr/>
        <p:txBody>
          <a:bodyPr/>
          <a:lstStyle/>
          <a:p>
            <a:r>
              <a:rPr lang="en-US"/>
              <a:t>2023 Copyright ⓒ Autonomous Vehicle Lab</a:t>
            </a:r>
          </a:p>
        </p:txBody>
      </p:sp>
      <p:sp>
        <p:nvSpPr>
          <p:cNvPr id="7" name="슬라이드 번호 개체 틀 6">
            <a:extLst>
              <a:ext uri="{FF2B5EF4-FFF2-40B4-BE49-F238E27FC236}">
                <a16:creationId xmlns:a16="http://schemas.microsoft.com/office/drawing/2014/main" id="{80270D29-0930-CC81-A182-455E959EDF9A}"/>
              </a:ext>
            </a:extLst>
          </p:cNvPr>
          <p:cNvSpPr>
            <a:spLocks noGrp="1"/>
          </p:cNvSpPr>
          <p:nvPr>
            <p:ph type="sldNum" sz="quarter" idx="12"/>
          </p:nvPr>
        </p:nvSpPr>
        <p:spPr/>
        <p:txBody>
          <a:bodyPr/>
          <a:lstStyle/>
          <a:p>
            <a:fld id="{55635D17-9D19-4B1E-86C2-B9D6296E4AF7}" type="slidenum">
              <a:rPr lang="en-US" smtClean="0"/>
              <a:t>‹#›</a:t>
            </a:fld>
            <a:endParaRPr lang="en-US"/>
          </a:p>
        </p:txBody>
      </p:sp>
    </p:spTree>
    <p:extLst>
      <p:ext uri="{BB962C8B-B14F-4D97-AF65-F5344CB8AC3E}">
        <p14:creationId xmlns:p14="http://schemas.microsoft.com/office/powerpoint/2010/main" val="13903001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83C164B6-FF6D-E10D-F21B-849706BAA774}"/>
              </a:ext>
            </a:extLst>
          </p:cNvPr>
          <p:cNvSpPr>
            <a:spLocks noGrp="1"/>
          </p:cNvSpPr>
          <p:nvPr>
            <p:ph type="title"/>
          </p:nvPr>
        </p:nvSpPr>
        <p:spPr/>
        <p:txBody>
          <a:bodyPr/>
          <a:lstStyle/>
          <a:p>
            <a:r>
              <a:rPr lang="ko-KR" altLang="en-US"/>
              <a:t>마스터 제목 스타일 편집</a:t>
            </a:r>
            <a:endParaRPr lang="en-US"/>
          </a:p>
        </p:txBody>
      </p:sp>
      <p:sp>
        <p:nvSpPr>
          <p:cNvPr id="3" name="세로 텍스트 개체 틀 2">
            <a:extLst>
              <a:ext uri="{FF2B5EF4-FFF2-40B4-BE49-F238E27FC236}">
                <a16:creationId xmlns:a16="http://schemas.microsoft.com/office/drawing/2014/main" id="{99C785EC-47E4-2E18-B7F2-13E508439351}"/>
              </a:ext>
            </a:extLst>
          </p:cNvPr>
          <p:cNvSpPr>
            <a:spLocks noGrp="1"/>
          </p:cNvSpPr>
          <p:nvPr>
            <p:ph type="body" orient="vert" idx="1"/>
          </p:nvPr>
        </p:nvSpPr>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a:p>
        </p:txBody>
      </p:sp>
      <p:sp>
        <p:nvSpPr>
          <p:cNvPr id="4" name="날짜 개체 틀 3">
            <a:extLst>
              <a:ext uri="{FF2B5EF4-FFF2-40B4-BE49-F238E27FC236}">
                <a16:creationId xmlns:a16="http://schemas.microsoft.com/office/drawing/2014/main" id="{9D1B2605-C50A-8F44-AFB1-8BE40B8204E1}"/>
              </a:ext>
            </a:extLst>
          </p:cNvPr>
          <p:cNvSpPr>
            <a:spLocks noGrp="1"/>
          </p:cNvSpPr>
          <p:nvPr>
            <p:ph type="dt" sz="half" idx="10"/>
          </p:nvPr>
        </p:nvSpPr>
        <p:spPr/>
        <p:txBody>
          <a:bodyPr/>
          <a:lstStyle/>
          <a:p>
            <a:fld id="{262B192A-4CFD-4920-BB2A-9A5D59970817}" type="datetime1">
              <a:rPr lang="en-US" altLang="ko-KR" smtClean="0"/>
              <a:t>4/12/2026</a:t>
            </a:fld>
            <a:endParaRPr lang="en-US"/>
          </a:p>
        </p:txBody>
      </p:sp>
      <p:sp>
        <p:nvSpPr>
          <p:cNvPr id="5" name="바닥글 개체 틀 4">
            <a:extLst>
              <a:ext uri="{FF2B5EF4-FFF2-40B4-BE49-F238E27FC236}">
                <a16:creationId xmlns:a16="http://schemas.microsoft.com/office/drawing/2014/main" id="{E47E6CE8-4203-1001-4E3C-AA70C6CB1790}"/>
              </a:ext>
            </a:extLst>
          </p:cNvPr>
          <p:cNvSpPr>
            <a:spLocks noGrp="1"/>
          </p:cNvSpPr>
          <p:nvPr>
            <p:ph type="ftr" sz="quarter" idx="11"/>
          </p:nvPr>
        </p:nvSpPr>
        <p:spPr/>
        <p:txBody>
          <a:bodyPr/>
          <a:lstStyle/>
          <a:p>
            <a:r>
              <a:rPr lang="en-US"/>
              <a:t>2023 Copyright ⓒ Autonomous Vehicle Lab</a:t>
            </a:r>
          </a:p>
        </p:txBody>
      </p:sp>
      <p:sp>
        <p:nvSpPr>
          <p:cNvPr id="6" name="슬라이드 번호 개체 틀 5">
            <a:extLst>
              <a:ext uri="{FF2B5EF4-FFF2-40B4-BE49-F238E27FC236}">
                <a16:creationId xmlns:a16="http://schemas.microsoft.com/office/drawing/2014/main" id="{5C5E88CA-4E96-42F5-F6E2-8D5812631228}"/>
              </a:ext>
            </a:extLst>
          </p:cNvPr>
          <p:cNvSpPr>
            <a:spLocks noGrp="1"/>
          </p:cNvSpPr>
          <p:nvPr>
            <p:ph type="sldNum" sz="quarter" idx="12"/>
          </p:nvPr>
        </p:nvSpPr>
        <p:spPr/>
        <p:txBody>
          <a:bodyPr/>
          <a:lstStyle/>
          <a:p>
            <a:fld id="{55635D17-9D19-4B1E-86C2-B9D6296E4AF7}" type="slidenum">
              <a:rPr lang="en-US" smtClean="0"/>
              <a:t>‹#›</a:t>
            </a:fld>
            <a:endParaRPr lang="en-US"/>
          </a:p>
        </p:txBody>
      </p:sp>
    </p:spTree>
    <p:extLst>
      <p:ext uri="{BB962C8B-B14F-4D97-AF65-F5344CB8AC3E}">
        <p14:creationId xmlns:p14="http://schemas.microsoft.com/office/powerpoint/2010/main" val="402351591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a:extLst>
              <a:ext uri="{FF2B5EF4-FFF2-40B4-BE49-F238E27FC236}">
                <a16:creationId xmlns:a16="http://schemas.microsoft.com/office/drawing/2014/main" id="{4E934FC9-D78E-B4CB-AEE6-7EFC54DA8AED}"/>
              </a:ext>
            </a:extLst>
          </p:cNvPr>
          <p:cNvSpPr>
            <a:spLocks noGrp="1"/>
          </p:cNvSpPr>
          <p:nvPr>
            <p:ph type="title" orient="vert"/>
          </p:nvPr>
        </p:nvSpPr>
        <p:spPr>
          <a:xfrm>
            <a:off x="8724900" y="365125"/>
            <a:ext cx="2628900" cy="5811838"/>
          </a:xfrm>
        </p:spPr>
        <p:txBody>
          <a:bodyPr vert="eaVert"/>
          <a:lstStyle/>
          <a:p>
            <a:r>
              <a:rPr lang="ko-KR" altLang="en-US"/>
              <a:t>마스터 제목 스타일 편집</a:t>
            </a:r>
            <a:endParaRPr lang="en-US"/>
          </a:p>
        </p:txBody>
      </p:sp>
      <p:sp>
        <p:nvSpPr>
          <p:cNvPr id="3" name="세로 텍스트 개체 틀 2">
            <a:extLst>
              <a:ext uri="{FF2B5EF4-FFF2-40B4-BE49-F238E27FC236}">
                <a16:creationId xmlns:a16="http://schemas.microsoft.com/office/drawing/2014/main" id="{2137B47E-7598-2C0C-9182-14761D65F898}"/>
              </a:ext>
            </a:extLst>
          </p:cNvPr>
          <p:cNvSpPr>
            <a:spLocks noGrp="1"/>
          </p:cNvSpPr>
          <p:nvPr>
            <p:ph type="body" orient="vert" idx="1"/>
          </p:nvPr>
        </p:nvSpPr>
        <p:spPr>
          <a:xfrm>
            <a:off x="838200" y="365125"/>
            <a:ext cx="7734300" cy="5811838"/>
          </a:xfrm>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a:p>
        </p:txBody>
      </p:sp>
      <p:sp>
        <p:nvSpPr>
          <p:cNvPr id="4" name="날짜 개체 틀 3">
            <a:extLst>
              <a:ext uri="{FF2B5EF4-FFF2-40B4-BE49-F238E27FC236}">
                <a16:creationId xmlns:a16="http://schemas.microsoft.com/office/drawing/2014/main" id="{71FD35F8-91A6-768B-5EB8-BA4570AF2083}"/>
              </a:ext>
            </a:extLst>
          </p:cNvPr>
          <p:cNvSpPr>
            <a:spLocks noGrp="1"/>
          </p:cNvSpPr>
          <p:nvPr>
            <p:ph type="dt" sz="half" idx="10"/>
          </p:nvPr>
        </p:nvSpPr>
        <p:spPr/>
        <p:txBody>
          <a:bodyPr/>
          <a:lstStyle/>
          <a:p>
            <a:fld id="{B9820C95-879A-46C2-9ADD-18E5B2DDFA65}" type="datetime1">
              <a:rPr lang="en-US" altLang="ko-KR" smtClean="0"/>
              <a:t>4/12/2026</a:t>
            </a:fld>
            <a:endParaRPr lang="en-US"/>
          </a:p>
        </p:txBody>
      </p:sp>
      <p:sp>
        <p:nvSpPr>
          <p:cNvPr id="5" name="바닥글 개체 틀 4">
            <a:extLst>
              <a:ext uri="{FF2B5EF4-FFF2-40B4-BE49-F238E27FC236}">
                <a16:creationId xmlns:a16="http://schemas.microsoft.com/office/drawing/2014/main" id="{22F4B8DE-15E4-6A6A-D3A9-FEBF74EF748A}"/>
              </a:ext>
            </a:extLst>
          </p:cNvPr>
          <p:cNvSpPr>
            <a:spLocks noGrp="1"/>
          </p:cNvSpPr>
          <p:nvPr>
            <p:ph type="ftr" sz="quarter" idx="11"/>
          </p:nvPr>
        </p:nvSpPr>
        <p:spPr/>
        <p:txBody>
          <a:bodyPr/>
          <a:lstStyle/>
          <a:p>
            <a:r>
              <a:rPr lang="en-US"/>
              <a:t>2023 Copyright ⓒ Autonomous Vehicle Lab</a:t>
            </a:r>
          </a:p>
        </p:txBody>
      </p:sp>
      <p:sp>
        <p:nvSpPr>
          <p:cNvPr id="6" name="슬라이드 번호 개체 틀 5">
            <a:extLst>
              <a:ext uri="{FF2B5EF4-FFF2-40B4-BE49-F238E27FC236}">
                <a16:creationId xmlns:a16="http://schemas.microsoft.com/office/drawing/2014/main" id="{3BC2AF7C-4858-5554-00FC-3F8EF3265B85}"/>
              </a:ext>
            </a:extLst>
          </p:cNvPr>
          <p:cNvSpPr>
            <a:spLocks noGrp="1"/>
          </p:cNvSpPr>
          <p:nvPr>
            <p:ph type="sldNum" sz="quarter" idx="12"/>
          </p:nvPr>
        </p:nvSpPr>
        <p:spPr/>
        <p:txBody>
          <a:bodyPr/>
          <a:lstStyle/>
          <a:p>
            <a:fld id="{55635D17-9D19-4B1E-86C2-B9D6296E4AF7}" type="slidenum">
              <a:rPr lang="en-US" smtClean="0"/>
              <a:t>‹#›</a:t>
            </a:fld>
            <a:endParaRPr lang="en-US"/>
          </a:p>
        </p:txBody>
      </p:sp>
    </p:spTree>
    <p:extLst>
      <p:ext uri="{BB962C8B-B14F-4D97-AF65-F5344CB8AC3E}">
        <p14:creationId xmlns:p14="http://schemas.microsoft.com/office/powerpoint/2010/main" val="20688382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a:extLst>
              <a:ext uri="{FF2B5EF4-FFF2-40B4-BE49-F238E27FC236}">
                <a16:creationId xmlns:a16="http://schemas.microsoft.com/office/drawing/2014/main" id="{4FAE63EF-98BA-4551-9A6E-294EE670BF4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ko-KR" altLang="en-US"/>
              <a:t>마스터 제목 스타일 편집</a:t>
            </a:r>
            <a:endParaRPr lang="en-US"/>
          </a:p>
        </p:txBody>
      </p:sp>
      <p:sp>
        <p:nvSpPr>
          <p:cNvPr id="3" name="텍스트 개체 틀 2">
            <a:extLst>
              <a:ext uri="{FF2B5EF4-FFF2-40B4-BE49-F238E27FC236}">
                <a16:creationId xmlns:a16="http://schemas.microsoft.com/office/drawing/2014/main" id="{BDEB9398-1327-EFAC-5562-BE18BF0B69F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a:p>
        </p:txBody>
      </p:sp>
      <p:sp>
        <p:nvSpPr>
          <p:cNvPr id="4" name="날짜 개체 틀 3">
            <a:extLst>
              <a:ext uri="{FF2B5EF4-FFF2-40B4-BE49-F238E27FC236}">
                <a16:creationId xmlns:a16="http://schemas.microsoft.com/office/drawing/2014/main" id="{0251375F-DFD5-2696-D915-D42AF2BDEFD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EA7EC35-D2B7-4CF9-B0B6-E5501958E0EB}" type="datetime1">
              <a:rPr lang="en-US" altLang="ko-KR" smtClean="0"/>
              <a:t>4/12/2026</a:t>
            </a:fld>
            <a:endParaRPr lang="en-US"/>
          </a:p>
        </p:txBody>
      </p:sp>
      <p:sp>
        <p:nvSpPr>
          <p:cNvPr id="5" name="바닥글 개체 틀 4">
            <a:extLst>
              <a:ext uri="{FF2B5EF4-FFF2-40B4-BE49-F238E27FC236}">
                <a16:creationId xmlns:a16="http://schemas.microsoft.com/office/drawing/2014/main" id="{624B2157-1A42-A5FE-CD8A-D19B88A4510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2023 Copyright ⓒ Autonomous Vehicle Lab</a:t>
            </a:r>
          </a:p>
        </p:txBody>
      </p:sp>
      <p:sp>
        <p:nvSpPr>
          <p:cNvPr id="6" name="슬라이드 번호 개체 틀 5">
            <a:extLst>
              <a:ext uri="{FF2B5EF4-FFF2-40B4-BE49-F238E27FC236}">
                <a16:creationId xmlns:a16="http://schemas.microsoft.com/office/drawing/2014/main" id="{26FD67E3-C466-44B9-48D1-66B3C7B4E37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5635D17-9D19-4B1E-86C2-B9D6296E4AF7}" type="slidenum">
              <a:rPr lang="en-US" smtClean="0"/>
              <a:t>‹#›</a:t>
            </a:fld>
            <a:endParaRPr lang="en-US"/>
          </a:p>
        </p:txBody>
      </p:sp>
    </p:spTree>
    <p:extLst>
      <p:ext uri="{BB962C8B-B14F-4D97-AF65-F5344CB8AC3E}">
        <p14:creationId xmlns:p14="http://schemas.microsoft.com/office/powerpoint/2010/main" val="4182052524"/>
      </p:ext>
    </p:extLst>
  </p:cSld>
  <p:clrMap bg1="lt1" tx1="dk1" bg2="lt2" tx2="dk2" accent1="accent1" accent2="accent2" accent3="accent3" accent4="accent4" accent5="accent5" accent6="accent6" hlink="hlink" folHlink="folHlink"/>
  <p:sldLayoutIdLst>
    <p:sldLayoutId id="2147483649" r:id="rId1"/>
    <p:sldLayoutId id="2147483660"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hdr="0"/>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hyperlink" Target="mailto:sckee@cbnu.ac.kr"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hyperlink" Target="http://www.autosar.org/" TargetMode="External"/><Relationship Id="rId2" Type="http://schemas.openxmlformats.org/officeDocument/2006/relationships/image" Target="../media/image7.emf"/><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hyperlink" Target="https://www.autosar.org/standards/adaptive-platform/" TargetMode="External"/><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38FB802A-854E-5465-AE50-91E210954DA8}"/>
              </a:ext>
            </a:extLst>
          </p:cNvPr>
          <p:cNvSpPr>
            <a:spLocks noGrp="1"/>
          </p:cNvSpPr>
          <p:nvPr>
            <p:ph type="ctrTitle"/>
          </p:nvPr>
        </p:nvSpPr>
        <p:spPr>
          <a:xfrm>
            <a:off x="346601" y="1407548"/>
            <a:ext cx="7173685" cy="1340630"/>
          </a:xfrm>
        </p:spPr>
        <p:txBody>
          <a:bodyPr>
            <a:normAutofit fontScale="90000"/>
          </a:bodyPr>
          <a:lstStyle/>
          <a:p>
            <a:r>
              <a:rPr kumimoji="1" lang="ko-KR" altLang="en-US" dirty="0"/>
              <a:t>자율주행이동체 실제</a:t>
            </a:r>
            <a:br>
              <a:rPr kumimoji="1" lang="en-US" altLang="ko-KR" dirty="0"/>
            </a:br>
            <a:r>
              <a:rPr kumimoji="1" lang="en-US" altLang="ko-KR" sz="4400" b="1" dirty="0">
                <a:solidFill>
                  <a:schemeClr val="accent4">
                    <a:lumMod val="40000"/>
                    <a:lumOff val="60000"/>
                  </a:schemeClr>
                </a:solidFill>
              </a:rPr>
              <a:t>(6. AUTOSAR)</a:t>
            </a:r>
            <a:endParaRPr kumimoji="1" lang="ko-Kore-KR" altLang="en-US" b="1" dirty="0">
              <a:solidFill>
                <a:schemeClr val="accent4">
                  <a:lumMod val="40000"/>
                  <a:lumOff val="60000"/>
                </a:schemeClr>
              </a:solidFill>
            </a:endParaRPr>
          </a:p>
        </p:txBody>
      </p:sp>
      <p:sp>
        <p:nvSpPr>
          <p:cNvPr id="3" name="부제목 2">
            <a:extLst>
              <a:ext uri="{FF2B5EF4-FFF2-40B4-BE49-F238E27FC236}">
                <a16:creationId xmlns:a16="http://schemas.microsoft.com/office/drawing/2014/main" id="{EE110584-C3AB-9F0C-B55D-3FF78D9339F4}"/>
              </a:ext>
            </a:extLst>
          </p:cNvPr>
          <p:cNvSpPr>
            <a:spLocks noGrp="1" noChangeAspect="1"/>
          </p:cNvSpPr>
          <p:nvPr>
            <p:ph type="subTitle" idx="1"/>
          </p:nvPr>
        </p:nvSpPr>
        <p:spPr>
          <a:xfrm>
            <a:off x="458482" y="4613366"/>
            <a:ext cx="4655166" cy="1679859"/>
          </a:xfrm>
        </p:spPr>
        <p:txBody>
          <a:bodyPr>
            <a:noAutofit/>
          </a:bodyPr>
          <a:lstStyle/>
          <a:p>
            <a:r>
              <a:rPr kumimoji="1" lang="ko-KR" altLang="en-US" sz="2800" dirty="0"/>
              <a:t>충북대학교 지능로봇공학과</a:t>
            </a:r>
            <a:endParaRPr kumimoji="1" lang="en-US" altLang="ko-KR" sz="2800" dirty="0"/>
          </a:p>
          <a:p>
            <a:r>
              <a:rPr kumimoji="1" lang="ko-KR" altLang="en-US" sz="2800" dirty="0"/>
              <a:t>기석철 교수</a:t>
            </a:r>
            <a:endParaRPr kumimoji="1" lang="en-US" altLang="en-US" sz="2800" dirty="0"/>
          </a:p>
          <a:p>
            <a:r>
              <a:rPr kumimoji="1" lang="en-US" altLang="ko-KR" sz="2800" dirty="0">
                <a:hlinkClick r:id="rId2">
                  <a:extLst>
                    <a:ext uri="{A12FA001-AC4F-418D-AE19-62706E023703}">
                      <ahyp:hlinkClr xmlns:ahyp="http://schemas.microsoft.com/office/drawing/2018/hyperlinkcolor" val="tx"/>
                    </a:ext>
                  </a:extLst>
                </a:hlinkClick>
              </a:rPr>
              <a:t>sckee@cbnu.ac.kr</a:t>
            </a:r>
            <a:r>
              <a:rPr kumimoji="1" lang="en-US" altLang="ko-KR" sz="2800" dirty="0"/>
              <a:t>,  E8-7</a:t>
            </a:r>
            <a:r>
              <a:rPr kumimoji="1" lang="ko-KR" altLang="en-US" sz="2800" dirty="0"/>
              <a:t>동 </a:t>
            </a:r>
            <a:r>
              <a:rPr kumimoji="1" lang="en-US" altLang="ko-KR" sz="2800" dirty="0"/>
              <a:t>341-1</a:t>
            </a:r>
            <a:r>
              <a:rPr kumimoji="1" lang="ko-KR" altLang="en-US" sz="2800" dirty="0"/>
              <a:t>호</a:t>
            </a:r>
            <a:endParaRPr kumimoji="1" lang="en-US" altLang="en-US" sz="2800" dirty="0"/>
          </a:p>
        </p:txBody>
      </p:sp>
      <p:sp>
        <p:nvSpPr>
          <p:cNvPr id="4" name="날짜 개체 틀 3">
            <a:extLst>
              <a:ext uri="{FF2B5EF4-FFF2-40B4-BE49-F238E27FC236}">
                <a16:creationId xmlns:a16="http://schemas.microsoft.com/office/drawing/2014/main" id="{8F84D7F9-C8F2-E238-CFF2-AB910695468D}"/>
              </a:ext>
            </a:extLst>
          </p:cNvPr>
          <p:cNvSpPr>
            <a:spLocks noGrp="1"/>
          </p:cNvSpPr>
          <p:nvPr>
            <p:ph type="dt" sz="half" idx="10"/>
          </p:nvPr>
        </p:nvSpPr>
        <p:spPr/>
        <p:txBody>
          <a:bodyPr/>
          <a:lstStyle/>
          <a:p>
            <a:fld id="{5B85CE0E-9782-4B13-A21D-6F0811112DA0}" type="datetime1">
              <a:rPr lang="en-US" altLang="ko-KR" smtClean="0"/>
              <a:t>4/12/2026</a:t>
            </a:fld>
            <a:endParaRPr lang="en-US" dirty="0"/>
          </a:p>
        </p:txBody>
      </p:sp>
      <p:sp>
        <p:nvSpPr>
          <p:cNvPr id="5" name="바닥글 개체 틀 4">
            <a:extLst>
              <a:ext uri="{FF2B5EF4-FFF2-40B4-BE49-F238E27FC236}">
                <a16:creationId xmlns:a16="http://schemas.microsoft.com/office/drawing/2014/main" id="{EE96FDC7-1F81-15C7-CD99-A5A402CED50D}"/>
              </a:ext>
            </a:extLst>
          </p:cNvPr>
          <p:cNvSpPr>
            <a:spLocks noGrp="1"/>
          </p:cNvSpPr>
          <p:nvPr>
            <p:ph type="ftr" sz="quarter" idx="11"/>
          </p:nvPr>
        </p:nvSpPr>
        <p:spPr/>
        <p:txBody>
          <a:bodyPr/>
          <a:lstStyle/>
          <a:p>
            <a:r>
              <a:rPr lang="en-US"/>
              <a:t>2023 Copyright ⓒ Autonomous Vehicle Lab</a:t>
            </a:r>
            <a:endParaRPr lang="en-US" dirty="0"/>
          </a:p>
        </p:txBody>
      </p:sp>
    </p:spTree>
    <p:extLst>
      <p:ext uri="{BB962C8B-B14F-4D97-AF65-F5344CB8AC3E}">
        <p14:creationId xmlns:p14="http://schemas.microsoft.com/office/powerpoint/2010/main" val="29896582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8501D20E-A93C-3581-A606-4533DAF3EB2E}"/>
              </a:ext>
            </a:extLst>
          </p:cNvPr>
          <p:cNvSpPr>
            <a:spLocks noGrp="1"/>
          </p:cNvSpPr>
          <p:nvPr>
            <p:ph type="title"/>
          </p:nvPr>
        </p:nvSpPr>
        <p:spPr/>
        <p:txBody>
          <a:bodyPr>
            <a:normAutofit fontScale="90000"/>
          </a:bodyPr>
          <a:lstStyle/>
          <a:p>
            <a:r>
              <a:rPr kumimoji="1" lang="en-US" altLang="en-US" dirty="0"/>
              <a:t>Contents</a:t>
            </a:r>
            <a:endParaRPr kumimoji="1" lang="ko-Kore-KR" altLang="en-US" dirty="0"/>
          </a:p>
        </p:txBody>
      </p:sp>
      <p:sp>
        <p:nvSpPr>
          <p:cNvPr id="3" name="내용 개체 틀 2">
            <a:extLst>
              <a:ext uri="{FF2B5EF4-FFF2-40B4-BE49-F238E27FC236}">
                <a16:creationId xmlns:a16="http://schemas.microsoft.com/office/drawing/2014/main" id="{A56FBB58-EB8C-4C9A-B5CB-C89C1F4F7CA0}"/>
              </a:ext>
            </a:extLst>
          </p:cNvPr>
          <p:cNvSpPr>
            <a:spLocks noGrp="1"/>
          </p:cNvSpPr>
          <p:nvPr>
            <p:ph idx="1"/>
          </p:nvPr>
        </p:nvSpPr>
        <p:spPr>
          <a:xfrm>
            <a:off x="756556" y="820171"/>
            <a:ext cx="11057492" cy="5075531"/>
          </a:xfrm>
        </p:spPr>
        <p:txBody>
          <a:bodyPr>
            <a:noAutofit/>
          </a:bodyPr>
          <a:lstStyle/>
          <a:p>
            <a:pPr marL="457200" indent="-457200">
              <a:lnSpc>
                <a:spcPct val="100000"/>
              </a:lnSpc>
              <a:buFont typeface="+mj-lt"/>
              <a:buAutoNum type="arabicPeriod"/>
            </a:pPr>
            <a:r>
              <a:rPr lang="en-US" altLang="ko-KR" sz="2400" b="1" dirty="0">
                <a:solidFill>
                  <a:srgbClr val="404040"/>
                </a:solidFill>
                <a:latin typeface="+mn-ea"/>
              </a:rPr>
              <a:t>Autosar Overview</a:t>
            </a:r>
          </a:p>
          <a:p>
            <a:pPr marL="457200" indent="-457200">
              <a:lnSpc>
                <a:spcPct val="100000"/>
              </a:lnSpc>
              <a:buFont typeface="+mj-lt"/>
              <a:buAutoNum type="arabicPeriod"/>
            </a:pPr>
            <a:r>
              <a:rPr lang="en-US" altLang="ko-KR" sz="2400" b="1" dirty="0">
                <a:solidFill>
                  <a:srgbClr val="404040"/>
                </a:solidFill>
                <a:latin typeface="+mn-ea"/>
              </a:rPr>
              <a:t>Autosar Architecture </a:t>
            </a:r>
          </a:p>
          <a:p>
            <a:pPr marL="457200" indent="-457200">
              <a:lnSpc>
                <a:spcPct val="100000"/>
              </a:lnSpc>
              <a:buFont typeface="+mj-lt"/>
              <a:buAutoNum type="arabicPeriod"/>
            </a:pPr>
            <a:r>
              <a:rPr lang="en-US" altLang="ko-KR" sz="2400" b="1" dirty="0">
                <a:solidFill>
                  <a:srgbClr val="404040"/>
                </a:solidFill>
                <a:latin typeface="+mn-ea"/>
              </a:rPr>
              <a:t>Autosar Applications </a:t>
            </a:r>
          </a:p>
          <a:p>
            <a:pPr marL="457200" lvl="1" indent="0">
              <a:lnSpc>
                <a:spcPct val="100000"/>
              </a:lnSpc>
              <a:buNone/>
            </a:pPr>
            <a:endParaRPr lang="en-US" altLang="ko-KR" sz="1600" dirty="0">
              <a:solidFill>
                <a:srgbClr val="404040"/>
              </a:solidFill>
              <a:latin typeface="+mn-ea"/>
            </a:endParaRPr>
          </a:p>
        </p:txBody>
      </p:sp>
      <p:sp>
        <p:nvSpPr>
          <p:cNvPr id="4" name="날짜 개체 틀 3">
            <a:extLst>
              <a:ext uri="{FF2B5EF4-FFF2-40B4-BE49-F238E27FC236}">
                <a16:creationId xmlns:a16="http://schemas.microsoft.com/office/drawing/2014/main" id="{A540F8DE-C952-90AA-AAFA-1B246FA8A22C}"/>
              </a:ext>
            </a:extLst>
          </p:cNvPr>
          <p:cNvSpPr>
            <a:spLocks noGrp="1"/>
          </p:cNvSpPr>
          <p:nvPr>
            <p:ph type="dt" sz="half" idx="10"/>
          </p:nvPr>
        </p:nvSpPr>
        <p:spPr/>
        <p:txBody>
          <a:bodyPr/>
          <a:lstStyle/>
          <a:p>
            <a:fld id="{4DC77824-31CF-4EFC-A4E1-67181CD8CA2D}" type="datetime1">
              <a:rPr lang="en-US" altLang="ko-KR" smtClean="0"/>
              <a:t>4/12/2026</a:t>
            </a:fld>
            <a:endParaRPr lang="en-US"/>
          </a:p>
        </p:txBody>
      </p:sp>
      <p:sp>
        <p:nvSpPr>
          <p:cNvPr id="5" name="바닥글 개체 틀 4">
            <a:extLst>
              <a:ext uri="{FF2B5EF4-FFF2-40B4-BE49-F238E27FC236}">
                <a16:creationId xmlns:a16="http://schemas.microsoft.com/office/drawing/2014/main" id="{3C6AA169-C229-FC45-78CD-506D1289F3EA}"/>
              </a:ext>
            </a:extLst>
          </p:cNvPr>
          <p:cNvSpPr>
            <a:spLocks noGrp="1"/>
          </p:cNvSpPr>
          <p:nvPr>
            <p:ph type="ftr" sz="quarter" idx="11"/>
          </p:nvPr>
        </p:nvSpPr>
        <p:spPr/>
        <p:txBody>
          <a:bodyPr/>
          <a:lstStyle/>
          <a:p>
            <a:r>
              <a:rPr lang="en-US"/>
              <a:t>2023 Copyright </a:t>
            </a:r>
            <a:r>
              <a:rPr lang="ko-KR" altLang="en-US"/>
              <a:t>ⓒ </a:t>
            </a:r>
            <a:r>
              <a:rPr lang="en-US" altLang="ko-KR"/>
              <a:t>Autonomous Vehicle Lab</a:t>
            </a:r>
            <a:endParaRPr lang="en-US" dirty="0"/>
          </a:p>
        </p:txBody>
      </p:sp>
      <p:sp>
        <p:nvSpPr>
          <p:cNvPr id="6" name="슬라이드 번호 개체 틀 5">
            <a:extLst>
              <a:ext uri="{FF2B5EF4-FFF2-40B4-BE49-F238E27FC236}">
                <a16:creationId xmlns:a16="http://schemas.microsoft.com/office/drawing/2014/main" id="{A9E287CA-E392-98B7-BE56-7FB06C0BC5B8}"/>
              </a:ext>
            </a:extLst>
          </p:cNvPr>
          <p:cNvSpPr>
            <a:spLocks noGrp="1"/>
          </p:cNvSpPr>
          <p:nvPr>
            <p:ph type="sldNum" sz="quarter" idx="12"/>
          </p:nvPr>
        </p:nvSpPr>
        <p:spPr/>
        <p:txBody>
          <a:bodyPr/>
          <a:lstStyle/>
          <a:p>
            <a:fld id="{55635D17-9D19-4B1E-86C2-B9D6296E4AF7}" type="slidenum">
              <a:rPr lang="en-US" smtClean="0"/>
              <a:pPr/>
              <a:t>2</a:t>
            </a:fld>
            <a:endParaRPr lang="en-US" dirty="0"/>
          </a:p>
        </p:txBody>
      </p:sp>
    </p:spTree>
    <p:extLst>
      <p:ext uri="{BB962C8B-B14F-4D97-AF65-F5344CB8AC3E}">
        <p14:creationId xmlns:p14="http://schemas.microsoft.com/office/powerpoint/2010/main" val="15340929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55688844-FC44-E225-1A09-10CB39747881}"/>
              </a:ext>
            </a:extLst>
          </p:cNvPr>
          <p:cNvSpPr>
            <a:spLocks noGrp="1"/>
          </p:cNvSpPr>
          <p:nvPr>
            <p:ph type="title"/>
          </p:nvPr>
        </p:nvSpPr>
        <p:spPr/>
        <p:txBody>
          <a:bodyPr>
            <a:normAutofit fontScale="90000"/>
          </a:bodyPr>
          <a:lstStyle/>
          <a:p>
            <a:r>
              <a:rPr lang="en-US" altLang="ko-KR" dirty="0"/>
              <a:t>What</a:t>
            </a:r>
            <a:r>
              <a:rPr lang="ko-KR" altLang="en-US" dirty="0"/>
              <a:t> </a:t>
            </a:r>
            <a:r>
              <a:rPr lang="en-US" altLang="ko-KR" dirty="0"/>
              <a:t>is Autosar</a:t>
            </a:r>
            <a:endParaRPr lang="ko-KR" altLang="en-US" dirty="0"/>
          </a:p>
        </p:txBody>
      </p:sp>
      <p:sp>
        <p:nvSpPr>
          <p:cNvPr id="4" name="날짜 개체 틀 3">
            <a:extLst>
              <a:ext uri="{FF2B5EF4-FFF2-40B4-BE49-F238E27FC236}">
                <a16:creationId xmlns:a16="http://schemas.microsoft.com/office/drawing/2014/main" id="{3384945E-3B26-69BC-E60C-571FAFF7F503}"/>
              </a:ext>
            </a:extLst>
          </p:cNvPr>
          <p:cNvSpPr>
            <a:spLocks noGrp="1"/>
          </p:cNvSpPr>
          <p:nvPr>
            <p:ph type="dt" sz="half" idx="10"/>
          </p:nvPr>
        </p:nvSpPr>
        <p:spPr/>
        <p:txBody>
          <a:bodyPr/>
          <a:lstStyle/>
          <a:p>
            <a:fld id="{9539328B-81D7-470F-B07E-C60C8A68D98A}" type="datetime1">
              <a:rPr lang="en-US" altLang="ko-KR" smtClean="0"/>
              <a:t>4/12/2026</a:t>
            </a:fld>
            <a:endParaRPr lang="en-US"/>
          </a:p>
        </p:txBody>
      </p:sp>
      <p:sp>
        <p:nvSpPr>
          <p:cNvPr id="5" name="바닥글 개체 틀 4">
            <a:extLst>
              <a:ext uri="{FF2B5EF4-FFF2-40B4-BE49-F238E27FC236}">
                <a16:creationId xmlns:a16="http://schemas.microsoft.com/office/drawing/2014/main" id="{39B45C84-80BF-1D9D-9163-400966BB2FE7}"/>
              </a:ext>
            </a:extLst>
          </p:cNvPr>
          <p:cNvSpPr>
            <a:spLocks noGrp="1"/>
          </p:cNvSpPr>
          <p:nvPr>
            <p:ph type="ftr" sz="quarter" idx="11"/>
          </p:nvPr>
        </p:nvSpPr>
        <p:spPr/>
        <p:txBody>
          <a:bodyPr/>
          <a:lstStyle/>
          <a:p>
            <a:r>
              <a:rPr lang="en-US"/>
              <a:t>2023 Copyright </a:t>
            </a:r>
            <a:r>
              <a:rPr lang="ko-KR" altLang="en-US"/>
              <a:t>ⓒ </a:t>
            </a:r>
            <a:r>
              <a:rPr lang="en-US" altLang="ko-KR"/>
              <a:t>Autonomous Vehicle Lab</a:t>
            </a:r>
            <a:endParaRPr lang="en-US" dirty="0"/>
          </a:p>
        </p:txBody>
      </p:sp>
      <p:sp>
        <p:nvSpPr>
          <p:cNvPr id="6" name="슬라이드 번호 개체 틀 5">
            <a:extLst>
              <a:ext uri="{FF2B5EF4-FFF2-40B4-BE49-F238E27FC236}">
                <a16:creationId xmlns:a16="http://schemas.microsoft.com/office/drawing/2014/main" id="{7DB4F52B-86A2-F4D4-286D-6324BDE92F31}"/>
              </a:ext>
            </a:extLst>
          </p:cNvPr>
          <p:cNvSpPr>
            <a:spLocks noGrp="1"/>
          </p:cNvSpPr>
          <p:nvPr>
            <p:ph type="sldNum" sz="quarter" idx="12"/>
          </p:nvPr>
        </p:nvSpPr>
        <p:spPr/>
        <p:txBody>
          <a:bodyPr/>
          <a:lstStyle/>
          <a:p>
            <a:fld id="{55635D17-9D19-4B1E-86C2-B9D6296E4AF7}" type="slidenum">
              <a:rPr lang="en-US" smtClean="0"/>
              <a:pPr/>
              <a:t>3</a:t>
            </a:fld>
            <a:endParaRPr lang="en-US" dirty="0"/>
          </a:p>
        </p:txBody>
      </p:sp>
      <p:sp>
        <p:nvSpPr>
          <p:cNvPr id="8" name="직사각형 7">
            <a:extLst>
              <a:ext uri="{FF2B5EF4-FFF2-40B4-BE49-F238E27FC236}">
                <a16:creationId xmlns:a16="http://schemas.microsoft.com/office/drawing/2014/main" id="{B8783AF7-215B-1184-5EEA-371E611B9A17}"/>
              </a:ext>
            </a:extLst>
          </p:cNvPr>
          <p:cNvSpPr/>
          <p:nvPr/>
        </p:nvSpPr>
        <p:spPr>
          <a:xfrm>
            <a:off x="7149737" y="3936273"/>
            <a:ext cx="2650407" cy="13063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TextBox 2">
            <a:extLst>
              <a:ext uri="{FF2B5EF4-FFF2-40B4-BE49-F238E27FC236}">
                <a16:creationId xmlns:a16="http://schemas.microsoft.com/office/drawing/2014/main" id="{052038D5-88E7-272A-00A1-6C5945F78736}"/>
              </a:ext>
            </a:extLst>
          </p:cNvPr>
          <p:cNvSpPr txBox="1"/>
          <p:nvPr/>
        </p:nvSpPr>
        <p:spPr>
          <a:xfrm>
            <a:off x="838200" y="1012015"/>
            <a:ext cx="10515599" cy="4291944"/>
          </a:xfrm>
          <a:prstGeom prst="rect">
            <a:avLst/>
          </a:prstGeom>
          <a:noFill/>
        </p:spPr>
        <p:txBody>
          <a:bodyPr wrap="square" rtlCol="0">
            <a:spAutoFit/>
          </a:bodyPr>
          <a:lstStyle/>
          <a:p>
            <a:pPr>
              <a:lnSpc>
                <a:spcPct val="150000"/>
              </a:lnSpc>
            </a:pPr>
            <a:r>
              <a:rPr lang="en-US" altLang="ko-KR" sz="2400" b="1" dirty="0"/>
              <a:t>AUTOSAR – </a:t>
            </a:r>
            <a:r>
              <a:rPr lang="en-US" altLang="ko-KR" sz="2400" b="1" dirty="0" err="1"/>
              <a:t>AUTomotive</a:t>
            </a:r>
            <a:r>
              <a:rPr lang="en-US" altLang="ko-KR" sz="2400" b="1" dirty="0"/>
              <a:t> Open Systems </a:t>
            </a:r>
            <a:r>
              <a:rPr lang="en-US" altLang="ko-KR" sz="2400" b="1" dirty="0" err="1"/>
              <a:t>ARchitecture</a:t>
            </a:r>
            <a:endParaRPr lang="en-US" altLang="ko-KR" sz="2400" b="1" dirty="0"/>
          </a:p>
          <a:p>
            <a:pPr marL="742950" lvl="1" indent="-285750">
              <a:lnSpc>
                <a:spcPct val="150000"/>
              </a:lnSpc>
              <a:buFont typeface="Arial" panose="020B0604020202020204" pitchFamily="34" charset="0"/>
              <a:buChar char="•"/>
            </a:pPr>
            <a:r>
              <a:rPr lang="en-US" altLang="ko-KR" sz="2000" b="1" dirty="0"/>
              <a:t>Definition:</a:t>
            </a:r>
            <a:r>
              <a:rPr lang="en-US" altLang="ko-KR" sz="2000" dirty="0"/>
              <a:t> Middleware and system-level standard, jointly developed by automobile manufacturers, electronics and software suppliers and tool vendors.</a:t>
            </a:r>
          </a:p>
          <a:p>
            <a:pPr marL="742950" lvl="1" indent="-285750">
              <a:lnSpc>
                <a:spcPct val="150000"/>
              </a:lnSpc>
              <a:buFont typeface="Arial" panose="020B0604020202020204" pitchFamily="34" charset="0"/>
              <a:buChar char="•"/>
            </a:pPr>
            <a:r>
              <a:rPr lang="en-US" altLang="ko-KR" sz="2000" b="1" dirty="0"/>
              <a:t>Scale:</a:t>
            </a:r>
            <a:r>
              <a:rPr lang="en-US" altLang="ko-KR" sz="2000" dirty="0"/>
              <a:t> More than 100 members</a:t>
            </a:r>
          </a:p>
          <a:p>
            <a:pPr marL="742950" lvl="1" indent="-285750">
              <a:lnSpc>
                <a:spcPct val="150000"/>
              </a:lnSpc>
              <a:buFont typeface="Arial" panose="020B0604020202020204" pitchFamily="34" charset="0"/>
              <a:buChar char="•"/>
            </a:pPr>
            <a:r>
              <a:rPr lang="en-US" altLang="ko-KR" sz="2000" b="1" dirty="0"/>
              <a:t>Motto:</a:t>
            </a:r>
            <a:r>
              <a:rPr lang="en-US" altLang="ko-KR" sz="2000" dirty="0"/>
              <a:t> “</a:t>
            </a:r>
            <a:r>
              <a:rPr lang="en-US" altLang="ko-KR" sz="2000" i="1" dirty="0"/>
              <a:t>cooperate on standards, compete on implementations</a:t>
            </a:r>
            <a:r>
              <a:rPr lang="en-US" altLang="ko-KR" sz="2000" dirty="0"/>
              <a:t>”</a:t>
            </a:r>
          </a:p>
          <a:p>
            <a:pPr marL="742950" lvl="1" indent="-285750">
              <a:lnSpc>
                <a:spcPct val="150000"/>
              </a:lnSpc>
              <a:buFont typeface="Arial" panose="020B0604020202020204" pitchFamily="34" charset="0"/>
              <a:buChar char="•"/>
            </a:pPr>
            <a:r>
              <a:rPr lang="en-US" altLang="ko-KR" sz="2000" b="1" dirty="0"/>
              <a:t>Reality:</a:t>
            </a:r>
            <a:r>
              <a:rPr lang="en-US" altLang="ko-KR" sz="2000" dirty="0"/>
              <a:t> current struggle between OEM and Tier1 suppliers</a:t>
            </a:r>
          </a:p>
          <a:p>
            <a:pPr marL="742950" lvl="1" indent="-285750">
              <a:lnSpc>
                <a:spcPct val="150000"/>
              </a:lnSpc>
              <a:buFont typeface="Arial" panose="020B0604020202020204" pitchFamily="34" charset="0"/>
              <a:buChar char="•"/>
            </a:pPr>
            <a:r>
              <a:rPr lang="en-US" altLang="ko-KR" sz="2000" b="1" dirty="0"/>
              <a:t>Target:</a:t>
            </a:r>
            <a:r>
              <a:rPr lang="en-US" altLang="ko-KR" sz="2000" dirty="0"/>
              <a:t> facilitate portability, composability, integration of SW components over the lifetime of the vehicle</a:t>
            </a:r>
          </a:p>
          <a:p>
            <a:pPr>
              <a:lnSpc>
                <a:spcPct val="150000"/>
              </a:lnSpc>
            </a:pPr>
            <a:endParaRPr lang="ko-KR" altLang="en-US" sz="2000" dirty="0"/>
          </a:p>
        </p:txBody>
      </p:sp>
    </p:spTree>
    <p:extLst>
      <p:ext uri="{BB962C8B-B14F-4D97-AF65-F5344CB8AC3E}">
        <p14:creationId xmlns:p14="http://schemas.microsoft.com/office/powerpoint/2010/main" val="40866309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9880FAE4-784B-C197-E1FF-D0E51C21E2E6}"/>
              </a:ext>
            </a:extLst>
          </p:cNvPr>
          <p:cNvSpPr>
            <a:spLocks noGrp="1"/>
          </p:cNvSpPr>
          <p:nvPr>
            <p:ph type="title"/>
          </p:nvPr>
        </p:nvSpPr>
        <p:spPr/>
        <p:txBody>
          <a:bodyPr>
            <a:normAutofit fontScale="90000"/>
          </a:bodyPr>
          <a:lstStyle/>
          <a:p>
            <a:r>
              <a:rPr lang="en-US" altLang="ko-KR" dirty="0"/>
              <a:t>Standard of Components and Interface</a:t>
            </a:r>
            <a:endParaRPr lang="ko-KR" altLang="en-US" dirty="0"/>
          </a:p>
        </p:txBody>
      </p:sp>
      <p:sp>
        <p:nvSpPr>
          <p:cNvPr id="4" name="날짜 개체 틀 3">
            <a:extLst>
              <a:ext uri="{FF2B5EF4-FFF2-40B4-BE49-F238E27FC236}">
                <a16:creationId xmlns:a16="http://schemas.microsoft.com/office/drawing/2014/main" id="{A596A1DD-4FEC-4B01-2088-06D3D621B6B6}"/>
              </a:ext>
            </a:extLst>
          </p:cNvPr>
          <p:cNvSpPr>
            <a:spLocks noGrp="1"/>
          </p:cNvSpPr>
          <p:nvPr>
            <p:ph type="dt" sz="half" idx="10"/>
          </p:nvPr>
        </p:nvSpPr>
        <p:spPr/>
        <p:txBody>
          <a:bodyPr/>
          <a:lstStyle/>
          <a:p>
            <a:fld id="{9539328B-81D7-470F-B07E-C60C8A68D98A}" type="datetime1">
              <a:rPr lang="en-US" altLang="ko-KR" smtClean="0"/>
              <a:t>4/12/2026</a:t>
            </a:fld>
            <a:endParaRPr lang="en-US"/>
          </a:p>
        </p:txBody>
      </p:sp>
      <p:sp>
        <p:nvSpPr>
          <p:cNvPr id="5" name="바닥글 개체 틀 4">
            <a:extLst>
              <a:ext uri="{FF2B5EF4-FFF2-40B4-BE49-F238E27FC236}">
                <a16:creationId xmlns:a16="http://schemas.microsoft.com/office/drawing/2014/main" id="{EF53327E-80B0-3814-BC65-F9E6AE6DEE3C}"/>
              </a:ext>
            </a:extLst>
          </p:cNvPr>
          <p:cNvSpPr>
            <a:spLocks noGrp="1"/>
          </p:cNvSpPr>
          <p:nvPr>
            <p:ph type="ftr" sz="quarter" idx="11"/>
          </p:nvPr>
        </p:nvSpPr>
        <p:spPr/>
        <p:txBody>
          <a:bodyPr/>
          <a:lstStyle/>
          <a:p>
            <a:r>
              <a:rPr lang="en-US"/>
              <a:t>2023 Copyright </a:t>
            </a:r>
            <a:r>
              <a:rPr lang="ko-KR" altLang="en-US"/>
              <a:t>ⓒ </a:t>
            </a:r>
            <a:r>
              <a:rPr lang="en-US" altLang="ko-KR"/>
              <a:t>Autonomous Vehicle Lab</a:t>
            </a:r>
            <a:endParaRPr lang="en-US" dirty="0"/>
          </a:p>
        </p:txBody>
      </p:sp>
      <p:sp>
        <p:nvSpPr>
          <p:cNvPr id="6" name="슬라이드 번호 개체 틀 5">
            <a:extLst>
              <a:ext uri="{FF2B5EF4-FFF2-40B4-BE49-F238E27FC236}">
                <a16:creationId xmlns:a16="http://schemas.microsoft.com/office/drawing/2014/main" id="{946EF6C8-6C2E-7CD0-48F5-6ED4A1466CAE}"/>
              </a:ext>
            </a:extLst>
          </p:cNvPr>
          <p:cNvSpPr>
            <a:spLocks noGrp="1"/>
          </p:cNvSpPr>
          <p:nvPr>
            <p:ph type="sldNum" sz="quarter" idx="12"/>
          </p:nvPr>
        </p:nvSpPr>
        <p:spPr/>
        <p:txBody>
          <a:bodyPr/>
          <a:lstStyle/>
          <a:p>
            <a:fld id="{55635D17-9D19-4B1E-86C2-B9D6296E4AF7}" type="slidenum">
              <a:rPr lang="en-US" smtClean="0"/>
              <a:pPr/>
              <a:t>4</a:t>
            </a:fld>
            <a:endParaRPr lang="en-US" dirty="0"/>
          </a:p>
        </p:txBody>
      </p:sp>
      <p:sp>
        <p:nvSpPr>
          <p:cNvPr id="3" name="TextBox 2">
            <a:extLst>
              <a:ext uri="{FF2B5EF4-FFF2-40B4-BE49-F238E27FC236}">
                <a16:creationId xmlns:a16="http://schemas.microsoft.com/office/drawing/2014/main" id="{40B53916-503D-5D95-A914-9156A37C4EB4}"/>
              </a:ext>
            </a:extLst>
          </p:cNvPr>
          <p:cNvSpPr txBox="1"/>
          <p:nvPr/>
        </p:nvSpPr>
        <p:spPr>
          <a:xfrm>
            <a:off x="795592" y="779357"/>
            <a:ext cx="10918262" cy="5355312"/>
          </a:xfrm>
          <a:prstGeom prst="rect">
            <a:avLst/>
          </a:prstGeom>
          <a:noFill/>
        </p:spPr>
        <p:txBody>
          <a:bodyPr wrap="square" rtlCol="0">
            <a:spAutoFit/>
          </a:bodyPr>
          <a:lstStyle/>
          <a:p>
            <a:r>
              <a:rPr lang="en-US" altLang="ko-KR" dirty="0"/>
              <a:t>The software implementing the automotive functionality is encapsulated in software components. Standardization of the interfaces is central to support scalability and transferability of functions. Any standard-conformant implementation of a software component can be integrated with substantially reduced effort in a system.</a:t>
            </a:r>
          </a:p>
          <a:p>
            <a:r>
              <a:rPr lang="en-US" altLang="ko-KR" dirty="0"/>
              <a:t>The standardization could be developed incrementally towards:</a:t>
            </a:r>
          </a:p>
          <a:p>
            <a:pPr marL="742950" lvl="1" indent="-285750">
              <a:buFont typeface="Arial" panose="020B0604020202020204" pitchFamily="34" charset="0"/>
              <a:buChar char="•"/>
            </a:pPr>
            <a:r>
              <a:rPr lang="en-US" altLang="ko-KR" b="1" dirty="0"/>
              <a:t>Level of abstraction</a:t>
            </a:r>
            <a:endParaRPr lang="en-US" altLang="ko-KR" dirty="0"/>
          </a:p>
          <a:p>
            <a:pPr marL="1200150" lvl="2" indent="-285750">
              <a:buFont typeface="Arial" panose="020B0604020202020204" pitchFamily="34" charset="0"/>
              <a:buChar char="•"/>
            </a:pPr>
            <a:r>
              <a:rPr lang="en-US" altLang="ko-KR" dirty="0"/>
              <a:t>Functional aspects</a:t>
            </a:r>
          </a:p>
          <a:p>
            <a:pPr marL="1200150" lvl="2" indent="-285750">
              <a:buFont typeface="Arial" panose="020B0604020202020204" pitchFamily="34" charset="0"/>
              <a:buChar char="•"/>
            </a:pPr>
            <a:r>
              <a:rPr lang="en-US" altLang="ko-KR" dirty="0"/>
              <a:t>Behavior and implementation aspects</a:t>
            </a:r>
          </a:p>
          <a:p>
            <a:pPr marL="742950" lvl="1" indent="-285750">
              <a:buFont typeface="Arial" panose="020B0604020202020204" pitchFamily="34" charset="0"/>
              <a:buChar char="•"/>
            </a:pPr>
            <a:r>
              <a:rPr lang="en-US" altLang="ko-KR" b="1" dirty="0"/>
              <a:t>Level of decomposition</a:t>
            </a:r>
            <a:endParaRPr lang="en-US" altLang="ko-KR" dirty="0"/>
          </a:p>
          <a:p>
            <a:pPr marL="1200150" lvl="2" indent="-285750">
              <a:buFont typeface="Arial" panose="020B0604020202020204" pitchFamily="34" charset="0"/>
              <a:buChar char="•"/>
            </a:pPr>
            <a:r>
              <a:rPr lang="en-US" altLang="ko-KR" dirty="0"/>
              <a:t>Low degree of decomposition of the functional domain</a:t>
            </a:r>
          </a:p>
          <a:p>
            <a:pPr marL="1200150" lvl="2" indent="-285750">
              <a:buFont typeface="Arial" panose="020B0604020202020204" pitchFamily="34" charset="0"/>
              <a:buChar char="•"/>
            </a:pPr>
            <a:r>
              <a:rPr lang="en-US" altLang="ko-KR" dirty="0"/>
              <a:t>High degree of decomposition of the functional domain</a:t>
            </a:r>
          </a:p>
          <a:p>
            <a:pPr marL="742950" lvl="1" indent="-285750">
              <a:buFont typeface="Arial" panose="020B0604020202020204" pitchFamily="34" charset="0"/>
              <a:buChar char="•"/>
            </a:pPr>
            <a:r>
              <a:rPr lang="en-US" altLang="ko-KR" b="1" dirty="0"/>
              <a:t>Level of architecture definition</a:t>
            </a:r>
            <a:endParaRPr lang="en-US" altLang="ko-KR" dirty="0"/>
          </a:p>
          <a:p>
            <a:pPr marL="1200150" lvl="2" indent="-285750">
              <a:buFont typeface="Arial" panose="020B0604020202020204" pitchFamily="34" charset="0"/>
              <a:buChar char="•"/>
            </a:pPr>
            <a:r>
              <a:rPr lang="en-US" altLang="ko-KR" dirty="0"/>
              <a:t>Terminology</a:t>
            </a:r>
          </a:p>
          <a:p>
            <a:pPr marL="1200150" lvl="2" indent="-285750">
              <a:buFont typeface="Arial" panose="020B0604020202020204" pitchFamily="34" charset="0"/>
              <a:buChar char="•"/>
            </a:pPr>
            <a:r>
              <a:rPr lang="en-US" altLang="ko-KR" dirty="0"/>
              <a:t>Standardized data-types</a:t>
            </a:r>
          </a:p>
          <a:p>
            <a:pPr marL="1200150" lvl="2" indent="-285750">
              <a:buFont typeface="Arial" panose="020B0604020202020204" pitchFamily="34" charset="0"/>
              <a:buChar char="•"/>
            </a:pPr>
            <a:r>
              <a:rPr lang="en-US" altLang="ko-KR" dirty="0"/>
              <a:t>Partial description of interfaces (without semantics)</a:t>
            </a:r>
          </a:p>
          <a:p>
            <a:pPr marL="1200150" lvl="2" indent="-285750">
              <a:buFont typeface="Arial" panose="020B0604020202020204" pitchFamily="34" charset="0"/>
              <a:buChar char="•"/>
            </a:pPr>
            <a:r>
              <a:rPr lang="en-US" altLang="ko-KR" dirty="0"/>
              <a:t>Complete description of interfaces (without semantics)</a:t>
            </a:r>
          </a:p>
          <a:p>
            <a:pPr marL="1200150" lvl="2" indent="-285750">
              <a:buFont typeface="Arial" panose="020B0604020202020204" pitchFamily="34" charset="0"/>
              <a:buChar char="•"/>
            </a:pPr>
            <a:r>
              <a:rPr lang="en-US" altLang="ko-KR" dirty="0"/>
              <a:t>Complete description of interfaces (with semantics)</a:t>
            </a:r>
          </a:p>
          <a:p>
            <a:pPr marL="1200150" lvl="2" indent="-285750">
              <a:buFont typeface="Arial" panose="020B0604020202020204" pitchFamily="34" charset="0"/>
              <a:buChar char="•"/>
            </a:pPr>
            <a:r>
              <a:rPr lang="en-US" altLang="ko-KR" dirty="0"/>
              <a:t>Partial definition of the functional domain</a:t>
            </a:r>
          </a:p>
          <a:p>
            <a:pPr marL="1200150" lvl="2" indent="-285750">
              <a:buFont typeface="Arial" panose="020B0604020202020204" pitchFamily="34" charset="0"/>
              <a:buChar char="•"/>
            </a:pPr>
            <a:r>
              <a:rPr lang="en-US" altLang="ko-KR" dirty="0"/>
              <a:t>Complete definition of the functional domain</a:t>
            </a:r>
          </a:p>
          <a:p>
            <a:endParaRPr lang="ko-KR" altLang="en-US" dirty="0"/>
          </a:p>
        </p:txBody>
      </p:sp>
    </p:spTree>
    <p:extLst>
      <p:ext uri="{BB962C8B-B14F-4D97-AF65-F5344CB8AC3E}">
        <p14:creationId xmlns:p14="http://schemas.microsoft.com/office/powerpoint/2010/main" val="32248374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9880FAE4-784B-C197-E1FF-D0E51C21E2E6}"/>
              </a:ext>
            </a:extLst>
          </p:cNvPr>
          <p:cNvSpPr>
            <a:spLocks noGrp="1"/>
          </p:cNvSpPr>
          <p:nvPr>
            <p:ph type="title"/>
          </p:nvPr>
        </p:nvSpPr>
        <p:spPr/>
        <p:txBody>
          <a:bodyPr>
            <a:normAutofit fontScale="90000"/>
          </a:bodyPr>
          <a:lstStyle/>
          <a:p>
            <a:r>
              <a:rPr lang="en-US" altLang="ko-KR" dirty="0"/>
              <a:t>Functional Domains</a:t>
            </a:r>
            <a:endParaRPr lang="ko-KR" altLang="en-US" dirty="0"/>
          </a:p>
        </p:txBody>
      </p:sp>
      <p:sp>
        <p:nvSpPr>
          <p:cNvPr id="4" name="날짜 개체 틀 3">
            <a:extLst>
              <a:ext uri="{FF2B5EF4-FFF2-40B4-BE49-F238E27FC236}">
                <a16:creationId xmlns:a16="http://schemas.microsoft.com/office/drawing/2014/main" id="{A596A1DD-4FEC-4B01-2088-06D3D621B6B6}"/>
              </a:ext>
            </a:extLst>
          </p:cNvPr>
          <p:cNvSpPr>
            <a:spLocks noGrp="1"/>
          </p:cNvSpPr>
          <p:nvPr>
            <p:ph type="dt" sz="half" idx="10"/>
          </p:nvPr>
        </p:nvSpPr>
        <p:spPr/>
        <p:txBody>
          <a:bodyPr/>
          <a:lstStyle/>
          <a:p>
            <a:fld id="{9539328B-81D7-470F-B07E-C60C8A68D98A}" type="datetime1">
              <a:rPr lang="en-US" altLang="ko-KR" smtClean="0"/>
              <a:t>4/12/2026</a:t>
            </a:fld>
            <a:endParaRPr lang="en-US"/>
          </a:p>
        </p:txBody>
      </p:sp>
      <p:sp>
        <p:nvSpPr>
          <p:cNvPr id="5" name="바닥글 개체 틀 4">
            <a:extLst>
              <a:ext uri="{FF2B5EF4-FFF2-40B4-BE49-F238E27FC236}">
                <a16:creationId xmlns:a16="http://schemas.microsoft.com/office/drawing/2014/main" id="{EF53327E-80B0-3814-BC65-F9E6AE6DEE3C}"/>
              </a:ext>
            </a:extLst>
          </p:cNvPr>
          <p:cNvSpPr>
            <a:spLocks noGrp="1"/>
          </p:cNvSpPr>
          <p:nvPr>
            <p:ph type="ftr" sz="quarter" idx="11"/>
          </p:nvPr>
        </p:nvSpPr>
        <p:spPr/>
        <p:txBody>
          <a:bodyPr/>
          <a:lstStyle/>
          <a:p>
            <a:r>
              <a:rPr lang="en-US"/>
              <a:t>2023 Copyright </a:t>
            </a:r>
            <a:r>
              <a:rPr lang="ko-KR" altLang="en-US"/>
              <a:t>ⓒ </a:t>
            </a:r>
            <a:r>
              <a:rPr lang="en-US" altLang="ko-KR"/>
              <a:t>Autonomous Vehicle Lab</a:t>
            </a:r>
            <a:endParaRPr lang="en-US" dirty="0"/>
          </a:p>
        </p:txBody>
      </p:sp>
      <p:sp>
        <p:nvSpPr>
          <p:cNvPr id="6" name="슬라이드 번호 개체 틀 5">
            <a:extLst>
              <a:ext uri="{FF2B5EF4-FFF2-40B4-BE49-F238E27FC236}">
                <a16:creationId xmlns:a16="http://schemas.microsoft.com/office/drawing/2014/main" id="{946EF6C8-6C2E-7CD0-48F5-6ED4A1466CAE}"/>
              </a:ext>
            </a:extLst>
          </p:cNvPr>
          <p:cNvSpPr>
            <a:spLocks noGrp="1"/>
          </p:cNvSpPr>
          <p:nvPr>
            <p:ph type="sldNum" sz="quarter" idx="12"/>
          </p:nvPr>
        </p:nvSpPr>
        <p:spPr/>
        <p:txBody>
          <a:bodyPr/>
          <a:lstStyle/>
          <a:p>
            <a:fld id="{55635D17-9D19-4B1E-86C2-B9D6296E4AF7}" type="slidenum">
              <a:rPr lang="en-US" smtClean="0"/>
              <a:pPr/>
              <a:t>5</a:t>
            </a:fld>
            <a:endParaRPr lang="en-US" dirty="0"/>
          </a:p>
        </p:txBody>
      </p:sp>
      <p:sp>
        <p:nvSpPr>
          <p:cNvPr id="3" name="TextBox 2">
            <a:extLst>
              <a:ext uri="{FF2B5EF4-FFF2-40B4-BE49-F238E27FC236}">
                <a16:creationId xmlns:a16="http://schemas.microsoft.com/office/drawing/2014/main" id="{9F3014D3-CA5A-5E6B-7758-FD9CDDBF2BDB}"/>
              </a:ext>
            </a:extLst>
          </p:cNvPr>
          <p:cNvSpPr txBox="1"/>
          <p:nvPr/>
        </p:nvSpPr>
        <p:spPr>
          <a:xfrm>
            <a:off x="801727" y="931732"/>
            <a:ext cx="10548100" cy="4619854"/>
          </a:xfrm>
          <a:prstGeom prst="rect">
            <a:avLst/>
          </a:prstGeom>
          <a:noFill/>
        </p:spPr>
        <p:txBody>
          <a:bodyPr wrap="square" rtlCol="0">
            <a:spAutoFit/>
          </a:bodyPr>
          <a:lstStyle/>
          <a:p>
            <a:pPr>
              <a:lnSpc>
                <a:spcPct val="150000"/>
              </a:lnSpc>
            </a:pPr>
            <a:r>
              <a:rPr lang="en-US" altLang="ko-KR" dirty="0"/>
              <a:t>The specification of functional interfaces is divided into 6 domains:</a:t>
            </a:r>
          </a:p>
          <a:p>
            <a:pPr marL="742950" lvl="1" indent="-285750">
              <a:lnSpc>
                <a:spcPct val="150000"/>
              </a:lnSpc>
              <a:buFont typeface="Arial" panose="020B0604020202020204" pitchFamily="34" charset="0"/>
              <a:buChar char="•"/>
            </a:pPr>
            <a:r>
              <a:rPr lang="en-US" altLang="ko-KR" dirty="0"/>
              <a:t>Body/Comfort</a:t>
            </a:r>
          </a:p>
          <a:p>
            <a:pPr marL="742950" lvl="1" indent="-285750">
              <a:lnSpc>
                <a:spcPct val="150000"/>
              </a:lnSpc>
              <a:buFont typeface="Arial" panose="020B0604020202020204" pitchFamily="34" charset="0"/>
              <a:buChar char="•"/>
            </a:pPr>
            <a:r>
              <a:rPr lang="en-US" altLang="ko-KR" dirty="0"/>
              <a:t>Powertrain</a:t>
            </a:r>
          </a:p>
          <a:p>
            <a:pPr marL="742950" lvl="1" indent="-285750">
              <a:lnSpc>
                <a:spcPct val="150000"/>
              </a:lnSpc>
              <a:buFont typeface="Arial" panose="020B0604020202020204" pitchFamily="34" charset="0"/>
              <a:buChar char="•"/>
            </a:pPr>
            <a:r>
              <a:rPr lang="en-US" altLang="ko-KR" dirty="0"/>
              <a:t>Chassis</a:t>
            </a:r>
          </a:p>
          <a:p>
            <a:pPr marL="742950" lvl="1" indent="-285750">
              <a:lnSpc>
                <a:spcPct val="150000"/>
              </a:lnSpc>
              <a:buFont typeface="Arial" panose="020B0604020202020204" pitchFamily="34" charset="0"/>
              <a:buChar char="•"/>
            </a:pPr>
            <a:r>
              <a:rPr lang="en-US" altLang="ko-KR" dirty="0"/>
              <a:t>Safety</a:t>
            </a:r>
          </a:p>
          <a:p>
            <a:pPr marL="742950" lvl="1" indent="-285750">
              <a:lnSpc>
                <a:spcPct val="150000"/>
              </a:lnSpc>
              <a:buFont typeface="Arial" panose="020B0604020202020204" pitchFamily="34" charset="0"/>
              <a:buChar char="•"/>
            </a:pPr>
            <a:r>
              <a:rPr lang="en-US" altLang="ko-KR" dirty="0"/>
              <a:t>Multimedia/Telematics</a:t>
            </a:r>
          </a:p>
          <a:p>
            <a:pPr marL="742950" lvl="1" indent="-285750">
              <a:lnSpc>
                <a:spcPct val="150000"/>
              </a:lnSpc>
              <a:buFont typeface="Arial" panose="020B0604020202020204" pitchFamily="34" charset="0"/>
              <a:buChar char="•"/>
            </a:pPr>
            <a:r>
              <a:rPr lang="en-US" altLang="ko-KR" dirty="0"/>
              <a:t>Man-machine-interface</a:t>
            </a:r>
          </a:p>
          <a:p>
            <a:pPr>
              <a:lnSpc>
                <a:spcPct val="150000"/>
              </a:lnSpc>
            </a:pPr>
            <a:r>
              <a:rPr lang="en-US" altLang="ko-KR" dirty="0"/>
              <a:t>The domains could be differently handled due to intellectual property rights issues and decomposition levels.</a:t>
            </a:r>
          </a:p>
          <a:p>
            <a:pPr>
              <a:lnSpc>
                <a:spcPct val="150000"/>
              </a:lnSpc>
            </a:pPr>
            <a:endParaRPr lang="en-US" altLang="ko-KR" dirty="0"/>
          </a:p>
          <a:p>
            <a:pPr>
              <a:lnSpc>
                <a:spcPct val="150000"/>
              </a:lnSpc>
            </a:pPr>
            <a:r>
              <a:rPr lang="en-US" altLang="ko-KR" dirty="0"/>
              <a:t>In the first phase of AUTOSAR only in the domains </a:t>
            </a:r>
            <a:r>
              <a:rPr lang="en-US" altLang="ko-KR" b="1" dirty="0"/>
              <a:t>body/comfort, chassis, and powertrain </a:t>
            </a:r>
            <a:r>
              <a:rPr lang="en-US" altLang="ko-KR" dirty="0"/>
              <a:t>results can be expected. All others have lower priority in the first phase.</a:t>
            </a:r>
          </a:p>
        </p:txBody>
      </p:sp>
    </p:spTree>
    <p:extLst>
      <p:ext uri="{BB962C8B-B14F-4D97-AF65-F5344CB8AC3E}">
        <p14:creationId xmlns:p14="http://schemas.microsoft.com/office/powerpoint/2010/main" val="8986241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9880FAE4-784B-C197-E1FF-D0E51C21E2E6}"/>
              </a:ext>
            </a:extLst>
          </p:cNvPr>
          <p:cNvSpPr>
            <a:spLocks noGrp="1"/>
          </p:cNvSpPr>
          <p:nvPr>
            <p:ph type="title"/>
          </p:nvPr>
        </p:nvSpPr>
        <p:spPr/>
        <p:txBody>
          <a:bodyPr>
            <a:normAutofit fontScale="90000"/>
          </a:bodyPr>
          <a:lstStyle/>
          <a:p>
            <a:r>
              <a:rPr lang="en-US" altLang="ko-KR" dirty="0"/>
              <a:t>Industrial Background</a:t>
            </a:r>
            <a:endParaRPr lang="ko-KR" altLang="en-US" dirty="0"/>
          </a:p>
        </p:txBody>
      </p:sp>
      <p:sp>
        <p:nvSpPr>
          <p:cNvPr id="4" name="날짜 개체 틀 3">
            <a:extLst>
              <a:ext uri="{FF2B5EF4-FFF2-40B4-BE49-F238E27FC236}">
                <a16:creationId xmlns:a16="http://schemas.microsoft.com/office/drawing/2014/main" id="{A596A1DD-4FEC-4B01-2088-06D3D621B6B6}"/>
              </a:ext>
            </a:extLst>
          </p:cNvPr>
          <p:cNvSpPr>
            <a:spLocks noGrp="1"/>
          </p:cNvSpPr>
          <p:nvPr>
            <p:ph type="dt" sz="half" idx="10"/>
          </p:nvPr>
        </p:nvSpPr>
        <p:spPr/>
        <p:txBody>
          <a:bodyPr/>
          <a:lstStyle/>
          <a:p>
            <a:fld id="{9539328B-81D7-470F-B07E-C60C8A68D98A}" type="datetime1">
              <a:rPr lang="en-US" altLang="ko-KR" smtClean="0"/>
              <a:t>4/12/2026</a:t>
            </a:fld>
            <a:endParaRPr lang="en-US"/>
          </a:p>
        </p:txBody>
      </p:sp>
      <p:sp>
        <p:nvSpPr>
          <p:cNvPr id="5" name="바닥글 개체 틀 4">
            <a:extLst>
              <a:ext uri="{FF2B5EF4-FFF2-40B4-BE49-F238E27FC236}">
                <a16:creationId xmlns:a16="http://schemas.microsoft.com/office/drawing/2014/main" id="{EF53327E-80B0-3814-BC65-F9E6AE6DEE3C}"/>
              </a:ext>
            </a:extLst>
          </p:cNvPr>
          <p:cNvSpPr>
            <a:spLocks noGrp="1"/>
          </p:cNvSpPr>
          <p:nvPr>
            <p:ph type="ftr" sz="quarter" idx="11"/>
          </p:nvPr>
        </p:nvSpPr>
        <p:spPr/>
        <p:txBody>
          <a:bodyPr/>
          <a:lstStyle/>
          <a:p>
            <a:r>
              <a:rPr lang="en-US"/>
              <a:t>2023 Copyright </a:t>
            </a:r>
            <a:r>
              <a:rPr lang="ko-KR" altLang="en-US"/>
              <a:t>ⓒ </a:t>
            </a:r>
            <a:r>
              <a:rPr lang="en-US" altLang="ko-KR"/>
              <a:t>Autonomous Vehicle Lab</a:t>
            </a:r>
            <a:endParaRPr lang="en-US" dirty="0"/>
          </a:p>
        </p:txBody>
      </p:sp>
      <p:sp>
        <p:nvSpPr>
          <p:cNvPr id="6" name="슬라이드 번호 개체 틀 5">
            <a:extLst>
              <a:ext uri="{FF2B5EF4-FFF2-40B4-BE49-F238E27FC236}">
                <a16:creationId xmlns:a16="http://schemas.microsoft.com/office/drawing/2014/main" id="{946EF6C8-6C2E-7CD0-48F5-6ED4A1466CAE}"/>
              </a:ext>
            </a:extLst>
          </p:cNvPr>
          <p:cNvSpPr>
            <a:spLocks noGrp="1"/>
          </p:cNvSpPr>
          <p:nvPr>
            <p:ph type="sldNum" sz="quarter" idx="12"/>
          </p:nvPr>
        </p:nvSpPr>
        <p:spPr/>
        <p:txBody>
          <a:bodyPr/>
          <a:lstStyle/>
          <a:p>
            <a:fld id="{55635D17-9D19-4B1E-86C2-B9D6296E4AF7}" type="slidenum">
              <a:rPr lang="en-US" smtClean="0"/>
              <a:pPr/>
              <a:t>6</a:t>
            </a:fld>
            <a:endParaRPr lang="en-US" dirty="0"/>
          </a:p>
        </p:txBody>
      </p:sp>
      <p:pic>
        <p:nvPicPr>
          <p:cNvPr id="13" name="그림 12">
            <a:extLst>
              <a:ext uri="{FF2B5EF4-FFF2-40B4-BE49-F238E27FC236}">
                <a16:creationId xmlns:a16="http://schemas.microsoft.com/office/drawing/2014/main" id="{F19A1CDA-AC79-1FDE-5BEB-182CAC2D230A}"/>
              </a:ext>
            </a:extLst>
          </p:cNvPr>
          <p:cNvPicPr>
            <a:picLocks noChangeAspect="1"/>
          </p:cNvPicPr>
          <p:nvPr/>
        </p:nvPicPr>
        <p:blipFill>
          <a:blip r:embed="rId2"/>
          <a:stretch>
            <a:fillRect/>
          </a:stretch>
        </p:blipFill>
        <p:spPr>
          <a:xfrm>
            <a:off x="2370126" y="510408"/>
            <a:ext cx="7456054" cy="5462489"/>
          </a:xfrm>
          <a:prstGeom prst="rect">
            <a:avLst/>
          </a:prstGeom>
        </p:spPr>
      </p:pic>
    </p:spTree>
    <p:extLst>
      <p:ext uri="{BB962C8B-B14F-4D97-AF65-F5344CB8AC3E}">
        <p14:creationId xmlns:p14="http://schemas.microsoft.com/office/powerpoint/2010/main" val="15412372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9880FAE4-784B-C197-E1FF-D0E51C21E2E6}"/>
              </a:ext>
            </a:extLst>
          </p:cNvPr>
          <p:cNvSpPr>
            <a:spLocks noGrp="1"/>
          </p:cNvSpPr>
          <p:nvPr>
            <p:ph type="title"/>
          </p:nvPr>
        </p:nvSpPr>
        <p:spPr/>
        <p:txBody>
          <a:bodyPr>
            <a:normAutofit fontScale="90000"/>
          </a:bodyPr>
          <a:lstStyle/>
          <a:p>
            <a:r>
              <a:rPr lang="en-US" altLang="ko-KR" dirty="0"/>
              <a:t>Main</a:t>
            </a:r>
            <a:r>
              <a:rPr lang="ko-KR" altLang="en-US" dirty="0"/>
              <a:t> </a:t>
            </a:r>
            <a:r>
              <a:rPr lang="en-US" altLang="ko-KR" dirty="0"/>
              <a:t>Topic</a:t>
            </a:r>
            <a:endParaRPr lang="ko-KR" altLang="en-US" dirty="0"/>
          </a:p>
        </p:txBody>
      </p:sp>
      <p:sp>
        <p:nvSpPr>
          <p:cNvPr id="4" name="날짜 개체 틀 3">
            <a:extLst>
              <a:ext uri="{FF2B5EF4-FFF2-40B4-BE49-F238E27FC236}">
                <a16:creationId xmlns:a16="http://schemas.microsoft.com/office/drawing/2014/main" id="{A596A1DD-4FEC-4B01-2088-06D3D621B6B6}"/>
              </a:ext>
            </a:extLst>
          </p:cNvPr>
          <p:cNvSpPr>
            <a:spLocks noGrp="1"/>
          </p:cNvSpPr>
          <p:nvPr>
            <p:ph type="dt" sz="half" idx="10"/>
          </p:nvPr>
        </p:nvSpPr>
        <p:spPr/>
        <p:txBody>
          <a:bodyPr/>
          <a:lstStyle/>
          <a:p>
            <a:fld id="{9539328B-81D7-470F-B07E-C60C8A68D98A}" type="datetime1">
              <a:rPr lang="en-US" altLang="ko-KR" smtClean="0"/>
              <a:t>4/12/2026</a:t>
            </a:fld>
            <a:endParaRPr lang="en-US"/>
          </a:p>
        </p:txBody>
      </p:sp>
      <p:sp>
        <p:nvSpPr>
          <p:cNvPr id="5" name="바닥글 개체 틀 4">
            <a:extLst>
              <a:ext uri="{FF2B5EF4-FFF2-40B4-BE49-F238E27FC236}">
                <a16:creationId xmlns:a16="http://schemas.microsoft.com/office/drawing/2014/main" id="{EF53327E-80B0-3814-BC65-F9E6AE6DEE3C}"/>
              </a:ext>
            </a:extLst>
          </p:cNvPr>
          <p:cNvSpPr>
            <a:spLocks noGrp="1"/>
          </p:cNvSpPr>
          <p:nvPr>
            <p:ph type="ftr" sz="quarter" idx="11"/>
          </p:nvPr>
        </p:nvSpPr>
        <p:spPr/>
        <p:txBody>
          <a:bodyPr/>
          <a:lstStyle/>
          <a:p>
            <a:r>
              <a:rPr lang="en-US"/>
              <a:t>2023 Copyright </a:t>
            </a:r>
            <a:r>
              <a:rPr lang="ko-KR" altLang="en-US"/>
              <a:t>ⓒ </a:t>
            </a:r>
            <a:r>
              <a:rPr lang="en-US" altLang="ko-KR"/>
              <a:t>Autonomous Vehicle Lab</a:t>
            </a:r>
            <a:endParaRPr lang="en-US" dirty="0"/>
          </a:p>
        </p:txBody>
      </p:sp>
      <p:sp>
        <p:nvSpPr>
          <p:cNvPr id="6" name="슬라이드 번호 개체 틀 5">
            <a:extLst>
              <a:ext uri="{FF2B5EF4-FFF2-40B4-BE49-F238E27FC236}">
                <a16:creationId xmlns:a16="http://schemas.microsoft.com/office/drawing/2014/main" id="{946EF6C8-6C2E-7CD0-48F5-6ED4A1466CAE}"/>
              </a:ext>
            </a:extLst>
          </p:cNvPr>
          <p:cNvSpPr>
            <a:spLocks noGrp="1"/>
          </p:cNvSpPr>
          <p:nvPr>
            <p:ph type="sldNum" sz="quarter" idx="12"/>
          </p:nvPr>
        </p:nvSpPr>
        <p:spPr/>
        <p:txBody>
          <a:bodyPr/>
          <a:lstStyle/>
          <a:p>
            <a:fld id="{55635D17-9D19-4B1E-86C2-B9D6296E4AF7}" type="slidenum">
              <a:rPr lang="en-US" smtClean="0"/>
              <a:pPr/>
              <a:t>7</a:t>
            </a:fld>
            <a:endParaRPr lang="en-US" dirty="0"/>
          </a:p>
        </p:txBody>
      </p:sp>
      <p:pic>
        <p:nvPicPr>
          <p:cNvPr id="3" name="Picture 2">
            <a:extLst>
              <a:ext uri="{FF2B5EF4-FFF2-40B4-BE49-F238E27FC236}">
                <a16:creationId xmlns:a16="http://schemas.microsoft.com/office/drawing/2014/main" id="{3715E3F1-E4B8-3237-2DBB-B8B0523332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35842" y="844224"/>
            <a:ext cx="9316393" cy="475252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9927111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9880FAE4-784B-C197-E1FF-D0E51C21E2E6}"/>
              </a:ext>
            </a:extLst>
          </p:cNvPr>
          <p:cNvSpPr>
            <a:spLocks noGrp="1"/>
          </p:cNvSpPr>
          <p:nvPr>
            <p:ph type="title"/>
          </p:nvPr>
        </p:nvSpPr>
        <p:spPr/>
        <p:txBody>
          <a:bodyPr>
            <a:normAutofit fontScale="90000"/>
          </a:bodyPr>
          <a:lstStyle/>
          <a:p>
            <a:r>
              <a:rPr lang="en-US" altLang="ko-KR" dirty="0"/>
              <a:t>Main</a:t>
            </a:r>
            <a:r>
              <a:rPr lang="ko-KR" altLang="en-US" dirty="0"/>
              <a:t> </a:t>
            </a:r>
            <a:r>
              <a:rPr lang="en-US" altLang="ko-KR" dirty="0"/>
              <a:t>Topic</a:t>
            </a:r>
            <a:endParaRPr lang="ko-KR" altLang="en-US" dirty="0"/>
          </a:p>
        </p:txBody>
      </p:sp>
      <p:sp>
        <p:nvSpPr>
          <p:cNvPr id="4" name="날짜 개체 틀 3">
            <a:extLst>
              <a:ext uri="{FF2B5EF4-FFF2-40B4-BE49-F238E27FC236}">
                <a16:creationId xmlns:a16="http://schemas.microsoft.com/office/drawing/2014/main" id="{A596A1DD-4FEC-4B01-2088-06D3D621B6B6}"/>
              </a:ext>
            </a:extLst>
          </p:cNvPr>
          <p:cNvSpPr>
            <a:spLocks noGrp="1"/>
          </p:cNvSpPr>
          <p:nvPr>
            <p:ph type="dt" sz="half" idx="10"/>
          </p:nvPr>
        </p:nvSpPr>
        <p:spPr/>
        <p:txBody>
          <a:bodyPr/>
          <a:lstStyle/>
          <a:p>
            <a:fld id="{9539328B-81D7-470F-B07E-C60C8A68D98A}" type="datetime1">
              <a:rPr lang="en-US" altLang="ko-KR" smtClean="0"/>
              <a:t>4/12/2026</a:t>
            </a:fld>
            <a:endParaRPr lang="en-US"/>
          </a:p>
        </p:txBody>
      </p:sp>
      <p:sp>
        <p:nvSpPr>
          <p:cNvPr id="5" name="바닥글 개체 틀 4">
            <a:extLst>
              <a:ext uri="{FF2B5EF4-FFF2-40B4-BE49-F238E27FC236}">
                <a16:creationId xmlns:a16="http://schemas.microsoft.com/office/drawing/2014/main" id="{EF53327E-80B0-3814-BC65-F9E6AE6DEE3C}"/>
              </a:ext>
            </a:extLst>
          </p:cNvPr>
          <p:cNvSpPr>
            <a:spLocks noGrp="1"/>
          </p:cNvSpPr>
          <p:nvPr>
            <p:ph type="ftr" sz="quarter" idx="11"/>
          </p:nvPr>
        </p:nvSpPr>
        <p:spPr/>
        <p:txBody>
          <a:bodyPr/>
          <a:lstStyle/>
          <a:p>
            <a:r>
              <a:rPr lang="en-US"/>
              <a:t>2023 Copyright </a:t>
            </a:r>
            <a:r>
              <a:rPr lang="ko-KR" altLang="en-US"/>
              <a:t>ⓒ </a:t>
            </a:r>
            <a:r>
              <a:rPr lang="en-US" altLang="ko-KR"/>
              <a:t>Autonomous Vehicle Lab</a:t>
            </a:r>
            <a:endParaRPr lang="en-US" dirty="0"/>
          </a:p>
        </p:txBody>
      </p:sp>
      <p:sp>
        <p:nvSpPr>
          <p:cNvPr id="6" name="슬라이드 번호 개체 틀 5">
            <a:extLst>
              <a:ext uri="{FF2B5EF4-FFF2-40B4-BE49-F238E27FC236}">
                <a16:creationId xmlns:a16="http://schemas.microsoft.com/office/drawing/2014/main" id="{946EF6C8-6C2E-7CD0-48F5-6ED4A1466CAE}"/>
              </a:ext>
            </a:extLst>
          </p:cNvPr>
          <p:cNvSpPr>
            <a:spLocks noGrp="1"/>
          </p:cNvSpPr>
          <p:nvPr>
            <p:ph type="sldNum" sz="quarter" idx="12"/>
          </p:nvPr>
        </p:nvSpPr>
        <p:spPr/>
        <p:txBody>
          <a:bodyPr/>
          <a:lstStyle/>
          <a:p>
            <a:fld id="{55635D17-9D19-4B1E-86C2-B9D6296E4AF7}" type="slidenum">
              <a:rPr lang="en-US" smtClean="0"/>
              <a:pPr/>
              <a:t>8</a:t>
            </a:fld>
            <a:endParaRPr lang="en-US" dirty="0"/>
          </a:p>
        </p:txBody>
      </p:sp>
      <p:pic>
        <p:nvPicPr>
          <p:cNvPr id="7" name="Picture 2">
            <a:extLst>
              <a:ext uri="{FF2B5EF4-FFF2-40B4-BE49-F238E27FC236}">
                <a16:creationId xmlns:a16="http://schemas.microsoft.com/office/drawing/2014/main" id="{D894B8AB-C915-F13B-A02F-D9352F5A2B1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52536" y="840581"/>
            <a:ext cx="9099552" cy="506936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9332965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9880FAE4-784B-C197-E1FF-D0E51C21E2E6}"/>
              </a:ext>
            </a:extLst>
          </p:cNvPr>
          <p:cNvSpPr>
            <a:spLocks noGrp="1"/>
          </p:cNvSpPr>
          <p:nvPr>
            <p:ph type="title"/>
          </p:nvPr>
        </p:nvSpPr>
        <p:spPr/>
        <p:txBody>
          <a:bodyPr>
            <a:normAutofit fontScale="90000"/>
          </a:bodyPr>
          <a:lstStyle/>
          <a:p>
            <a:r>
              <a:rPr lang="en-US" altLang="ko-KR" dirty="0"/>
              <a:t>Benefits for industry</a:t>
            </a:r>
            <a:endParaRPr lang="ko-KR" altLang="en-US" dirty="0"/>
          </a:p>
        </p:txBody>
      </p:sp>
      <p:sp>
        <p:nvSpPr>
          <p:cNvPr id="4" name="날짜 개체 틀 3">
            <a:extLst>
              <a:ext uri="{FF2B5EF4-FFF2-40B4-BE49-F238E27FC236}">
                <a16:creationId xmlns:a16="http://schemas.microsoft.com/office/drawing/2014/main" id="{A596A1DD-4FEC-4B01-2088-06D3D621B6B6}"/>
              </a:ext>
            </a:extLst>
          </p:cNvPr>
          <p:cNvSpPr>
            <a:spLocks noGrp="1"/>
          </p:cNvSpPr>
          <p:nvPr>
            <p:ph type="dt" sz="half" idx="10"/>
          </p:nvPr>
        </p:nvSpPr>
        <p:spPr/>
        <p:txBody>
          <a:bodyPr/>
          <a:lstStyle/>
          <a:p>
            <a:fld id="{9539328B-81D7-470F-B07E-C60C8A68D98A}" type="datetime1">
              <a:rPr lang="en-US" altLang="ko-KR" smtClean="0"/>
              <a:t>4/12/2026</a:t>
            </a:fld>
            <a:endParaRPr lang="en-US"/>
          </a:p>
        </p:txBody>
      </p:sp>
      <p:sp>
        <p:nvSpPr>
          <p:cNvPr id="5" name="바닥글 개체 틀 4">
            <a:extLst>
              <a:ext uri="{FF2B5EF4-FFF2-40B4-BE49-F238E27FC236}">
                <a16:creationId xmlns:a16="http://schemas.microsoft.com/office/drawing/2014/main" id="{EF53327E-80B0-3814-BC65-F9E6AE6DEE3C}"/>
              </a:ext>
            </a:extLst>
          </p:cNvPr>
          <p:cNvSpPr>
            <a:spLocks noGrp="1"/>
          </p:cNvSpPr>
          <p:nvPr>
            <p:ph type="ftr" sz="quarter" idx="11"/>
          </p:nvPr>
        </p:nvSpPr>
        <p:spPr/>
        <p:txBody>
          <a:bodyPr/>
          <a:lstStyle/>
          <a:p>
            <a:r>
              <a:rPr lang="en-US"/>
              <a:t>2023 Copyright </a:t>
            </a:r>
            <a:r>
              <a:rPr lang="ko-KR" altLang="en-US"/>
              <a:t>ⓒ </a:t>
            </a:r>
            <a:r>
              <a:rPr lang="en-US" altLang="ko-KR"/>
              <a:t>Autonomous Vehicle Lab</a:t>
            </a:r>
            <a:endParaRPr lang="en-US" dirty="0"/>
          </a:p>
        </p:txBody>
      </p:sp>
      <p:sp>
        <p:nvSpPr>
          <p:cNvPr id="6" name="슬라이드 번호 개체 틀 5">
            <a:extLst>
              <a:ext uri="{FF2B5EF4-FFF2-40B4-BE49-F238E27FC236}">
                <a16:creationId xmlns:a16="http://schemas.microsoft.com/office/drawing/2014/main" id="{946EF6C8-6C2E-7CD0-48F5-6ED4A1466CAE}"/>
              </a:ext>
            </a:extLst>
          </p:cNvPr>
          <p:cNvSpPr>
            <a:spLocks noGrp="1"/>
          </p:cNvSpPr>
          <p:nvPr>
            <p:ph type="sldNum" sz="quarter" idx="12"/>
          </p:nvPr>
        </p:nvSpPr>
        <p:spPr/>
        <p:txBody>
          <a:bodyPr/>
          <a:lstStyle/>
          <a:p>
            <a:fld id="{55635D17-9D19-4B1E-86C2-B9D6296E4AF7}" type="slidenum">
              <a:rPr lang="en-US" smtClean="0"/>
              <a:pPr/>
              <a:t>9</a:t>
            </a:fld>
            <a:endParaRPr lang="en-US" dirty="0"/>
          </a:p>
        </p:txBody>
      </p:sp>
      <p:pic>
        <p:nvPicPr>
          <p:cNvPr id="7" name="Picture 2">
            <a:extLst>
              <a:ext uri="{FF2B5EF4-FFF2-40B4-BE49-F238E27FC236}">
                <a16:creationId xmlns:a16="http://schemas.microsoft.com/office/drawing/2014/main" id="{C235468A-2F81-698E-F5C4-B6F0BEE6CB8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35001" y="684920"/>
            <a:ext cx="8532297" cy="522778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8208888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9880FAE4-784B-C197-E1FF-D0E51C21E2E6}"/>
              </a:ext>
            </a:extLst>
          </p:cNvPr>
          <p:cNvSpPr>
            <a:spLocks noGrp="1"/>
          </p:cNvSpPr>
          <p:nvPr>
            <p:ph type="title"/>
          </p:nvPr>
        </p:nvSpPr>
        <p:spPr/>
        <p:txBody>
          <a:bodyPr>
            <a:normAutofit fontScale="90000"/>
          </a:bodyPr>
          <a:lstStyle/>
          <a:p>
            <a:r>
              <a:rPr lang="en-US" altLang="ko-KR" dirty="0"/>
              <a:t>Partnership Structure</a:t>
            </a:r>
            <a:endParaRPr lang="ko-KR" altLang="en-US" dirty="0"/>
          </a:p>
        </p:txBody>
      </p:sp>
      <p:sp>
        <p:nvSpPr>
          <p:cNvPr id="4" name="날짜 개체 틀 3">
            <a:extLst>
              <a:ext uri="{FF2B5EF4-FFF2-40B4-BE49-F238E27FC236}">
                <a16:creationId xmlns:a16="http://schemas.microsoft.com/office/drawing/2014/main" id="{A596A1DD-4FEC-4B01-2088-06D3D621B6B6}"/>
              </a:ext>
            </a:extLst>
          </p:cNvPr>
          <p:cNvSpPr>
            <a:spLocks noGrp="1"/>
          </p:cNvSpPr>
          <p:nvPr>
            <p:ph type="dt" sz="half" idx="10"/>
          </p:nvPr>
        </p:nvSpPr>
        <p:spPr/>
        <p:txBody>
          <a:bodyPr/>
          <a:lstStyle/>
          <a:p>
            <a:fld id="{9539328B-81D7-470F-B07E-C60C8A68D98A}" type="datetime1">
              <a:rPr lang="en-US" altLang="ko-KR" smtClean="0"/>
              <a:t>4/12/2026</a:t>
            </a:fld>
            <a:endParaRPr lang="en-US"/>
          </a:p>
        </p:txBody>
      </p:sp>
      <p:sp>
        <p:nvSpPr>
          <p:cNvPr id="5" name="바닥글 개체 틀 4">
            <a:extLst>
              <a:ext uri="{FF2B5EF4-FFF2-40B4-BE49-F238E27FC236}">
                <a16:creationId xmlns:a16="http://schemas.microsoft.com/office/drawing/2014/main" id="{EF53327E-80B0-3814-BC65-F9E6AE6DEE3C}"/>
              </a:ext>
            </a:extLst>
          </p:cNvPr>
          <p:cNvSpPr>
            <a:spLocks noGrp="1"/>
          </p:cNvSpPr>
          <p:nvPr>
            <p:ph type="ftr" sz="quarter" idx="11"/>
          </p:nvPr>
        </p:nvSpPr>
        <p:spPr/>
        <p:txBody>
          <a:bodyPr/>
          <a:lstStyle/>
          <a:p>
            <a:r>
              <a:rPr lang="en-US"/>
              <a:t>2023 Copyright </a:t>
            </a:r>
            <a:r>
              <a:rPr lang="ko-KR" altLang="en-US"/>
              <a:t>ⓒ </a:t>
            </a:r>
            <a:r>
              <a:rPr lang="en-US" altLang="ko-KR"/>
              <a:t>Autonomous Vehicle Lab</a:t>
            </a:r>
            <a:endParaRPr lang="en-US" dirty="0"/>
          </a:p>
        </p:txBody>
      </p:sp>
      <p:sp>
        <p:nvSpPr>
          <p:cNvPr id="6" name="슬라이드 번호 개체 틀 5">
            <a:extLst>
              <a:ext uri="{FF2B5EF4-FFF2-40B4-BE49-F238E27FC236}">
                <a16:creationId xmlns:a16="http://schemas.microsoft.com/office/drawing/2014/main" id="{946EF6C8-6C2E-7CD0-48F5-6ED4A1466CAE}"/>
              </a:ext>
            </a:extLst>
          </p:cNvPr>
          <p:cNvSpPr>
            <a:spLocks noGrp="1"/>
          </p:cNvSpPr>
          <p:nvPr>
            <p:ph type="sldNum" sz="quarter" idx="12"/>
          </p:nvPr>
        </p:nvSpPr>
        <p:spPr/>
        <p:txBody>
          <a:bodyPr/>
          <a:lstStyle/>
          <a:p>
            <a:fld id="{55635D17-9D19-4B1E-86C2-B9D6296E4AF7}" type="slidenum">
              <a:rPr lang="en-US" smtClean="0"/>
              <a:pPr/>
              <a:t>10</a:t>
            </a:fld>
            <a:endParaRPr lang="en-US" dirty="0"/>
          </a:p>
        </p:txBody>
      </p:sp>
      <p:pic>
        <p:nvPicPr>
          <p:cNvPr id="7" name="Picture 2">
            <a:extLst>
              <a:ext uri="{FF2B5EF4-FFF2-40B4-BE49-F238E27FC236}">
                <a16:creationId xmlns:a16="http://schemas.microsoft.com/office/drawing/2014/main" id="{D821D527-EF57-FF59-8B6A-1E598052A18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51032" y="983561"/>
            <a:ext cx="8301634" cy="46085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6070448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9880FAE4-784B-C197-E1FF-D0E51C21E2E6}"/>
              </a:ext>
            </a:extLst>
          </p:cNvPr>
          <p:cNvSpPr>
            <a:spLocks noGrp="1"/>
          </p:cNvSpPr>
          <p:nvPr>
            <p:ph type="title"/>
          </p:nvPr>
        </p:nvSpPr>
        <p:spPr/>
        <p:txBody>
          <a:bodyPr>
            <a:normAutofit fontScale="90000"/>
          </a:bodyPr>
          <a:lstStyle/>
          <a:p>
            <a:r>
              <a:rPr lang="en-US" altLang="ko-KR" dirty="0"/>
              <a:t>Core partners and members</a:t>
            </a:r>
            <a:endParaRPr lang="ko-KR" altLang="en-US" dirty="0"/>
          </a:p>
        </p:txBody>
      </p:sp>
      <p:sp>
        <p:nvSpPr>
          <p:cNvPr id="4" name="날짜 개체 틀 3">
            <a:extLst>
              <a:ext uri="{FF2B5EF4-FFF2-40B4-BE49-F238E27FC236}">
                <a16:creationId xmlns:a16="http://schemas.microsoft.com/office/drawing/2014/main" id="{A596A1DD-4FEC-4B01-2088-06D3D621B6B6}"/>
              </a:ext>
            </a:extLst>
          </p:cNvPr>
          <p:cNvSpPr>
            <a:spLocks noGrp="1"/>
          </p:cNvSpPr>
          <p:nvPr>
            <p:ph type="dt" sz="half" idx="10"/>
          </p:nvPr>
        </p:nvSpPr>
        <p:spPr/>
        <p:txBody>
          <a:bodyPr/>
          <a:lstStyle/>
          <a:p>
            <a:fld id="{9539328B-81D7-470F-B07E-C60C8A68D98A}" type="datetime1">
              <a:rPr lang="en-US" altLang="ko-KR" smtClean="0"/>
              <a:t>4/12/2026</a:t>
            </a:fld>
            <a:endParaRPr lang="en-US"/>
          </a:p>
        </p:txBody>
      </p:sp>
      <p:sp>
        <p:nvSpPr>
          <p:cNvPr id="5" name="바닥글 개체 틀 4">
            <a:extLst>
              <a:ext uri="{FF2B5EF4-FFF2-40B4-BE49-F238E27FC236}">
                <a16:creationId xmlns:a16="http://schemas.microsoft.com/office/drawing/2014/main" id="{EF53327E-80B0-3814-BC65-F9E6AE6DEE3C}"/>
              </a:ext>
            </a:extLst>
          </p:cNvPr>
          <p:cNvSpPr>
            <a:spLocks noGrp="1"/>
          </p:cNvSpPr>
          <p:nvPr>
            <p:ph type="ftr" sz="quarter" idx="11"/>
          </p:nvPr>
        </p:nvSpPr>
        <p:spPr/>
        <p:txBody>
          <a:bodyPr/>
          <a:lstStyle/>
          <a:p>
            <a:r>
              <a:rPr lang="en-US"/>
              <a:t>2023 Copyright </a:t>
            </a:r>
            <a:r>
              <a:rPr lang="ko-KR" altLang="en-US"/>
              <a:t>ⓒ </a:t>
            </a:r>
            <a:r>
              <a:rPr lang="en-US" altLang="ko-KR"/>
              <a:t>Autonomous Vehicle Lab</a:t>
            </a:r>
            <a:endParaRPr lang="en-US" dirty="0"/>
          </a:p>
        </p:txBody>
      </p:sp>
      <p:sp>
        <p:nvSpPr>
          <p:cNvPr id="6" name="슬라이드 번호 개체 틀 5">
            <a:extLst>
              <a:ext uri="{FF2B5EF4-FFF2-40B4-BE49-F238E27FC236}">
                <a16:creationId xmlns:a16="http://schemas.microsoft.com/office/drawing/2014/main" id="{946EF6C8-6C2E-7CD0-48F5-6ED4A1466CAE}"/>
              </a:ext>
            </a:extLst>
          </p:cNvPr>
          <p:cNvSpPr>
            <a:spLocks noGrp="1"/>
          </p:cNvSpPr>
          <p:nvPr>
            <p:ph type="sldNum" sz="quarter" idx="12"/>
          </p:nvPr>
        </p:nvSpPr>
        <p:spPr/>
        <p:txBody>
          <a:bodyPr/>
          <a:lstStyle/>
          <a:p>
            <a:fld id="{55635D17-9D19-4B1E-86C2-B9D6296E4AF7}" type="slidenum">
              <a:rPr lang="en-US" smtClean="0"/>
              <a:pPr/>
              <a:t>11</a:t>
            </a:fld>
            <a:endParaRPr lang="en-US" dirty="0"/>
          </a:p>
        </p:txBody>
      </p:sp>
      <p:pic>
        <p:nvPicPr>
          <p:cNvPr id="3" name="그림 2">
            <a:extLst>
              <a:ext uri="{FF2B5EF4-FFF2-40B4-BE49-F238E27FC236}">
                <a16:creationId xmlns:a16="http://schemas.microsoft.com/office/drawing/2014/main" id="{D7C9693D-A37D-A0B7-F28B-46B56E89E807}"/>
              </a:ext>
            </a:extLst>
          </p:cNvPr>
          <p:cNvPicPr>
            <a:picLocks noChangeAspect="1"/>
          </p:cNvPicPr>
          <p:nvPr/>
        </p:nvPicPr>
        <p:blipFill>
          <a:blip r:embed="rId2"/>
          <a:stretch>
            <a:fillRect/>
          </a:stretch>
        </p:blipFill>
        <p:spPr>
          <a:xfrm>
            <a:off x="1536569" y="854169"/>
            <a:ext cx="9144000" cy="4387343"/>
          </a:xfrm>
          <a:prstGeom prst="rect">
            <a:avLst/>
          </a:prstGeom>
        </p:spPr>
      </p:pic>
      <p:sp>
        <p:nvSpPr>
          <p:cNvPr id="8" name="TextBox 7">
            <a:extLst>
              <a:ext uri="{FF2B5EF4-FFF2-40B4-BE49-F238E27FC236}">
                <a16:creationId xmlns:a16="http://schemas.microsoft.com/office/drawing/2014/main" id="{5FE43B89-1003-A78C-7D95-E8DB9C9B914C}"/>
              </a:ext>
            </a:extLst>
          </p:cNvPr>
          <p:cNvSpPr txBox="1"/>
          <p:nvPr/>
        </p:nvSpPr>
        <p:spPr>
          <a:xfrm>
            <a:off x="2587790" y="5511447"/>
            <a:ext cx="7007688" cy="338554"/>
          </a:xfrm>
          <a:prstGeom prst="rect">
            <a:avLst/>
          </a:prstGeom>
          <a:solidFill>
            <a:srgbClr val="FFFF00"/>
          </a:solidFill>
          <a:ln w="19050">
            <a:solidFill>
              <a:srgbClr val="FFC000"/>
            </a:solidFill>
          </a:ln>
        </p:spPr>
        <p:txBody>
          <a:bodyPr wrap="none" rtlCol="0">
            <a:spAutoFit/>
          </a:bodyPr>
          <a:lstStyle/>
          <a:p>
            <a:r>
              <a:rPr lang="en-US" altLang="ko-KR" sz="1600" dirty="0"/>
              <a:t>Up-to-date status see: </a:t>
            </a:r>
            <a:r>
              <a:rPr lang="en-US" altLang="ko-KR" sz="1600" dirty="0">
                <a:hlinkClick r:id="rId3"/>
              </a:rPr>
              <a:t>http://www.autosar.org</a:t>
            </a:r>
            <a:r>
              <a:rPr lang="en-US" altLang="ko-KR" sz="1600" dirty="0"/>
              <a:t>, 2024</a:t>
            </a:r>
            <a:r>
              <a:rPr lang="ko-KR" altLang="en-US" sz="1600" dirty="0"/>
              <a:t>년 </a:t>
            </a:r>
            <a:r>
              <a:rPr lang="en-US" altLang="ko-KR" sz="1600" dirty="0"/>
              <a:t>4</a:t>
            </a:r>
            <a:r>
              <a:rPr lang="ko-KR" altLang="en-US" sz="1600" dirty="0"/>
              <a:t>월까지  </a:t>
            </a:r>
            <a:r>
              <a:rPr lang="en-US" altLang="ko-KR" sz="1600" dirty="0"/>
              <a:t>350+ </a:t>
            </a:r>
            <a:r>
              <a:rPr lang="ko-KR" altLang="en-US" sz="1600" dirty="0"/>
              <a:t>기관 가입</a:t>
            </a:r>
          </a:p>
        </p:txBody>
      </p:sp>
    </p:spTree>
    <p:extLst>
      <p:ext uri="{BB962C8B-B14F-4D97-AF65-F5344CB8AC3E}">
        <p14:creationId xmlns:p14="http://schemas.microsoft.com/office/powerpoint/2010/main" val="34331824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날짜 개체 틀 3">
            <a:extLst>
              <a:ext uri="{FF2B5EF4-FFF2-40B4-BE49-F238E27FC236}">
                <a16:creationId xmlns:a16="http://schemas.microsoft.com/office/drawing/2014/main" id="{A596A1DD-4FEC-4B01-2088-06D3D621B6B6}"/>
              </a:ext>
            </a:extLst>
          </p:cNvPr>
          <p:cNvSpPr>
            <a:spLocks noGrp="1"/>
          </p:cNvSpPr>
          <p:nvPr>
            <p:ph type="dt" sz="half" idx="10"/>
          </p:nvPr>
        </p:nvSpPr>
        <p:spPr/>
        <p:txBody>
          <a:bodyPr/>
          <a:lstStyle/>
          <a:p>
            <a:fld id="{9539328B-81D7-470F-B07E-C60C8A68D98A}" type="datetime1">
              <a:rPr lang="en-US" altLang="ko-KR" smtClean="0"/>
              <a:t>4/12/2026</a:t>
            </a:fld>
            <a:endParaRPr lang="en-US"/>
          </a:p>
        </p:txBody>
      </p:sp>
      <p:sp>
        <p:nvSpPr>
          <p:cNvPr id="5" name="바닥글 개체 틀 4">
            <a:extLst>
              <a:ext uri="{FF2B5EF4-FFF2-40B4-BE49-F238E27FC236}">
                <a16:creationId xmlns:a16="http://schemas.microsoft.com/office/drawing/2014/main" id="{EF53327E-80B0-3814-BC65-F9E6AE6DEE3C}"/>
              </a:ext>
            </a:extLst>
          </p:cNvPr>
          <p:cNvSpPr>
            <a:spLocks noGrp="1"/>
          </p:cNvSpPr>
          <p:nvPr>
            <p:ph type="ftr" sz="quarter" idx="11"/>
          </p:nvPr>
        </p:nvSpPr>
        <p:spPr/>
        <p:txBody>
          <a:bodyPr/>
          <a:lstStyle/>
          <a:p>
            <a:r>
              <a:rPr lang="en-US"/>
              <a:t>2023 Copyright </a:t>
            </a:r>
            <a:r>
              <a:rPr lang="ko-KR" altLang="en-US"/>
              <a:t>ⓒ </a:t>
            </a:r>
            <a:r>
              <a:rPr lang="en-US" altLang="ko-KR"/>
              <a:t>Autonomous Vehicle Lab</a:t>
            </a:r>
            <a:endParaRPr lang="en-US" dirty="0"/>
          </a:p>
        </p:txBody>
      </p:sp>
      <p:sp>
        <p:nvSpPr>
          <p:cNvPr id="6" name="슬라이드 번호 개체 틀 5">
            <a:extLst>
              <a:ext uri="{FF2B5EF4-FFF2-40B4-BE49-F238E27FC236}">
                <a16:creationId xmlns:a16="http://schemas.microsoft.com/office/drawing/2014/main" id="{946EF6C8-6C2E-7CD0-48F5-6ED4A1466CAE}"/>
              </a:ext>
            </a:extLst>
          </p:cNvPr>
          <p:cNvSpPr>
            <a:spLocks noGrp="1"/>
          </p:cNvSpPr>
          <p:nvPr>
            <p:ph type="sldNum" sz="quarter" idx="12"/>
          </p:nvPr>
        </p:nvSpPr>
        <p:spPr/>
        <p:txBody>
          <a:bodyPr/>
          <a:lstStyle/>
          <a:p>
            <a:fld id="{55635D17-9D19-4B1E-86C2-B9D6296E4AF7}" type="slidenum">
              <a:rPr lang="en-US" smtClean="0"/>
              <a:pPr/>
              <a:t>12</a:t>
            </a:fld>
            <a:endParaRPr lang="en-US" dirty="0"/>
          </a:p>
        </p:txBody>
      </p:sp>
      <p:pic>
        <p:nvPicPr>
          <p:cNvPr id="7" name="그림 6">
            <a:extLst>
              <a:ext uri="{FF2B5EF4-FFF2-40B4-BE49-F238E27FC236}">
                <a16:creationId xmlns:a16="http://schemas.microsoft.com/office/drawing/2014/main" id="{4B29C210-E418-43D5-35E7-924D8CD035C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2315" y="236104"/>
            <a:ext cx="10076033" cy="5496018"/>
          </a:xfrm>
          <a:prstGeom prst="rect">
            <a:avLst/>
          </a:prstGeom>
        </p:spPr>
      </p:pic>
      <p:sp>
        <p:nvSpPr>
          <p:cNvPr id="9" name="TextBox 8">
            <a:extLst>
              <a:ext uri="{FF2B5EF4-FFF2-40B4-BE49-F238E27FC236}">
                <a16:creationId xmlns:a16="http://schemas.microsoft.com/office/drawing/2014/main" id="{FAB362D2-AA68-63CF-0651-EFCB969DBEA8}"/>
              </a:ext>
            </a:extLst>
          </p:cNvPr>
          <p:cNvSpPr txBox="1"/>
          <p:nvPr/>
        </p:nvSpPr>
        <p:spPr>
          <a:xfrm>
            <a:off x="7539926" y="5673562"/>
            <a:ext cx="1515608" cy="276999"/>
          </a:xfrm>
          <a:prstGeom prst="rect">
            <a:avLst/>
          </a:prstGeom>
          <a:noFill/>
        </p:spPr>
        <p:txBody>
          <a:bodyPr wrap="none" rtlCol="0">
            <a:spAutoFit/>
          </a:bodyPr>
          <a:lstStyle/>
          <a:p>
            <a:r>
              <a:rPr lang="en-US" altLang="ko-KR" sz="1200" b="1" dirty="0">
                <a:highlight>
                  <a:srgbClr val="FFFF00"/>
                </a:highlight>
                <a:latin typeface="+mj-ea"/>
                <a:ea typeface="+mj-ea"/>
              </a:rPr>
              <a:t>8-Layer SDV</a:t>
            </a:r>
            <a:r>
              <a:rPr lang="ko-KR" altLang="en-US" sz="1200" b="1" dirty="0">
                <a:highlight>
                  <a:srgbClr val="FFFF00"/>
                </a:highlight>
                <a:latin typeface="+mj-ea"/>
                <a:ea typeface="+mj-ea"/>
              </a:rPr>
              <a:t> </a:t>
            </a:r>
            <a:r>
              <a:rPr lang="en-US" altLang="ko-KR" sz="1200" b="1" dirty="0">
                <a:highlight>
                  <a:srgbClr val="FFFF00"/>
                </a:highlight>
                <a:latin typeface="+mj-ea"/>
                <a:ea typeface="+mj-ea"/>
              </a:rPr>
              <a:t>Stack</a:t>
            </a:r>
            <a:endParaRPr lang="ko-KR" altLang="en-US" sz="1200" b="1" dirty="0">
              <a:highlight>
                <a:srgbClr val="FFFF00"/>
              </a:highlight>
              <a:latin typeface="+mj-ea"/>
              <a:ea typeface="+mj-ea"/>
            </a:endParaRPr>
          </a:p>
        </p:txBody>
      </p:sp>
    </p:spTree>
    <p:extLst>
      <p:ext uri="{BB962C8B-B14F-4D97-AF65-F5344CB8AC3E}">
        <p14:creationId xmlns:p14="http://schemas.microsoft.com/office/powerpoint/2010/main" val="2663172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9880FAE4-784B-C197-E1FF-D0E51C21E2E6}"/>
              </a:ext>
            </a:extLst>
          </p:cNvPr>
          <p:cNvSpPr>
            <a:spLocks noGrp="1"/>
          </p:cNvSpPr>
          <p:nvPr>
            <p:ph type="title"/>
          </p:nvPr>
        </p:nvSpPr>
        <p:spPr/>
        <p:txBody>
          <a:bodyPr>
            <a:normAutofit fontScale="90000"/>
          </a:bodyPr>
          <a:lstStyle/>
          <a:p>
            <a:r>
              <a:rPr lang="en-US" altLang="ko-KR" dirty="0"/>
              <a:t>Architecture</a:t>
            </a:r>
            <a:endParaRPr lang="ko-KR" altLang="en-US" dirty="0"/>
          </a:p>
        </p:txBody>
      </p:sp>
      <p:sp>
        <p:nvSpPr>
          <p:cNvPr id="4" name="날짜 개체 틀 3">
            <a:extLst>
              <a:ext uri="{FF2B5EF4-FFF2-40B4-BE49-F238E27FC236}">
                <a16:creationId xmlns:a16="http://schemas.microsoft.com/office/drawing/2014/main" id="{A596A1DD-4FEC-4B01-2088-06D3D621B6B6}"/>
              </a:ext>
            </a:extLst>
          </p:cNvPr>
          <p:cNvSpPr>
            <a:spLocks noGrp="1"/>
          </p:cNvSpPr>
          <p:nvPr>
            <p:ph type="dt" sz="half" idx="10"/>
          </p:nvPr>
        </p:nvSpPr>
        <p:spPr/>
        <p:txBody>
          <a:bodyPr/>
          <a:lstStyle/>
          <a:p>
            <a:fld id="{9539328B-81D7-470F-B07E-C60C8A68D98A}" type="datetime1">
              <a:rPr lang="en-US" altLang="ko-KR" smtClean="0"/>
              <a:t>4/12/2026</a:t>
            </a:fld>
            <a:endParaRPr lang="en-US"/>
          </a:p>
        </p:txBody>
      </p:sp>
      <p:sp>
        <p:nvSpPr>
          <p:cNvPr id="5" name="바닥글 개체 틀 4">
            <a:extLst>
              <a:ext uri="{FF2B5EF4-FFF2-40B4-BE49-F238E27FC236}">
                <a16:creationId xmlns:a16="http://schemas.microsoft.com/office/drawing/2014/main" id="{EF53327E-80B0-3814-BC65-F9E6AE6DEE3C}"/>
              </a:ext>
            </a:extLst>
          </p:cNvPr>
          <p:cNvSpPr>
            <a:spLocks noGrp="1"/>
          </p:cNvSpPr>
          <p:nvPr>
            <p:ph type="ftr" sz="quarter" idx="11"/>
          </p:nvPr>
        </p:nvSpPr>
        <p:spPr/>
        <p:txBody>
          <a:bodyPr/>
          <a:lstStyle/>
          <a:p>
            <a:r>
              <a:rPr lang="en-US"/>
              <a:t>2023 Copyright </a:t>
            </a:r>
            <a:r>
              <a:rPr lang="ko-KR" altLang="en-US"/>
              <a:t>ⓒ </a:t>
            </a:r>
            <a:r>
              <a:rPr lang="en-US" altLang="ko-KR"/>
              <a:t>Autonomous Vehicle Lab</a:t>
            </a:r>
            <a:endParaRPr lang="en-US" dirty="0"/>
          </a:p>
        </p:txBody>
      </p:sp>
      <p:sp>
        <p:nvSpPr>
          <p:cNvPr id="6" name="슬라이드 번호 개체 틀 5">
            <a:extLst>
              <a:ext uri="{FF2B5EF4-FFF2-40B4-BE49-F238E27FC236}">
                <a16:creationId xmlns:a16="http://schemas.microsoft.com/office/drawing/2014/main" id="{946EF6C8-6C2E-7CD0-48F5-6ED4A1466CAE}"/>
              </a:ext>
            </a:extLst>
          </p:cNvPr>
          <p:cNvSpPr>
            <a:spLocks noGrp="1"/>
          </p:cNvSpPr>
          <p:nvPr>
            <p:ph type="sldNum" sz="quarter" idx="12"/>
          </p:nvPr>
        </p:nvSpPr>
        <p:spPr/>
        <p:txBody>
          <a:bodyPr/>
          <a:lstStyle/>
          <a:p>
            <a:fld id="{55635D17-9D19-4B1E-86C2-B9D6296E4AF7}" type="slidenum">
              <a:rPr lang="en-US" smtClean="0"/>
              <a:pPr/>
              <a:t>13</a:t>
            </a:fld>
            <a:endParaRPr lang="en-US" dirty="0"/>
          </a:p>
        </p:txBody>
      </p:sp>
      <p:pic>
        <p:nvPicPr>
          <p:cNvPr id="14" name="그림 13">
            <a:extLst>
              <a:ext uri="{FF2B5EF4-FFF2-40B4-BE49-F238E27FC236}">
                <a16:creationId xmlns:a16="http://schemas.microsoft.com/office/drawing/2014/main" id="{99A8C098-FB9A-08FA-2B10-1125032B598D}"/>
              </a:ext>
            </a:extLst>
          </p:cNvPr>
          <p:cNvPicPr>
            <a:picLocks noChangeAspect="1"/>
          </p:cNvPicPr>
          <p:nvPr/>
        </p:nvPicPr>
        <p:blipFill>
          <a:blip r:embed="rId2"/>
          <a:stretch>
            <a:fillRect/>
          </a:stretch>
        </p:blipFill>
        <p:spPr>
          <a:xfrm>
            <a:off x="2445727" y="852222"/>
            <a:ext cx="7310292" cy="4821800"/>
          </a:xfrm>
          <a:prstGeom prst="rect">
            <a:avLst/>
          </a:prstGeom>
        </p:spPr>
      </p:pic>
    </p:spTree>
    <p:extLst>
      <p:ext uri="{BB962C8B-B14F-4D97-AF65-F5344CB8AC3E}">
        <p14:creationId xmlns:p14="http://schemas.microsoft.com/office/powerpoint/2010/main" val="36914621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9880FAE4-784B-C197-E1FF-D0E51C21E2E6}"/>
              </a:ext>
            </a:extLst>
          </p:cNvPr>
          <p:cNvSpPr>
            <a:spLocks noGrp="1"/>
          </p:cNvSpPr>
          <p:nvPr>
            <p:ph type="title"/>
          </p:nvPr>
        </p:nvSpPr>
        <p:spPr/>
        <p:txBody>
          <a:bodyPr>
            <a:normAutofit fontScale="90000"/>
          </a:bodyPr>
          <a:lstStyle/>
          <a:p>
            <a:r>
              <a:rPr lang="en-US" altLang="ko-KR" dirty="0"/>
              <a:t>Software Component</a:t>
            </a:r>
            <a:endParaRPr lang="ko-KR" altLang="en-US" dirty="0"/>
          </a:p>
        </p:txBody>
      </p:sp>
      <p:sp>
        <p:nvSpPr>
          <p:cNvPr id="4" name="날짜 개체 틀 3">
            <a:extLst>
              <a:ext uri="{FF2B5EF4-FFF2-40B4-BE49-F238E27FC236}">
                <a16:creationId xmlns:a16="http://schemas.microsoft.com/office/drawing/2014/main" id="{A596A1DD-4FEC-4B01-2088-06D3D621B6B6}"/>
              </a:ext>
            </a:extLst>
          </p:cNvPr>
          <p:cNvSpPr>
            <a:spLocks noGrp="1"/>
          </p:cNvSpPr>
          <p:nvPr>
            <p:ph type="dt" sz="half" idx="10"/>
          </p:nvPr>
        </p:nvSpPr>
        <p:spPr/>
        <p:txBody>
          <a:bodyPr/>
          <a:lstStyle/>
          <a:p>
            <a:fld id="{9539328B-81D7-470F-B07E-C60C8A68D98A}" type="datetime1">
              <a:rPr lang="en-US" altLang="ko-KR" smtClean="0"/>
              <a:t>4/12/2026</a:t>
            </a:fld>
            <a:endParaRPr lang="en-US"/>
          </a:p>
        </p:txBody>
      </p:sp>
      <p:sp>
        <p:nvSpPr>
          <p:cNvPr id="5" name="바닥글 개체 틀 4">
            <a:extLst>
              <a:ext uri="{FF2B5EF4-FFF2-40B4-BE49-F238E27FC236}">
                <a16:creationId xmlns:a16="http://schemas.microsoft.com/office/drawing/2014/main" id="{EF53327E-80B0-3814-BC65-F9E6AE6DEE3C}"/>
              </a:ext>
            </a:extLst>
          </p:cNvPr>
          <p:cNvSpPr>
            <a:spLocks noGrp="1"/>
          </p:cNvSpPr>
          <p:nvPr>
            <p:ph type="ftr" sz="quarter" idx="11"/>
          </p:nvPr>
        </p:nvSpPr>
        <p:spPr/>
        <p:txBody>
          <a:bodyPr/>
          <a:lstStyle/>
          <a:p>
            <a:r>
              <a:rPr lang="en-US"/>
              <a:t>2023 Copyright </a:t>
            </a:r>
            <a:r>
              <a:rPr lang="ko-KR" altLang="en-US"/>
              <a:t>ⓒ </a:t>
            </a:r>
            <a:r>
              <a:rPr lang="en-US" altLang="ko-KR"/>
              <a:t>Autonomous Vehicle Lab</a:t>
            </a:r>
            <a:endParaRPr lang="en-US" dirty="0"/>
          </a:p>
        </p:txBody>
      </p:sp>
      <p:sp>
        <p:nvSpPr>
          <p:cNvPr id="6" name="슬라이드 번호 개체 틀 5">
            <a:extLst>
              <a:ext uri="{FF2B5EF4-FFF2-40B4-BE49-F238E27FC236}">
                <a16:creationId xmlns:a16="http://schemas.microsoft.com/office/drawing/2014/main" id="{946EF6C8-6C2E-7CD0-48F5-6ED4A1466CAE}"/>
              </a:ext>
            </a:extLst>
          </p:cNvPr>
          <p:cNvSpPr>
            <a:spLocks noGrp="1"/>
          </p:cNvSpPr>
          <p:nvPr>
            <p:ph type="sldNum" sz="quarter" idx="12"/>
          </p:nvPr>
        </p:nvSpPr>
        <p:spPr/>
        <p:txBody>
          <a:bodyPr/>
          <a:lstStyle/>
          <a:p>
            <a:fld id="{55635D17-9D19-4B1E-86C2-B9D6296E4AF7}" type="slidenum">
              <a:rPr lang="en-US" smtClean="0"/>
              <a:pPr/>
              <a:t>14</a:t>
            </a:fld>
            <a:endParaRPr lang="en-US" dirty="0"/>
          </a:p>
        </p:txBody>
      </p:sp>
      <p:pic>
        <p:nvPicPr>
          <p:cNvPr id="10" name="Picture 2">
            <a:extLst>
              <a:ext uri="{FF2B5EF4-FFF2-40B4-BE49-F238E27FC236}">
                <a16:creationId xmlns:a16="http://schemas.microsoft.com/office/drawing/2014/main" id="{ADC50271-3520-F70A-D0C3-288D9B3E56E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4398" t="51153" r="43403"/>
          <a:stretch>
            <a:fillRect/>
          </a:stretch>
        </p:blipFill>
        <p:spPr bwMode="auto">
          <a:xfrm>
            <a:off x="9945017" y="3527476"/>
            <a:ext cx="1694457" cy="240610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TextBox 2">
            <a:extLst>
              <a:ext uri="{FF2B5EF4-FFF2-40B4-BE49-F238E27FC236}">
                <a16:creationId xmlns:a16="http://schemas.microsoft.com/office/drawing/2014/main" id="{A38490EF-62B9-5801-5F12-5AC85CD75701}"/>
              </a:ext>
            </a:extLst>
          </p:cNvPr>
          <p:cNvSpPr txBox="1"/>
          <p:nvPr/>
        </p:nvSpPr>
        <p:spPr>
          <a:xfrm>
            <a:off x="810391" y="966399"/>
            <a:ext cx="9295679" cy="3599447"/>
          </a:xfrm>
          <a:prstGeom prst="rect">
            <a:avLst/>
          </a:prstGeom>
          <a:noFill/>
        </p:spPr>
        <p:txBody>
          <a:bodyPr wrap="square" rtlCol="0">
            <a:spAutoFit/>
          </a:bodyPr>
          <a:lstStyle/>
          <a:p>
            <a:pPr>
              <a:lnSpc>
                <a:spcPct val="150000"/>
              </a:lnSpc>
            </a:pPr>
            <a:r>
              <a:rPr lang="en-US" altLang="ko-KR" sz="2000" dirty="0"/>
              <a:t>The AUTOSAR Software Components encapsulate an application which runs on the AUTOSAR infrastructure. The AUTOSAR SW-C have well-defined interfaces, which are described and standardized.</a:t>
            </a:r>
          </a:p>
          <a:p>
            <a:pPr marL="742950" lvl="1" indent="-285750">
              <a:lnSpc>
                <a:spcPct val="150000"/>
              </a:lnSpc>
              <a:buFont typeface="Arial" panose="020B0604020202020204" pitchFamily="34" charset="0"/>
              <a:buChar char="•"/>
            </a:pPr>
            <a:r>
              <a:rPr lang="en-US" altLang="ko-KR" sz="2000" b="1" dirty="0"/>
              <a:t>SW-C Description</a:t>
            </a:r>
            <a:endParaRPr lang="en-US" altLang="ko-KR" sz="2000" dirty="0"/>
          </a:p>
          <a:p>
            <a:pPr marL="1200150" lvl="2" indent="-285750">
              <a:lnSpc>
                <a:spcPct val="150000"/>
              </a:lnSpc>
              <a:buFont typeface="Arial" panose="020B0604020202020204" pitchFamily="34" charset="0"/>
              <a:buChar char="•"/>
            </a:pPr>
            <a:r>
              <a:rPr lang="en-US" altLang="ko-KR" dirty="0"/>
              <a:t>For the interfaces as well as other aspects needed for the integration of the AUTOSAR Software Components, AUTOSAR provides a standard description format (SW-C Description).</a:t>
            </a:r>
          </a:p>
          <a:p>
            <a:pPr>
              <a:lnSpc>
                <a:spcPct val="150000"/>
              </a:lnSpc>
            </a:pPr>
            <a:endParaRPr lang="ko-KR" altLang="en-US" sz="2000" dirty="0"/>
          </a:p>
        </p:txBody>
      </p:sp>
    </p:spTree>
    <p:extLst>
      <p:ext uri="{BB962C8B-B14F-4D97-AF65-F5344CB8AC3E}">
        <p14:creationId xmlns:p14="http://schemas.microsoft.com/office/powerpoint/2010/main" val="14667960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9880FAE4-784B-C197-E1FF-D0E51C21E2E6}"/>
              </a:ext>
            </a:extLst>
          </p:cNvPr>
          <p:cNvSpPr>
            <a:spLocks noGrp="1"/>
          </p:cNvSpPr>
          <p:nvPr>
            <p:ph type="title"/>
          </p:nvPr>
        </p:nvSpPr>
        <p:spPr/>
        <p:txBody>
          <a:bodyPr>
            <a:normAutofit fontScale="90000"/>
          </a:bodyPr>
          <a:lstStyle/>
          <a:p>
            <a:r>
              <a:rPr lang="en-US" altLang="ko-KR" dirty="0"/>
              <a:t>Virtual Functional Bus(VFB)</a:t>
            </a:r>
            <a:endParaRPr lang="ko-KR" altLang="en-US" dirty="0"/>
          </a:p>
        </p:txBody>
      </p:sp>
      <p:sp>
        <p:nvSpPr>
          <p:cNvPr id="3" name="내용 개체 틀 2">
            <a:extLst>
              <a:ext uri="{FF2B5EF4-FFF2-40B4-BE49-F238E27FC236}">
                <a16:creationId xmlns:a16="http://schemas.microsoft.com/office/drawing/2014/main" id="{5F11B105-E941-1790-4E8B-0AC50E090726}"/>
              </a:ext>
            </a:extLst>
          </p:cNvPr>
          <p:cNvSpPr>
            <a:spLocks noGrp="1"/>
          </p:cNvSpPr>
          <p:nvPr>
            <p:ph idx="1"/>
          </p:nvPr>
        </p:nvSpPr>
        <p:spPr>
          <a:xfrm>
            <a:off x="756557" y="820172"/>
            <a:ext cx="10386572" cy="4968694"/>
          </a:xfrm>
        </p:spPr>
        <p:txBody>
          <a:bodyPr>
            <a:noAutofit/>
          </a:bodyPr>
          <a:lstStyle/>
          <a:p>
            <a:r>
              <a:rPr lang="en-US" altLang="ko-KR" sz="2000" dirty="0"/>
              <a:t>The “virtual functional bus” is the communication mechanism that allows these components to interact. </a:t>
            </a:r>
          </a:p>
          <a:p>
            <a:r>
              <a:rPr lang="en-US" altLang="ko-KR" sz="2000" dirty="0"/>
              <a:t>In a design step called “Configure System”, the components are mapped on specific system resources (ECUs). Thereby, the virtual connections between the components are mapped onto local connections (within a single ECU) or on network-technology specific communication mechanisms (such as CAN or </a:t>
            </a:r>
            <a:r>
              <a:rPr lang="en-US" altLang="ko-KR" sz="2000" dirty="0" err="1"/>
              <a:t>FlexRay</a:t>
            </a:r>
            <a:r>
              <a:rPr lang="en-US" altLang="ko-KR" sz="2000" dirty="0"/>
              <a:t> frames). </a:t>
            </a:r>
          </a:p>
          <a:p>
            <a:r>
              <a:rPr lang="en-US" altLang="ko-KR" sz="2000" dirty="0"/>
              <a:t>Finally, the individual ECUs in such a system can be configured. </a:t>
            </a:r>
          </a:p>
          <a:p>
            <a:r>
              <a:rPr lang="en-US" altLang="ko-KR" sz="2000" dirty="0"/>
              <a:t>The concrete interface between the individual components and between the components and the Basic Software (BSW) is called the Run-Time Environment (RTE).</a:t>
            </a:r>
          </a:p>
          <a:p>
            <a:r>
              <a:rPr lang="en-US" altLang="ko-KR" sz="2000" dirty="0"/>
              <a:t>The VFB specification needs to provide concepts for all infrastructure-services that are needed by a component implementing an automotive application. These include:</a:t>
            </a:r>
          </a:p>
          <a:p>
            <a:pPr lvl="1"/>
            <a:r>
              <a:rPr lang="en-US" altLang="ko-KR" sz="1600" dirty="0"/>
              <a:t>Communication to other components in the system</a:t>
            </a:r>
          </a:p>
          <a:p>
            <a:pPr lvl="1"/>
            <a:r>
              <a:rPr lang="en-US" altLang="ko-KR" sz="1600" dirty="0"/>
              <a:t>Communication to sensors and actuators in the system </a:t>
            </a:r>
          </a:p>
          <a:p>
            <a:pPr lvl="1"/>
            <a:r>
              <a:rPr lang="en-US" altLang="ko-KR" sz="1600" dirty="0"/>
              <a:t>Access to standardized services, such as reading to or writing from non-volatile ram </a:t>
            </a:r>
          </a:p>
          <a:p>
            <a:pPr lvl="1"/>
            <a:r>
              <a:rPr lang="en-US" altLang="ko-KR" sz="1600" dirty="0"/>
              <a:t>Responding to mode-changes, such as changes in the power-status of the local ECU </a:t>
            </a:r>
          </a:p>
          <a:p>
            <a:pPr lvl="1"/>
            <a:r>
              <a:rPr lang="en-US" altLang="ko-KR" sz="1600" dirty="0"/>
              <a:t>Interacting with calibration and measurement systems </a:t>
            </a:r>
            <a:endParaRPr lang="ko-KR" altLang="en-US" sz="1600" dirty="0"/>
          </a:p>
        </p:txBody>
      </p:sp>
      <p:sp>
        <p:nvSpPr>
          <p:cNvPr id="4" name="날짜 개체 틀 3">
            <a:extLst>
              <a:ext uri="{FF2B5EF4-FFF2-40B4-BE49-F238E27FC236}">
                <a16:creationId xmlns:a16="http://schemas.microsoft.com/office/drawing/2014/main" id="{A596A1DD-4FEC-4B01-2088-06D3D621B6B6}"/>
              </a:ext>
            </a:extLst>
          </p:cNvPr>
          <p:cNvSpPr>
            <a:spLocks noGrp="1"/>
          </p:cNvSpPr>
          <p:nvPr>
            <p:ph type="dt" sz="half" idx="10"/>
          </p:nvPr>
        </p:nvSpPr>
        <p:spPr/>
        <p:txBody>
          <a:bodyPr/>
          <a:lstStyle/>
          <a:p>
            <a:fld id="{9539328B-81D7-470F-B07E-C60C8A68D98A}" type="datetime1">
              <a:rPr lang="en-US" altLang="ko-KR" smtClean="0"/>
              <a:t>4/12/2026</a:t>
            </a:fld>
            <a:endParaRPr lang="en-US"/>
          </a:p>
        </p:txBody>
      </p:sp>
      <p:sp>
        <p:nvSpPr>
          <p:cNvPr id="5" name="바닥글 개체 틀 4">
            <a:extLst>
              <a:ext uri="{FF2B5EF4-FFF2-40B4-BE49-F238E27FC236}">
                <a16:creationId xmlns:a16="http://schemas.microsoft.com/office/drawing/2014/main" id="{EF53327E-80B0-3814-BC65-F9E6AE6DEE3C}"/>
              </a:ext>
            </a:extLst>
          </p:cNvPr>
          <p:cNvSpPr>
            <a:spLocks noGrp="1"/>
          </p:cNvSpPr>
          <p:nvPr>
            <p:ph type="ftr" sz="quarter" idx="11"/>
          </p:nvPr>
        </p:nvSpPr>
        <p:spPr/>
        <p:txBody>
          <a:bodyPr/>
          <a:lstStyle/>
          <a:p>
            <a:r>
              <a:rPr lang="en-US"/>
              <a:t>2023 Copyright </a:t>
            </a:r>
            <a:r>
              <a:rPr lang="ko-KR" altLang="en-US"/>
              <a:t>ⓒ </a:t>
            </a:r>
            <a:r>
              <a:rPr lang="en-US" altLang="ko-KR"/>
              <a:t>Autonomous Vehicle Lab</a:t>
            </a:r>
            <a:endParaRPr lang="en-US" dirty="0"/>
          </a:p>
        </p:txBody>
      </p:sp>
      <p:sp>
        <p:nvSpPr>
          <p:cNvPr id="6" name="슬라이드 번호 개체 틀 5">
            <a:extLst>
              <a:ext uri="{FF2B5EF4-FFF2-40B4-BE49-F238E27FC236}">
                <a16:creationId xmlns:a16="http://schemas.microsoft.com/office/drawing/2014/main" id="{946EF6C8-6C2E-7CD0-48F5-6ED4A1466CAE}"/>
              </a:ext>
            </a:extLst>
          </p:cNvPr>
          <p:cNvSpPr>
            <a:spLocks noGrp="1"/>
          </p:cNvSpPr>
          <p:nvPr>
            <p:ph type="sldNum" sz="quarter" idx="12"/>
          </p:nvPr>
        </p:nvSpPr>
        <p:spPr/>
        <p:txBody>
          <a:bodyPr/>
          <a:lstStyle/>
          <a:p>
            <a:fld id="{55635D17-9D19-4B1E-86C2-B9D6296E4AF7}" type="slidenum">
              <a:rPr lang="en-US" smtClean="0"/>
              <a:pPr/>
              <a:t>15</a:t>
            </a:fld>
            <a:endParaRPr lang="en-US" dirty="0"/>
          </a:p>
        </p:txBody>
      </p:sp>
    </p:spTree>
    <p:extLst>
      <p:ext uri="{BB962C8B-B14F-4D97-AF65-F5344CB8AC3E}">
        <p14:creationId xmlns:p14="http://schemas.microsoft.com/office/powerpoint/2010/main" val="42920016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9880FAE4-784B-C197-E1FF-D0E51C21E2E6}"/>
              </a:ext>
            </a:extLst>
          </p:cNvPr>
          <p:cNvSpPr>
            <a:spLocks noGrp="1"/>
          </p:cNvSpPr>
          <p:nvPr>
            <p:ph type="title"/>
          </p:nvPr>
        </p:nvSpPr>
        <p:spPr/>
        <p:txBody>
          <a:bodyPr>
            <a:normAutofit fontScale="90000"/>
          </a:bodyPr>
          <a:lstStyle/>
          <a:p>
            <a:r>
              <a:rPr lang="en-US" altLang="ko-KR" dirty="0"/>
              <a:t>ECU Descriptions</a:t>
            </a:r>
            <a:endParaRPr lang="ko-KR" altLang="en-US" dirty="0"/>
          </a:p>
        </p:txBody>
      </p:sp>
      <p:sp>
        <p:nvSpPr>
          <p:cNvPr id="4" name="날짜 개체 틀 3">
            <a:extLst>
              <a:ext uri="{FF2B5EF4-FFF2-40B4-BE49-F238E27FC236}">
                <a16:creationId xmlns:a16="http://schemas.microsoft.com/office/drawing/2014/main" id="{A596A1DD-4FEC-4B01-2088-06D3D621B6B6}"/>
              </a:ext>
            </a:extLst>
          </p:cNvPr>
          <p:cNvSpPr>
            <a:spLocks noGrp="1"/>
          </p:cNvSpPr>
          <p:nvPr>
            <p:ph type="dt" sz="half" idx="10"/>
          </p:nvPr>
        </p:nvSpPr>
        <p:spPr/>
        <p:txBody>
          <a:bodyPr/>
          <a:lstStyle/>
          <a:p>
            <a:fld id="{9539328B-81D7-470F-B07E-C60C8A68D98A}" type="datetime1">
              <a:rPr lang="en-US" altLang="ko-KR" smtClean="0"/>
              <a:t>4/12/2026</a:t>
            </a:fld>
            <a:endParaRPr lang="en-US"/>
          </a:p>
        </p:txBody>
      </p:sp>
      <p:sp>
        <p:nvSpPr>
          <p:cNvPr id="5" name="바닥글 개체 틀 4">
            <a:extLst>
              <a:ext uri="{FF2B5EF4-FFF2-40B4-BE49-F238E27FC236}">
                <a16:creationId xmlns:a16="http://schemas.microsoft.com/office/drawing/2014/main" id="{EF53327E-80B0-3814-BC65-F9E6AE6DEE3C}"/>
              </a:ext>
            </a:extLst>
          </p:cNvPr>
          <p:cNvSpPr>
            <a:spLocks noGrp="1"/>
          </p:cNvSpPr>
          <p:nvPr>
            <p:ph type="ftr" sz="quarter" idx="11"/>
          </p:nvPr>
        </p:nvSpPr>
        <p:spPr/>
        <p:txBody>
          <a:bodyPr/>
          <a:lstStyle/>
          <a:p>
            <a:r>
              <a:rPr lang="en-US"/>
              <a:t>2023 Copyright </a:t>
            </a:r>
            <a:r>
              <a:rPr lang="ko-KR" altLang="en-US"/>
              <a:t>ⓒ </a:t>
            </a:r>
            <a:r>
              <a:rPr lang="en-US" altLang="ko-KR"/>
              <a:t>Autonomous Vehicle Lab</a:t>
            </a:r>
            <a:endParaRPr lang="en-US" dirty="0"/>
          </a:p>
        </p:txBody>
      </p:sp>
      <p:sp>
        <p:nvSpPr>
          <p:cNvPr id="6" name="슬라이드 번호 개체 틀 5">
            <a:extLst>
              <a:ext uri="{FF2B5EF4-FFF2-40B4-BE49-F238E27FC236}">
                <a16:creationId xmlns:a16="http://schemas.microsoft.com/office/drawing/2014/main" id="{946EF6C8-6C2E-7CD0-48F5-6ED4A1466CAE}"/>
              </a:ext>
            </a:extLst>
          </p:cNvPr>
          <p:cNvSpPr>
            <a:spLocks noGrp="1"/>
          </p:cNvSpPr>
          <p:nvPr>
            <p:ph type="sldNum" sz="quarter" idx="12"/>
          </p:nvPr>
        </p:nvSpPr>
        <p:spPr/>
        <p:txBody>
          <a:bodyPr/>
          <a:lstStyle/>
          <a:p>
            <a:fld id="{55635D17-9D19-4B1E-86C2-B9D6296E4AF7}" type="slidenum">
              <a:rPr lang="en-US" smtClean="0"/>
              <a:pPr/>
              <a:t>16</a:t>
            </a:fld>
            <a:endParaRPr lang="en-US" dirty="0"/>
          </a:p>
        </p:txBody>
      </p:sp>
      <p:pic>
        <p:nvPicPr>
          <p:cNvPr id="3" name="그림 2">
            <a:extLst>
              <a:ext uri="{FF2B5EF4-FFF2-40B4-BE49-F238E27FC236}">
                <a16:creationId xmlns:a16="http://schemas.microsoft.com/office/drawing/2014/main" id="{5DCE6172-0E0E-DF7C-CFA3-9EEE51E0987A}"/>
              </a:ext>
            </a:extLst>
          </p:cNvPr>
          <p:cNvPicPr>
            <a:picLocks noChangeAspect="1"/>
          </p:cNvPicPr>
          <p:nvPr/>
        </p:nvPicPr>
        <p:blipFill>
          <a:blip r:embed="rId2"/>
          <a:srcRect t="59103"/>
          <a:stretch>
            <a:fillRect/>
          </a:stretch>
        </p:blipFill>
        <p:spPr>
          <a:xfrm>
            <a:off x="1887265" y="3018198"/>
            <a:ext cx="8675116" cy="1565758"/>
          </a:xfrm>
          <a:prstGeom prst="rect">
            <a:avLst/>
          </a:prstGeom>
        </p:spPr>
      </p:pic>
      <p:sp>
        <p:nvSpPr>
          <p:cNvPr id="7" name="TextBox 6">
            <a:extLst>
              <a:ext uri="{FF2B5EF4-FFF2-40B4-BE49-F238E27FC236}">
                <a16:creationId xmlns:a16="http://schemas.microsoft.com/office/drawing/2014/main" id="{2E4E1E35-D143-4693-979F-0858C9B91966}"/>
              </a:ext>
            </a:extLst>
          </p:cNvPr>
          <p:cNvSpPr txBox="1"/>
          <p:nvPr/>
        </p:nvSpPr>
        <p:spPr>
          <a:xfrm>
            <a:off x="923067" y="1133795"/>
            <a:ext cx="9724709" cy="1429622"/>
          </a:xfrm>
          <a:prstGeom prst="rect">
            <a:avLst/>
          </a:prstGeom>
          <a:noFill/>
        </p:spPr>
        <p:txBody>
          <a:bodyPr wrap="square" rtlCol="0">
            <a:spAutoFit/>
          </a:bodyPr>
          <a:lstStyle/>
          <a:p>
            <a:pPr>
              <a:lnSpc>
                <a:spcPct val="150000"/>
              </a:lnSpc>
            </a:pPr>
            <a:r>
              <a:rPr lang="en-US" altLang="ko-KR" sz="2000" dirty="0"/>
              <a:t>In order to integrate AUTOSAR SW-Components into a network of ECUs, AUTOSAR provides description formats for the system as well as for the resources and the configuration of the ECUs.</a:t>
            </a:r>
            <a:endParaRPr lang="ko-KR" altLang="en-US" sz="2000" dirty="0"/>
          </a:p>
        </p:txBody>
      </p:sp>
    </p:spTree>
    <p:extLst>
      <p:ext uri="{BB962C8B-B14F-4D97-AF65-F5344CB8AC3E}">
        <p14:creationId xmlns:p14="http://schemas.microsoft.com/office/powerpoint/2010/main" val="35067281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9880FAE4-784B-C197-E1FF-D0E51C21E2E6}"/>
              </a:ext>
            </a:extLst>
          </p:cNvPr>
          <p:cNvSpPr>
            <a:spLocks noGrp="1"/>
          </p:cNvSpPr>
          <p:nvPr>
            <p:ph type="title"/>
          </p:nvPr>
        </p:nvSpPr>
        <p:spPr/>
        <p:txBody>
          <a:bodyPr>
            <a:normAutofit fontScale="90000"/>
          </a:bodyPr>
          <a:lstStyle/>
          <a:p>
            <a:r>
              <a:rPr lang="en-US" altLang="ko-KR" dirty="0"/>
              <a:t>Mapping on EUCs</a:t>
            </a:r>
            <a:endParaRPr lang="ko-KR" altLang="en-US" dirty="0"/>
          </a:p>
        </p:txBody>
      </p:sp>
      <p:sp>
        <p:nvSpPr>
          <p:cNvPr id="4" name="날짜 개체 틀 3">
            <a:extLst>
              <a:ext uri="{FF2B5EF4-FFF2-40B4-BE49-F238E27FC236}">
                <a16:creationId xmlns:a16="http://schemas.microsoft.com/office/drawing/2014/main" id="{A596A1DD-4FEC-4B01-2088-06D3D621B6B6}"/>
              </a:ext>
            </a:extLst>
          </p:cNvPr>
          <p:cNvSpPr>
            <a:spLocks noGrp="1"/>
          </p:cNvSpPr>
          <p:nvPr>
            <p:ph type="dt" sz="half" idx="10"/>
          </p:nvPr>
        </p:nvSpPr>
        <p:spPr/>
        <p:txBody>
          <a:bodyPr/>
          <a:lstStyle/>
          <a:p>
            <a:fld id="{9539328B-81D7-470F-B07E-C60C8A68D98A}" type="datetime1">
              <a:rPr lang="en-US" altLang="ko-KR" smtClean="0"/>
              <a:t>4/12/2026</a:t>
            </a:fld>
            <a:endParaRPr lang="en-US"/>
          </a:p>
        </p:txBody>
      </p:sp>
      <p:sp>
        <p:nvSpPr>
          <p:cNvPr id="5" name="바닥글 개체 틀 4">
            <a:extLst>
              <a:ext uri="{FF2B5EF4-FFF2-40B4-BE49-F238E27FC236}">
                <a16:creationId xmlns:a16="http://schemas.microsoft.com/office/drawing/2014/main" id="{EF53327E-80B0-3814-BC65-F9E6AE6DEE3C}"/>
              </a:ext>
            </a:extLst>
          </p:cNvPr>
          <p:cNvSpPr>
            <a:spLocks noGrp="1"/>
          </p:cNvSpPr>
          <p:nvPr>
            <p:ph type="ftr" sz="quarter" idx="11"/>
          </p:nvPr>
        </p:nvSpPr>
        <p:spPr/>
        <p:txBody>
          <a:bodyPr/>
          <a:lstStyle/>
          <a:p>
            <a:r>
              <a:rPr lang="en-US"/>
              <a:t>2023 Copyright </a:t>
            </a:r>
            <a:r>
              <a:rPr lang="ko-KR" altLang="en-US"/>
              <a:t>ⓒ </a:t>
            </a:r>
            <a:r>
              <a:rPr lang="en-US" altLang="ko-KR"/>
              <a:t>Autonomous Vehicle Lab</a:t>
            </a:r>
            <a:endParaRPr lang="en-US" dirty="0"/>
          </a:p>
        </p:txBody>
      </p:sp>
      <p:sp>
        <p:nvSpPr>
          <p:cNvPr id="6" name="슬라이드 번호 개체 틀 5">
            <a:extLst>
              <a:ext uri="{FF2B5EF4-FFF2-40B4-BE49-F238E27FC236}">
                <a16:creationId xmlns:a16="http://schemas.microsoft.com/office/drawing/2014/main" id="{946EF6C8-6C2E-7CD0-48F5-6ED4A1466CAE}"/>
              </a:ext>
            </a:extLst>
          </p:cNvPr>
          <p:cNvSpPr>
            <a:spLocks noGrp="1"/>
          </p:cNvSpPr>
          <p:nvPr>
            <p:ph type="sldNum" sz="quarter" idx="12"/>
          </p:nvPr>
        </p:nvSpPr>
        <p:spPr/>
        <p:txBody>
          <a:bodyPr/>
          <a:lstStyle/>
          <a:p>
            <a:fld id="{55635D17-9D19-4B1E-86C2-B9D6296E4AF7}" type="slidenum">
              <a:rPr lang="en-US" smtClean="0"/>
              <a:pPr/>
              <a:t>17</a:t>
            </a:fld>
            <a:endParaRPr lang="en-US" dirty="0"/>
          </a:p>
        </p:txBody>
      </p:sp>
      <p:pic>
        <p:nvPicPr>
          <p:cNvPr id="8" name="그림 7">
            <a:extLst>
              <a:ext uri="{FF2B5EF4-FFF2-40B4-BE49-F238E27FC236}">
                <a16:creationId xmlns:a16="http://schemas.microsoft.com/office/drawing/2014/main" id="{53C26A62-3068-28F9-7482-9FD2199E1313}"/>
              </a:ext>
            </a:extLst>
          </p:cNvPr>
          <p:cNvPicPr>
            <a:picLocks noChangeAspect="1"/>
          </p:cNvPicPr>
          <p:nvPr/>
        </p:nvPicPr>
        <p:blipFill>
          <a:blip r:embed="rId2"/>
          <a:srcRect t="40646"/>
          <a:stretch>
            <a:fillRect/>
          </a:stretch>
        </p:blipFill>
        <p:spPr>
          <a:xfrm>
            <a:off x="1886347" y="2968552"/>
            <a:ext cx="8419306" cy="2920175"/>
          </a:xfrm>
          <a:prstGeom prst="rect">
            <a:avLst/>
          </a:prstGeom>
        </p:spPr>
      </p:pic>
      <p:sp>
        <p:nvSpPr>
          <p:cNvPr id="3" name="TextBox 2">
            <a:extLst>
              <a:ext uri="{FF2B5EF4-FFF2-40B4-BE49-F238E27FC236}">
                <a16:creationId xmlns:a16="http://schemas.microsoft.com/office/drawing/2014/main" id="{F9C0651A-EE4E-907E-3332-87F1FCDBB8C4}"/>
              </a:ext>
            </a:extLst>
          </p:cNvPr>
          <p:cNvSpPr txBox="1"/>
          <p:nvPr/>
        </p:nvSpPr>
        <p:spPr>
          <a:xfrm>
            <a:off x="788721" y="966404"/>
            <a:ext cx="10283753" cy="2542363"/>
          </a:xfrm>
          <a:prstGeom prst="rect">
            <a:avLst/>
          </a:prstGeom>
          <a:noFill/>
        </p:spPr>
        <p:txBody>
          <a:bodyPr wrap="square" rtlCol="0">
            <a:spAutoFit/>
          </a:bodyPr>
          <a:lstStyle/>
          <a:p>
            <a:pPr>
              <a:lnSpc>
                <a:spcPts val="2700"/>
              </a:lnSpc>
            </a:pPr>
            <a:r>
              <a:rPr lang="en-US" altLang="ko-KR" sz="2000" dirty="0"/>
              <a:t>AUTOSAR defines the methodology and tool support to build a concrete system of ECUs. This includes the configuration and generation of the Runtime Environment (RTE) and the Basic Software (RTOS) on each ECU.</a:t>
            </a:r>
          </a:p>
          <a:p>
            <a:pPr marL="742950" lvl="1" indent="-285750">
              <a:lnSpc>
                <a:spcPts val="2700"/>
              </a:lnSpc>
              <a:buFont typeface="Arial" panose="020B0604020202020204" pitchFamily="34" charset="0"/>
              <a:buChar char="•"/>
            </a:pPr>
            <a:r>
              <a:rPr lang="en-US" altLang="ko-KR" sz="2000" b="1" dirty="0"/>
              <a:t>Runtime Environment (RTE)</a:t>
            </a:r>
            <a:endParaRPr lang="en-US" altLang="ko-KR" sz="2000" dirty="0"/>
          </a:p>
          <a:p>
            <a:pPr marL="1200150" lvl="2" indent="-285750">
              <a:lnSpc>
                <a:spcPts val="2700"/>
              </a:lnSpc>
              <a:buFont typeface="Arial" panose="020B0604020202020204" pitchFamily="34" charset="0"/>
              <a:buChar char="•"/>
            </a:pPr>
            <a:r>
              <a:rPr lang="en-US" altLang="ko-KR" dirty="0"/>
              <a:t>From the viewpoint of the AUTOSAR Software Component, the RTE implements the VFB functionality on a specific ECU.</a:t>
            </a:r>
          </a:p>
          <a:p>
            <a:pPr>
              <a:lnSpc>
                <a:spcPct val="150000"/>
              </a:lnSpc>
            </a:pPr>
            <a:endParaRPr lang="ko-KR" altLang="en-US" dirty="0"/>
          </a:p>
        </p:txBody>
      </p:sp>
    </p:spTree>
    <p:extLst>
      <p:ext uri="{BB962C8B-B14F-4D97-AF65-F5344CB8AC3E}">
        <p14:creationId xmlns:p14="http://schemas.microsoft.com/office/powerpoint/2010/main" val="380251185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9880FAE4-784B-C197-E1FF-D0E51C21E2E6}"/>
              </a:ext>
            </a:extLst>
          </p:cNvPr>
          <p:cNvSpPr>
            <a:spLocks noGrp="1"/>
          </p:cNvSpPr>
          <p:nvPr>
            <p:ph type="title"/>
          </p:nvPr>
        </p:nvSpPr>
        <p:spPr/>
        <p:txBody>
          <a:bodyPr>
            <a:normAutofit fontScale="90000"/>
          </a:bodyPr>
          <a:lstStyle/>
          <a:p>
            <a:r>
              <a:rPr lang="en-US" altLang="ko-KR" dirty="0"/>
              <a:t>Architecture</a:t>
            </a:r>
            <a:endParaRPr lang="ko-KR" altLang="en-US" dirty="0"/>
          </a:p>
        </p:txBody>
      </p:sp>
      <p:sp>
        <p:nvSpPr>
          <p:cNvPr id="4" name="날짜 개체 틀 3">
            <a:extLst>
              <a:ext uri="{FF2B5EF4-FFF2-40B4-BE49-F238E27FC236}">
                <a16:creationId xmlns:a16="http://schemas.microsoft.com/office/drawing/2014/main" id="{A596A1DD-4FEC-4B01-2088-06D3D621B6B6}"/>
              </a:ext>
            </a:extLst>
          </p:cNvPr>
          <p:cNvSpPr>
            <a:spLocks noGrp="1"/>
          </p:cNvSpPr>
          <p:nvPr>
            <p:ph type="dt" sz="half" idx="10"/>
          </p:nvPr>
        </p:nvSpPr>
        <p:spPr/>
        <p:txBody>
          <a:bodyPr/>
          <a:lstStyle/>
          <a:p>
            <a:fld id="{9539328B-81D7-470F-B07E-C60C8A68D98A}" type="datetime1">
              <a:rPr lang="en-US" altLang="ko-KR" smtClean="0"/>
              <a:t>4/12/2026</a:t>
            </a:fld>
            <a:endParaRPr lang="en-US"/>
          </a:p>
        </p:txBody>
      </p:sp>
      <p:sp>
        <p:nvSpPr>
          <p:cNvPr id="5" name="바닥글 개체 틀 4">
            <a:extLst>
              <a:ext uri="{FF2B5EF4-FFF2-40B4-BE49-F238E27FC236}">
                <a16:creationId xmlns:a16="http://schemas.microsoft.com/office/drawing/2014/main" id="{EF53327E-80B0-3814-BC65-F9E6AE6DEE3C}"/>
              </a:ext>
            </a:extLst>
          </p:cNvPr>
          <p:cNvSpPr>
            <a:spLocks noGrp="1"/>
          </p:cNvSpPr>
          <p:nvPr>
            <p:ph type="ftr" sz="quarter" idx="11"/>
          </p:nvPr>
        </p:nvSpPr>
        <p:spPr/>
        <p:txBody>
          <a:bodyPr/>
          <a:lstStyle/>
          <a:p>
            <a:r>
              <a:rPr lang="en-US"/>
              <a:t>2023 Copyright </a:t>
            </a:r>
            <a:r>
              <a:rPr lang="ko-KR" altLang="en-US"/>
              <a:t>ⓒ </a:t>
            </a:r>
            <a:r>
              <a:rPr lang="en-US" altLang="ko-KR"/>
              <a:t>Autonomous Vehicle Lab</a:t>
            </a:r>
            <a:endParaRPr lang="en-US" dirty="0"/>
          </a:p>
        </p:txBody>
      </p:sp>
      <p:sp>
        <p:nvSpPr>
          <p:cNvPr id="6" name="슬라이드 번호 개체 틀 5">
            <a:extLst>
              <a:ext uri="{FF2B5EF4-FFF2-40B4-BE49-F238E27FC236}">
                <a16:creationId xmlns:a16="http://schemas.microsoft.com/office/drawing/2014/main" id="{946EF6C8-6C2E-7CD0-48F5-6ED4A1466CAE}"/>
              </a:ext>
            </a:extLst>
          </p:cNvPr>
          <p:cNvSpPr>
            <a:spLocks noGrp="1"/>
          </p:cNvSpPr>
          <p:nvPr>
            <p:ph type="sldNum" sz="quarter" idx="12"/>
          </p:nvPr>
        </p:nvSpPr>
        <p:spPr/>
        <p:txBody>
          <a:bodyPr/>
          <a:lstStyle/>
          <a:p>
            <a:fld id="{55635D17-9D19-4B1E-86C2-B9D6296E4AF7}" type="slidenum">
              <a:rPr lang="en-US" smtClean="0"/>
              <a:pPr/>
              <a:t>18</a:t>
            </a:fld>
            <a:endParaRPr lang="en-US" dirty="0"/>
          </a:p>
        </p:txBody>
      </p:sp>
      <p:pic>
        <p:nvPicPr>
          <p:cNvPr id="3" name="Picture 2">
            <a:extLst>
              <a:ext uri="{FF2B5EF4-FFF2-40B4-BE49-F238E27FC236}">
                <a16:creationId xmlns:a16="http://schemas.microsoft.com/office/drawing/2014/main" id="{A755D9A0-66EA-985A-5BA8-CD143BC186A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29195"/>
          <a:stretch>
            <a:fillRect/>
          </a:stretch>
        </p:blipFill>
        <p:spPr bwMode="auto">
          <a:xfrm>
            <a:off x="2783936" y="2664948"/>
            <a:ext cx="6608915" cy="311524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 name="TextBox 7">
            <a:extLst>
              <a:ext uri="{FF2B5EF4-FFF2-40B4-BE49-F238E27FC236}">
                <a16:creationId xmlns:a16="http://schemas.microsoft.com/office/drawing/2014/main" id="{749E738D-E2CC-C0FC-8671-EA3ECE101692}"/>
              </a:ext>
            </a:extLst>
          </p:cNvPr>
          <p:cNvSpPr txBox="1"/>
          <p:nvPr/>
        </p:nvSpPr>
        <p:spPr>
          <a:xfrm>
            <a:off x="765907" y="888394"/>
            <a:ext cx="9789714" cy="2144177"/>
          </a:xfrm>
          <a:prstGeom prst="rect">
            <a:avLst/>
          </a:prstGeom>
          <a:noFill/>
        </p:spPr>
        <p:txBody>
          <a:bodyPr wrap="square" rtlCol="0">
            <a:spAutoFit/>
          </a:bodyPr>
          <a:lstStyle/>
          <a:p>
            <a:pPr>
              <a:lnSpc>
                <a:spcPts val="2700"/>
              </a:lnSpc>
            </a:pPr>
            <a:r>
              <a:rPr lang="en-US" altLang="ko-KR" sz="2000" b="1" dirty="0"/>
              <a:t>Core Concept of AUTOSAR</a:t>
            </a:r>
          </a:p>
          <a:p>
            <a:pPr>
              <a:lnSpc>
                <a:spcPts val="2700"/>
              </a:lnSpc>
            </a:pPr>
            <a:r>
              <a:rPr lang="en-US" altLang="ko-KR" sz="2000" dirty="0"/>
              <a:t>A fundamental concept of AUTOSAR is the separation between:</a:t>
            </a:r>
          </a:p>
          <a:p>
            <a:pPr marL="742950" lvl="1" indent="-285750">
              <a:lnSpc>
                <a:spcPts val="2700"/>
              </a:lnSpc>
              <a:buFont typeface="Arial" panose="020B0604020202020204" pitchFamily="34" charset="0"/>
              <a:buChar char="•"/>
            </a:pPr>
            <a:r>
              <a:rPr lang="en-US" altLang="ko-KR" sz="2000" b="1" dirty="0"/>
              <a:t>application</a:t>
            </a:r>
            <a:r>
              <a:rPr lang="en-US" altLang="ko-KR" sz="2000" dirty="0"/>
              <a:t> and</a:t>
            </a:r>
          </a:p>
          <a:p>
            <a:pPr marL="742950" lvl="1" indent="-285750">
              <a:lnSpc>
                <a:spcPts val="2700"/>
              </a:lnSpc>
              <a:buFont typeface="Arial" panose="020B0604020202020204" pitchFamily="34" charset="0"/>
              <a:buChar char="•"/>
            </a:pPr>
            <a:r>
              <a:rPr lang="en-US" altLang="ko-KR" sz="2000" b="1" dirty="0"/>
              <a:t>infrastructure</a:t>
            </a:r>
            <a:r>
              <a:rPr lang="en-US" altLang="ko-KR" sz="2000" dirty="0"/>
              <a:t>.</a:t>
            </a:r>
          </a:p>
          <a:p>
            <a:pPr>
              <a:lnSpc>
                <a:spcPts val="2700"/>
              </a:lnSpc>
            </a:pPr>
            <a:r>
              <a:rPr lang="en-US" altLang="ko-KR" sz="2000" dirty="0"/>
              <a:t>An application in AUTOSAR consists of Software Components interconnected by connectors.</a:t>
            </a:r>
          </a:p>
          <a:p>
            <a:pPr>
              <a:lnSpc>
                <a:spcPts val="2700"/>
              </a:lnSpc>
            </a:pPr>
            <a:endParaRPr lang="ko-KR" altLang="en-US" sz="2000" dirty="0"/>
          </a:p>
        </p:txBody>
      </p:sp>
    </p:spTree>
    <p:extLst>
      <p:ext uri="{BB962C8B-B14F-4D97-AF65-F5344CB8AC3E}">
        <p14:creationId xmlns:p14="http://schemas.microsoft.com/office/powerpoint/2010/main" val="273239033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9880FAE4-784B-C197-E1FF-D0E51C21E2E6}"/>
              </a:ext>
            </a:extLst>
          </p:cNvPr>
          <p:cNvSpPr>
            <a:spLocks noGrp="1"/>
          </p:cNvSpPr>
          <p:nvPr>
            <p:ph type="title"/>
          </p:nvPr>
        </p:nvSpPr>
        <p:spPr/>
        <p:txBody>
          <a:bodyPr>
            <a:normAutofit fontScale="90000"/>
          </a:bodyPr>
          <a:lstStyle/>
          <a:p>
            <a:r>
              <a:rPr lang="en-US" altLang="ko-KR" dirty="0"/>
              <a:t>Architecture</a:t>
            </a:r>
            <a:endParaRPr lang="ko-KR" altLang="en-US" dirty="0"/>
          </a:p>
        </p:txBody>
      </p:sp>
      <p:sp>
        <p:nvSpPr>
          <p:cNvPr id="4" name="날짜 개체 틀 3">
            <a:extLst>
              <a:ext uri="{FF2B5EF4-FFF2-40B4-BE49-F238E27FC236}">
                <a16:creationId xmlns:a16="http://schemas.microsoft.com/office/drawing/2014/main" id="{A596A1DD-4FEC-4B01-2088-06D3D621B6B6}"/>
              </a:ext>
            </a:extLst>
          </p:cNvPr>
          <p:cNvSpPr>
            <a:spLocks noGrp="1"/>
          </p:cNvSpPr>
          <p:nvPr>
            <p:ph type="dt" sz="half" idx="10"/>
          </p:nvPr>
        </p:nvSpPr>
        <p:spPr/>
        <p:txBody>
          <a:bodyPr/>
          <a:lstStyle/>
          <a:p>
            <a:fld id="{9539328B-81D7-470F-B07E-C60C8A68D98A}" type="datetime1">
              <a:rPr lang="en-US" altLang="ko-KR" smtClean="0"/>
              <a:t>4/12/2026</a:t>
            </a:fld>
            <a:endParaRPr lang="en-US"/>
          </a:p>
        </p:txBody>
      </p:sp>
      <p:sp>
        <p:nvSpPr>
          <p:cNvPr id="5" name="바닥글 개체 틀 4">
            <a:extLst>
              <a:ext uri="{FF2B5EF4-FFF2-40B4-BE49-F238E27FC236}">
                <a16:creationId xmlns:a16="http://schemas.microsoft.com/office/drawing/2014/main" id="{EF53327E-80B0-3814-BC65-F9E6AE6DEE3C}"/>
              </a:ext>
            </a:extLst>
          </p:cNvPr>
          <p:cNvSpPr>
            <a:spLocks noGrp="1"/>
          </p:cNvSpPr>
          <p:nvPr>
            <p:ph type="ftr" sz="quarter" idx="11"/>
          </p:nvPr>
        </p:nvSpPr>
        <p:spPr/>
        <p:txBody>
          <a:bodyPr/>
          <a:lstStyle/>
          <a:p>
            <a:r>
              <a:rPr lang="en-US"/>
              <a:t>2023 Copyright </a:t>
            </a:r>
            <a:r>
              <a:rPr lang="ko-KR" altLang="en-US"/>
              <a:t>ⓒ </a:t>
            </a:r>
            <a:r>
              <a:rPr lang="en-US" altLang="ko-KR"/>
              <a:t>Autonomous Vehicle Lab</a:t>
            </a:r>
            <a:endParaRPr lang="en-US" dirty="0"/>
          </a:p>
        </p:txBody>
      </p:sp>
      <p:sp>
        <p:nvSpPr>
          <p:cNvPr id="6" name="슬라이드 번호 개체 틀 5">
            <a:extLst>
              <a:ext uri="{FF2B5EF4-FFF2-40B4-BE49-F238E27FC236}">
                <a16:creationId xmlns:a16="http://schemas.microsoft.com/office/drawing/2014/main" id="{946EF6C8-6C2E-7CD0-48F5-6ED4A1466CAE}"/>
              </a:ext>
            </a:extLst>
          </p:cNvPr>
          <p:cNvSpPr>
            <a:spLocks noGrp="1"/>
          </p:cNvSpPr>
          <p:nvPr>
            <p:ph type="sldNum" sz="quarter" idx="12"/>
          </p:nvPr>
        </p:nvSpPr>
        <p:spPr/>
        <p:txBody>
          <a:bodyPr/>
          <a:lstStyle/>
          <a:p>
            <a:fld id="{55635D17-9D19-4B1E-86C2-B9D6296E4AF7}" type="slidenum">
              <a:rPr lang="en-US" smtClean="0"/>
              <a:pPr/>
              <a:t>19</a:t>
            </a:fld>
            <a:endParaRPr lang="en-US" dirty="0"/>
          </a:p>
        </p:txBody>
      </p:sp>
      <p:sp>
        <p:nvSpPr>
          <p:cNvPr id="3" name="TextBox 2">
            <a:extLst>
              <a:ext uri="{FF2B5EF4-FFF2-40B4-BE49-F238E27FC236}">
                <a16:creationId xmlns:a16="http://schemas.microsoft.com/office/drawing/2014/main" id="{0C4AD37D-E6CA-324B-4863-0F14720A142E}"/>
              </a:ext>
            </a:extLst>
          </p:cNvPr>
          <p:cNvSpPr txBox="1"/>
          <p:nvPr/>
        </p:nvSpPr>
        <p:spPr>
          <a:xfrm>
            <a:off x="773893" y="914398"/>
            <a:ext cx="9965089" cy="4661276"/>
          </a:xfrm>
          <a:prstGeom prst="rect">
            <a:avLst/>
          </a:prstGeom>
          <a:noFill/>
        </p:spPr>
        <p:txBody>
          <a:bodyPr wrap="square" rtlCol="0">
            <a:spAutoFit/>
          </a:bodyPr>
          <a:lstStyle/>
          <a:p>
            <a:pPr>
              <a:lnSpc>
                <a:spcPct val="150000"/>
              </a:lnSpc>
            </a:pPr>
            <a:r>
              <a:rPr lang="en-US" altLang="ko-KR" sz="2000" b="1" dirty="0"/>
              <a:t>The generic “AUTOSAR Component” concept</a:t>
            </a:r>
          </a:p>
          <a:p>
            <a:pPr marL="800100" lvl="1" indent="-342900">
              <a:lnSpc>
                <a:spcPct val="150000"/>
              </a:lnSpc>
              <a:buFont typeface="Arial" panose="020B0604020202020204" pitchFamily="34" charset="0"/>
              <a:buChar char="•"/>
            </a:pPr>
            <a:r>
              <a:rPr lang="en-US" altLang="ko-KR" sz="2000" b="1" dirty="0"/>
              <a:t>AUTOSAR Software Component</a:t>
            </a:r>
            <a:endParaRPr lang="en-US" altLang="ko-KR" sz="2000" dirty="0"/>
          </a:p>
          <a:p>
            <a:pPr marL="800100" lvl="1" indent="-342900">
              <a:lnSpc>
                <a:spcPct val="150000"/>
              </a:lnSpc>
              <a:buFont typeface="Arial" panose="020B0604020202020204" pitchFamily="34" charset="0"/>
              <a:buChar char="•"/>
            </a:pPr>
            <a:r>
              <a:rPr lang="en-US" altLang="ko-KR" sz="2000" b="1" dirty="0"/>
              <a:t>Sensor/Actuator Software Component (special case)</a:t>
            </a:r>
            <a:endParaRPr lang="en-US" altLang="ko-KR" sz="2000" dirty="0"/>
          </a:p>
          <a:p>
            <a:pPr marL="800100" lvl="1" indent="-342900">
              <a:lnSpc>
                <a:spcPct val="150000"/>
              </a:lnSpc>
              <a:buFont typeface="Arial" panose="020B0604020202020204" pitchFamily="34" charset="0"/>
              <a:buChar char="•"/>
            </a:pPr>
            <a:r>
              <a:rPr lang="en-US" altLang="ko-KR" sz="2000" b="1" dirty="0"/>
              <a:t>Composition</a:t>
            </a:r>
            <a:endParaRPr lang="en-US" altLang="ko-KR" sz="2000" dirty="0"/>
          </a:p>
          <a:p>
            <a:pPr marL="1257300" lvl="2" indent="-342900">
              <a:lnSpc>
                <a:spcPct val="150000"/>
              </a:lnSpc>
              <a:buFont typeface="Arial" panose="020B0604020202020204" pitchFamily="34" charset="0"/>
              <a:buChar char="•"/>
            </a:pPr>
            <a:r>
              <a:rPr lang="en-US" altLang="ko-KR" sz="2000" dirty="0"/>
              <a:t>A logical interconnection of components packaged as a component. In contrast to the Atomic Software Components, the components inside a composition can be distributed over several ECUs.</a:t>
            </a:r>
          </a:p>
          <a:p>
            <a:pPr marL="800100" lvl="1" indent="-342900">
              <a:lnSpc>
                <a:spcPct val="150000"/>
              </a:lnSpc>
              <a:buFont typeface="Arial" panose="020B0604020202020204" pitchFamily="34" charset="0"/>
              <a:buChar char="•"/>
            </a:pPr>
            <a:r>
              <a:rPr lang="en-US" altLang="ko-KR" sz="2000" b="1" dirty="0"/>
              <a:t>ECU Abstraction</a:t>
            </a:r>
            <a:endParaRPr lang="en-US" altLang="ko-KR" sz="2000" dirty="0"/>
          </a:p>
          <a:p>
            <a:pPr marL="800100" lvl="1" indent="-342900">
              <a:lnSpc>
                <a:spcPct val="150000"/>
              </a:lnSpc>
              <a:buFont typeface="Arial" panose="020B0604020202020204" pitchFamily="34" charset="0"/>
              <a:buChar char="•"/>
            </a:pPr>
            <a:r>
              <a:rPr lang="en-US" altLang="ko-KR" sz="2000" b="1" dirty="0"/>
              <a:t>Complex Device Driver</a:t>
            </a:r>
            <a:endParaRPr lang="en-US" altLang="ko-KR" sz="2000" dirty="0"/>
          </a:p>
          <a:p>
            <a:pPr marL="800100" lvl="1" indent="-342900">
              <a:lnSpc>
                <a:spcPct val="150000"/>
              </a:lnSpc>
              <a:buFont typeface="Arial" panose="020B0604020202020204" pitchFamily="34" charset="0"/>
              <a:buChar char="•"/>
            </a:pPr>
            <a:r>
              <a:rPr lang="en-US" altLang="ko-KR" sz="2000" b="1" dirty="0"/>
              <a:t>AUTOSAR Services</a:t>
            </a:r>
            <a:endParaRPr lang="en-US" altLang="ko-KR" sz="2000" dirty="0"/>
          </a:p>
        </p:txBody>
      </p:sp>
    </p:spTree>
    <p:extLst>
      <p:ext uri="{BB962C8B-B14F-4D97-AF65-F5344CB8AC3E}">
        <p14:creationId xmlns:p14="http://schemas.microsoft.com/office/powerpoint/2010/main" val="307041154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9880FAE4-784B-C197-E1FF-D0E51C21E2E6}"/>
              </a:ext>
            </a:extLst>
          </p:cNvPr>
          <p:cNvSpPr>
            <a:spLocks noGrp="1"/>
          </p:cNvSpPr>
          <p:nvPr>
            <p:ph type="title"/>
          </p:nvPr>
        </p:nvSpPr>
        <p:spPr/>
        <p:txBody>
          <a:bodyPr>
            <a:normAutofit fontScale="90000"/>
          </a:bodyPr>
          <a:lstStyle/>
          <a:p>
            <a:r>
              <a:rPr lang="en-US" altLang="ko-KR" dirty="0"/>
              <a:t>Software Component</a:t>
            </a:r>
            <a:endParaRPr lang="ko-KR" altLang="en-US" dirty="0"/>
          </a:p>
        </p:txBody>
      </p:sp>
      <p:sp>
        <p:nvSpPr>
          <p:cNvPr id="4" name="날짜 개체 틀 3">
            <a:extLst>
              <a:ext uri="{FF2B5EF4-FFF2-40B4-BE49-F238E27FC236}">
                <a16:creationId xmlns:a16="http://schemas.microsoft.com/office/drawing/2014/main" id="{A596A1DD-4FEC-4B01-2088-06D3D621B6B6}"/>
              </a:ext>
            </a:extLst>
          </p:cNvPr>
          <p:cNvSpPr>
            <a:spLocks noGrp="1"/>
          </p:cNvSpPr>
          <p:nvPr>
            <p:ph type="dt" sz="half" idx="10"/>
          </p:nvPr>
        </p:nvSpPr>
        <p:spPr/>
        <p:txBody>
          <a:bodyPr/>
          <a:lstStyle/>
          <a:p>
            <a:fld id="{9539328B-81D7-470F-B07E-C60C8A68D98A}" type="datetime1">
              <a:rPr lang="en-US" altLang="ko-KR" smtClean="0"/>
              <a:t>4/12/2026</a:t>
            </a:fld>
            <a:endParaRPr lang="en-US"/>
          </a:p>
        </p:txBody>
      </p:sp>
      <p:sp>
        <p:nvSpPr>
          <p:cNvPr id="5" name="바닥글 개체 틀 4">
            <a:extLst>
              <a:ext uri="{FF2B5EF4-FFF2-40B4-BE49-F238E27FC236}">
                <a16:creationId xmlns:a16="http://schemas.microsoft.com/office/drawing/2014/main" id="{EF53327E-80B0-3814-BC65-F9E6AE6DEE3C}"/>
              </a:ext>
            </a:extLst>
          </p:cNvPr>
          <p:cNvSpPr>
            <a:spLocks noGrp="1"/>
          </p:cNvSpPr>
          <p:nvPr>
            <p:ph type="ftr" sz="quarter" idx="11"/>
          </p:nvPr>
        </p:nvSpPr>
        <p:spPr/>
        <p:txBody>
          <a:bodyPr/>
          <a:lstStyle/>
          <a:p>
            <a:r>
              <a:rPr lang="en-US"/>
              <a:t>2023 Copyright </a:t>
            </a:r>
            <a:r>
              <a:rPr lang="ko-KR" altLang="en-US"/>
              <a:t>ⓒ </a:t>
            </a:r>
            <a:r>
              <a:rPr lang="en-US" altLang="ko-KR"/>
              <a:t>Autonomous Vehicle Lab</a:t>
            </a:r>
            <a:endParaRPr lang="en-US" dirty="0"/>
          </a:p>
        </p:txBody>
      </p:sp>
      <p:sp>
        <p:nvSpPr>
          <p:cNvPr id="6" name="슬라이드 번호 개체 틀 5">
            <a:extLst>
              <a:ext uri="{FF2B5EF4-FFF2-40B4-BE49-F238E27FC236}">
                <a16:creationId xmlns:a16="http://schemas.microsoft.com/office/drawing/2014/main" id="{946EF6C8-6C2E-7CD0-48F5-6ED4A1466CAE}"/>
              </a:ext>
            </a:extLst>
          </p:cNvPr>
          <p:cNvSpPr>
            <a:spLocks noGrp="1"/>
          </p:cNvSpPr>
          <p:nvPr>
            <p:ph type="sldNum" sz="quarter" idx="12"/>
          </p:nvPr>
        </p:nvSpPr>
        <p:spPr/>
        <p:txBody>
          <a:bodyPr/>
          <a:lstStyle/>
          <a:p>
            <a:fld id="{55635D17-9D19-4B1E-86C2-B9D6296E4AF7}" type="slidenum">
              <a:rPr lang="en-US" smtClean="0"/>
              <a:pPr/>
              <a:t>20</a:t>
            </a:fld>
            <a:endParaRPr lang="en-US" dirty="0"/>
          </a:p>
        </p:txBody>
      </p:sp>
      <p:sp>
        <p:nvSpPr>
          <p:cNvPr id="3" name="TextBox 2">
            <a:extLst>
              <a:ext uri="{FF2B5EF4-FFF2-40B4-BE49-F238E27FC236}">
                <a16:creationId xmlns:a16="http://schemas.microsoft.com/office/drawing/2014/main" id="{BF67D3E2-8E81-4BF4-8B92-6A62AE339BAE}"/>
              </a:ext>
            </a:extLst>
          </p:cNvPr>
          <p:cNvSpPr txBox="1"/>
          <p:nvPr/>
        </p:nvSpPr>
        <p:spPr>
          <a:xfrm>
            <a:off x="901055" y="977558"/>
            <a:ext cx="10451786" cy="4574714"/>
          </a:xfrm>
          <a:prstGeom prst="rect">
            <a:avLst/>
          </a:prstGeom>
          <a:noFill/>
        </p:spPr>
        <p:txBody>
          <a:bodyPr wrap="square" rtlCol="0">
            <a:spAutoFit/>
          </a:bodyPr>
          <a:lstStyle/>
          <a:p>
            <a:pPr>
              <a:lnSpc>
                <a:spcPts val="2700"/>
              </a:lnSpc>
            </a:pPr>
            <a:r>
              <a:rPr lang="en-US" altLang="ko-KR" sz="2000" dirty="0"/>
              <a:t>Each AUTOSAR Software Component encapsulates part of the functionality of the application.</a:t>
            </a:r>
          </a:p>
          <a:p>
            <a:pPr marL="742950" lvl="1" indent="-285750">
              <a:lnSpc>
                <a:spcPts val="2700"/>
              </a:lnSpc>
              <a:buFont typeface="Arial" panose="020B0604020202020204" pitchFamily="34" charset="0"/>
              <a:buChar char="•"/>
            </a:pPr>
            <a:r>
              <a:rPr lang="en-US" altLang="ko-KR" sz="2000" dirty="0"/>
              <a:t>AUTOSAR does not prescribe the granularity of Software Components. Depending on the requirements of the application domain an AUTOSAR Software Component </a:t>
            </a:r>
            <a:r>
              <a:rPr lang="en-US" altLang="ko-KR" sz="2000" b="1" dirty="0"/>
              <a:t>might be a small</a:t>
            </a:r>
            <a:r>
              <a:rPr lang="en-US" altLang="ko-KR" sz="2000" dirty="0"/>
              <a:t>, reusable piece of functionality (such as a filter) or </a:t>
            </a:r>
            <a:r>
              <a:rPr lang="en-US" altLang="ko-KR" sz="2000" b="1" dirty="0"/>
              <a:t>a larger block </a:t>
            </a:r>
            <a:r>
              <a:rPr lang="en-US" altLang="ko-KR" sz="2000" dirty="0"/>
              <a:t>encapsulating an entire subsystem.</a:t>
            </a:r>
          </a:p>
          <a:p>
            <a:pPr>
              <a:lnSpc>
                <a:spcPts val="2700"/>
              </a:lnSpc>
            </a:pPr>
            <a:r>
              <a:rPr lang="en-US" altLang="ko-KR" sz="2000" b="1" dirty="0"/>
              <a:t>The AUTOSAR Software Component is an "Atomic Software Component"</a:t>
            </a:r>
            <a:endParaRPr lang="en-US" altLang="ko-KR" sz="2000" dirty="0"/>
          </a:p>
          <a:p>
            <a:pPr marL="742950" lvl="1" indent="-285750">
              <a:lnSpc>
                <a:spcPts val="2700"/>
              </a:lnSpc>
              <a:buFont typeface="Arial" panose="020B0604020202020204" pitchFamily="34" charset="0"/>
              <a:buChar char="•"/>
            </a:pPr>
            <a:r>
              <a:rPr lang="en-US" altLang="ko-KR" sz="2000" i="1" dirty="0"/>
              <a:t>Atomic</a:t>
            </a:r>
            <a:r>
              <a:rPr lang="en-US" altLang="ko-KR" sz="2000" dirty="0"/>
              <a:t> means that the each instance of an AUTOSAR Software Component is </a:t>
            </a:r>
            <a:r>
              <a:rPr lang="en-US" altLang="ko-KR" sz="2000" b="1" dirty="0"/>
              <a:t>statically assigned to one ECU.</a:t>
            </a:r>
            <a:endParaRPr lang="en-US" altLang="ko-KR" sz="2000" dirty="0"/>
          </a:p>
          <a:p>
            <a:pPr>
              <a:lnSpc>
                <a:spcPts val="2700"/>
              </a:lnSpc>
            </a:pPr>
            <a:endParaRPr lang="en-US" altLang="ko-KR" sz="2000" dirty="0"/>
          </a:p>
          <a:p>
            <a:pPr>
              <a:lnSpc>
                <a:spcPts val="2700"/>
              </a:lnSpc>
            </a:pPr>
            <a:r>
              <a:rPr lang="en-US" altLang="ko-KR" sz="2000" b="1" dirty="0"/>
              <a:t>Implementing an AUTOSAR Software Component</a:t>
            </a:r>
            <a:endParaRPr lang="en-US" altLang="ko-KR" sz="2000" dirty="0"/>
          </a:p>
          <a:p>
            <a:pPr>
              <a:lnSpc>
                <a:spcPts val="2700"/>
              </a:lnSpc>
            </a:pPr>
            <a:r>
              <a:rPr lang="en-US" altLang="ko-KR" sz="2000" dirty="0"/>
              <a:t>AUTOSAR does not prescribe </a:t>
            </a:r>
            <a:r>
              <a:rPr lang="en-US" altLang="ko-KR" sz="2000" b="1" dirty="0"/>
              <a:t>HOW</a:t>
            </a:r>
            <a:r>
              <a:rPr lang="en-US" altLang="ko-KR" sz="2000" dirty="0"/>
              <a:t> an AUTOSAR Software Component should be implemented</a:t>
            </a:r>
          </a:p>
          <a:p>
            <a:pPr marL="742950" lvl="1" indent="-285750">
              <a:lnSpc>
                <a:spcPts val="2700"/>
              </a:lnSpc>
              <a:buFont typeface="Arial" panose="020B0604020202020204" pitchFamily="34" charset="0"/>
              <a:buChar char="•"/>
            </a:pPr>
            <a:r>
              <a:rPr lang="en-US" altLang="ko-KR" sz="2000" dirty="0"/>
              <a:t>a component may be handwritten or generated from a model</a:t>
            </a:r>
          </a:p>
          <a:p>
            <a:pPr>
              <a:lnSpc>
                <a:spcPts val="2700"/>
              </a:lnSpc>
            </a:pPr>
            <a:endParaRPr lang="ko-KR" altLang="en-US" sz="2000" dirty="0"/>
          </a:p>
        </p:txBody>
      </p:sp>
    </p:spTree>
    <p:extLst>
      <p:ext uri="{BB962C8B-B14F-4D97-AF65-F5344CB8AC3E}">
        <p14:creationId xmlns:p14="http://schemas.microsoft.com/office/powerpoint/2010/main" val="429464139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9880FAE4-784B-C197-E1FF-D0E51C21E2E6}"/>
              </a:ext>
            </a:extLst>
          </p:cNvPr>
          <p:cNvSpPr>
            <a:spLocks noGrp="1"/>
          </p:cNvSpPr>
          <p:nvPr>
            <p:ph type="title"/>
          </p:nvPr>
        </p:nvSpPr>
        <p:spPr/>
        <p:txBody>
          <a:bodyPr>
            <a:normAutofit fontScale="90000"/>
          </a:bodyPr>
          <a:lstStyle/>
          <a:p>
            <a:r>
              <a:rPr lang="en-US" altLang="ko-KR" dirty="0"/>
              <a:t>Software Component</a:t>
            </a:r>
            <a:endParaRPr lang="ko-KR" altLang="en-US" dirty="0"/>
          </a:p>
        </p:txBody>
      </p:sp>
      <p:sp>
        <p:nvSpPr>
          <p:cNvPr id="4" name="날짜 개체 틀 3">
            <a:extLst>
              <a:ext uri="{FF2B5EF4-FFF2-40B4-BE49-F238E27FC236}">
                <a16:creationId xmlns:a16="http://schemas.microsoft.com/office/drawing/2014/main" id="{A596A1DD-4FEC-4B01-2088-06D3D621B6B6}"/>
              </a:ext>
            </a:extLst>
          </p:cNvPr>
          <p:cNvSpPr>
            <a:spLocks noGrp="1"/>
          </p:cNvSpPr>
          <p:nvPr>
            <p:ph type="dt" sz="half" idx="10"/>
          </p:nvPr>
        </p:nvSpPr>
        <p:spPr/>
        <p:txBody>
          <a:bodyPr/>
          <a:lstStyle/>
          <a:p>
            <a:fld id="{9539328B-81D7-470F-B07E-C60C8A68D98A}" type="datetime1">
              <a:rPr lang="en-US" altLang="ko-KR" smtClean="0"/>
              <a:t>4/12/2026</a:t>
            </a:fld>
            <a:endParaRPr lang="en-US"/>
          </a:p>
        </p:txBody>
      </p:sp>
      <p:sp>
        <p:nvSpPr>
          <p:cNvPr id="5" name="바닥글 개체 틀 4">
            <a:extLst>
              <a:ext uri="{FF2B5EF4-FFF2-40B4-BE49-F238E27FC236}">
                <a16:creationId xmlns:a16="http://schemas.microsoft.com/office/drawing/2014/main" id="{EF53327E-80B0-3814-BC65-F9E6AE6DEE3C}"/>
              </a:ext>
            </a:extLst>
          </p:cNvPr>
          <p:cNvSpPr>
            <a:spLocks noGrp="1"/>
          </p:cNvSpPr>
          <p:nvPr>
            <p:ph type="ftr" sz="quarter" idx="11"/>
          </p:nvPr>
        </p:nvSpPr>
        <p:spPr/>
        <p:txBody>
          <a:bodyPr/>
          <a:lstStyle/>
          <a:p>
            <a:r>
              <a:rPr lang="en-US"/>
              <a:t>2023 Copyright </a:t>
            </a:r>
            <a:r>
              <a:rPr lang="ko-KR" altLang="en-US"/>
              <a:t>ⓒ </a:t>
            </a:r>
            <a:r>
              <a:rPr lang="en-US" altLang="ko-KR"/>
              <a:t>Autonomous Vehicle Lab</a:t>
            </a:r>
            <a:endParaRPr lang="en-US" dirty="0"/>
          </a:p>
        </p:txBody>
      </p:sp>
      <p:sp>
        <p:nvSpPr>
          <p:cNvPr id="6" name="슬라이드 번호 개체 틀 5">
            <a:extLst>
              <a:ext uri="{FF2B5EF4-FFF2-40B4-BE49-F238E27FC236}">
                <a16:creationId xmlns:a16="http://schemas.microsoft.com/office/drawing/2014/main" id="{946EF6C8-6C2E-7CD0-48F5-6ED4A1466CAE}"/>
              </a:ext>
            </a:extLst>
          </p:cNvPr>
          <p:cNvSpPr>
            <a:spLocks noGrp="1"/>
          </p:cNvSpPr>
          <p:nvPr>
            <p:ph type="sldNum" sz="quarter" idx="12"/>
          </p:nvPr>
        </p:nvSpPr>
        <p:spPr/>
        <p:txBody>
          <a:bodyPr/>
          <a:lstStyle/>
          <a:p>
            <a:fld id="{55635D17-9D19-4B1E-86C2-B9D6296E4AF7}" type="slidenum">
              <a:rPr lang="en-US" smtClean="0"/>
              <a:pPr/>
              <a:t>21</a:t>
            </a:fld>
            <a:endParaRPr lang="en-US" dirty="0"/>
          </a:p>
        </p:txBody>
      </p:sp>
      <p:pic>
        <p:nvPicPr>
          <p:cNvPr id="3" name="Picture 2">
            <a:extLst>
              <a:ext uri="{FF2B5EF4-FFF2-40B4-BE49-F238E27FC236}">
                <a16:creationId xmlns:a16="http://schemas.microsoft.com/office/drawing/2014/main" id="{2CECC2C9-4926-9A2F-D7C7-1B6A21E8B37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67750" t="31646" r="4650"/>
          <a:stretch>
            <a:fillRect/>
          </a:stretch>
        </p:blipFill>
        <p:spPr bwMode="auto">
          <a:xfrm>
            <a:off x="8676136" y="1709288"/>
            <a:ext cx="2123489" cy="324854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TextBox 6">
            <a:extLst>
              <a:ext uri="{FF2B5EF4-FFF2-40B4-BE49-F238E27FC236}">
                <a16:creationId xmlns:a16="http://schemas.microsoft.com/office/drawing/2014/main" id="{0D3FD5DB-56B5-A41C-6530-63191D482F59}"/>
              </a:ext>
            </a:extLst>
          </p:cNvPr>
          <p:cNvSpPr txBox="1"/>
          <p:nvPr/>
        </p:nvSpPr>
        <p:spPr>
          <a:xfrm>
            <a:off x="849694" y="982146"/>
            <a:ext cx="7602045" cy="3911071"/>
          </a:xfrm>
          <a:prstGeom prst="rect">
            <a:avLst/>
          </a:prstGeom>
          <a:noFill/>
        </p:spPr>
        <p:txBody>
          <a:bodyPr wrap="square" rtlCol="0">
            <a:spAutoFit/>
          </a:bodyPr>
          <a:lstStyle/>
          <a:p>
            <a:pPr>
              <a:lnSpc>
                <a:spcPts val="3000"/>
              </a:lnSpc>
            </a:pPr>
            <a:r>
              <a:rPr lang="en-US" altLang="ko-KR" sz="2000" b="1" dirty="0"/>
              <a:t>Shipping an AUTOSAR Software Component</a:t>
            </a:r>
          </a:p>
          <a:p>
            <a:pPr>
              <a:lnSpc>
                <a:spcPts val="3000"/>
              </a:lnSpc>
            </a:pPr>
            <a:r>
              <a:rPr lang="en-US" altLang="ko-KR" sz="2000" dirty="0"/>
              <a:t>A shipment of an AUTOSAR Software Component consists of:</a:t>
            </a:r>
          </a:p>
          <a:p>
            <a:pPr marL="800100" lvl="1" indent="-342900">
              <a:lnSpc>
                <a:spcPts val="3000"/>
              </a:lnSpc>
              <a:buFont typeface="Arial" panose="020B0604020202020204" pitchFamily="34" charset="0"/>
              <a:buChar char="•"/>
            </a:pPr>
            <a:r>
              <a:rPr lang="en-US" altLang="ko-KR" sz="2000" dirty="0"/>
              <a:t>A complete and formal </a:t>
            </a:r>
            <a:r>
              <a:rPr lang="en-US" altLang="ko-KR" sz="2000" b="1" dirty="0"/>
              <a:t>Software Component Description</a:t>
            </a:r>
            <a:r>
              <a:rPr lang="en-US" altLang="ko-KR" sz="2000" dirty="0"/>
              <a:t> which specifies how the infrastructure must be configured for the component, and</a:t>
            </a:r>
          </a:p>
          <a:p>
            <a:pPr lvl="1">
              <a:lnSpc>
                <a:spcPts val="3000"/>
              </a:lnSpc>
            </a:pPr>
            <a:endParaRPr lang="en-US" altLang="ko-KR" sz="2000" dirty="0"/>
          </a:p>
          <a:p>
            <a:pPr lvl="1">
              <a:lnSpc>
                <a:spcPts val="3000"/>
              </a:lnSpc>
            </a:pPr>
            <a:endParaRPr lang="en-US" altLang="ko-KR" sz="2000" dirty="0"/>
          </a:p>
          <a:p>
            <a:pPr marL="800100" lvl="1" indent="-342900">
              <a:lnSpc>
                <a:spcPts val="3000"/>
              </a:lnSpc>
              <a:buFont typeface="Arial" panose="020B0604020202020204" pitchFamily="34" charset="0"/>
              <a:buChar char="•"/>
            </a:pPr>
            <a:r>
              <a:rPr lang="en-US" altLang="ko-KR" sz="2000" dirty="0"/>
              <a:t>An </a:t>
            </a:r>
            <a:r>
              <a:rPr lang="en-US" altLang="ko-KR" sz="2000" b="1" dirty="0"/>
              <a:t>implementation</a:t>
            </a:r>
            <a:r>
              <a:rPr lang="en-US" altLang="ko-KR" sz="2000" dirty="0"/>
              <a:t> of the component, which could be provided as "object code" or "source code".</a:t>
            </a:r>
          </a:p>
          <a:p>
            <a:pPr>
              <a:lnSpc>
                <a:spcPts val="3000"/>
              </a:lnSpc>
            </a:pPr>
            <a:endParaRPr lang="ko-KR" altLang="en-US" sz="2000" dirty="0"/>
          </a:p>
        </p:txBody>
      </p:sp>
    </p:spTree>
    <p:extLst>
      <p:ext uri="{BB962C8B-B14F-4D97-AF65-F5344CB8AC3E}">
        <p14:creationId xmlns:p14="http://schemas.microsoft.com/office/powerpoint/2010/main" val="151820769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9880FAE4-784B-C197-E1FF-D0E51C21E2E6}"/>
              </a:ext>
            </a:extLst>
          </p:cNvPr>
          <p:cNvSpPr>
            <a:spLocks noGrp="1"/>
          </p:cNvSpPr>
          <p:nvPr>
            <p:ph type="title"/>
          </p:nvPr>
        </p:nvSpPr>
        <p:spPr/>
        <p:txBody>
          <a:bodyPr>
            <a:normAutofit fontScale="90000"/>
          </a:bodyPr>
          <a:lstStyle/>
          <a:p>
            <a:r>
              <a:rPr lang="en-US" altLang="ko-KR" dirty="0"/>
              <a:t>SWC - Description</a:t>
            </a:r>
            <a:endParaRPr lang="ko-KR" altLang="en-US" dirty="0"/>
          </a:p>
        </p:txBody>
      </p:sp>
      <p:sp>
        <p:nvSpPr>
          <p:cNvPr id="4" name="날짜 개체 틀 3">
            <a:extLst>
              <a:ext uri="{FF2B5EF4-FFF2-40B4-BE49-F238E27FC236}">
                <a16:creationId xmlns:a16="http://schemas.microsoft.com/office/drawing/2014/main" id="{A596A1DD-4FEC-4B01-2088-06D3D621B6B6}"/>
              </a:ext>
            </a:extLst>
          </p:cNvPr>
          <p:cNvSpPr>
            <a:spLocks noGrp="1"/>
          </p:cNvSpPr>
          <p:nvPr>
            <p:ph type="dt" sz="half" idx="10"/>
          </p:nvPr>
        </p:nvSpPr>
        <p:spPr/>
        <p:txBody>
          <a:bodyPr/>
          <a:lstStyle/>
          <a:p>
            <a:fld id="{9539328B-81D7-470F-B07E-C60C8A68D98A}" type="datetime1">
              <a:rPr lang="en-US" altLang="ko-KR" smtClean="0"/>
              <a:t>4/12/2026</a:t>
            </a:fld>
            <a:endParaRPr lang="en-US"/>
          </a:p>
        </p:txBody>
      </p:sp>
      <p:sp>
        <p:nvSpPr>
          <p:cNvPr id="5" name="바닥글 개체 틀 4">
            <a:extLst>
              <a:ext uri="{FF2B5EF4-FFF2-40B4-BE49-F238E27FC236}">
                <a16:creationId xmlns:a16="http://schemas.microsoft.com/office/drawing/2014/main" id="{EF53327E-80B0-3814-BC65-F9E6AE6DEE3C}"/>
              </a:ext>
            </a:extLst>
          </p:cNvPr>
          <p:cNvSpPr>
            <a:spLocks noGrp="1"/>
          </p:cNvSpPr>
          <p:nvPr>
            <p:ph type="ftr" sz="quarter" idx="11"/>
          </p:nvPr>
        </p:nvSpPr>
        <p:spPr/>
        <p:txBody>
          <a:bodyPr/>
          <a:lstStyle/>
          <a:p>
            <a:r>
              <a:rPr lang="en-US"/>
              <a:t>2023 Copyright </a:t>
            </a:r>
            <a:r>
              <a:rPr lang="ko-KR" altLang="en-US"/>
              <a:t>ⓒ </a:t>
            </a:r>
            <a:r>
              <a:rPr lang="en-US" altLang="ko-KR"/>
              <a:t>Autonomous Vehicle Lab</a:t>
            </a:r>
            <a:endParaRPr lang="en-US" dirty="0"/>
          </a:p>
        </p:txBody>
      </p:sp>
      <p:sp>
        <p:nvSpPr>
          <p:cNvPr id="6" name="슬라이드 번호 개체 틀 5">
            <a:extLst>
              <a:ext uri="{FF2B5EF4-FFF2-40B4-BE49-F238E27FC236}">
                <a16:creationId xmlns:a16="http://schemas.microsoft.com/office/drawing/2014/main" id="{946EF6C8-6C2E-7CD0-48F5-6ED4A1466CAE}"/>
              </a:ext>
            </a:extLst>
          </p:cNvPr>
          <p:cNvSpPr>
            <a:spLocks noGrp="1"/>
          </p:cNvSpPr>
          <p:nvPr>
            <p:ph type="sldNum" sz="quarter" idx="12"/>
          </p:nvPr>
        </p:nvSpPr>
        <p:spPr/>
        <p:txBody>
          <a:bodyPr/>
          <a:lstStyle/>
          <a:p>
            <a:fld id="{55635D17-9D19-4B1E-86C2-B9D6296E4AF7}" type="slidenum">
              <a:rPr lang="en-US" smtClean="0"/>
              <a:pPr/>
              <a:t>22</a:t>
            </a:fld>
            <a:endParaRPr lang="en-US" dirty="0"/>
          </a:p>
        </p:txBody>
      </p:sp>
      <p:sp>
        <p:nvSpPr>
          <p:cNvPr id="3" name="TextBox 2">
            <a:extLst>
              <a:ext uri="{FF2B5EF4-FFF2-40B4-BE49-F238E27FC236}">
                <a16:creationId xmlns:a16="http://schemas.microsoft.com/office/drawing/2014/main" id="{6218754C-A0DD-A991-81D5-86B2A884E2AD}"/>
              </a:ext>
            </a:extLst>
          </p:cNvPr>
          <p:cNvSpPr txBox="1"/>
          <p:nvPr/>
        </p:nvSpPr>
        <p:spPr>
          <a:xfrm>
            <a:off x="926932" y="972690"/>
            <a:ext cx="10234127" cy="3141629"/>
          </a:xfrm>
          <a:prstGeom prst="rect">
            <a:avLst/>
          </a:prstGeom>
          <a:noFill/>
        </p:spPr>
        <p:txBody>
          <a:bodyPr wrap="square" rtlCol="0">
            <a:spAutoFit/>
          </a:bodyPr>
          <a:lstStyle/>
          <a:p>
            <a:pPr>
              <a:lnSpc>
                <a:spcPts val="3000"/>
              </a:lnSpc>
            </a:pPr>
            <a:r>
              <a:rPr lang="en-US" altLang="ko-KR" sz="2000" b="1" dirty="0"/>
              <a:t>The AUTOSAR Software Component Description contains:</a:t>
            </a:r>
          </a:p>
          <a:p>
            <a:pPr marL="800100" lvl="1" indent="-342900">
              <a:lnSpc>
                <a:spcPts val="3000"/>
              </a:lnSpc>
              <a:buFont typeface="Arial" panose="020B0604020202020204" pitchFamily="34" charset="0"/>
              <a:buChar char="•"/>
            </a:pPr>
            <a:r>
              <a:rPr lang="en-US" altLang="ko-KR" sz="2000" b="1" dirty="0"/>
              <a:t>the operations and data elements</a:t>
            </a:r>
            <a:r>
              <a:rPr lang="en-US" altLang="ko-KR" sz="2000" dirty="0"/>
              <a:t> that the software component provides and requires</a:t>
            </a:r>
          </a:p>
          <a:p>
            <a:pPr marL="1257300" lvl="2" indent="-342900">
              <a:lnSpc>
                <a:spcPts val="3000"/>
              </a:lnSpc>
              <a:buFont typeface="Arial" panose="020B0604020202020204" pitchFamily="34" charset="0"/>
              <a:buChar char="•"/>
            </a:pPr>
            <a:r>
              <a:rPr lang="en-US" altLang="ko-KR" sz="2000" dirty="0"/>
              <a:t>described using the </a:t>
            </a:r>
            <a:r>
              <a:rPr lang="en-US" altLang="ko-KR" sz="2000" b="1" dirty="0" err="1"/>
              <a:t>PortInterface</a:t>
            </a:r>
            <a:r>
              <a:rPr lang="en-US" altLang="ko-KR" sz="2000" dirty="0"/>
              <a:t> concept</a:t>
            </a:r>
          </a:p>
          <a:p>
            <a:pPr marL="800100" lvl="1" indent="-342900">
              <a:lnSpc>
                <a:spcPts val="3000"/>
              </a:lnSpc>
              <a:buFont typeface="Arial" panose="020B0604020202020204" pitchFamily="34" charset="0"/>
              <a:buChar char="•"/>
            </a:pPr>
            <a:r>
              <a:rPr lang="en-US" altLang="ko-KR" sz="2000" b="1" dirty="0"/>
              <a:t>the requirements</a:t>
            </a:r>
            <a:r>
              <a:rPr lang="en-US" altLang="ko-KR" sz="2000" dirty="0"/>
              <a:t> on the infrastructure,</a:t>
            </a:r>
          </a:p>
          <a:p>
            <a:pPr marL="800100" lvl="1" indent="-342900">
              <a:lnSpc>
                <a:spcPts val="3000"/>
              </a:lnSpc>
              <a:buFont typeface="Arial" panose="020B0604020202020204" pitchFamily="34" charset="0"/>
              <a:buChar char="•"/>
            </a:pPr>
            <a:r>
              <a:rPr lang="en-US" altLang="ko-KR" sz="2000" b="1" dirty="0"/>
              <a:t>the resources</a:t>
            </a:r>
            <a:r>
              <a:rPr lang="en-US" altLang="ko-KR" sz="2000" dirty="0"/>
              <a:t> needed by the software component (memory, CPU-time, etc.),</a:t>
            </a:r>
          </a:p>
          <a:p>
            <a:pPr marL="800100" lvl="1" indent="-342900">
              <a:lnSpc>
                <a:spcPts val="3000"/>
              </a:lnSpc>
              <a:buFont typeface="Arial" panose="020B0604020202020204" pitchFamily="34" charset="0"/>
              <a:buChar char="•"/>
            </a:pPr>
            <a:r>
              <a:rPr lang="en-US" altLang="ko-KR" sz="2000" b="1" dirty="0"/>
              <a:t>information</a:t>
            </a:r>
            <a:r>
              <a:rPr lang="en-US" altLang="ko-KR" sz="2000" dirty="0"/>
              <a:t> regarding the specific implementation of the software component.</a:t>
            </a:r>
          </a:p>
          <a:p>
            <a:pPr marL="800100" lvl="1" indent="-342900">
              <a:lnSpc>
                <a:spcPts val="3000"/>
              </a:lnSpc>
              <a:buFont typeface="Arial" panose="020B0604020202020204" pitchFamily="34" charset="0"/>
              <a:buChar char="•"/>
            </a:pPr>
            <a:r>
              <a:rPr lang="en-US" altLang="ko-KR" sz="2000" dirty="0"/>
              <a:t>The structure and format of this description is called </a:t>
            </a:r>
            <a:r>
              <a:rPr lang="en-US" altLang="ko-KR" sz="2000" b="1" dirty="0"/>
              <a:t>“software component template”</a:t>
            </a:r>
            <a:r>
              <a:rPr lang="en-US" altLang="ko-KR" sz="2000" dirty="0"/>
              <a:t>.</a:t>
            </a:r>
          </a:p>
          <a:p>
            <a:pPr>
              <a:lnSpc>
                <a:spcPts val="3000"/>
              </a:lnSpc>
            </a:pPr>
            <a:endParaRPr lang="ko-KR" altLang="en-US" sz="2000" dirty="0"/>
          </a:p>
        </p:txBody>
      </p:sp>
    </p:spTree>
    <p:extLst>
      <p:ext uri="{BB962C8B-B14F-4D97-AF65-F5344CB8AC3E}">
        <p14:creationId xmlns:p14="http://schemas.microsoft.com/office/powerpoint/2010/main" val="349494482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9880FAE4-784B-C197-E1FF-D0E51C21E2E6}"/>
              </a:ext>
            </a:extLst>
          </p:cNvPr>
          <p:cNvSpPr>
            <a:spLocks noGrp="1"/>
          </p:cNvSpPr>
          <p:nvPr>
            <p:ph type="title"/>
          </p:nvPr>
        </p:nvSpPr>
        <p:spPr/>
        <p:txBody>
          <a:bodyPr>
            <a:normAutofit fontScale="90000"/>
          </a:bodyPr>
          <a:lstStyle/>
          <a:p>
            <a:r>
              <a:rPr lang="en-US" altLang="ko-KR" dirty="0"/>
              <a:t>SWC - Implementation</a:t>
            </a:r>
            <a:endParaRPr lang="ko-KR" altLang="en-US" dirty="0"/>
          </a:p>
        </p:txBody>
      </p:sp>
      <p:sp>
        <p:nvSpPr>
          <p:cNvPr id="4" name="날짜 개체 틀 3">
            <a:extLst>
              <a:ext uri="{FF2B5EF4-FFF2-40B4-BE49-F238E27FC236}">
                <a16:creationId xmlns:a16="http://schemas.microsoft.com/office/drawing/2014/main" id="{A596A1DD-4FEC-4B01-2088-06D3D621B6B6}"/>
              </a:ext>
            </a:extLst>
          </p:cNvPr>
          <p:cNvSpPr>
            <a:spLocks noGrp="1"/>
          </p:cNvSpPr>
          <p:nvPr>
            <p:ph type="dt" sz="half" idx="10"/>
          </p:nvPr>
        </p:nvSpPr>
        <p:spPr/>
        <p:txBody>
          <a:bodyPr/>
          <a:lstStyle/>
          <a:p>
            <a:fld id="{9539328B-81D7-470F-B07E-C60C8A68D98A}" type="datetime1">
              <a:rPr lang="en-US" altLang="ko-KR" smtClean="0"/>
              <a:t>4/12/2026</a:t>
            </a:fld>
            <a:endParaRPr lang="en-US"/>
          </a:p>
        </p:txBody>
      </p:sp>
      <p:sp>
        <p:nvSpPr>
          <p:cNvPr id="5" name="바닥글 개체 틀 4">
            <a:extLst>
              <a:ext uri="{FF2B5EF4-FFF2-40B4-BE49-F238E27FC236}">
                <a16:creationId xmlns:a16="http://schemas.microsoft.com/office/drawing/2014/main" id="{EF53327E-80B0-3814-BC65-F9E6AE6DEE3C}"/>
              </a:ext>
            </a:extLst>
          </p:cNvPr>
          <p:cNvSpPr>
            <a:spLocks noGrp="1"/>
          </p:cNvSpPr>
          <p:nvPr>
            <p:ph type="ftr" sz="quarter" idx="11"/>
          </p:nvPr>
        </p:nvSpPr>
        <p:spPr/>
        <p:txBody>
          <a:bodyPr/>
          <a:lstStyle/>
          <a:p>
            <a:r>
              <a:rPr lang="en-US"/>
              <a:t>2023 Copyright </a:t>
            </a:r>
            <a:r>
              <a:rPr lang="ko-KR" altLang="en-US"/>
              <a:t>ⓒ </a:t>
            </a:r>
            <a:r>
              <a:rPr lang="en-US" altLang="ko-KR"/>
              <a:t>Autonomous Vehicle Lab</a:t>
            </a:r>
            <a:endParaRPr lang="en-US" dirty="0"/>
          </a:p>
        </p:txBody>
      </p:sp>
      <p:sp>
        <p:nvSpPr>
          <p:cNvPr id="6" name="슬라이드 번호 개체 틀 5">
            <a:extLst>
              <a:ext uri="{FF2B5EF4-FFF2-40B4-BE49-F238E27FC236}">
                <a16:creationId xmlns:a16="http://schemas.microsoft.com/office/drawing/2014/main" id="{946EF6C8-6C2E-7CD0-48F5-6ED4A1466CAE}"/>
              </a:ext>
            </a:extLst>
          </p:cNvPr>
          <p:cNvSpPr>
            <a:spLocks noGrp="1"/>
          </p:cNvSpPr>
          <p:nvPr>
            <p:ph type="sldNum" sz="quarter" idx="12"/>
          </p:nvPr>
        </p:nvSpPr>
        <p:spPr/>
        <p:txBody>
          <a:bodyPr/>
          <a:lstStyle/>
          <a:p>
            <a:fld id="{55635D17-9D19-4B1E-86C2-B9D6296E4AF7}" type="slidenum">
              <a:rPr lang="en-US" smtClean="0"/>
              <a:pPr/>
              <a:t>23</a:t>
            </a:fld>
            <a:endParaRPr lang="en-US" dirty="0"/>
          </a:p>
        </p:txBody>
      </p:sp>
      <p:sp>
        <p:nvSpPr>
          <p:cNvPr id="7" name="TextBox 6">
            <a:extLst>
              <a:ext uri="{FF2B5EF4-FFF2-40B4-BE49-F238E27FC236}">
                <a16:creationId xmlns:a16="http://schemas.microsoft.com/office/drawing/2014/main" id="{7CD6B0A5-3540-2551-B46A-E69E92FDC30C}"/>
              </a:ext>
            </a:extLst>
          </p:cNvPr>
          <p:cNvSpPr txBox="1"/>
          <p:nvPr/>
        </p:nvSpPr>
        <p:spPr>
          <a:xfrm>
            <a:off x="929374" y="938065"/>
            <a:ext cx="10333252" cy="3911071"/>
          </a:xfrm>
          <a:prstGeom prst="rect">
            <a:avLst/>
          </a:prstGeom>
          <a:noFill/>
        </p:spPr>
        <p:txBody>
          <a:bodyPr wrap="square" rtlCol="0">
            <a:spAutoFit/>
          </a:bodyPr>
          <a:lstStyle/>
          <a:p>
            <a:pPr>
              <a:lnSpc>
                <a:spcPts val="3000"/>
              </a:lnSpc>
            </a:pPr>
            <a:r>
              <a:rPr lang="en-US" altLang="ko-KR" sz="2000" b="1" dirty="0"/>
              <a:t>A source code component implementation is independent from</a:t>
            </a:r>
          </a:p>
          <a:p>
            <a:pPr marL="800100" lvl="1" indent="-342900">
              <a:lnSpc>
                <a:spcPts val="3000"/>
              </a:lnSpc>
              <a:buFont typeface="Arial" panose="020B0604020202020204" pitchFamily="34" charset="0"/>
              <a:buChar char="•"/>
            </a:pPr>
            <a:r>
              <a:rPr lang="en-US" altLang="ko-KR" sz="2000" b="1" dirty="0"/>
              <a:t>the type of microcontroller of the ECU and the type of ECU on which the component is mapped</a:t>
            </a:r>
            <a:endParaRPr lang="en-US" altLang="ko-KR" sz="2000" dirty="0"/>
          </a:p>
          <a:p>
            <a:pPr marL="1257300" lvl="2" indent="-342900">
              <a:lnSpc>
                <a:spcPts val="3000"/>
              </a:lnSpc>
              <a:buFont typeface="Arial" panose="020B0604020202020204" pitchFamily="34" charset="0"/>
              <a:buChar char="•"/>
            </a:pPr>
            <a:r>
              <a:rPr lang="en-US" altLang="ko-KR" sz="2000" dirty="0"/>
              <a:t>The AUTOSAR infrastructure takes care of providing the software component with a standardized view on the ECU hardware</a:t>
            </a:r>
          </a:p>
          <a:p>
            <a:pPr marL="800100" lvl="1" indent="-342900">
              <a:lnSpc>
                <a:spcPts val="3000"/>
              </a:lnSpc>
              <a:buFont typeface="Arial" panose="020B0604020202020204" pitchFamily="34" charset="0"/>
              <a:buChar char="•"/>
            </a:pPr>
            <a:r>
              <a:rPr lang="en-US" altLang="ko-KR" sz="2000" b="1" dirty="0"/>
              <a:t>the location of the other components with which it interacts.</a:t>
            </a:r>
            <a:r>
              <a:rPr lang="en-US" altLang="ko-KR" sz="2000" dirty="0"/>
              <a:t> </a:t>
            </a:r>
          </a:p>
          <a:p>
            <a:pPr marL="1257300" lvl="2" indent="-342900">
              <a:lnSpc>
                <a:spcPts val="3000"/>
              </a:lnSpc>
              <a:buFont typeface="Arial" panose="020B0604020202020204" pitchFamily="34" charset="0"/>
              <a:buChar char="•"/>
            </a:pPr>
            <a:r>
              <a:rPr lang="en-US" altLang="ko-KR" sz="2000" dirty="0"/>
              <a:t>The component description defines the data or services that it provides or requires. The component doesn’t know if they are provided from components on the same ECU or from components on a different ECU.</a:t>
            </a:r>
          </a:p>
          <a:p>
            <a:pPr marL="800100" lvl="1" indent="-342900">
              <a:lnSpc>
                <a:spcPts val="3000"/>
              </a:lnSpc>
              <a:buFont typeface="Arial" panose="020B0604020202020204" pitchFamily="34" charset="0"/>
              <a:buChar char="•"/>
            </a:pPr>
            <a:r>
              <a:rPr lang="en-US" altLang="ko-KR" sz="2000" b="1" dirty="0"/>
              <a:t>the number of times a software component is instantiated in a system or within one ECU</a:t>
            </a:r>
            <a:endParaRPr lang="en-US" altLang="ko-KR" sz="2000" dirty="0"/>
          </a:p>
        </p:txBody>
      </p:sp>
    </p:spTree>
    <p:extLst>
      <p:ext uri="{BB962C8B-B14F-4D97-AF65-F5344CB8AC3E}">
        <p14:creationId xmlns:p14="http://schemas.microsoft.com/office/powerpoint/2010/main" val="23232773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9880FAE4-784B-C197-E1FF-D0E51C21E2E6}"/>
              </a:ext>
            </a:extLst>
          </p:cNvPr>
          <p:cNvSpPr>
            <a:spLocks noGrp="1"/>
          </p:cNvSpPr>
          <p:nvPr>
            <p:ph type="title"/>
          </p:nvPr>
        </p:nvSpPr>
        <p:spPr/>
        <p:txBody>
          <a:bodyPr>
            <a:normAutofit fontScale="90000"/>
          </a:bodyPr>
          <a:lstStyle/>
          <a:p>
            <a:r>
              <a:rPr lang="en-US" altLang="ko-KR" dirty="0"/>
              <a:t>SWC – Description level</a:t>
            </a:r>
            <a:endParaRPr lang="ko-KR" altLang="en-US" dirty="0"/>
          </a:p>
        </p:txBody>
      </p:sp>
      <p:sp>
        <p:nvSpPr>
          <p:cNvPr id="4" name="날짜 개체 틀 3">
            <a:extLst>
              <a:ext uri="{FF2B5EF4-FFF2-40B4-BE49-F238E27FC236}">
                <a16:creationId xmlns:a16="http://schemas.microsoft.com/office/drawing/2014/main" id="{A596A1DD-4FEC-4B01-2088-06D3D621B6B6}"/>
              </a:ext>
            </a:extLst>
          </p:cNvPr>
          <p:cNvSpPr>
            <a:spLocks noGrp="1"/>
          </p:cNvSpPr>
          <p:nvPr>
            <p:ph type="dt" sz="half" idx="10"/>
          </p:nvPr>
        </p:nvSpPr>
        <p:spPr/>
        <p:txBody>
          <a:bodyPr/>
          <a:lstStyle/>
          <a:p>
            <a:fld id="{9539328B-81D7-470F-B07E-C60C8A68D98A}" type="datetime1">
              <a:rPr lang="en-US" altLang="ko-KR" smtClean="0"/>
              <a:t>4/12/2026</a:t>
            </a:fld>
            <a:endParaRPr lang="en-US"/>
          </a:p>
        </p:txBody>
      </p:sp>
      <p:sp>
        <p:nvSpPr>
          <p:cNvPr id="5" name="바닥글 개체 틀 4">
            <a:extLst>
              <a:ext uri="{FF2B5EF4-FFF2-40B4-BE49-F238E27FC236}">
                <a16:creationId xmlns:a16="http://schemas.microsoft.com/office/drawing/2014/main" id="{EF53327E-80B0-3814-BC65-F9E6AE6DEE3C}"/>
              </a:ext>
            </a:extLst>
          </p:cNvPr>
          <p:cNvSpPr>
            <a:spLocks noGrp="1"/>
          </p:cNvSpPr>
          <p:nvPr>
            <p:ph type="ftr" sz="quarter" idx="11"/>
          </p:nvPr>
        </p:nvSpPr>
        <p:spPr/>
        <p:txBody>
          <a:bodyPr/>
          <a:lstStyle/>
          <a:p>
            <a:r>
              <a:rPr lang="en-US"/>
              <a:t>2023 Copyright </a:t>
            </a:r>
            <a:r>
              <a:rPr lang="ko-KR" altLang="en-US"/>
              <a:t>ⓒ </a:t>
            </a:r>
            <a:r>
              <a:rPr lang="en-US" altLang="ko-KR"/>
              <a:t>Autonomous Vehicle Lab</a:t>
            </a:r>
            <a:endParaRPr lang="en-US" dirty="0"/>
          </a:p>
        </p:txBody>
      </p:sp>
      <p:sp>
        <p:nvSpPr>
          <p:cNvPr id="6" name="슬라이드 번호 개체 틀 5">
            <a:extLst>
              <a:ext uri="{FF2B5EF4-FFF2-40B4-BE49-F238E27FC236}">
                <a16:creationId xmlns:a16="http://schemas.microsoft.com/office/drawing/2014/main" id="{946EF6C8-6C2E-7CD0-48F5-6ED4A1466CAE}"/>
              </a:ext>
            </a:extLst>
          </p:cNvPr>
          <p:cNvSpPr>
            <a:spLocks noGrp="1"/>
          </p:cNvSpPr>
          <p:nvPr>
            <p:ph type="sldNum" sz="quarter" idx="12"/>
          </p:nvPr>
        </p:nvSpPr>
        <p:spPr/>
        <p:txBody>
          <a:bodyPr/>
          <a:lstStyle/>
          <a:p>
            <a:fld id="{55635D17-9D19-4B1E-86C2-B9D6296E4AF7}" type="slidenum">
              <a:rPr lang="en-US" smtClean="0"/>
              <a:pPr/>
              <a:t>24</a:t>
            </a:fld>
            <a:endParaRPr lang="en-US" dirty="0"/>
          </a:p>
        </p:txBody>
      </p:sp>
      <p:pic>
        <p:nvPicPr>
          <p:cNvPr id="7" name="Picture 2">
            <a:extLst>
              <a:ext uri="{FF2B5EF4-FFF2-40B4-BE49-F238E27FC236}">
                <a16:creationId xmlns:a16="http://schemas.microsoft.com/office/drawing/2014/main" id="{921BFC95-31D3-E753-357E-B8CB37A2681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56161"/>
          <a:stretch>
            <a:fillRect/>
          </a:stretch>
        </p:blipFill>
        <p:spPr bwMode="auto">
          <a:xfrm>
            <a:off x="8095802" y="822012"/>
            <a:ext cx="3239956" cy="490563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TextBox 2">
            <a:extLst>
              <a:ext uri="{FF2B5EF4-FFF2-40B4-BE49-F238E27FC236}">
                <a16:creationId xmlns:a16="http://schemas.microsoft.com/office/drawing/2014/main" id="{65A7A076-B078-9EA5-6830-F1D2825824BA}"/>
              </a:ext>
            </a:extLst>
          </p:cNvPr>
          <p:cNvSpPr txBox="1"/>
          <p:nvPr/>
        </p:nvSpPr>
        <p:spPr>
          <a:xfrm>
            <a:off x="865870" y="937850"/>
            <a:ext cx="6879553" cy="3911071"/>
          </a:xfrm>
          <a:prstGeom prst="rect">
            <a:avLst/>
          </a:prstGeom>
          <a:noFill/>
        </p:spPr>
        <p:txBody>
          <a:bodyPr wrap="square" rtlCol="0">
            <a:spAutoFit/>
          </a:bodyPr>
          <a:lstStyle/>
          <a:p>
            <a:pPr>
              <a:lnSpc>
                <a:spcPts val="3000"/>
              </a:lnSpc>
            </a:pPr>
            <a:r>
              <a:rPr lang="en-US" altLang="ko-KR" sz="2000" dirty="0"/>
              <a:t>The highest (most abstract) description level is the </a:t>
            </a:r>
            <a:r>
              <a:rPr lang="en-US" altLang="ko-KR" sz="2000" b="1" dirty="0"/>
              <a:t>Virtual Functional Bus</a:t>
            </a:r>
            <a:r>
              <a:rPr lang="en-US" altLang="ko-KR" sz="2000" dirty="0"/>
              <a:t>.</a:t>
            </a:r>
          </a:p>
          <a:p>
            <a:pPr>
              <a:lnSpc>
                <a:spcPts val="3000"/>
              </a:lnSpc>
            </a:pPr>
            <a:r>
              <a:rPr lang="en-US" altLang="ko-KR" sz="2000" dirty="0"/>
              <a:t>Here components are described with the means of datatypes and interfaces, ports and connections between them, as well as hierarchical components. At this level, the fundamental communication properties of components and their communication relationships among each other are expressed.</a:t>
            </a:r>
          </a:p>
          <a:p>
            <a:pPr marL="800100" lvl="1" indent="-342900">
              <a:lnSpc>
                <a:spcPts val="3000"/>
              </a:lnSpc>
              <a:buFont typeface="Arial" panose="020B0604020202020204" pitchFamily="34" charset="0"/>
              <a:buChar char="•"/>
            </a:pPr>
            <a:r>
              <a:rPr lang="en-US" altLang="ko-KR" sz="2000" b="1" dirty="0"/>
              <a:t>Software components</a:t>
            </a:r>
            <a:endParaRPr lang="en-US" altLang="ko-KR" sz="2000" dirty="0"/>
          </a:p>
          <a:p>
            <a:pPr marL="800100" lvl="1" indent="-342900">
              <a:lnSpc>
                <a:spcPts val="3000"/>
              </a:lnSpc>
              <a:buFont typeface="Arial" panose="020B0604020202020204" pitchFamily="34" charset="0"/>
              <a:buChar char="•"/>
            </a:pPr>
            <a:r>
              <a:rPr lang="en-US" altLang="ko-KR" sz="2000" b="1" dirty="0"/>
              <a:t>Compositions</a:t>
            </a:r>
            <a:endParaRPr lang="en-US" altLang="ko-KR" sz="2000" dirty="0"/>
          </a:p>
          <a:p>
            <a:pPr marL="800100" lvl="1" indent="-342900">
              <a:lnSpc>
                <a:spcPts val="3000"/>
              </a:lnSpc>
              <a:buFont typeface="Arial" panose="020B0604020202020204" pitchFamily="34" charset="0"/>
              <a:buChar char="•"/>
            </a:pPr>
            <a:r>
              <a:rPr lang="en-US" altLang="ko-KR" sz="2000" b="1" dirty="0"/>
              <a:t>Interfaces</a:t>
            </a:r>
            <a:endParaRPr lang="en-US" altLang="ko-KR" sz="2000" dirty="0"/>
          </a:p>
        </p:txBody>
      </p:sp>
    </p:spTree>
    <p:extLst>
      <p:ext uri="{BB962C8B-B14F-4D97-AF65-F5344CB8AC3E}">
        <p14:creationId xmlns:p14="http://schemas.microsoft.com/office/powerpoint/2010/main" val="334747541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9880FAE4-784B-C197-E1FF-D0E51C21E2E6}"/>
              </a:ext>
            </a:extLst>
          </p:cNvPr>
          <p:cNvSpPr>
            <a:spLocks noGrp="1"/>
          </p:cNvSpPr>
          <p:nvPr>
            <p:ph type="title"/>
          </p:nvPr>
        </p:nvSpPr>
        <p:spPr/>
        <p:txBody>
          <a:bodyPr>
            <a:normAutofit fontScale="90000"/>
          </a:bodyPr>
          <a:lstStyle/>
          <a:p>
            <a:r>
              <a:rPr lang="en-US" altLang="ko-KR" dirty="0"/>
              <a:t>SWC – Description level</a:t>
            </a:r>
            <a:endParaRPr lang="ko-KR" altLang="en-US" dirty="0"/>
          </a:p>
        </p:txBody>
      </p:sp>
      <p:sp>
        <p:nvSpPr>
          <p:cNvPr id="4" name="날짜 개체 틀 3">
            <a:extLst>
              <a:ext uri="{FF2B5EF4-FFF2-40B4-BE49-F238E27FC236}">
                <a16:creationId xmlns:a16="http://schemas.microsoft.com/office/drawing/2014/main" id="{A596A1DD-4FEC-4B01-2088-06D3D621B6B6}"/>
              </a:ext>
            </a:extLst>
          </p:cNvPr>
          <p:cNvSpPr>
            <a:spLocks noGrp="1"/>
          </p:cNvSpPr>
          <p:nvPr>
            <p:ph type="dt" sz="half" idx="10"/>
          </p:nvPr>
        </p:nvSpPr>
        <p:spPr/>
        <p:txBody>
          <a:bodyPr/>
          <a:lstStyle/>
          <a:p>
            <a:fld id="{9539328B-81D7-470F-B07E-C60C8A68D98A}" type="datetime1">
              <a:rPr lang="en-US" altLang="ko-KR" smtClean="0"/>
              <a:t>4/12/2026</a:t>
            </a:fld>
            <a:endParaRPr lang="en-US"/>
          </a:p>
        </p:txBody>
      </p:sp>
      <p:sp>
        <p:nvSpPr>
          <p:cNvPr id="5" name="바닥글 개체 틀 4">
            <a:extLst>
              <a:ext uri="{FF2B5EF4-FFF2-40B4-BE49-F238E27FC236}">
                <a16:creationId xmlns:a16="http://schemas.microsoft.com/office/drawing/2014/main" id="{EF53327E-80B0-3814-BC65-F9E6AE6DEE3C}"/>
              </a:ext>
            </a:extLst>
          </p:cNvPr>
          <p:cNvSpPr>
            <a:spLocks noGrp="1"/>
          </p:cNvSpPr>
          <p:nvPr>
            <p:ph type="ftr" sz="quarter" idx="11"/>
          </p:nvPr>
        </p:nvSpPr>
        <p:spPr/>
        <p:txBody>
          <a:bodyPr/>
          <a:lstStyle/>
          <a:p>
            <a:r>
              <a:rPr lang="en-US"/>
              <a:t>2023 Copyright </a:t>
            </a:r>
            <a:r>
              <a:rPr lang="ko-KR" altLang="en-US"/>
              <a:t>ⓒ </a:t>
            </a:r>
            <a:r>
              <a:rPr lang="en-US" altLang="ko-KR"/>
              <a:t>Autonomous Vehicle Lab</a:t>
            </a:r>
            <a:endParaRPr lang="en-US" dirty="0"/>
          </a:p>
        </p:txBody>
      </p:sp>
      <p:sp>
        <p:nvSpPr>
          <p:cNvPr id="6" name="슬라이드 번호 개체 틀 5">
            <a:extLst>
              <a:ext uri="{FF2B5EF4-FFF2-40B4-BE49-F238E27FC236}">
                <a16:creationId xmlns:a16="http://schemas.microsoft.com/office/drawing/2014/main" id="{946EF6C8-6C2E-7CD0-48F5-6ED4A1466CAE}"/>
              </a:ext>
            </a:extLst>
          </p:cNvPr>
          <p:cNvSpPr>
            <a:spLocks noGrp="1"/>
          </p:cNvSpPr>
          <p:nvPr>
            <p:ph type="sldNum" sz="quarter" idx="12"/>
          </p:nvPr>
        </p:nvSpPr>
        <p:spPr/>
        <p:txBody>
          <a:bodyPr/>
          <a:lstStyle/>
          <a:p>
            <a:fld id="{55635D17-9D19-4B1E-86C2-B9D6296E4AF7}" type="slidenum">
              <a:rPr lang="en-US" smtClean="0"/>
              <a:pPr/>
              <a:t>25</a:t>
            </a:fld>
            <a:endParaRPr lang="en-US" dirty="0"/>
          </a:p>
        </p:txBody>
      </p:sp>
      <p:pic>
        <p:nvPicPr>
          <p:cNvPr id="3" name="Picture 2">
            <a:extLst>
              <a:ext uri="{FF2B5EF4-FFF2-40B4-BE49-F238E27FC236}">
                <a16:creationId xmlns:a16="http://schemas.microsoft.com/office/drawing/2014/main" id="{9014D1FE-F050-0DC4-D741-827FA36224F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55575"/>
          <a:stretch>
            <a:fillRect/>
          </a:stretch>
        </p:blipFill>
        <p:spPr bwMode="auto">
          <a:xfrm>
            <a:off x="7902320" y="579509"/>
            <a:ext cx="3277402" cy="489654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TextBox 6">
            <a:extLst>
              <a:ext uri="{FF2B5EF4-FFF2-40B4-BE49-F238E27FC236}">
                <a16:creationId xmlns:a16="http://schemas.microsoft.com/office/drawing/2014/main" id="{5C473B38-F79A-C387-0438-8FDC513E5CF8}"/>
              </a:ext>
            </a:extLst>
          </p:cNvPr>
          <p:cNvSpPr txBox="1"/>
          <p:nvPr/>
        </p:nvSpPr>
        <p:spPr>
          <a:xfrm>
            <a:off x="815021" y="939040"/>
            <a:ext cx="6734491" cy="3911071"/>
          </a:xfrm>
          <a:prstGeom prst="rect">
            <a:avLst/>
          </a:prstGeom>
          <a:noFill/>
        </p:spPr>
        <p:txBody>
          <a:bodyPr wrap="square" rtlCol="0">
            <a:spAutoFit/>
          </a:bodyPr>
          <a:lstStyle/>
          <a:p>
            <a:pPr>
              <a:lnSpc>
                <a:spcPts val="3000"/>
              </a:lnSpc>
            </a:pPr>
            <a:r>
              <a:rPr lang="en-US" altLang="ko-KR" sz="2000" b="1" dirty="0"/>
              <a:t>Description of components on RTE level</a:t>
            </a:r>
          </a:p>
          <a:p>
            <a:pPr>
              <a:lnSpc>
                <a:spcPts val="3000"/>
              </a:lnSpc>
            </a:pPr>
            <a:r>
              <a:rPr lang="en-US" altLang="ko-KR" sz="2000" dirty="0"/>
              <a:t>The middle level allows for behavior description of a given component. This behavior is expressed through RTE concepts, e.g. </a:t>
            </a:r>
            <a:r>
              <a:rPr lang="en-US" altLang="ko-KR" sz="2000" b="1" dirty="0"/>
              <a:t>RTE events</a:t>
            </a:r>
            <a:r>
              <a:rPr lang="en-US" altLang="ko-KR" sz="2000" dirty="0"/>
              <a:t> and in terms of </a:t>
            </a:r>
            <a:r>
              <a:rPr lang="en-US" altLang="ko-KR" sz="2000" b="1" dirty="0"/>
              <a:t>schedulable units(</a:t>
            </a:r>
            <a:r>
              <a:rPr lang="en-US" altLang="ko-KR" sz="2000" b="1" dirty="0" err="1"/>
              <a:t>Runnables</a:t>
            </a:r>
            <a:r>
              <a:rPr lang="en-US" altLang="ko-KR" sz="2000" b="1" dirty="0"/>
              <a:t>).</a:t>
            </a:r>
            <a:endParaRPr lang="en-US" altLang="ko-KR" sz="2000" dirty="0"/>
          </a:p>
          <a:p>
            <a:pPr>
              <a:lnSpc>
                <a:spcPts val="3000"/>
              </a:lnSpc>
            </a:pPr>
            <a:r>
              <a:rPr lang="en-US" altLang="ko-KR" sz="2000" dirty="0"/>
              <a:t>For instance, for an operation defined in an interface on the VFB, the behavior specifies which of those units is activated as a consequence of the invocation of that operation.</a:t>
            </a:r>
          </a:p>
          <a:p>
            <a:pPr marL="800100" lvl="1" indent="-342900">
              <a:lnSpc>
                <a:spcPts val="3000"/>
              </a:lnSpc>
              <a:buFont typeface="Arial" panose="020B0604020202020204" pitchFamily="34" charset="0"/>
              <a:buChar char="•"/>
            </a:pPr>
            <a:r>
              <a:rPr lang="en-US" altLang="ko-KR" sz="2000" b="1" dirty="0" err="1"/>
              <a:t>Runnables</a:t>
            </a:r>
            <a:endParaRPr lang="en-US" altLang="ko-KR" sz="2000" dirty="0"/>
          </a:p>
          <a:p>
            <a:pPr marL="800100" lvl="1" indent="-342900">
              <a:lnSpc>
                <a:spcPts val="3000"/>
              </a:lnSpc>
              <a:buFont typeface="Arial" panose="020B0604020202020204" pitchFamily="34" charset="0"/>
              <a:buChar char="•"/>
            </a:pPr>
            <a:r>
              <a:rPr lang="en-US" altLang="ko-KR" sz="2000" b="1" dirty="0"/>
              <a:t>Events</a:t>
            </a:r>
            <a:endParaRPr lang="en-US" altLang="ko-KR" sz="2000" dirty="0"/>
          </a:p>
          <a:p>
            <a:pPr marL="800100" lvl="1" indent="-342900">
              <a:lnSpc>
                <a:spcPts val="3000"/>
              </a:lnSpc>
              <a:buFont typeface="Arial" panose="020B0604020202020204" pitchFamily="34" charset="0"/>
              <a:buChar char="•"/>
            </a:pPr>
            <a:r>
              <a:rPr lang="en-US" altLang="ko-KR" sz="2000" b="1" dirty="0"/>
              <a:t>Interaction with the Run Time Environment</a:t>
            </a:r>
            <a:endParaRPr lang="en-US" altLang="ko-KR" sz="2000" dirty="0"/>
          </a:p>
        </p:txBody>
      </p:sp>
    </p:spTree>
    <p:extLst>
      <p:ext uri="{BB962C8B-B14F-4D97-AF65-F5344CB8AC3E}">
        <p14:creationId xmlns:p14="http://schemas.microsoft.com/office/powerpoint/2010/main" val="220048885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9880FAE4-784B-C197-E1FF-D0E51C21E2E6}"/>
              </a:ext>
            </a:extLst>
          </p:cNvPr>
          <p:cNvSpPr>
            <a:spLocks noGrp="1"/>
          </p:cNvSpPr>
          <p:nvPr>
            <p:ph type="title"/>
          </p:nvPr>
        </p:nvSpPr>
        <p:spPr/>
        <p:txBody>
          <a:bodyPr>
            <a:normAutofit fontScale="90000"/>
          </a:bodyPr>
          <a:lstStyle/>
          <a:p>
            <a:r>
              <a:rPr lang="en-US" altLang="ko-KR" dirty="0"/>
              <a:t>SWC – Description level</a:t>
            </a:r>
            <a:endParaRPr lang="ko-KR" altLang="en-US" dirty="0"/>
          </a:p>
        </p:txBody>
      </p:sp>
      <p:sp>
        <p:nvSpPr>
          <p:cNvPr id="4" name="날짜 개체 틀 3">
            <a:extLst>
              <a:ext uri="{FF2B5EF4-FFF2-40B4-BE49-F238E27FC236}">
                <a16:creationId xmlns:a16="http://schemas.microsoft.com/office/drawing/2014/main" id="{A596A1DD-4FEC-4B01-2088-06D3D621B6B6}"/>
              </a:ext>
            </a:extLst>
          </p:cNvPr>
          <p:cNvSpPr>
            <a:spLocks noGrp="1"/>
          </p:cNvSpPr>
          <p:nvPr>
            <p:ph type="dt" sz="half" idx="10"/>
          </p:nvPr>
        </p:nvSpPr>
        <p:spPr/>
        <p:txBody>
          <a:bodyPr/>
          <a:lstStyle/>
          <a:p>
            <a:fld id="{9539328B-81D7-470F-B07E-C60C8A68D98A}" type="datetime1">
              <a:rPr lang="en-US" altLang="ko-KR" smtClean="0"/>
              <a:t>4/12/2026</a:t>
            </a:fld>
            <a:endParaRPr lang="en-US"/>
          </a:p>
        </p:txBody>
      </p:sp>
      <p:sp>
        <p:nvSpPr>
          <p:cNvPr id="5" name="바닥글 개체 틀 4">
            <a:extLst>
              <a:ext uri="{FF2B5EF4-FFF2-40B4-BE49-F238E27FC236}">
                <a16:creationId xmlns:a16="http://schemas.microsoft.com/office/drawing/2014/main" id="{EF53327E-80B0-3814-BC65-F9E6AE6DEE3C}"/>
              </a:ext>
            </a:extLst>
          </p:cNvPr>
          <p:cNvSpPr>
            <a:spLocks noGrp="1"/>
          </p:cNvSpPr>
          <p:nvPr>
            <p:ph type="ftr" sz="quarter" idx="11"/>
          </p:nvPr>
        </p:nvSpPr>
        <p:spPr/>
        <p:txBody>
          <a:bodyPr/>
          <a:lstStyle/>
          <a:p>
            <a:r>
              <a:rPr lang="en-US"/>
              <a:t>2023 Copyright </a:t>
            </a:r>
            <a:r>
              <a:rPr lang="ko-KR" altLang="en-US"/>
              <a:t>ⓒ </a:t>
            </a:r>
            <a:r>
              <a:rPr lang="en-US" altLang="ko-KR"/>
              <a:t>Autonomous Vehicle Lab</a:t>
            </a:r>
            <a:endParaRPr lang="en-US" dirty="0"/>
          </a:p>
        </p:txBody>
      </p:sp>
      <p:sp>
        <p:nvSpPr>
          <p:cNvPr id="6" name="슬라이드 번호 개체 틀 5">
            <a:extLst>
              <a:ext uri="{FF2B5EF4-FFF2-40B4-BE49-F238E27FC236}">
                <a16:creationId xmlns:a16="http://schemas.microsoft.com/office/drawing/2014/main" id="{946EF6C8-6C2E-7CD0-48F5-6ED4A1466CAE}"/>
              </a:ext>
            </a:extLst>
          </p:cNvPr>
          <p:cNvSpPr>
            <a:spLocks noGrp="1"/>
          </p:cNvSpPr>
          <p:nvPr>
            <p:ph type="sldNum" sz="quarter" idx="12"/>
          </p:nvPr>
        </p:nvSpPr>
        <p:spPr/>
        <p:txBody>
          <a:bodyPr/>
          <a:lstStyle/>
          <a:p>
            <a:fld id="{55635D17-9D19-4B1E-86C2-B9D6296E4AF7}" type="slidenum">
              <a:rPr lang="en-US" smtClean="0"/>
              <a:pPr/>
              <a:t>26</a:t>
            </a:fld>
            <a:endParaRPr lang="en-US" dirty="0"/>
          </a:p>
        </p:txBody>
      </p:sp>
      <p:pic>
        <p:nvPicPr>
          <p:cNvPr id="7" name="Picture 2">
            <a:extLst>
              <a:ext uri="{FF2B5EF4-FFF2-40B4-BE49-F238E27FC236}">
                <a16:creationId xmlns:a16="http://schemas.microsoft.com/office/drawing/2014/main" id="{67D2980B-A147-ACD8-3A35-15D8E4F0F12C}"/>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54894"/>
          <a:stretch>
            <a:fillRect/>
          </a:stretch>
        </p:blipFill>
        <p:spPr bwMode="auto">
          <a:xfrm>
            <a:off x="8038918" y="817686"/>
            <a:ext cx="3312984" cy="488218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TextBox 2">
            <a:extLst>
              <a:ext uri="{FF2B5EF4-FFF2-40B4-BE49-F238E27FC236}">
                <a16:creationId xmlns:a16="http://schemas.microsoft.com/office/drawing/2014/main" id="{C89BCDCB-FCEF-B4AB-DF8E-CFFAD522318F}"/>
              </a:ext>
            </a:extLst>
          </p:cNvPr>
          <p:cNvSpPr txBox="1"/>
          <p:nvPr/>
        </p:nvSpPr>
        <p:spPr>
          <a:xfrm>
            <a:off x="810393" y="933817"/>
            <a:ext cx="6944325" cy="3526350"/>
          </a:xfrm>
          <a:prstGeom prst="rect">
            <a:avLst/>
          </a:prstGeom>
          <a:noFill/>
        </p:spPr>
        <p:txBody>
          <a:bodyPr wrap="square" rtlCol="0">
            <a:spAutoFit/>
          </a:bodyPr>
          <a:lstStyle/>
          <a:p>
            <a:pPr>
              <a:lnSpc>
                <a:spcPts val="3000"/>
              </a:lnSpc>
            </a:pPr>
            <a:r>
              <a:rPr lang="en-US" altLang="ko-KR" sz="2000" b="1" dirty="0"/>
              <a:t>Descriptions of components on implementation level</a:t>
            </a:r>
          </a:p>
          <a:p>
            <a:pPr>
              <a:lnSpc>
                <a:spcPts val="3000"/>
              </a:lnSpc>
            </a:pPr>
            <a:r>
              <a:rPr lang="en-US" altLang="ko-KR" sz="2000" dirty="0"/>
              <a:t>The lowest (most concrete) level of description specifies the implementation of a given behavior. More precisely, the </a:t>
            </a:r>
            <a:r>
              <a:rPr lang="en-US" altLang="ko-KR" sz="2000" b="1" dirty="0"/>
              <a:t>schedulable units </a:t>
            </a:r>
            <a:r>
              <a:rPr lang="en-US" altLang="ko-KR" sz="2000" dirty="0"/>
              <a:t>of such a behavior are </a:t>
            </a:r>
            <a:r>
              <a:rPr lang="en-US" altLang="ko-KR" sz="2000" b="1" dirty="0"/>
              <a:t>mapped to code</a:t>
            </a:r>
            <a:r>
              <a:rPr lang="en-US" altLang="ko-KR" sz="2000" dirty="0"/>
              <a:t>.</a:t>
            </a:r>
          </a:p>
          <a:p>
            <a:pPr>
              <a:lnSpc>
                <a:spcPts val="3000"/>
              </a:lnSpc>
            </a:pPr>
            <a:r>
              <a:rPr lang="en-US" altLang="ko-KR" sz="2000" dirty="0"/>
              <a:t>The two layers above constrain the RTE API that a component is offered, the implementation now utilizes this API.</a:t>
            </a:r>
          </a:p>
          <a:p>
            <a:pPr marL="800100" lvl="1" indent="-342900">
              <a:lnSpc>
                <a:spcPts val="3000"/>
              </a:lnSpc>
              <a:buFont typeface="Arial" panose="020B0604020202020204" pitchFamily="34" charset="0"/>
              <a:buChar char="•"/>
            </a:pPr>
            <a:r>
              <a:rPr lang="en-US" altLang="ko-KR" sz="2000" b="1" dirty="0"/>
              <a:t>Component implementation</a:t>
            </a:r>
            <a:endParaRPr lang="en-US" altLang="ko-KR" sz="2000" dirty="0"/>
          </a:p>
          <a:p>
            <a:pPr marL="800100" lvl="1" indent="-342900">
              <a:lnSpc>
                <a:spcPts val="3000"/>
              </a:lnSpc>
              <a:buFont typeface="Arial" panose="020B0604020202020204" pitchFamily="34" charset="0"/>
              <a:buChar char="•"/>
            </a:pPr>
            <a:r>
              <a:rPr lang="en-US" altLang="ko-KR" sz="2000" b="1" dirty="0"/>
              <a:t>Resource consumption of SW-Components</a:t>
            </a:r>
            <a:endParaRPr lang="en-US" altLang="ko-KR" sz="2000" dirty="0"/>
          </a:p>
          <a:p>
            <a:pPr>
              <a:lnSpc>
                <a:spcPts val="3000"/>
              </a:lnSpc>
            </a:pPr>
            <a:endParaRPr lang="ko-KR" altLang="en-US" sz="2000" dirty="0"/>
          </a:p>
        </p:txBody>
      </p:sp>
    </p:spTree>
    <p:extLst>
      <p:ext uri="{BB962C8B-B14F-4D97-AF65-F5344CB8AC3E}">
        <p14:creationId xmlns:p14="http://schemas.microsoft.com/office/powerpoint/2010/main" val="384389595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9880FAE4-784B-C197-E1FF-D0E51C21E2E6}"/>
              </a:ext>
            </a:extLst>
          </p:cNvPr>
          <p:cNvSpPr>
            <a:spLocks noGrp="1"/>
          </p:cNvSpPr>
          <p:nvPr>
            <p:ph type="title"/>
          </p:nvPr>
        </p:nvSpPr>
        <p:spPr/>
        <p:txBody>
          <a:bodyPr>
            <a:normAutofit fontScale="90000"/>
          </a:bodyPr>
          <a:lstStyle/>
          <a:p>
            <a:r>
              <a:rPr lang="en-US" altLang="ko-KR" dirty="0"/>
              <a:t>Components, Ports, Interfaces</a:t>
            </a:r>
            <a:endParaRPr lang="ko-KR" altLang="en-US" dirty="0"/>
          </a:p>
        </p:txBody>
      </p:sp>
      <p:sp>
        <p:nvSpPr>
          <p:cNvPr id="4" name="날짜 개체 틀 3">
            <a:extLst>
              <a:ext uri="{FF2B5EF4-FFF2-40B4-BE49-F238E27FC236}">
                <a16:creationId xmlns:a16="http://schemas.microsoft.com/office/drawing/2014/main" id="{A596A1DD-4FEC-4B01-2088-06D3D621B6B6}"/>
              </a:ext>
            </a:extLst>
          </p:cNvPr>
          <p:cNvSpPr>
            <a:spLocks noGrp="1"/>
          </p:cNvSpPr>
          <p:nvPr>
            <p:ph type="dt" sz="half" idx="10"/>
          </p:nvPr>
        </p:nvSpPr>
        <p:spPr/>
        <p:txBody>
          <a:bodyPr/>
          <a:lstStyle/>
          <a:p>
            <a:fld id="{9539328B-81D7-470F-B07E-C60C8A68D98A}" type="datetime1">
              <a:rPr lang="en-US" altLang="ko-KR" smtClean="0"/>
              <a:t>4/12/2026</a:t>
            </a:fld>
            <a:endParaRPr lang="en-US"/>
          </a:p>
        </p:txBody>
      </p:sp>
      <p:sp>
        <p:nvSpPr>
          <p:cNvPr id="5" name="바닥글 개체 틀 4">
            <a:extLst>
              <a:ext uri="{FF2B5EF4-FFF2-40B4-BE49-F238E27FC236}">
                <a16:creationId xmlns:a16="http://schemas.microsoft.com/office/drawing/2014/main" id="{EF53327E-80B0-3814-BC65-F9E6AE6DEE3C}"/>
              </a:ext>
            </a:extLst>
          </p:cNvPr>
          <p:cNvSpPr>
            <a:spLocks noGrp="1"/>
          </p:cNvSpPr>
          <p:nvPr>
            <p:ph type="ftr" sz="quarter" idx="11"/>
          </p:nvPr>
        </p:nvSpPr>
        <p:spPr/>
        <p:txBody>
          <a:bodyPr/>
          <a:lstStyle/>
          <a:p>
            <a:r>
              <a:rPr lang="en-US"/>
              <a:t>2023 Copyright </a:t>
            </a:r>
            <a:r>
              <a:rPr lang="ko-KR" altLang="en-US"/>
              <a:t>ⓒ </a:t>
            </a:r>
            <a:r>
              <a:rPr lang="en-US" altLang="ko-KR"/>
              <a:t>Autonomous Vehicle Lab</a:t>
            </a:r>
            <a:endParaRPr lang="en-US" dirty="0"/>
          </a:p>
        </p:txBody>
      </p:sp>
      <p:sp>
        <p:nvSpPr>
          <p:cNvPr id="6" name="슬라이드 번호 개체 틀 5">
            <a:extLst>
              <a:ext uri="{FF2B5EF4-FFF2-40B4-BE49-F238E27FC236}">
                <a16:creationId xmlns:a16="http://schemas.microsoft.com/office/drawing/2014/main" id="{946EF6C8-6C2E-7CD0-48F5-6ED4A1466CAE}"/>
              </a:ext>
            </a:extLst>
          </p:cNvPr>
          <p:cNvSpPr>
            <a:spLocks noGrp="1"/>
          </p:cNvSpPr>
          <p:nvPr>
            <p:ph type="sldNum" sz="quarter" idx="12"/>
          </p:nvPr>
        </p:nvSpPr>
        <p:spPr/>
        <p:txBody>
          <a:bodyPr/>
          <a:lstStyle/>
          <a:p>
            <a:fld id="{55635D17-9D19-4B1E-86C2-B9D6296E4AF7}" type="slidenum">
              <a:rPr lang="en-US" smtClean="0"/>
              <a:pPr/>
              <a:t>27</a:t>
            </a:fld>
            <a:endParaRPr lang="en-US" dirty="0"/>
          </a:p>
        </p:txBody>
      </p:sp>
      <p:sp>
        <p:nvSpPr>
          <p:cNvPr id="8" name="TextBox 7">
            <a:extLst>
              <a:ext uri="{FF2B5EF4-FFF2-40B4-BE49-F238E27FC236}">
                <a16:creationId xmlns:a16="http://schemas.microsoft.com/office/drawing/2014/main" id="{74983C7A-4C9E-E694-6BE2-06BB05E14DFA}"/>
              </a:ext>
            </a:extLst>
          </p:cNvPr>
          <p:cNvSpPr txBox="1"/>
          <p:nvPr/>
        </p:nvSpPr>
        <p:spPr>
          <a:xfrm>
            <a:off x="917915" y="972048"/>
            <a:ext cx="10197411" cy="3911071"/>
          </a:xfrm>
          <a:prstGeom prst="rect">
            <a:avLst/>
          </a:prstGeom>
          <a:noFill/>
        </p:spPr>
        <p:txBody>
          <a:bodyPr wrap="square" rtlCol="0">
            <a:spAutoFit/>
          </a:bodyPr>
          <a:lstStyle/>
          <a:p>
            <a:pPr marL="342900" indent="-342900">
              <a:lnSpc>
                <a:spcPts val="3000"/>
              </a:lnSpc>
              <a:buFont typeface="Arial" panose="020B0604020202020204" pitchFamily="34" charset="0"/>
              <a:buChar char="•"/>
            </a:pPr>
            <a:r>
              <a:rPr lang="en-US" altLang="ko-KR" sz="2000" dirty="0"/>
              <a:t>A component has well-defined </a:t>
            </a:r>
            <a:r>
              <a:rPr lang="en-US" altLang="ko-KR" sz="2000" b="1" dirty="0"/>
              <a:t>ports</a:t>
            </a:r>
            <a:r>
              <a:rPr lang="en-US" altLang="ko-KR" sz="2000" dirty="0"/>
              <a:t>, through which the component can interact with other components.</a:t>
            </a:r>
          </a:p>
          <a:p>
            <a:pPr marL="342900" indent="-342900">
              <a:lnSpc>
                <a:spcPts val="3000"/>
              </a:lnSpc>
              <a:buFont typeface="Arial" panose="020B0604020202020204" pitchFamily="34" charset="0"/>
              <a:buChar char="•"/>
            </a:pPr>
            <a:r>
              <a:rPr lang="en-US" altLang="ko-KR" sz="2000" dirty="0"/>
              <a:t>A port always belongs to exactly one component and represents a point of interaction between a component and other components.</a:t>
            </a:r>
          </a:p>
          <a:p>
            <a:pPr marL="342900" indent="-342900">
              <a:lnSpc>
                <a:spcPts val="3000"/>
              </a:lnSpc>
              <a:buFont typeface="Arial" panose="020B0604020202020204" pitchFamily="34" charset="0"/>
              <a:buChar char="•"/>
            </a:pPr>
            <a:r>
              <a:rPr lang="en-US" altLang="ko-KR" sz="2000" dirty="0"/>
              <a:t>To define the services or data that are provided on or required by a port of a component, the </a:t>
            </a:r>
            <a:r>
              <a:rPr lang="en-US" altLang="ko-KR" sz="2000" b="1" dirty="0"/>
              <a:t>AUTOSAR Interface</a:t>
            </a:r>
            <a:r>
              <a:rPr lang="en-US" altLang="ko-KR" sz="2000" dirty="0"/>
              <a:t> concept is introduced.</a:t>
            </a:r>
          </a:p>
          <a:p>
            <a:pPr marL="342900" indent="-342900">
              <a:lnSpc>
                <a:spcPts val="3000"/>
              </a:lnSpc>
              <a:buFont typeface="Arial" panose="020B0604020202020204" pitchFamily="34" charset="0"/>
              <a:buChar char="•"/>
            </a:pPr>
            <a:r>
              <a:rPr lang="en-US" altLang="ko-KR" sz="2000" dirty="0"/>
              <a:t>The AUTOSAR Interface can be:</a:t>
            </a:r>
          </a:p>
          <a:p>
            <a:pPr marL="800100" lvl="1" indent="-342900">
              <a:lnSpc>
                <a:spcPts val="3000"/>
              </a:lnSpc>
              <a:buFont typeface="Arial" panose="020B0604020202020204" pitchFamily="34" charset="0"/>
              <a:buChar char="•"/>
            </a:pPr>
            <a:r>
              <a:rPr lang="en-US" altLang="ko-KR" sz="2000" b="1" dirty="0"/>
              <a:t>Client-Server</a:t>
            </a:r>
            <a:r>
              <a:rPr lang="en-US" altLang="ko-KR" sz="2000" dirty="0"/>
              <a:t> Interface defining a set of operations that can be invoked</a:t>
            </a:r>
          </a:p>
          <a:p>
            <a:pPr marL="800100" lvl="1" indent="-342900">
              <a:lnSpc>
                <a:spcPts val="3000"/>
              </a:lnSpc>
              <a:buFont typeface="Arial" panose="020B0604020202020204" pitchFamily="34" charset="0"/>
              <a:buChar char="•"/>
            </a:pPr>
            <a:r>
              <a:rPr lang="en-US" altLang="ko-KR" sz="2000" b="1" dirty="0"/>
              <a:t>Sender-Receiver</a:t>
            </a:r>
            <a:r>
              <a:rPr lang="en-US" altLang="ko-KR" sz="2000" dirty="0"/>
              <a:t> Interface, for data-oriented communication</a:t>
            </a:r>
          </a:p>
          <a:p>
            <a:pPr>
              <a:lnSpc>
                <a:spcPts val="3000"/>
              </a:lnSpc>
            </a:pPr>
            <a:endParaRPr lang="ko-KR" altLang="en-US" sz="2000" dirty="0"/>
          </a:p>
        </p:txBody>
      </p:sp>
    </p:spTree>
    <p:extLst>
      <p:ext uri="{BB962C8B-B14F-4D97-AF65-F5344CB8AC3E}">
        <p14:creationId xmlns:p14="http://schemas.microsoft.com/office/powerpoint/2010/main" val="392880214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9880FAE4-784B-C197-E1FF-D0E51C21E2E6}"/>
              </a:ext>
            </a:extLst>
          </p:cNvPr>
          <p:cNvSpPr>
            <a:spLocks noGrp="1"/>
          </p:cNvSpPr>
          <p:nvPr>
            <p:ph type="title"/>
          </p:nvPr>
        </p:nvSpPr>
        <p:spPr/>
        <p:txBody>
          <a:bodyPr>
            <a:normAutofit fontScale="90000"/>
          </a:bodyPr>
          <a:lstStyle/>
          <a:p>
            <a:r>
              <a:rPr lang="en-US" altLang="ko-KR" dirty="0"/>
              <a:t>Components, Ports, Interfaces</a:t>
            </a:r>
            <a:endParaRPr lang="ko-KR" altLang="en-US" dirty="0"/>
          </a:p>
        </p:txBody>
      </p:sp>
      <p:sp>
        <p:nvSpPr>
          <p:cNvPr id="4" name="날짜 개체 틀 3">
            <a:extLst>
              <a:ext uri="{FF2B5EF4-FFF2-40B4-BE49-F238E27FC236}">
                <a16:creationId xmlns:a16="http://schemas.microsoft.com/office/drawing/2014/main" id="{A596A1DD-4FEC-4B01-2088-06D3D621B6B6}"/>
              </a:ext>
            </a:extLst>
          </p:cNvPr>
          <p:cNvSpPr>
            <a:spLocks noGrp="1"/>
          </p:cNvSpPr>
          <p:nvPr>
            <p:ph type="dt" sz="half" idx="10"/>
          </p:nvPr>
        </p:nvSpPr>
        <p:spPr/>
        <p:txBody>
          <a:bodyPr/>
          <a:lstStyle/>
          <a:p>
            <a:fld id="{9539328B-81D7-470F-B07E-C60C8A68D98A}" type="datetime1">
              <a:rPr lang="en-US" altLang="ko-KR" smtClean="0"/>
              <a:t>4/12/2026</a:t>
            </a:fld>
            <a:endParaRPr lang="en-US"/>
          </a:p>
        </p:txBody>
      </p:sp>
      <p:sp>
        <p:nvSpPr>
          <p:cNvPr id="5" name="바닥글 개체 틀 4">
            <a:extLst>
              <a:ext uri="{FF2B5EF4-FFF2-40B4-BE49-F238E27FC236}">
                <a16:creationId xmlns:a16="http://schemas.microsoft.com/office/drawing/2014/main" id="{EF53327E-80B0-3814-BC65-F9E6AE6DEE3C}"/>
              </a:ext>
            </a:extLst>
          </p:cNvPr>
          <p:cNvSpPr>
            <a:spLocks noGrp="1"/>
          </p:cNvSpPr>
          <p:nvPr>
            <p:ph type="ftr" sz="quarter" idx="11"/>
          </p:nvPr>
        </p:nvSpPr>
        <p:spPr/>
        <p:txBody>
          <a:bodyPr/>
          <a:lstStyle/>
          <a:p>
            <a:r>
              <a:rPr lang="en-US"/>
              <a:t>2023 Copyright </a:t>
            </a:r>
            <a:r>
              <a:rPr lang="ko-KR" altLang="en-US"/>
              <a:t>ⓒ </a:t>
            </a:r>
            <a:r>
              <a:rPr lang="en-US" altLang="ko-KR"/>
              <a:t>Autonomous Vehicle Lab</a:t>
            </a:r>
            <a:endParaRPr lang="en-US" dirty="0"/>
          </a:p>
        </p:txBody>
      </p:sp>
      <p:sp>
        <p:nvSpPr>
          <p:cNvPr id="6" name="슬라이드 번호 개체 틀 5">
            <a:extLst>
              <a:ext uri="{FF2B5EF4-FFF2-40B4-BE49-F238E27FC236}">
                <a16:creationId xmlns:a16="http://schemas.microsoft.com/office/drawing/2014/main" id="{946EF6C8-6C2E-7CD0-48F5-6ED4A1466CAE}"/>
              </a:ext>
            </a:extLst>
          </p:cNvPr>
          <p:cNvSpPr>
            <a:spLocks noGrp="1"/>
          </p:cNvSpPr>
          <p:nvPr>
            <p:ph type="sldNum" sz="quarter" idx="12"/>
          </p:nvPr>
        </p:nvSpPr>
        <p:spPr/>
        <p:txBody>
          <a:bodyPr/>
          <a:lstStyle/>
          <a:p>
            <a:fld id="{55635D17-9D19-4B1E-86C2-B9D6296E4AF7}" type="slidenum">
              <a:rPr lang="en-US" smtClean="0"/>
              <a:pPr/>
              <a:t>28</a:t>
            </a:fld>
            <a:endParaRPr lang="en-US" dirty="0"/>
          </a:p>
        </p:txBody>
      </p:sp>
      <p:sp>
        <p:nvSpPr>
          <p:cNvPr id="3" name="TextBox 2">
            <a:extLst>
              <a:ext uri="{FF2B5EF4-FFF2-40B4-BE49-F238E27FC236}">
                <a16:creationId xmlns:a16="http://schemas.microsoft.com/office/drawing/2014/main" id="{DE32619E-C6AF-B45F-A441-3F6DF42DFED3}"/>
              </a:ext>
            </a:extLst>
          </p:cNvPr>
          <p:cNvSpPr txBox="1"/>
          <p:nvPr/>
        </p:nvSpPr>
        <p:spPr>
          <a:xfrm>
            <a:off x="923063" y="970735"/>
            <a:ext cx="9984728" cy="3526350"/>
          </a:xfrm>
          <a:prstGeom prst="rect">
            <a:avLst/>
          </a:prstGeom>
          <a:noFill/>
        </p:spPr>
        <p:txBody>
          <a:bodyPr wrap="square" rtlCol="0">
            <a:spAutoFit/>
          </a:bodyPr>
          <a:lstStyle/>
          <a:p>
            <a:pPr marL="342900" indent="-342900">
              <a:lnSpc>
                <a:spcPts val="3000"/>
              </a:lnSpc>
              <a:buFont typeface="Arial" panose="020B0604020202020204" pitchFamily="34" charset="0"/>
              <a:buChar char="•"/>
            </a:pPr>
            <a:r>
              <a:rPr lang="en-US" altLang="ko-KR" sz="2000" dirty="0"/>
              <a:t>A port can be</a:t>
            </a:r>
          </a:p>
          <a:p>
            <a:pPr marL="800100" lvl="1" indent="-342900">
              <a:lnSpc>
                <a:spcPts val="3000"/>
              </a:lnSpc>
              <a:buFont typeface="Arial" panose="020B0604020202020204" pitchFamily="34" charset="0"/>
              <a:buChar char="•"/>
            </a:pPr>
            <a:r>
              <a:rPr lang="en-US" altLang="ko-KR" sz="2000" b="1" dirty="0" err="1"/>
              <a:t>PPort</a:t>
            </a:r>
            <a:r>
              <a:rPr lang="en-US" altLang="ko-KR" sz="2000" dirty="0"/>
              <a:t> (provided interface)</a:t>
            </a:r>
          </a:p>
          <a:p>
            <a:pPr marL="800100" lvl="1" indent="-342900">
              <a:lnSpc>
                <a:spcPts val="3000"/>
              </a:lnSpc>
              <a:buFont typeface="Arial" panose="020B0604020202020204" pitchFamily="34" charset="0"/>
              <a:buChar char="•"/>
            </a:pPr>
            <a:r>
              <a:rPr lang="en-US" altLang="ko-KR" sz="2000" b="1" dirty="0" err="1"/>
              <a:t>RPort</a:t>
            </a:r>
            <a:r>
              <a:rPr lang="en-US" altLang="ko-KR" sz="2000" dirty="0"/>
              <a:t> (required interface)</a:t>
            </a:r>
          </a:p>
          <a:p>
            <a:pPr marL="342900" indent="-342900">
              <a:lnSpc>
                <a:spcPts val="3000"/>
              </a:lnSpc>
              <a:buFont typeface="Arial" panose="020B0604020202020204" pitchFamily="34" charset="0"/>
              <a:buChar char="•"/>
            </a:pPr>
            <a:r>
              <a:rPr lang="en-US" altLang="ko-KR" sz="2000" b="1" dirty="0"/>
              <a:t>When a </a:t>
            </a:r>
            <a:r>
              <a:rPr lang="en-US" altLang="ko-KR" sz="2000" b="1" dirty="0" err="1"/>
              <a:t>PPort</a:t>
            </a:r>
            <a:r>
              <a:rPr lang="en-US" altLang="ko-KR" sz="2000" b="1" dirty="0"/>
              <a:t> </a:t>
            </a:r>
            <a:r>
              <a:rPr lang="en-US" altLang="ko-KR" sz="2000" b="1" i="1" dirty="0"/>
              <a:t>provides</a:t>
            </a:r>
            <a:r>
              <a:rPr lang="en-US" altLang="ko-KR" sz="2000" b="1" dirty="0"/>
              <a:t> an interface, the component to which the port belongs</a:t>
            </a:r>
          </a:p>
          <a:p>
            <a:pPr marL="800100" lvl="1" indent="-342900">
              <a:lnSpc>
                <a:spcPts val="3000"/>
              </a:lnSpc>
              <a:buFont typeface="Arial" panose="020B0604020202020204" pitchFamily="34" charset="0"/>
              <a:buChar char="•"/>
            </a:pPr>
            <a:r>
              <a:rPr lang="en-US" altLang="ko-KR" sz="2000" dirty="0"/>
              <a:t>provides an implementation of the operations defined in the </a:t>
            </a:r>
            <a:r>
              <a:rPr lang="en-US" altLang="ko-KR" sz="2000" b="1" dirty="0"/>
              <a:t>Client-Server Interface</a:t>
            </a:r>
            <a:endParaRPr lang="en-US" altLang="ko-KR" sz="2000" dirty="0"/>
          </a:p>
          <a:p>
            <a:pPr marL="800100" lvl="1" indent="-342900">
              <a:lnSpc>
                <a:spcPts val="3000"/>
              </a:lnSpc>
              <a:buFont typeface="Arial" panose="020B0604020202020204" pitchFamily="34" charset="0"/>
              <a:buChar char="•"/>
            </a:pPr>
            <a:r>
              <a:rPr lang="en-US" altLang="ko-KR" sz="2000" dirty="0"/>
              <a:t>generates the data described in a data-oriented </a:t>
            </a:r>
            <a:r>
              <a:rPr lang="en-US" altLang="ko-KR" sz="2000" b="1" dirty="0"/>
              <a:t>Sender-Receiver Interface</a:t>
            </a:r>
            <a:r>
              <a:rPr lang="en-US" altLang="ko-KR" sz="2000" dirty="0"/>
              <a:t>.</a:t>
            </a:r>
          </a:p>
          <a:p>
            <a:pPr marL="342900" indent="-342900">
              <a:lnSpc>
                <a:spcPts val="3000"/>
              </a:lnSpc>
              <a:buFont typeface="Arial" panose="020B0604020202020204" pitchFamily="34" charset="0"/>
              <a:buChar char="•"/>
            </a:pPr>
            <a:r>
              <a:rPr lang="en-US" altLang="ko-KR" sz="2000" b="1" dirty="0"/>
              <a:t>When an </a:t>
            </a:r>
            <a:r>
              <a:rPr lang="en-US" altLang="ko-KR" sz="2000" b="1" dirty="0" err="1"/>
              <a:t>RPort</a:t>
            </a:r>
            <a:r>
              <a:rPr lang="en-US" altLang="ko-KR" sz="2000" b="1" dirty="0"/>
              <a:t> of a component </a:t>
            </a:r>
            <a:r>
              <a:rPr lang="en-US" altLang="ko-KR" sz="2000" b="1" i="1" dirty="0"/>
              <a:t>requires</a:t>
            </a:r>
            <a:r>
              <a:rPr lang="en-US" altLang="ko-KR" sz="2000" b="1" dirty="0"/>
              <a:t> an AUTOSAR Interface, the component can</a:t>
            </a:r>
          </a:p>
          <a:p>
            <a:pPr marL="800100" lvl="1" indent="-342900">
              <a:lnSpc>
                <a:spcPts val="3000"/>
              </a:lnSpc>
              <a:buFont typeface="Arial" panose="020B0604020202020204" pitchFamily="34" charset="0"/>
              <a:buChar char="•"/>
            </a:pPr>
            <a:r>
              <a:rPr lang="en-US" altLang="ko-KR" sz="2000" dirty="0"/>
              <a:t>invoke the operations when the interface is a </a:t>
            </a:r>
            <a:r>
              <a:rPr lang="en-US" altLang="ko-KR" sz="2000" b="1" dirty="0"/>
              <a:t>Client-Server</a:t>
            </a:r>
            <a:endParaRPr lang="en-US" altLang="ko-KR" sz="2000" dirty="0"/>
          </a:p>
          <a:p>
            <a:pPr marL="800100" lvl="1" indent="-342900">
              <a:lnSpc>
                <a:spcPts val="3000"/>
              </a:lnSpc>
              <a:buFont typeface="Arial" panose="020B0604020202020204" pitchFamily="34" charset="0"/>
              <a:buChar char="•"/>
            </a:pPr>
            <a:r>
              <a:rPr lang="en-US" altLang="ko-KR" sz="2000" dirty="0"/>
              <a:t>read the data elements described in the </a:t>
            </a:r>
            <a:r>
              <a:rPr lang="en-US" altLang="ko-KR" sz="2000" b="1" dirty="0"/>
              <a:t>Sender-Receiver Interface</a:t>
            </a:r>
            <a:r>
              <a:rPr lang="en-US" altLang="ko-KR" sz="2000" dirty="0"/>
              <a:t>.</a:t>
            </a:r>
          </a:p>
        </p:txBody>
      </p:sp>
    </p:spTree>
    <p:extLst>
      <p:ext uri="{BB962C8B-B14F-4D97-AF65-F5344CB8AC3E}">
        <p14:creationId xmlns:p14="http://schemas.microsoft.com/office/powerpoint/2010/main" val="66480859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9880FAE4-784B-C197-E1FF-D0E51C21E2E6}"/>
              </a:ext>
            </a:extLst>
          </p:cNvPr>
          <p:cNvSpPr>
            <a:spLocks noGrp="1"/>
          </p:cNvSpPr>
          <p:nvPr>
            <p:ph type="title"/>
          </p:nvPr>
        </p:nvSpPr>
        <p:spPr/>
        <p:txBody>
          <a:bodyPr>
            <a:normAutofit fontScale="90000"/>
          </a:bodyPr>
          <a:lstStyle/>
          <a:p>
            <a:r>
              <a:rPr lang="en-US" altLang="ko-KR" dirty="0"/>
              <a:t>Communication Patterns</a:t>
            </a:r>
            <a:endParaRPr lang="ko-KR" altLang="en-US" dirty="0"/>
          </a:p>
        </p:txBody>
      </p:sp>
      <p:sp>
        <p:nvSpPr>
          <p:cNvPr id="4" name="날짜 개체 틀 3">
            <a:extLst>
              <a:ext uri="{FF2B5EF4-FFF2-40B4-BE49-F238E27FC236}">
                <a16:creationId xmlns:a16="http://schemas.microsoft.com/office/drawing/2014/main" id="{A596A1DD-4FEC-4B01-2088-06D3D621B6B6}"/>
              </a:ext>
            </a:extLst>
          </p:cNvPr>
          <p:cNvSpPr>
            <a:spLocks noGrp="1"/>
          </p:cNvSpPr>
          <p:nvPr>
            <p:ph type="dt" sz="half" idx="10"/>
          </p:nvPr>
        </p:nvSpPr>
        <p:spPr/>
        <p:txBody>
          <a:bodyPr/>
          <a:lstStyle/>
          <a:p>
            <a:fld id="{9539328B-81D7-470F-B07E-C60C8A68D98A}" type="datetime1">
              <a:rPr lang="en-US" altLang="ko-KR" smtClean="0"/>
              <a:t>4/12/2026</a:t>
            </a:fld>
            <a:endParaRPr lang="en-US"/>
          </a:p>
        </p:txBody>
      </p:sp>
      <p:sp>
        <p:nvSpPr>
          <p:cNvPr id="5" name="바닥글 개체 틀 4">
            <a:extLst>
              <a:ext uri="{FF2B5EF4-FFF2-40B4-BE49-F238E27FC236}">
                <a16:creationId xmlns:a16="http://schemas.microsoft.com/office/drawing/2014/main" id="{EF53327E-80B0-3814-BC65-F9E6AE6DEE3C}"/>
              </a:ext>
            </a:extLst>
          </p:cNvPr>
          <p:cNvSpPr>
            <a:spLocks noGrp="1"/>
          </p:cNvSpPr>
          <p:nvPr>
            <p:ph type="ftr" sz="quarter" idx="11"/>
          </p:nvPr>
        </p:nvSpPr>
        <p:spPr/>
        <p:txBody>
          <a:bodyPr/>
          <a:lstStyle/>
          <a:p>
            <a:r>
              <a:rPr lang="en-US"/>
              <a:t>2023 Copyright </a:t>
            </a:r>
            <a:r>
              <a:rPr lang="ko-KR" altLang="en-US"/>
              <a:t>ⓒ </a:t>
            </a:r>
            <a:r>
              <a:rPr lang="en-US" altLang="ko-KR"/>
              <a:t>Autonomous Vehicle Lab</a:t>
            </a:r>
            <a:endParaRPr lang="en-US" dirty="0"/>
          </a:p>
        </p:txBody>
      </p:sp>
      <p:sp>
        <p:nvSpPr>
          <p:cNvPr id="6" name="슬라이드 번호 개체 틀 5">
            <a:extLst>
              <a:ext uri="{FF2B5EF4-FFF2-40B4-BE49-F238E27FC236}">
                <a16:creationId xmlns:a16="http://schemas.microsoft.com/office/drawing/2014/main" id="{946EF6C8-6C2E-7CD0-48F5-6ED4A1466CAE}"/>
              </a:ext>
            </a:extLst>
          </p:cNvPr>
          <p:cNvSpPr>
            <a:spLocks noGrp="1"/>
          </p:cNvSpPr>
          <p:nvPr>
            <p:ph type="sldNum" sz="quarter" idx="12"/>
          </p:nvPr>
        </p:nvSpPr>
        <p:spPr/>
        <p:txBody>
          <a:bodyPr/>
          <a:lstStyle/>
          <a:p>
            <a:fld id="{55635D17-9D19-4B1E-86C2-B9D6296E4AF7}" type="slidenum">
              <a:rPr lang="en-US" smtClean="0"/>
              <a:pPr/>
              <a:t>29</a:t>
            </a:fld>
            <a:endParaRPr lang="en-US" dirty="0"/>
          </a:p>
        </p:txBody>
      </p:sp>
      <p:sp>
        <p:nvSpPr>
          <p:cNvPr id="7" name="TextBox 6">
            <a:extLst>
              <a:ext uri="{FF2B5EF4-FFF2-40B4-BE49-F238E27FC236}">
                <a16:creationId xmlns:a16="http://schemas.microsoft.com/office/drawing/2014/main" id="{EBED8862-066E-2257-48C3-A6B5AAFA8C4F}"/>
              </a:ext>
            </a:extLst>
          </p:cNvPr>
          <p:cNvSpPr txBox="1"/>
          <p:nvPr/>
        </p:nvSpPr>
        <p:spPr>
          <a:xfrm>
            <a:off x="916906" y="1014073"/>
            <a:ext cx="10211906" cy="4680512"/>
          </a:xfrm>
          <a:prstGeom prst="rect">
            <a:avLst/>
          </a:prstGeom>
          <a:noFill/>
        </p:spPr>
        <p:txBody>
          <a:bodyPr wrap="square" rtlCol="0">
            <a:spAutoFit/>
          </a:bodyPr>
          <a:lstStyle/>
          <a:p>
            <a:pPr marL="285750" indent="-285750">
              <a:lnSpc>
                <a:spcPts val="3000"/>
              </a:lnSpc>
              <a:buFont typeface="Arial" panose="020B0604020202020204" pitchFamily="34" charset="0"/>
              <a:buChar char="•"/>
            </a:pPr>
            <a:r>
              <a:rPr lang="en-US" altLang="ko-KR" sz="2000" b="1" dirty="0"/>
              <a:t>Elementary Communication Patterns</a:t>
            </a:r>
          </a:p>
          <a:p>
            <a:pPr marL="742950" lvl="1" indent="-285750">
              <a:lnSpc>
                <a:spcPts val="3000"/>
              </a:lnSpc>
              <a:buFont typeface="Arial" panose="020B0604020202020204" pitchFamily="34" charset="0"/>
              <a:buChar char="•"/>
            </a:pPr>
            <a:r>
              <a:rPr lang="en-US" altLang="ko-KR" sz="2000" b="1" dirty="0"/>
              <a:t>Client-Server</a:t>
            </a:r>
            <a:endParaRPr lang="en-US" altLang="ko-KR" sz="2000" dirty="0"/>
          </a:p>
          <a:p>
            <a:pPr marL="742950" lvl="1" indent="-285750">
              <a:lnSpc>
                <a:spcPts val="3000"/>
              </a:lnSpc>
              <a:buFont typeface="Arial" panose="020B0604020202020204" pitchFamily="34" charset="0"/>
              <a:buChar char="•"/>
            </a:pPr>
            <a:r>
              <a:rPr lang="en-US" altLang="ko-KR" sz="2000" b="1" dirty="0"/>
              <a:t>Sender-Receiver</a:t>
            </a:r>
            <a:endParaRPr lang="en-US" altLang="ko-KR" sz="2000" dirty="0"/>
          </a:p>
          <a:p>
            <a:pPr marL="285750" indent="-285750">
              <a:lnSpc>
                <a:spcPts val="3000"/>
              </a:lnSpc>
              <a:buFont typeface="Arial" panose="020B0604020202020204" pitchFamily="34" charset="0"/>
              <a:buChar char="•"/>
            </a:pPr>
            <a:r>
              <a:rPr lang="en-US" altLang="ko-KR" sz="2000" b="1" dirty="0"/>
              <a:t>Interfaces specify</a:t>
            </a:r>
          </a:p>
          <a:p>
            <a:pPr marL="742950" lvl="1" indent="-285750">
              <a:lnSpc>
                <a:spcPts val="3000"/>
              </a:lnSpc>
              <a:buFont typeface="Arial" panose="020B0604020202020204" pitchFamily="34" charset="0"/>
              <a:buChar char="•"/>
            </a:pPr>
            <a:r>
              <a:rPr lang="en-US" altLang="ko-KR" sz="2000" dirty="0"/>
              <a:t>which services with which arguments can be called by client-server communication</a:t>
            </a:r>
          </a:p>
          <a:p>
            <a:pPr marL="742950" lvl="1" indent="-285750">
              <a:lnSpc>
                <a:spcPts val="3000"/>
              </a:lnSpc>
              <a:buFont typeface="Arial" panose="020B0604020202020204" pitchFamily="34" charset="0"/>
              <a:buChar char="•"/>
            </a:pPr>
            <a:r>
              <a:rPr lang="en-US" altLang="ko-KR" sz="2000" dirty="0"/>
              <a:t>what information sender receiver communication transports</a:t>
            </a:r>
          </a:p>
          <a:p>
            <a:pPr marL="285750" indent="-285750">
              <a:lnSpc>
                <a:spcPts val="3000"/>
              </a:lnSpc>
              <a:buFont typeface="Arial" panose="020B0604020202020204" pitchFamily="34" charset="0"/>
              <a:buChar char="•"/>
            </a:pPr>
            <a:r>
              <a:rPr lang="en-US" altLang="ko-KR" sz="2000" dirty="0"/>
              <a:t>The formal description of the interface is in the </a:t>
            </a:r>
            <a:r>
              <a:rPr lang="en-US" altLang="ko-KR" sz="2000" b="1" dirty="0"/>
              <a:t>software component template</a:t>
            </a:r>
            <a:r>
              <a:rPr lang="en-US" altLang="ko-KR" sz="2000" dirty="0"/>
              <a:t>, including also data types that can be used and interface compatibility.</a:t>
            </a:r>
          </a:p>
          <a:p>
            <a:pPr marL="285750" indent="-285750">
              <a:lnSpc>
                <a:spcPts val="3000"/>
              </a:lnSpc>
              <a:buFont typeface="Arial" panose="020B0604020202020204" pitchFamily="34" charset="0"/>
              <a:buChar char="•"/>
            </a:pPr>
            <a:r>
              <a:rPr lang="en-US" altLang="ko-KR" sz="2000" dirty="0"/>
              <a:t>The </a:t>
            </a:r>
            <a:r>
              <a:rPr lang="en-US" altLang="ko-KR" sz="2000" b="1" dirty="0"/>
              <a:t>detailed behavior of a basic communication pattern is specified by attributes</a:t>
            </a:r>
            <a:r>
              <a:rPr lang="en-US" altLang="ko-KR" sz="2000" dirty="0"/>
              <a:t>. With those attributes e.g. the length of data queues and the behavior of receivers (blocking, non-blocking, etc.) and senders (send cyclic, etc.) can be defined.</a:t>
            </a:r>
          </a:p>
          <a:p>
            <a:pPr marL="285750" indent="-285750">
              <a:lnSpc>
                <a:spcPts val="3000"/>
              </a:lnSpc>
              <a:buFont typeface="Arial" panose="020B0604020202020204" pitchFamily="34" charset="0"/>
              <a:buChar char="•"/>
            </a:pPr>
            <a:endParaRPr lang="ko-KR" altLang="en-US" sz="2000" dirty="0"/>
          </a:p>
        </p:txBody>
      </p:sp>
    </p:spTree>
    <p:extLst>
      <p:ext uri="{BB962C8B-B14F-4D97-AF65-F5344CB8AC3E}">
        <p14:creationId xmlns:p14="http://schemas.microsoft.com/office/powerpoint/2010/main" val="245500942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9880FAE4-784B-C197-E1FF-D0E51C21E2E6}"/>
              </a:ext>
            </a:extLst>
          </p:cNvPr>
          <p:cNvSpPr>
            <a:spLocks noGrp="1"/>
          </p:cNvSpPr>
          <p:nvPr>
            <p:ph type="title"/>
          </p:nvPr>
        </p:nvSpPr>
        <p:spPr/>
        <p:txBody>
          <a:bodyPr>
            <a:normAutofit fontScale="90000"/>
          </a:bodyPr>
          <a:lstStyle/>
          <a:p>
            <a:r>
              <a:rPr lang="en-US" altLang="ko-KR" dirty="0"/>
              <a:t>Client - Server</a:t>
            </a:r>
            <a:endParaRPr lang="ko-KR" altLang="en-US" dirty="0"/>
          </a:p>
        </p:txBody>
      </p:sp>
      <p:sp>
        <p:nvSpPr>
          <p:cNvPr id="4" name="날짜 개체 틀 3">
            <a:extLst>
              <a:ext uri="{FF2B5EF4-FFF2-40B4-BE49-F238E27FC236}">
                <a16:creationId xmlns:a16="http://schemas.microsoft.com/office/drawing/2014/main" id="{A596A1DD-4FEC-4B01-2088-06D3D621B6B6}"/>
              </a:ext>
            </a:extLst>
          </p:cNvPr>
          <p:cNvSpPr>
            <a:spLocks noGrp="1"/>
          </p:cNvSpPr>
          <p:nvPr>
            <p:ph type="dt" sz="half" idx="10"/>
          </p:nvPr>
        </p:nvSpPr>
        <p:spPr/>
        <p:txBody>
          <a:bodyPr/>
          <a:lstStyle/>
          <a:p>
            <a:fld id="{9539328B-81D7-470F-B07E-C60C8A68D98A}" type="datetime1">
              <a:rPr lang="en-US" altLang="ko-KR" smtClean="0"/>
              <a:t>4/12/2026</a:t>
            </a:fld>
            <a:endParaRPr lang="en-US"/>
          </a:p>
        </p:txBody>
      </p:sp>
      <p:sp>
        <p:nvSpPr>
          <p:cNvPr id="5" name="바닥글 개체 틀 4">
            <a:extLst>
              <a:ext uri="{FF2B5EF4-FFF2-40B4-BE49-F238E27FC236}">
                <a16:creationId xmlns:a16="http://schemas.microsoft.com/office/drawing/2014/main" id="{EF53327E-80B0-3814-BC65-F9E6AE6DEE3C}"/>
              </a:ext>
            </a:extLst>
          </p:cNvPr>
          <p:cNvSpPr>
            <a:spLocks noGrp="1"/>
          </p:cNvSpPr>
          <p:nvPr>
            <p:ph type="ftr" sz="quarter" idx="11"/>
          </p:nvPr>
        </p:nvSpPr>
        <p:spPr/>
        <p:txBody>
          <a:bodyPr/>
          <a:lstStyle/>
          <a:p>
            <a:r>
              <a:rPr lang="en-US"/>
              <a:t>2023 Copyright </a:t>
            </a:r>
            <a:r>
              <a:rPr lang="ko-KR" altLang="en-US"/>
              <a:t>ⓒ </a:t>
            </a:r>
            <a:r>
              <a:rPr lang="en-US" altLang="ko-KR"/>
              <a:t>Autonomous Vehicle Lab</a:t>
            </a:r>
            <a:endParaRPr lang="en-US" dirty="0"/>
          </a:p>
        </p:txBody>
      </p:sp>
      <p:sp>
        <p:nvSpPr>
          <p:cNvPr id="6" name="슬라이드 번호 개체 틀 5">
            <a:extLst>
              <a:ext uri="{FF2B5EF4-FFF2-40B4-BE49-F238E27FC236}">
                <a16:creationId xmlns:a16="http://schemas.microsoft.com/office/drawing/2014/main" id="{946EF6C8-6C2E-7CD0-48F5-6ED4A1466CAE}"/>
              </a:ext>
            </a:extLst>
          </p:cNvPr>
          <p:cNvSpPr>
            <a:spLocks noGrp="1"/>
          </p:cNvSpPr>
          <p:nvPr>
            <p:ph type="sldNum" sz="quarter" idx="12"/>
          </p:nvPr>
        </p:nvSpPr>
        <p:spPr/>
        <p:txBody>
          <a:bodyPr/>
          <a:lstStyle/>
          <a:p>
            <a:fld id="{55635D17-9D19-4B1E-86C2-B9D6296E4AF7}" type="slidenum">
              <a:rPr lang="en-US" smtClean="0"/>
              <a:pPr/>
              <a:t>30</a:t>
            </a:fld>
            <a:endParaRPr lang="en-US" dirty="0"/>
          </a:p>
        </p:txBody>
      </p:sp>
      <p:sp>
        <p:nvSpPr>
          <p:cNvPr id="3" name="TextBox 2">
            <a:extLst>
              <a:ext uri="{FF2B5EF4-FFF2-40B4-BE49-F238E27FC236}">
                <a16:creationId xmlns:a16="http://schemas.microsoft.com/office/drawing/2014/main" id="{B1C557D0-8DE5-96A5-DD4A-9CABEFB52999}"/>
              </a:ext>
            </a:extLst>
          </p:cNvPr>
          <p:cNvSpPr txBox="1"/>
          <p:nvPr/>
        </p:nvSpPr>
        <p:spPr>
          <a:xfrm>
            <a:off x="923825" y="1013180"/>
            <a:ext cx="10158074" cy="4680512"/>
          </a:xfrm>
          <a:prstGeom prst="rect">
            <a:avLst/>
          </a:prstGeom>
          <a:noFill/>
        </p:spPr>
        <p:txBody>
          <a:bodyPr wrap="square" rtlCol="0">
            <a:spAutoFit/>
          </a:bodyPr>
          <a:lstStyle/>
          <a:p>
            <a:pPr marL="285750" indent="-285750">
              <a:lnSpc>
                <a:spcPts val="3000"/>
              </a:lnSpc>
              <a:buFont typeface="Arial" panose="020B0604020202020204" pitchFamily="34" charset="0"/>
              <a:buChar char="•"/>
            </a:pPr>
            <a:r>
              <a:rPr lang="en-US" altLang="ko-KR" sz="2000" dirty="0"/>
              <a:t>The server is a provider and the client is a user of a service.</a:t>
            </a:r>
          </a:p>
          <a:p>
            <a:pPr marL="285750" indent="-285750">
              <a:lnSpc>
                <a:spcPts val="3000"/>
              </a:lnSpc>
              <a:buFont typeface="Arial" panose="020B0604020202020204" pitchFamily="34" charset="0"/>
              <a:buChar char="•"/>
            </a:pPr>
            <a:r>
              <a:rPr lang="en-US" altLang="ko-KR" sz="2000" dirty="0"/>
              <a:t>The client initiates the communication, requesting that the server performs a service, transferring a parameter set if necessary. The server waits for incoming communication requests from a client, performs the requested service and dispatches a response to the client’s request.</a:t>
            </a:r>
          </a:p>
          <a:p>
            <a:pPr marL="285750" indent="-285750">
              <a:lnSpc>
                <a:spcPts val="3000"/>
              </a:lnSpc>
              <a:buFont typeface="Arial" panose="020B0604020202020204" pitchFamily="34" charset="0"/>
              <a:buChar char="•"/>
            </a:pPr>
            <a:r>
              <a:rPr lang="en-US" altLang="ko-KR" sz="2000" dirty="0"/>
              <a:t>The direction of initiation is used to categorize whether an AUTOSAR Software Component is a client or a server. A single component can be both a client and a server depending on the software realization.</a:t>
            </a:r>
          </a:p>
          <a:p>
            <a:pPr marL="285750" indent="-285750">
              <a:lnSpc>
                <a:spcPts val="3000"/>
              </a:lnSpc>
              <a:buFont typeface="Arial" panose="020B0604020202020204" pitchFamily="34" charset="0"/>
              <a:buChar char="•"/>
            </a:pPr>
            <a:r>
              <a:rPr lang="en-US" altLang="ko-KR" sz="2000" dirty="0"/>
              <a:t>After the service request is initiated and until the response of the server is received The client can be:</a:t>
            </a:r>
          </a:p>
          <a:p>
            <a:pPr marL="742950" lvl="1" indent="-285750">
              <a:lnSpc>
                <a:spcPts val="3000"/>
              </a:lnSpc>
              <a:buFont typeface="Arial" panose="020B0604020202020204" pitchFamily="34" charset="0"/>
              <a:buChar char="•"/>
            </a:pPr>
            <a:r>
              <a:rPr lang="en-US" altLang="ko-KR" sz="2000" b="1" dirty="0"/>
              <a:t>blocked</a:t>
            </a:r>
            <a:r>
              <a:rPr lang="en-US" altLang="ko-KR" sz="2000" dirty="0"/>
              <a:t> (synchronous communication)</a:t>
            </a:r>
          </a:p>
          <a:p>
            <a:pPr marL="742950" lvl="1" indent="-285750">
              <a:lnSpc>
                <a:spcPts val="3000"/>
              </a:lnSpc>
              <a:buFont typeface="Arial" panose="020B0604020202020204" pitchFamily="34" charset="0"/>
              <a:buChar char="•"/>
            </a:pPr>
            <a:r>
              <a:rPr lang="en-US" altLang="ko-KR" sz="2000" b="1" dirty="0"/>
              <a:t>non-blocked</a:t>
            </a:r>
            <a:r>
              <a:rPr lang="en-US" altLang="ko-KR" sz="2000" dirty="0"/>
              <a:t> (asynchronous communication).</a:t>
            </a:r>
          </a:p>
        </p:txBody>
      </p:sp>
    </p:spTree>
    <p:extLst>
      <p:ext uri="{BB962C8B-B14F-4D97-AF65-F5344CB8AC3E}">
        <p14:creationId xmlns:p14="http://schemas.microsoft.com/office/powerpoint/2010/main" val="109989186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9880FAE4-784B-C197-E1FF-D0E51C21E2E6}"/>
              </a:ext>
            </a:extLst>
          </p:cNvPr>
          <p:cNvSpPr>
            <a:spLocks noGrp="1"/>
          </p:cNvSpPr>
          <p:nvPr>
            <p:ph type="title"/>
          </p:nvPr>
        </p:nvSpPr>
        <p:spPr/>
        <p:txBody>
          <a:bodyPr>
            <a:normAutofit fontScale="90000"/>
          </a:bodyPr>
          <a:lstStyle/>
          <a:p>
            <a:r>
              <a:rPr lang="en-US" altLang="ko-KR" dirty="0"/>
              <a:t>Client - Server</a:t>
            </a:r>
            <a:endParaRPr lang="ko-KR" altLang="en-US" dirty="0"/>
          </a:p>
        </p:txBody>
      </p:sp>
      <p:sp>
        <p:nvSpPr>
          <p:cNvPr id="4" name="날짜 개체 틀 3">
            <a:extLst>
              <a:ext uri="{FF2B5EF4-FFF2-40B4-BE49-F238E27FC236}">
                <a16:creationId xmlns:a16="http://schemas.microsoft.com/office/drawing/2014/main" id="{A596A1DD-4FEC-4B01-2088-06D3D621B6B6}"/>
              </a:ext>
            </a:extLst>
          </p:cNvPr>
          <p:cNvSpPr>
            <a:spLocks noGrp="1"/>
          </p:cNvSpPr>
          <p:nvPr>
            <p:ph type="dt" sz="half" idx="10"/>
          </p:nvPr>
        </p:nvSpPr>
        <p:spPr/>
        <p:txBody>
          <a:bodyPr/>
          <a:lstStyle/>
          <a:p>
            <a:fld id="{9539328B-81D7-470F-B07E-C60C8A68D98A}" type="datetime1">
              <a:rPr lang="en-US" altLang="ko-KR" smtClean="0"/>
              <a:t>4/12/2026</a:t>
            </a:fld>
            <a:endParaRPr lang="en-US"/>
          </a:p>
        </p:txBody>
      </p:sp>
      <p:sp>
        <p:nvSpPr>
          <p:cNvPr id="5" name="바닥글 개체 틀 4">
            <a:extLst>
              <a:ext uri="{FF2B5EF4-FFF2-40B4-BE49-F238E27FC236}">
                <a16:creationId xmlns:a16="http://schemas.microsoft.com/office/drawing/2014/main" id="{EF53327E-80B0-3814-BC65-F9E6AE6DEE3C}"/>
              </a:ext>
            </a:extLst>
          </p:cNvPr>
          <p:cNvSpPr>
            <a:spLocks noGrp="1"/>
          </p:cNvSpPr>
          <p:nvPr>
            <p:ph type="ftr" sz="quarter" idx="11"/>
          </p:nvPr>
        </p:nvSpPr>
        <p:spPr/>
        <p:txBody>
          <a:bodyPr/>
          <a:lstStyle/>
          <a:p>
            <a:r>
              <a:rPr lang="en-US"/>
              <a:t>2023 Copyright </a:t>
            </a:r>
            <a:r>
              <a:rPr lang="ko-KR" altLang="en-US"/>
              <a:t>ⓒ </a:t>
            </a:r>
            <a:r>
              <a:rPr lang="en-US" altLang="ko-KR"/>
              <a:t>Autonomous Vehicle Lab</a:t>
            </a:r>
            <a:endParaRPr lang="en-US" dirty="0"/>
          </a:p>
        </p:txBody>
      </p:sp>
      <p:sp>
        <p:nvSpPr>
          <p:cNvPr id="6" name="슬라이드 번호 개체 틀 5">
            <a:extLst>
              <a:ext uri="{FF2B5EF4-FFF2-40B4-BE49-F238E27FC236}">
                <a16:creationId xmlns:a16="http://schemas.microsoft.com/office/drawing/2014/main" id="{946EF6C8-6C2E-7CD0-48F5-6ED4A1466CAE}"/>
              </a:ext>
            </a:extLst>
          </p:cNvPr>
          <p:cNvSpPr>
            <a:spLocks noGrp="1"/>
          </p:cNvSpPr>
          <p:nvPr>
            <p:ph type="sldNum" sz="quarter" idx="12"/>
          </p:nvPr>
        </p:nvSpPr>
        <p:spPr/>
        <p:txBody>
          <a:bodyPr/>
          <a:lstStyle/>
          <a:p>
            <a:fld id="{55635D17-9D19-4B1E-86C2-B9D6296E4AF7}" type="slidenum">
              <a:rPr lang="en-US" smtClean="0"/>
              <a:pPr/>
              <a:t>31</a:t>
            </a:fld>
            <a:endParaRPr lang="en-US" dirty="0"/>
          </a:p>
        </p:txBody>
      </p:sp>
      <p:pic>
        <p:nvPicPr>
          <p:cNvPr id="3" name="Picture 2">
            <a:extLst>
              <a:ext uri="{FF2B5EF4-FFF2-40B4-BE49-F238E27FC236}">
                <a16:creationId xmlns:a16="http://schemas.microsoft.com/office/drawing/2014/main" id="{62A61E2B-63DF-E5D3-64DB-426B70BE988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20993" y="1023352"/>
            <a:ext cx="6567535" cy="455407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4305229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9880FAE4-784B-C197-E1FF-D0E51C21E2E6}"/>
              </a:ext>
            </a:extLst>
          </p:cNvPr>
          <p:cNvSpPr>
            <a:spLocks noGrp="1"/>
          </p:cNvSpPr>
          <p:nvPr>
            <p:ph type="title"/>
          </p:nvPr>
        </p:nvSpPr>
        <p:spPr/>
        <p:txBody>
          <a:bodyPr>
            <a:normAutofit fontScale="90000"/>
          </a:bodyPr>
          <a:lstStyle/>
          <a:p>
            <a:r>
              <a:rPr lang="en-US" altLang="ko-KR" dirty="0"/>
              <a:t>Sender - Receiver</a:t>
            </a:r>
            <a:endParaRPr lang="ko-KR" altLang="en-US" dirty="0"/>
          </a:p>
        </p:txBody>
      </p:sp>
      <p:sp>
        <p:nvSpPr>
          <p:cNvPr id="4" name="날짜 개체 틀 3">
            <a:extLst>
              <a:ext uri="{FF2B5EF4-FFF2-40B4-BE49-F238E27FC236}">
                <a16:creationId xmlns:a16="http://schemas.microsoft.com/office/drawing/2014/main" id="{A596A1DD-4FEC-4B01-2088-06D3D621B6B6}"/>
              </a:ext>
            </a:extLst>
          </p:cNvPr>
          <p:cNvSpPr>
            <a:spLocks noGrp="1"/>
          </p:cNvSpPr>
          <p:nvPr>
            <p:ph type="dt" sz="half" idx="10"/>
          </p:nvPr>
        </p:nvSpPr>
        <p:spPr/>
        <p:txBody>
          <a:bodyPr/>
          <a:lstStyle/>
          <a:p>
            <a:fld id="{9539328B-81D7-470F-B07E-C60C8A68D98A}" type="datetime1">
              <a:rPr lang="en-US" altLang="ko-KR" smtClean="0"/>
              <a:t>4/12/2026</a:t>
            </a:fld>
            <a:endParaRPr lang="en-US"/>
          </a:p>
        </p:txBody>
      </p:sp>
      <p:sp>
        <p:nvSpPr>
          <p:cNvPr id="5" name="바닥글 개체 틀 4">
            <a:extLst>
              <a:ext uri="{FF2B5EF4-FFF2-40B4-BE49-F238E27FC236}">
                <a16:creationId xmlns:a16="http://schemas.microsoft.com/office/drawing/2014/main" id="{EF53327E-80B0-3814-BC65-F9E6AE6DEE3C}"/>
              </a:ext>
            </a:extLst>
          </p:cNvPr>
          <p:cNvSpPr>
            <a:spLocks noGrp="1"/>
          </p:cNvSpPr>
          <p:nvPr>
            <p:ph type="ftr" sz="quarter" idx="11"/>
          </p:nvPr>
        </p:nvSpPr>
        <p:spPr/>
        <p:txBody>
          <a:bodyPr/>
          <a:lstStyle/>
          <a:p>
            <a:r>
              <a:rPr lang="en-US"/>
              <a:t>2023 Copyright </a:t>
            </a:r>
            <a:r>
              <a:rPr lang="ko-KR" altLang="en-US"/>
              <a:t>ⓒ </a:t>
            </a:r>
            <a:r>
              <a:rPr lang="en-US" altLang="ko-KR"/>
              <a:t>Autonomous Vehicle Lab</a:t>
            </a:r>
            <a:endParaRPr lang="en-US" dirty="0"/>
          </a:p>
        </p:txBody>
      </p:sp>
      <p:sp>
        <p:nvSpPr>
          <p:cNvPr id="6" name="슬라이드 번호 개체 틀 5">
            <a:extLst>
              <a:ext uri="{FF2B5EF4-FFF2-40B4-BE49-F238E27FC236}">
                <a16:creationId xmlns:a16="http://schemas.microsoft.com/office/drawing/2014/main" id="{946EF6C8-6C2E-7CD0-48F5-6ED4A1466CAE}"/>
              </a:ext>
            </a:extLst>
          </p:cNvPr>
          <p:cNvSpPr>
            <a:spLocks noGrp="1"/>
          </p:cNvSpPr>
          <p:nvPr>
            <p:ph type="sldNum" sz="quarter" idx="12"/>
          </p:nvPr>
        </p:nvSpPr>
        <p:spPr/>
        <p:txBody>
          <a:bodyPr/>
          <a:lstStyle/>
          <a:p>
            <a:fld id="{55635D17-9D19-4B1E-86C2-B9D6296E4AF7}" type="slidenum">
              <a:rPr lang="en-US" smtClean="0"/>
              <a:pPr/>
              <a:t>32</a:t>
            </a:fld>
            <a:endParaRPr lang="en-US" dirty="0"/>
          </a:p>
        </p:txBody>
      </p:sp>
      <p:sp>
        <p:nvSpPr>
          <p:cNvPr id="7" name="TextBox 6">
            <a:extLst>
              <a:ext uri="{FF2B5EF4-FFF2-40B4-BE49-F238E27FC236}">
                <a16:creationId xmlns:a16="http://schemas.microsoft.com/office/drawing/2014/main" id="{9B5FFB95-2157-4F7C-583C-4E6E9F063E87}"/>
              </a:ext>
            </a:extLst>
          </p:cNvPr>
          <p:cNvSpPr txBox="1"/>
          <p:nvPr/>
        </p:nvSpPr>
        <p:spPr>
          <a:xfrm>
            <a:off x="918735" y="976038"/>
            <a:ext cx="9910147" cy="3737946"/>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altLang="ko-KR" sz="2000" dirty="0"/>
              <a:t>Model for the asynchronous distribution of information where a sender distributes information to one or several receivers.</a:t>
            </a:r>
          </a:p>
          <a:p>
            <a:pPr marL="285750" indent="-285750">
              <a:lnSpc>
                <a:spcPct val="150000"/>
              </a:lnSpc>
              <a:buFont typeface="Arial" panose="020B0604020202020204" pitchFamily="34" charset="0"/>
              <a:buChar char="•"/>
            </a:pPr>
            <a:r>
              <a:rPr lang="en-US" altLang="ko-KR" sz="2000" dirty="0"/>
              <a:t>The sender is not blocked (asynchronous communication) and neither expects nor gets a response from the receivers (data or control flow), the sender just provides the information and the receivers decides autonomously when and how to use it.</a:t>
            </a:r>
          </a:p>
          <a:p>
            <a:pPr marL="285750" indent="-285750">
              <a:lnSpc>
                <a:spcPct val="150000"/>
              </a:lnSpc>
              <a:buFont typeface="Arial" panose="020B0604020202020204" pitchFamily="34" charset="0"/>
              <a:buChar char="•"/>
            </a:pPr>
            <a:r>
              <a:rPr lang="en-US" altLang="ko-KR" sz="2000" dirty="0"/>
              <a:t>It is the responsibility of the communication infrastructure to distribute the information.</a:t>
            </a:r>
          </a:p>
          <a:p>
            <a:pPr marL="285750" indent="-285750">
              <a:lnSpc>
                <a:spcPct val="150000"/>
              </a:lnSpc>
              <a:buFont typeface="Arial" panose="020B0604020202020204" pitchFamily="34" charset="0"/>
              <a:buChar char="•"/>
            </a:pPr>
            <a:r>
              <a:rPr lang="en-US" altLang="ko-KR" sz="2000" dirty="0"/>
              <a:t>The sender does not know the identity or the number of receivers.</a:t>
            </a:r>
          </a:p>
          <a:p>
            <a:pPr marL="285750" indent="-285750">
              <a:lnSpc>
                <a:spcPct val="150000"/>
              </a:lnSpc>
              <a:buFont typeface="Arial" panose="020B0604020202020204" pitchFamily="34" charset="0"/>
              <a:buChar char="•"/>
            </a:pPr>
            <a:endParaRPr lang="ko-KR" altLang="en-US" sz="2000" dirty="0"/>
          </a:p>
        </p:txBody>
      </p:sp>
    </p:spTree>
    <p:extLst>
      <p:ext uri="{BB962C8B-B14F-4D97-AF65-F5344CB8AC3E}">
        <p14:creationId xmlns:p14="http://schemas.microsoft.com/office/powerpoint/2010/main" val="79780296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9880FAE4-784B-C197-E1FF-D0E51C21E2E6}"/>
              </a:ext>
            </a:extLst>
          </p:cNvPr>
          <p:cNvSpPr>
            <a:spLocks noGrp="1"/>
          </p:cNvSpPr>
          <p:nvPr>
            <p:ph type="title"/>
          </p:nvPr>
        </p:nvSpPr>
        <p:spPr/>
        <p:txBody>
          <a:bodyPr>
            <a:normAutofit fontScale="90000"/>
          </a:bodyPr>
          <a:lstStyle/>
          <a:p>
            <a:r>
              <a:rPr lang="en-US" altLang="ko-KR" dirty="0"/>
              <a:t>Sender - Receiver</a:t>
            </a:r>
            <a:endParaRPr lang="ko-KR" altLang="en-US" dirty="0"/>
          </a:p>
        </p:txBody>
      </p:sp>
      <p:sp>
        <p:nvSpPr>
          <p:cNvPr id="4" name="날짜 개체 틀 3">
            <a:extLst>
              <a:ext uri="{FF2B5EF4-FFF2-40B4-BE49-F238E27FC236}">
                <a16:creationId xmlns:a16="http://schemas.microsoft.com/office/drawing/2014/main" id="{A596A1DD-4FEC-4B01-2088-06D3D621B6B6}"/>
              </a:ext>
            </a:extLst>
          </p:cNvPr>
          <p:cNvSpPr>
            <a:spLocks noGrp="1"/>
          </p:cNvSpPr>
          <p:nvPr>
            <p:ph type="dt" sz="half" idx="10"/>
          </p:nvPr>
        </p:nvSpPr>
        <p:spPr/>
        <p:txBody>
          <a:bodyPr/>
          <a:lstStyle/>
          <a:p>
            <a:fld id="{9539328B-81D7-470F-B07E-C60C8A68D98A}" type="datetime1">
              <a:rPr lang="en-US" altLang="ko-KR" smtClean="0"/>
              <a:t>4/12/2026</a:t>
            </a:fld>
            <a:endParaRPr lang="en-US"/>
          </a:p>
        </p:txBody>
      </p:sp>
      <p:sp>
        <p:nvSpPr>
          <p:cNvPr id="5" name="바닥글 개체 틀 4">
            <a:extLst>
              <a:ext uri="{FF2B5EF4-FFF2-40B4-BE49-F238E27FC236}">
                <a16:creationId xmlns:a16="http://schemas.microsoft.com/office/drawing/2014/main" id="{EF53327E-80B0-3814-BC65-F9E6AE6DEE3C}"/>
              </a:ext>
            </a:extLst>
          </p:cNvPr>
          <p:cNvSpPr>
            <a:spLocks noGrp="1"/>
          </p:cNvSpPr>
          <p:nvPr>
            <p:ph type="ftr" sz="quarter" idx="11"/>
          </p:nvPr>
        </p:nvSpPr>
        <p:spPr/>
        <p:txBody>
          <a:bodyPr/>
          <a:lstStyle/>
          <a:p>
            <a:r>
              <a:rPr lang="en-US"/>
              <a:t>2023 Copyright </a:t>
            </a:r>
            <a:r>
              <a:rPr lang="ko-KR" altLang="en-US"/>
              <a:t>ⓒ </a:t>
            </a:r>
            <a:r>
              <a:rPr lang="en-US" altLang="ko-KR"/>
              <a:t>Autonomous Vehicle Lab</a:t>
            </a:r>
            <a:endParaRPr lang="en-US" dirty="0"/>
          </a:p>
        </p:txBody>
      </p:sp>
      <p:sp>
        <p:nvSpPr>
          <p:cNvPr id="6" name="슬라이드 번호 개체 틀 5">
            <a:extLst>
              <a:ext uri="{FF2B5EF4-FFF2-40B4-BE49-F238E27FC236}">
                <a16:creationId xmlns:a16="http://schemas.microsoft.com/office/drawing/2014/main" id="{946EF6C8-6C2E-7CD0-48F5-6ED4A1466CAE}"/>
              </a:ext>
            </a:extLst>
          </p:cNvPr>
          <p:cNvSpPr>
            <a:spLocks noGrp="1"/>
          </p:cNvSpPr>
          <p:nvPr>
            <p:ph type="sldNum" sz="quarter" idx="12"/>
          </p:nvPr>
        </p:nvSpPr>
        <p:spPr/>
        <p:txBody>
          <a:bodyPr/>
          <a:lstStyle/>
          <a:p>
            <a:fld id="{55635D17-9D19-4B1E-86C2-B9D6296E4AF7}" type="slidenum">
              <a:rPr lang="en-US" smtClean="0"/>
              <a:pPr/>
              <a:t>33</a:t>
            </a:fld>
            <a:endParaRPr lang="en-US" dirty="0"/>
          </a:p>
        </p:txBody>
      </p:sp>
      <p:pic>
        <p:nvPicPr>
          <p:cNvPr id="7" name="Picture 2">
            <a:extLst>
              <a:ext uri="{FF2B5EF4-FFF2-40B4-BE49-F238E27FC236}">
                <a16:creationId xmlns:a16="http://schemas.microsoft.com/office/drawing/2014/main" id="{8F4E9F91-3412-F7D6-330D-907234A13F6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95605" y="782266"/>
            <a:ext cx="7200798" cy="476534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33726064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9880FAE4-784B-C197-E1FF-D0E51C21E2E6}"/>
              </a:ext>
            </a:extLst>
          </p:cNvPr>
          <p:cNvSpPr>
            <a:spLocks noGrp="1"/>
          </p:cNvSpPr>
          <p:nvPr>
            <p:ph type="title"/>
          </p:nvPr>
        </p:nvSpPr>
        <p:spPr/>
        <p:txBody>
          <a:bodyPr>
            <a:normAutofit fontScale="90000"/>
          </a:bodyPr>
          <a:lstStyle/>
          <a:p>
            <a:r>
              <a:rPr lang="en-US" altLang="ko-KR" dirty="0"/>
              <a:t>Component Model</a:t>
            </a:r>
            <a:endParaRPr lang="ko-KR" altLang="en-US" dirty="0"/>
          </a:p>
        </p:txBody>
      </p:sp>
      <p:sp>
        <p:nvSpPr>
          <p:cNvPr id="4" name="날짜 개체 틀 3">
            <a:extLst>
              <a:ext uri="{FF2B5EF4-FFF2-40B4-BE49-F238E27FC236}">
                <a16:creationId xmlns:a16="http://schemas.microsoft.com/office/drawing/2014/main" id="{A596A1DD-4FEC-4B01-2088-06D3D621B6B6}"/>
              </a:ext>
            </a:extLst>
          </p:cNvPr>
          <p:cNvSpPr>
            <a:spLocks noGrp="1"/>
          </p:cNvSpPr>
          <p:nvPr>
            <p:ph type="dt" sz="half" idx="10"/>
          </p:nvPr>
        </p:nvSpPr>
        <p:spPr/>
        <p:txBody>
          <a:bodyPr/>
          <a:lstStyle/>
          <a:p>
            <a:fld id="{9539328B-81D7-470F-B07E-C60C8A68D98A}" type="datetime1">
              <a:rPr lang="en-US" altLang="ko-KR" smtClean="0"/>
              <a:t>4/12/2026</a:t>
            </a:fld>
            <a:endParaRPr lang="en-US"/>
          </a:p>
        </p:txBody>
      </p:sp>
      <p:sp>
        <p:nvSpPr>
          <p:cNvPr id="5" name="바닥글 개체 틀 4">
            <a:extLst>
              <a:ext uri="{FF2B5EF4-FFF2-40B4-BE49-F238E27FC236}">
                <a16:creationId xmlns:a16="http://schemas.microsoft.com/office/drawing/2014/main" id="{EF53327E-80B0-3814-BC65-F9E6AE6DEE3C}"/>
              </a:ext>
            </a:extLst>
          </p:cNvPr>
          <p:cNvSpPr>
            <a:spLocks noGrp="1"/>
          </p:cNvSpPr>
          <p:nvPr>
            <p:ph type="ftr" sz="quarter" idx="11"/>
          </p:nvPr>
        </p:nvSpPr>
        <p:spPr/>
        <p:txBody>
          <a:bodyPr/>
          <a:lstStyle/>
          <a:p>
            <a:r>
              <a:rPr lang="en-US"/>
              <a:t>2023 Copyright </a:t>
            </a:r>
            <a:r>
              <a:rPr lang="ko-KR" altLang="en-US"/>
              <a:t>ⓒ </a:t>
            </a:r>
            <a:r>
              <a:rPr lang="en-US" altLang="ko-KR"/>
              <a:t>Autonomous Vehicle Lab</a:t>
            </a:r>
            <a:endParaRPr lang="en-US" dirty="0"/>
          </a:p>
        </p:txBody>
      </p:sp>
      <p:sp>
        <p:nvSpPr>
          <p:cNvPr id="6" name="슬라이드 번호 개체 틀 5">
            <a:extLst>
              <a:ext uri="{FF2B5EF4-FFF2-40B4-BE49-F238E27FC236}">
                <a16:creationId xmlns:a16="http://schemas.microsoft.com/office/drawing/2014/main" id="{946EF6C8-6C2E-7CD0-48F5-6ED4A1466CAE}"/>
              </a:ext>
            </a:extLst>
          </p:cNvPr>
          <p:cNvSpPr>
            <a:spLocks noGrp="1"/>
          </p:cNvSpPr>
          <p:nvPr>
            <p:ph type="sldNum" sz="quarter" idx="12"/>
          </p:nvPr>
        </p:nvSpPr>
        <p:spPr/>
        <p:txBody>
          <a:bodyPr/>
          <a:lstStyle/>
          <a:p>
            <a:fld id="{55635D17-9D19-4B1E-86C2-B9D6296E4AF7}" type="slidenum">
              <a:rPr lang="en-US" smtClean="0"/>
              <a:pPr/>
              <a:t>34</a:t>
            </a:fld>
            <a:endParaRPr lang="en-US" dirty="0"/>
          </a:p>
        </p:txBody>
      </p:sp>
      <p:pic>
        <p:nvPicPr>
          <p:cNvPr id="7" name="Picture 2">
            <a:extLst>
              <a:ext uri="{FF2B5EF4-FFF2-40B4-BE49-F238E27FC236}">
                <a16:creationId xmlns:a16="http://schemas.microsoft.com/office/drawing/2014/main" id="{8A9CF9B6-8498-5F03-F1B5-92FC37FCA55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80175" y="782591"/>
            <a:ext cx="7056784" cy="502385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47418984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9880FAE4-784B-C197-E1FF-D0E51C21E2E6}"/>
              </a:ext>
            </a:extLst>
          </p:cNvPr>
          <p:cNvSpPr>
            <a:spLocks noGrp="1"/>
          </p:cNvSpPr>
          <p:nvPr>
            <p:ph type="title"/>
          </p:nvPr>
        </p:nvSpPr>
        <p:spPr/>
        <p:txBody>
          <a:bodyPr>
            <a:normAutofit fontScale="90000"/>
          </a:bodyPr>
          <a:lstStyle/>
          <a:p>
            <a:r>
              <a:rPr lang="en-US" altLang="ko-KR" dirty="0"/>
              <a:t>Communication via the Virtual Functional Bus</a:t>
            </a:r>
            <a:endParaRPr lang="ko-KR" altLang="en-US" dirty="0"/>
          </a:p>
        </p:txBody>
      </p:sp>
      <p:sp>
        <p:nvSpPr>
          <p:cNvPr id="4" name="날짜 개체 틀 3">
            <a:extLst>
              <a:ext uri="{FF2B5EF4-FFF2-40B4-BE49-F238E27FC236}">
                <a16:creationId xmlns:a16="http://schemas.microsoft.com/office/drawing/2014/main" id="{A596A1DD-4FEC-4B01-2088-06D3D621B6B6}"/>
              </a:ext>
            </a:extLst>
          </p:cNvPr>
          <p:cNvSpPr>
            <a:spLocks noGrp="1"/>
          </p:cNvSpPr>
          <p:nvPr>
            <p:ph type="dt" sz="half" idx="10"/>
          </p:nvPr>
        </p:nvSpPr>
        <p:spPr/>
        <p:txBody>
          <a:bodyPr/>
          <a:lstStyle/>
          <a:p>
            <a:fld id="{9539328B-81D7-470F-B07E-C60C8A68D98A}" type="datetime1">
              <a:rPr lang="en-US" altLang="ko-KR" smtClean="0"/>
              <a:t>4/12/2026</a:t>
            </a:fld>
            <a:endParaRPr lang="en-US"/>
          </a:p>
        </p:txBody>
      </p:sp>
      <p:sp>
        <p:nvSpPr>
          <p:cNvPr id="5" name="바닥글 개체 틀 4">
            <a:extLst>
              <a:ext uri="{FF2B5EF4-FFF2-40B4-BE49-F238E27FC236}">
                <a16:creationId xmlns:a16="http://schemas.microsoft.com/office/drawing/2014/main" id="{EF53327E-80B0-3814-BC65-F9E6AE6DEE3C}"/>
              </a:ext>
            </a:extLst>
          </p:cNvPr>
          <p:cNvSpPr>
            <a:spLocks noGrp="1"/>
          </p:cNvSpPr>
          <p:nvPr>
            <p:ph type="ftr" sz="quarter" idx="11"/>
          </p:nvPr>
        </p:nvSpPr>
        <p:spPr/>
        <p:txBody>
          <a:bodyPr/>
          <a:lstStyle/>
          <a:p>
            <a:r>
              <a:rPr lang="en-US"/>
              <a:t>2023 Copyright </a:t>
            </a:r>
            <a:r>
              <a:rPr lang="ko-KR" altLang="en-US"/>
              <a:t>ⓒ </a:t>
            </a:r>
            <a:r>
              <a:rPr lang="en-US" altLang="ko-KR"/>
              <a:t>Autonomous Vehicle Lab</a:t>
            </a:r>
            <a:endParaRPr lang="en-US" dirty="0"/>
          </a:p>
        </p:txBody>
      </p:sp>
      <p:sp>
        <p:nvSpPr>
          <p:cNvPr id="6" name="슬라이드 번호 개체 틀 5">
            <a:extLst>
              <a:ext uri="{FF2B5EF4-FFF2-40B4-BE49-F238E27FC236}">
                <a16:creationId xmlns:a16="http://schemas.microsoft.com/office/drawing/2014/main" id="{946EF6C8-6C2E-7CD0-48F5-6ED4A1466CAE}"/>
              </a:ext>
            </a:extLst>
          </p:cNvPr>
          <p:cNvSpPr>
            <a:spLocks noGrp="1"/>
          </p:cNvSpPr>
          <p:nvPr>
            <p:ph type="sldNum" sz="quarter" idx="12"/>
          </p:nvPr>
        </p:nvSpPr>
        <p:spPr/>
        <p:txBody>
          <a:bodyPr/>
          <a:lstStyle/>
          <a:p>
            <a:fld id="{55635D17-9D19-4B1E-86C2-B9D6296E4AF7}" type="slidenum">
              <a:rPr lang="en-US" smtClean="0"/>
              <a:pPr/>
              <a:t>35</a:t>
            </a:fld>
            <a:endParaRPr lang="en-US" dirty="0"/>
          </a:p>
        </p:txBody>
      </p:sp>
      <p:sp>
        <p:nvSpPr>
          <p:cNvPr id="7" name="TextBox 6">
            <a:extLst>
              <a:ext uri="{FF2B5EF4-FFF2-40B4-BE49-F238E27FC236}">
                <a16:creationId xmlns:a16="http://schemas.microsoft.com/office/drawing/2014/main" id="{28590DD2-02E0-471E-6CDF-822B9E1C4A51}"/>
              </a:ext>
            </a:extLst>
          </p:cNvPr>
          <p:cNvSpPr txBox="1"/>
          <p:nvPr/>
        </p:nvSpPr>
        <p:spPr>
          <a:xfrm>
            <a:off x="923067" y="1022741"/>
            <a:ext cx="9850386" cy="4295791"/>
          </a:xfrm>
          <a:prstGeom prst="rect">
            <a:avLst/>
          </a:prstGeom>
          <a:noFill/>
        </p:spPr>
        <p:txBody>
          <a:bodyPr wrap="square" rtlCol="0">
            <a:spAutoFit/>
          </a:bodyPr>
          <a:lstStyle/>
          <a:p>
            <a:pPr marL="285750" indent="-285750">
              <a:lnSpc>
                <a:spcPts val="3000"/>
              </a:lnSpc>
              <a:buFont typeface="Arial" panose="020B0604020202020204" pitchFamily="34" charset="0"/>
              <a:buChar char="•"/>
            </a:pPr>
            <a:r>
              <a:rPr lang="en-US" altLang="ko-KR" sz="2000" dirty="0"/>
              <a:t>AUTOSAR software components communicate via the Virtual Functional Bus. They need ways to express requirements and capabilities with respect to exchanging data, which is currently possible through two kinds of attributes:</a:t>
            </a:r>
          </a:p>
          <a:p>
            <a:pPr marL="742950" lvl="1" indent="-285750">
              <a:lnSpc>
                <a:spcPts val="3000"/>
              </a:lnSpc>
              <a:buFont typeface="Arial" panose="020B0604020202020204" pitchFamily="34" charset="0"/>
              <a:buChar char="•"/>
            </a:pPr>
            <a:r>
              <a:rPr lang="en-US" altLang="ko-KR" sz="2000" b="1" dirty="0"/>
              <a:t>Communication attributes</a:t>
            </a:r>
            <a:r>
              <a:rPr lang="en-US" altLang="ko-KR" sz="2000" dirty="0"/>
              <a:t>, allow specifying parameters of the communication that </a:t>
            </a:r>
            <a:r>
              <a:rPr lang="en-US" altLang="ko-KR" sz="2000" b="1" dirty="0"/>
              <a:t>affect the generation of the RTE </a:t>
            </a:r>
            <a:r>
              <a:rPr lang="en-US" altLang="ko-KR" sz="2000" dirty="0"/>
              <a:t>or the actual communication taking place at runtime. An example for such an attribute is the aforementioned transfer time over a connector.</a:t>
            </a:r>
          </a:p>
          <a:p>
            <a:pPr marL="742950" lvl="1" indent="-285750">
              <a:lnSpc>
                <a:spcPts val="3000"/>
              </a:lnSpc>
              <a:buFont typeface="Arial" panose="020B0604020202020204" pitchFamily="34" charset="0"/>
              <a:buChar char="•"/>
            </a:pPr>
            <a:r>
              <a:rPr lang="en-US" altLang="ko-KR" sz="2000" b="1" dirty="0"/>
              <a:t>Application level attributes</a:t>
            </a:r>
            <a:r>
              <a:rPr lang="en-US" altLang="ko-KR" sz="2000" dirty="0"/>
              <a:t>, allow describing properties of exchanged data that </a:t>
            </a:r>
            <a:r>
              <a:rPr lang="en-US" altLang="ko-KR" sz="2000" b="1" dirty="0"/>
              <a:t>do </a:t>
            </a:r>
            <a:r>
              <a:rPr lang="en-US" altLang="ko-KR" sz="2000" b="1" i="1" dirty="0"/>
              <a:t>not</a:t>
            </a:r>
            <a:r>
              <a:rPr lang="en-US" altLang="ko-KR" sz="2000" b="1" dirty="0"/>
              <a:t> affect the RTE generation</a:t>
            </a:r>
            <a:r>
              <a:rPr lang="en-US" altLang="ko-KR" sz="2000" dirty="0"/>
              <a:t>, but are indicate to the developer how data needs to be processed. An example for this kind of attribute is a flag, whether data is “filtered” or “raw”.</a:t>
            </a:r>
            <a:br>
              <a:rPr lang="en-US" altLang="ko-KR" sz="2000" dirty="0"/>
            </a:br>
            <a:endParaRPr lang="ko-KR" altLang="en-US" sz="2000" dirty="0"/>
          </a:p>
        </p:txBody>
      </p:sp>
    </p:spTree>
    <p:extLst>
      <p:ext uri="{BB962C8B-B14F-4D97-AF65-F5344CB8AC3E}">
        <p14:creationId xmlns:p14="http://schemas.microsoft.com/office/powerpoint/2010/main" val="145572706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9880FAE4-784B-C197-E1FF-D0E51C21E2E6}"/>
              </a:ext>
            </a:extLst>
          </p:cNvPr>
          <p:cNvSpPr>
            <a:spLocks noGrp="1"/>
          </p:cNvSpPr>
          <p:nvPr>
            <p:ph type="title"/>
          </p:nvPr>
        </p:nvSpPr>
        <p:spPr/>
        <p:txBody>
          <a:bodyPr>
            <a:normAutofit fontScale="90000"/>
          </a:bodyPr>
          <a:lstStyle/>
          <a:p>
            <a:r>
              <a:rPr lang="en-US" altLang="ko-KR" dirty="0"/>
              <a:t>Sensor/Actuator Components</a:t>
            </a:r>
            <a:endParaRPr lang="ko-KR" altLang="en-US" dirty="0"/>
          </a:p>
        </p:txBody>
      </p:sp>
      <p:sp>
        <p:nvSpPr>
          <p:cNvPr id="4" name="날짜 개체 틀 3">
            <a:extLst>
              <a:ext uri="{FF2B5EF4-FFF2-40B4-BE49-F238E27FC236}">
                <a16:creationId xmlns:a16="http://schemas.microsoft.com/office/drawing/2014/main" id="{A596A1DD-4FEC-4B01-2088-06D3D621B6B6}"/>
              </a:ext>
            </a:extLst>
          </p:cNvPr>
          <p:cNvSpPr>
            <a:spLocks noGrp="1"/>
          </p:cNvSpPr>
          <p:nvPr>
            <p:ph type="dt" sz="half" idx="10"/>
          </p:nvPr>
        </p:nvSpPr>
        <p:spPr/>
        <p:txBody>
          <a:bodyPr/>
          <a:lstStyle/>
          <a:p>
            <a:fld id="{9539328B-81D7-470F-B07E-C60C8A68D98A}" type="datetime1">
              <a:rPr lang="en-US" altLang="ko-KR" smtClean="0"/>
              <a:t>4/12/2026</a:t>
            </a:fld>
            <a:endParaRPr lang="en-US"/>
          </a:p>
        </p:txBody>
      </p:sp>
      <p:sp>
        <p:nvSpPr>
          <p:cNvPr id="5" name="바닥글 개체 틀 4">
            <a:extLst>
              <a:ext uri="{FF2B5EF4-FFF2-40B4-BE49-F238E27FC236}">
                <a16:creationId xmlns:a16="http://schemas.microsoft.com/office/drawing/2014/main" id="{EF53327E-80B0-3814-BC65-F9E6AE6DEE3C}"/>
              </a:ext>
            </a:extLst>
          </p:cNvPr>
          <p:cNvSpPr>
            <a:spLocks noGrp="1"/>
          </p:cNvSpPr>
          <p:nvPr>
            <p:ph type="ftr" sz="quarter" idx="11"/>
          </p:nvPr>
        </p:nvSpPr>
        <p:spPr/>
        <p:txBody>
          <a:bodyPr/>
          <a:lstStyle/>
          <a:p>
            <a:r>
              <a:rPr lang="en-US"/>
              <a:t>2023 Copyright </a:t>
            </a:r>
            <a:r>
              <a:rPr lang="ko-KR" altLang="en-US"/>
              <a:t>ⓒ </a:t>
            </a:r>
            <a:r>
              <a:rPr lang="en-US" altLang="ko-KR"/>
              <a:t>Autonomous Vehicle Lab</a:t>
            </a:r>
            <a:endParaRPr lang="en-US" dirty="0"/>
          </a:p>
        </p:txBody>
      </p:sp>
      <p:sp>
        <p:nvSpPr>
          <p:cNvPr id="6" name="슬라이드 번호 개체 틀 5">
            <a:extLst>
              <a:ext uri="{FF2B5EF4-FFF2-40B4-BE49-F238E27FC236}">
                <a16:creationId xmlns:a16="http://schemas.microsoft.com/office/drawing/2014/main" id="{946EF6C8-6C2E-7CD0-48F5-6ED4A1466CAE}"/>
              </a:ext>
            </a:extLst>
          </p:cNvPr>
          <p:cNvSpPr>
            <a:spLocks noGrp="1"/>
          </p:cNvSpPr>
          <p:nvPr>
            <p:ph type="sldNum" sz="quarter" idx="12"/>
          </p:nvPr>
        </p:nvSpPr>
        <p:spPr/>
        <p:txBody>
          <a:bodyPr/>
          <a:lstStyle/>
          <a:p>
            <a:fld id="{55635D17-9D19-4B1E-86C2-B9D6296E4AF7}" type="slidenum">
              <a:rPr lang="en-US" smtClean="0"/>
              <a:pPr/>
              <a:t>36</a:t>
            </a:fld>
            <a:endParaRPr lang="en-US" dirty="0"/>
          </a:p>
        </p:txBody>
      </p:sp>
      <p:sp>
        <p:nvSpPr>
          <p:cNvPr id="3" name="TextBox 2">
            <a:extLst>
              <a:ext uri="{FF2B5EF4-FFF2-40B4-BE49-F238E27FC236}">
                <a16:creationId xmlns:a16="http://schemas.microsoft.com/office/drawing/2014/main" id="{D8E55387-3032-42FD-EAFE-A1E2CA619471}"/>
              </a:ext>
            </a:extLst>
          </p:cNvPr>
          <p:cNvSpPr txBox="1"/>
          <p:nvPr/>
        </p:nvSpPr>
        <p:spPr>
          <a:xfrm>
            <a:off x="923069" y="814725"/>
            <a:ext cx="10019123" cy="5202706"/>
          </a:xfrm>
          <a:prstGeom prst="rect">
            <a:avLst/>
          </a:prstGeom>
          <a:noFill/>
        </p:spPr>
        <p:txBody>
          <a:bodyPr wrap="square" rtlCol="0">
            <a:spAutoFit/>
          </a:bodyPr>
          <a:lstStyle/>
          <a:p>
            <a:pPr marL="285750" indent="-285750">
              <a:lnSpc>
                <a:spcPts val="2500"/>
              </a:lnSpc>
              <a:buFont typeface="Arial" panose="020B0604020202020204" pitchFamily="34" charset="0"/>
              <a:buChar char="•"/>
            </a:pPr>
            <a:r>
              <a:rPr lang="en-US" altLang="ko-KR" dirty="0"/>
              <a:t>Sensor/Actuator Components are special AUTOSAR Software Components which encapsulate the dependencies of the application on specific sensors or actuators.</a:t>
            </a:r>
          </a:p>
          <a:p>
            <a:pPr marL="285750" indent="-285750">
              <a:lnSpc>
                <a:spcPts val="2500"/>
              </a:lnSpc>
              <a:buFont typeface="Arial" panose="020B0604020202020204" pitchFamily="34" charset="0"/>
              <a:buChar char="•"/>
            </a:pPr>
            <a:r>
              <a:rPr lang="en-US" altLang="ko-KR" dirty="0"/>
              <a:t>The AUTOSAR infrastructure takes care of hiding the specifics of the microcontroller (this is done in the </a:t>
            </a:r>
            <a:r>
              <a:rPr lang="en-US" altLang="ko-KR" b="1" dirty="0"/>
              <a:t>MCAL</a:t>
            </a:r>
            <a:r>
              <a:rPr lang="en-US" altLang="ko-KR" dirty="0"/>
              <a:t>, the microcontroller abstraction layer, which is part of the AUTOSAR infrastructure running on the ECU) and the ECU electronics (this is handled by the </a:t>
            </a:r>
            <a:r>
              <a:rPr lang="en-US" altLang="ko-KR" b="1" dirty="0"/>
              <a:t>ECU-Abstraction</a:t>
            </a:r>
            <a:r>
              <a:rPr lang="en-US" altLang="ko-KR" dirty="0"/>
              <a:t> which is also part of the AUTOSAR Basic Software).</a:t>
            </a:r>
          </a:p>
          <a:p>
            <a:pPr marL="285750" indent="-285750">
              <a:lnSpc>
                <a:spcPts val="2500"/>
              </a:lnSpc>
              <a:buFont typeface="Arial" panose="020B0604020202020204" pitchFamily="34" charset="0"/>
              <a:buChar char="•"/>
            </a:pPr>
            <a:r>
              <a:rPr lang="en-US" altLang="ko-KR" dirty="0"/>
              <a:t>The AUTOSAR infrastructure does </a:t>
            </a:r>
            <a:r>
              <a:rPr lang="en-US" altLang="ko-KR" b="1" dirty="0"/>
              <a:t>NOT</a:t>
            </a:r>
            <a:r>
              <a:rPr lang="en-US" altLang="ko-KR" dirty="0"/>
              <a:t> hide the specifics of sensors and actuators.</a:t>
            </a:r>
          </a:p>
          <a:p>
            <a:pPr marL="285750" indent="-285750">
              <a:lnSpc>
                <a:spcPts val="2500"/>
              </a:lnSpc>
              <a:buFont typeface="Arial" panose="020B0604020202020204" pitchFamily="34" charset="0"/>
              <a:buChar char="•"/>
            </a:pPr>
            <a:r>
              <a:rPr lang="en-US" altLang="ko-KR" dirty="0"/>
              <a:t>The dependencies on a specific sensor and/or actuator are dealt with in </a:t>
            </a:r>
            <a:r>
              <a:rPr lang="en-US" altLang="ko-KR" b="1" dirty="0"/>
              <a:t>"Sensor/Actuator Software Component"</a:t>
            </a:r>
            <a:r>
              <a:rPr lang="en-US" altLang="ko-KR" dirty="0"/>
              <a:t>, which is a special kind of Software Component. Such a component is independent of the ECU on which it is mapped but is dependent on a specific sensor and/or actuator for which it is designed.</a:t>
            </a:r>
          </a:p>
          <a:p>
            <a:pPr marL="800100" lvl="1" indent="-342900">
              <a:lnSpc>
                <a:spcPts val="2500"/>
              </a:lnSpc>
              <a:buFont typeface="Arial" panose="020B0604020202020204" pitchFamily="34" charset="0"/>
              <a:buChar char="•"/>
            </a:pPr>
            <a:r>
              <a:rPr lang="en-US" altLang="ko-KR" b="1" dirty="0"/>
              <a:t>For example</a:t>
            </a:r>
            <a:r>
              <a:rPr lang="en-US" altLang="ko-KR" dirty="0"/>
              <a:t>, a "Sensor Component" typically inputs a software representation of the electrical signal at an input-pin of the ECU (e.g. a current produced by the sensor) and outputs the physical quantity measured by the sensor (e.g. the car speed).</a:t>
            </a:r>
          </a:p>
          <a:p>
            <a:pPr marL="342900" indent="-342900">
              <a:lnSpc>
                <a:spcPts val="2500"/>
              </a:lnSpc>
              <a:buFont typeface="Arial" panose="020B0604020202020204" pitchFamily="34" charset="0"/>
              <a:buChar char="•"/>
            </a:pPr>
            <a:r>
              <a:rPr lang="en-US" altLang="ko-KR" dirty="0"/>
              <a:t>Typically, because of performance issues, such components will need to run on the ECU to which the sensor/actuator is physically connected.</a:t>
            </a:r>
          </a:p>
        </p:txBody>
      </p:sp>
    </p:spTree>
    <p:extLst>
      <p:ext uri="{BB962C8B-B14F-4D97-AF65-F5344CB8AC3E}">
        <p14:creationId xmlns:p14="http://schemas.microsoft.com/office/powerpoint/2010/main" val="180950862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9880FAE4-784B-C197-E1FF-D0E51C21E2E6}"/>
              </a:ext>
            </a:extLst>
          </p:cNvPr>
          <p:cNvSpPr>
            <a:spLocks noGrp="1"/>
          </p:cNvSpPr>
          <p:nvPr>
            <p:ph type="title"/>
          </p:nvPr>
        </p:nvSpPr>
        <p:spPr/>
        <p:txBody>
          <a:bodyPr>
            <a:normAutofit fontScale="90000"/>
          </a:bodyPr>
          <a:lstStyle/>
          <a:p>
            <a:r>
              <a:rPr lang="en-US" altLang="ko-KR" dirty="0"/>
              <a:t>Sensor/Actuator Components</a:t>
            </a:r>
            <a:endParaRPr lang="ko-KR" altLang="en-US" dirty="0"/>
          </a:p>
        </p:txBody>
      </p:sp>
      <p:sp>
        <p:nvSpPr>
          <p:cNvPr id="4" name="날짜 개체 틀 3">
            <a:extLst>
              <a:ext uri="{FF2B5EF4-FFF2-40B4-BE49-F238E27FC236}">
                <a16:creationId xmlns:a16="http://schemas.microsoft.com/office/drawing/2014/main" id="{A596A1DD-4FEC-4B01-2088-06D3D621B6B6}"/>
              </a:ext>
            </a:extLst>
          </p:cNvPr>
          <p:cNvSpPr>
            <a:spLocks noGrp="1"/>
          </p:cNvSpPr>
          <p:nvPr>
            <p:ph type="dt" sz="half" idx="10"/>
          </p:nvPr>
        </p:nvSpPr>
        <p:spPr/>
        <p:txBody>
          <a:bodyPr/>
          <a:lstStyle/>
          <a:p>
            <a:fld id="{9539328B-81D7-470F-B07E-C60C8A68D98A}" type="datetime1">
              <a:rPr lang="en-US" altLang="ko-KR" smtClean="0"/>
              <a:t>4/12/2026</a:t>
            </a:fld>
            <a:endParaRPr lang="en-US"/>
          </a:p>
        </p:txBody>
      </p:sp>
      <p:sp>
        <p:nvSpPr>
          <p:cNvPr id="5" name="바닥글 개체 틀 4">
            <a:extLst>
              <a:ext uri="{FF2B5EF4-FFF2-40B4-BE49-F238E27FC236}">
                <a16:creationId xmlns:a16="http://schemas.microsoft.com/office/drawing/2014/main" id="{EF53327E-80B0-3814-BC65-F9E6AE6DEE3C}"/>
              </a:ext>
            </a:extLst>
          </p:cNvPr>
          <p:cNvSpPr>
            <a:spLocks noGrp="1"/>
          </p:cNvSpPr>
          <p:nvPr>
            <p:ph type="ftr" sz="quarter" idx="11"/>
          </p:nvPr>
        </p:nvSpPr>
        <p:spPr/>
        <p:txBody>
          <a:bodyPr/>
          <a:lstStyle/>
          <a:p>
            <a:r>
              <a:rPr lang="en-US"/>
              <a:t>2023 Copyright </a:t>
            </a:r>
            <a:r>
              <a:rPr lang="ko-KR" altLang="en-US"/>
              <a:t>ⓒ </a:t>
            </a:r>
            <a:r>
              <a:rPr lang="en-US" altLang="ko-KR"/>
              <a:t>Autonomous Vehicle Lab</a:t>
            </a:r>
            <a:endParaRPr lang="en-US" dirty="0"/>
          </a:p>
        </p:txBody>
      </p:sp>
      <p:sp>
        <p:nvSpPr>
          <p:cNvPr id="6" name="슬라이드 번호 개체 틀 5">
            <a:extLst>
              <a:ext uri="{FF2B5EF4-FFF2-40B4-BE49-F238E27FC236}">
                <a16:creationId xmlns:a16="http://schemas.microsoft.com/office/drawing/2014/main" id="{946EF6C8-6C2E-7CD0-48F5-6ED4A1466CAE}"/>
              </a:ext>
            </a:extLst>
          </p:cNvPr>
          <p:cNvSpPr>
            <a:spLocks noGrp="1"/>
          </p:cNvSpPr>
          <p:nvPr>
            <p:ph type="sldNum" sz="quarter" idx="12"/>
          </p:nvPr>
        </p:nvSpPr>
        <p:spPr/>
        <p:txBody>
          <a:bodyPr/>
          <a:lstStyle/>
          <a:p>
            <a:fld id="{55635D17-9D19-4B1E-86C2-B9D6296E4AF7}" type="slidenum">
              <a:rPr lang="en-US" smtClean="0"/>
              <a:pPr/>
              <a:t>37</a:t>
            </a:fld>
            <a:endParaRPr lang="en-US" dirty="0"/>
          </a:p>
        </p:txBody>
      </p:sp>
      <p:pic>
        <p:nvPicPr>
          <p:cNvPr id="3" name="Picture 2">
            <a:extLst>
              <a:ext uri="{FF2B5EF4-FFF2-40B4-BE49-F238E27FC236}">
                <a16:creationId xmlns:a16="http://schemas.microsoft.com/office/drawing/2014/main" id="{4EFFFB66-908F-6DA1-D1D4-05E8E54ADA8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66090" y="978349"/>
            <a:ext cx="7267754" cy="475252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1882116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9880FAE4-784B-C197-E1FF-D0E51C21E2E6}"/>
              </a:ext>
            </a:extLst>
          </p:cNvPr>
          <p:cNvSpPr>
            <a:spLocks noGrp="1"/>
          </p:cNvSpPr>
          <p:nvPr>
            <p:ph type="title"/>
          </p:nvPr>
        </p:nvSpPr>
        <p:spPr/>
        <p:txBody>
          <a:bodyPr>
            <a:normAutofit fontScale="90000"/>
          </a:bodyPr>
          <a:lstStyle/>
          <a:p>
            <a:r>
              <a:rPr lang="en-US" altLang="ko-KR" dirty="0"/>
              <a:t>ECU SW Architecture</a:t>
            </a:r>
            <a:endParaRPr lang="ko-KR" altLang="en-US" dirty="0"/>
          </a:p>
        </p:txBody>
      </p:sp>
      <p:sp>
        <p:nvSpPr>
          <p:cNvPr id="4" name="날짜 개체 틀 3">
            <a:extLst>
              <a:ext uri="{FF2B5EF4-FFF2-40B4-BE49-F238E27FC236}">
                <a16:creationId xmlns:a16="http://schemas.microsoft.com/office/drawing/2014/main" id="{A596A1DD-4FEC-4B01-2088-06D3D621B6B6}"/>
              </a:ext>
            </a:extLst>
          </p:cNvPr>
          <p:cNvSpPr>
            <a:spLocks noGrp="1"/>
          </p:cNvSpPr>
          <p:nvPr>
            <p:ph type="dt" sz="half" idx="10"/>
          </p:nvPr>
        </p:nvSpPr>
        <p:spPr/>
        <p:txBody>
          <a:bodyPr/>
          <a:lstStyle/>
          <a:p>
            <a:fld id="{9539328B-81D7-470F-B07E-C60C8A68D98A}" type="datetime1">
              <a:rPr lang="en-US" altLang="ko-KR" smtClean="0"/>
              <a:t>4/12/2026</a:t>
            </a:fld>
            <a:endParaRPr lang="en-US"/>
          </a:p>
        </p:txBody>
      </p:sp>
      <p:sp>
        <p:nvSpPr>
          <p:cNvPr id="5" name="바닥글 개체 틀 4">
            <a:extLst>
              <a:ext uri="{FF2B5EF4-FFF2-40B4-BE49-F238E27FC236}">
                <a16:creationId xmlns:a16="http://schemas.microsoft.com/office/drawing/2014/main" id="{EF53327E-80B0-3814-BC65-F9E6AE6DEE3C}"/>
              </a:ext>
            </a:extLst>
          </p:cNvPr>
          <p:cNvSpPr>
            <a:spLocks noGrp="1"/>
          </p:cNvSpPr>
          <p:nvPr>
            <p:ph type="ftr" sz="quarter" idx="11"/>
          </p:nvPr>
        </p:nvSpPr>
        <p:spPr/>
        <p:txBody>
          <a:bodyPr/>
          <a:lstStyle/>
          <a:p>
            <a:r>
              <a:rPr lang="en-US"/>
              <a:t>2023 Copyright </a:t>
            </a:r>
            <a:r>
              <a:rPr lang="ko-KR" altLang="en-US"/>
              <a:t>ⓒ </a:t>
            </a:r>
            <a:r>
              <a:rPr lang="en-US" altLang="ko-KR"/>
              <a:t>Autonomous Vehicle Lab</a:t>
            </a:r>
            <a:endParaRPr lang="en-US" dirty="0"/>
          </a:p>
        </p:txBody>
      </p:sp>
      <p:sp>
        <p:nvSpPr>
          <p:cNvPr id="6" name="슬라이드 번호 개체 틀 5">
            <a:extLst>
              <a:ext uri="{FF2B5EF4-FFF2-40B4-BE49-F238E27FC236}">
                <a16:creationId xmlns:a16="http://schemas.microsoft.com/office/drawing/2014/main" id="{946EF6C8-6C2E-7CD0-48F5-6ED4A1466CAE}"/>
              </a:ext>
            </a:extLst>
          </p:cNvPr>
          <p:cNvSpPr>
            <a:spLocks noGrp="1"/>
          </p:cNvSpPr>
          <p:nvPr>
            <p:ph type="sldNum" sz="quarter" idx="12"/>
          </p:nvPr>
        </p:nvSpPr>
        <p:spPr/>
        <p:txBody>
          <a:bodyPr/>
          <a:lstStyle/>
          <a:p>
            <a:fld id="{55635D17-9D19-4B1E-86C2-B9D6296E4AF7}" type="slidenum">
              <a:rPr lang="en-US" smtClean="0"/>
              <a:pPr/>
              <a:t>38</a:t>
            </a:fld>
            <a:endParaRPr lang="en-US" dirty="0"/>
          </a:p>
        </p:txBody>
      </p:sp>
      <p:pic>
        <p:nvPicPr>
          <p:cNvPr id="3" name="Picture 2">
            <a:extLst>
              <a:ext uri="{FF2B5EF4-FFF2-40B4-BE49-F238E27FC236}">
                <a16:creationId xmlns:a16="http://schemas.microsoft.com/office/drawing/2014/main" id="{CB481659-339A-C2CE-795B-721DA79B8DC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41037" y="654079"/>
            <a:ext cx="8723872" cy="53285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55674966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9880FAE4-784B-C197-E1FF-D0E51C21E2E6}"/>
              </a:ext>
            </a:extLst>
          </p:cNvPr>
          <p:cNvSpPr>
            <a:spLocks noGrp="1"/>
          </p:cNvSpPr>
          <p:nvPr>
            <p:ph type="title"/>
          </p:nvPr>
        </p:nvSpPr>
        <p:spPr/>
        <p:txBody>
          <a:bodyPr>
            <a:normAutofit fontScale="90000"/>
          </a:bodyPr>
          <a:lstStyle/>
          <a:p>
            <a:r>
              <a:rPr lang="en-US" altLang="ko-KR" dirty="0"/>
              <a:t>Layered SW Architecture</a:t>
            </a:r>
            <a:endParaRPr lang="ko-KR" altLang="en-US" dirty="0"/>
          </a:p>
        </p:txBody>
      </p:sp>
      <p:sp>
        <p:nvSpPr>
          <p:cNvPr id="4" name="날짜 개체 틀 3">
            <a:extLst>
              <a:ext uri="{FF2B5EF4-FFF2-40B4-BE49-F238E27FC236}">
                <a16:creationId xmlns:a16="http://schemas.microsoft.com/office/drawing/2014/main" id="{A596A1DD-4FEC-4B01-2088-06D3D621B6B6}"/>
              </a:ext>
            </a:extLst>
          </p:cNvPr>
          <p:cNvSpPr>
            <a:spLocks noGrp="1"/>
          </p:cNvSpPr>
          <p:nvPr>
            <p:ph type="dt" sz="half" idx="10"/>
          </p:nvPr>
        </p:nvSpPr>
        <p:spPr/>
        <p:txBody>
          <a:bodyPr/>
          <a:lstStyle/>
          <a:p>
            <a:fld id="{9539328B-81D7-470F-B07E-C60C8A68D98A}" type="datetime1">
              <a:rPr lang="en-US" altLang="ko-KR" smtClean="0"/>
              <a:t>4/12/2026</a:t>
            </a:fld>
            <a:endParaRPr lang="en-US"/>
          </a:p>
        </p:txBody>
      </p:sp>
      <p:sp>
        <p:nvSpPr>
          <p:cNvPr id="5" name="바닥글 개체 틀 4">
            <a:extLst>
              <a:ext uri="{FF2B5EF4-FFF2-40B4-BE49-F238E27FC236}">
                <a16:creationId xmlns:a16="http://schemas.microsoft.com/office/drawing/2014/main" id="{EF53327E-80B0-3814-BC65-F9E6AE6DEE3C}"/>
              </a:ext>
            </a:extLst>
          </p:cNvPr>
          <p:cNvSpPr>
            <a:spLocks noGrp="1"/>
          </p:cNvSpPr>
          <p:nvPr>
            <p:ph type="ftr" sz="quarter" idx="11"/>
          </p:nvPr>
        </p:nvSpPr>
        <p:spPr/>
        <p:txBody>
          <a:bodyPr/>
          <a:lstStyle/>
          <a:p>
            <a:r>
              <a:rPr lang="en-US"/>
              <a:t>2023 Copyright </a:t>
            </a:r>
            <a:r>
              <a:rPr lang="ko-KR" altLang="en-US"/>
              <a:t>ⓒ </a:t>
            </a:r>
            <a:r>
              <a:rPr lang="en-US" altLang="ko-KR"/>
              <a:t>Autonomous Vehicle Lab</a:t>
            </a:r>
            <a:endParaRPr lang="en-US" dirty="0"/>
          </a:p>
        </p:txBody>
      </p:sp>
      <p:sp>
        <p:nvSpPr>
          <p:cNvPr id="6" name="슬라이드 번호 개체 틀 5">
            <a:extLst>
              <a:ext uri="{FF2B5EF4-FFF2-40B4-BE49-F238E27FC236}">
                <a16:creationId xmlns:a16="http://schemas.microsoft.com/office/drawing/2014/main" id="{946EF6C8-6C2E-7CD0-48F5-6ED4A1466CAE}"/>
              </a:ext>
            </a:extLst>
          </p:cNvPr>
          <p:cNvSpPr>
            <a:spLocks noGrp="1"/>
          </p:cNvSpPr>
          <p:nvPr>
            <p:ph type="sldNum" sz="quarter" idx="12"/>
          </p:nvPr>
        </p:nvSpPr>
        <p:spPr/>
        <p:txBody>
          <a:bodyPr/>
          <a:lstStyle/>
          <a:p>
            <a:fld id="{55635D17-9D19-4B1E-86C2-B9D6296E4AF7}" type="slidenum">
              <a:rPr lang="en-US" smtClean="0"/>
              <a:pPr/>
              <a:t>39</a:t>
            </a:fld>
            <a:endParaRPr lang="en-US" dirty="0"/>
          </a:p>
        </p:txBody>
      </p:sp>
      <p:pic>
        <p:nvPicPr>
          <p:cNvPr id="7" name="Picture 2">
            <a:extLst>
              <a:ext uri="{FF2B5EF4-FFF2-40B4-BE49-F238E27FC236}">
                <a16:creationId xmlns:a16="http://schemas.microsoft.com/office/drawing/2014/main" id="{93A8148D-6D79-4613-D4E3-BB16CE69DDA0}"/>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25362"/>
          <a:stretch>
            <a:fillRect/>
          </a:stretch>
        </p:blipFill>
        <p:spPr bwMode="auto">
          <a:xfrm>
            <a:off x="2394714" y="2257835"/>
            <a:ext cx="7399705" cy="371436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TextBox 2">
            <a:extLst>
              <a:ext uri="{FF2B5EF4-FFF2-40B4-BE49-F238E27FC236}">
                <a16:creationId xmlns:a16="http://schemas.microsoft.com/office/drawing/2014/main" id="{2C77A0B9-B216-D50C-CD24-334EA1C1115D}"/>
              </a:ext>
            </a:extLst>
          </p:cNvPr>
          <p:cNvSpPr txBox="1"/>
          <p:nvPr/>
        </p:nvSpPr>
        <p:spPr>
          <a:xfrm>
            <a:off x="932033" y="985522"/>
            <a:ext cx="10515600" cy="1602746"/>
          </a:xfrm>
          <a:prstGeom prst="rect">
            <a:avLst/>
          </a:prstGeom>
          <a:noFill/>
        </p:spPr>
        <p:txBody>
          <a:bodyPr wrap="square" rtlCol="0">
            <a:spAutoFit/>
          </a:bodyPr>
          <a:lstStyle/>
          <a:p>
            <a:pPr marL="285750" indent="-285750">
              <a:lnSpc>
                <a:spcPts val="3000"/>
              </a:lnSpc>
              <a:buFont typeface="Arial" panose="020B0604020202020204" pitchFamily="34" charset="0"/>
              <a:buChar char="•"/>
            </a:pPr>
            <a:r>
              <a:rPr lang="en-US" altLang="ko-KR" sz="2000" dirty="0"/>
              <a:t>A layered architecture has been developed within AUTOSAR to enable a clear and structured interface definition and a well defined abstraction of the hardware.</a:t>
            </a:r>
          </a:p>
          <a:p>
            <a:pPr marL="285750" indent="-285750">
              <a:lnSpc>
                <a:spcPts val="3000"/>
              </a:lnSpc>
              <a:buFont typeface="Arial" panose="020B0604020202020204" pitchFamily="34" charset="0"/>
              <a:buChar char="•"/>
            </a:pPr>
            <a:r>
              <a:rPr lang="en-US" altLang="ko-KR" sz="2000" dirty="0"/>
              <a:t>The architecture is structured in </a:t>
            </a:r>
            <a:r>
              <a:rPr lang="en-US" altLang="ko-KR" sz="2000" b="1" dirty="0"/>
              <a:t>5 layers plus the Complex Drivers</a:t>
            </a:r>
            <a:r>
              <a:rPr lang="en-US" altLang="ko-KR" sz="2000" dirty="0"/>
              <a:t>.</a:t>
            </a:r>
          </a:p>
          <a:p>
            <a:pPr marL="285750" indent="-285750">
              <a:lnSpc>
                <a:spcPts val="3000"/>
              </a:lnSpc>
              <a:buFont typeface="Arial" panose="020B0604020202020204" pitchFamily="34" charset="0"/>
              <a:buChar char="•"/>
            </a:pPr>
            <a:endParaRPr lang="ko-KR" altLang="en-US" sz="2000" dirty="0"/>
          </a:p>
        </p:txBody>
      </p:sp>
    </p:spTree>
    <p:extLst>
      <p:ext uri="{BB962C8B-B14F-4D97-AF65-F5344CB8AC3E}">
        <p14:creationId xmlns:p14="http://schemas.microsoft.com/office/powerpoint/2010/main" val="9071833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9880FAE4-784B-C197-E1FF-D0E51C21E2E6}"/>
              </a:ext>
            </a:extLst>
          </p:cNvPr>
          <p:cNvSpPr>
            <a:spLocks noGrp="1"/>
          </p:cNvSpPr>
          <p:nvPr>
            <p:ph type="title"/>
          </p:nvPr>
        </p:nvSpPr>
        <p:spPr/>
        <p:txBody>
          <a:bodyPr>
            <a:normAutofit fontScale="90000"/>
          </a:bodyPr>
          <a:lstStyle/>
          <a:p>
            <a:r>
              <a:rPr lang="en-US" altLang="ko-KR" dirty="0"/>
              <a:t>Basic SW Architecture</a:t>
            </a:r>
            <a:endParaRPr lang="ko-KR" altLang="en-US" dirty="0"/>
          </a:p>
        </p:txBody>
      </p:sp>
      <p:sp>
        <p:nvSpPr>
          <p:cNvPr id="4" name="날짜 개체 틀 3">
            <a:extLst>
              <a:ext uri="{FF2B5EF4-FFF2-40B4-BE49-F238E27FC236}">
                <a16:creationId xmlns:a16="http://schemas.microsoft.com/office/drawing/2014/main" id="{A596A1DD-4FEC-4B01-2088-06D3D621B6B6}"/>
              </a:ext>
            </a:extLst>
          </p:cNvPr>
          <p:cNvSpPr>
            <a:spLocks noGrp="1"/>
          </p:cNvSpPr>
          <p:nvPr>
            <p:ph type="dt" sz="half" idx="10"/>
          </p:nvPr>
        </p:nvSpPr>
        <p:spPr/>
        <p:txBody>
          <a:bodyPr/>
          <a:lstStyle/>
          <a:p>
            <a:fld id="{9539328B-81D7-470F-B07E-C60C8A68D98A}" type="datetime1">
              <a:rPr lang="en-US" altLang="ko-KR" smtClean="0"/>
              <a:t>4/12/2026</a:t>
            </a:fld>
            <a:endParaRPr lang="en-US"/>
          </a:p>
        </p:txBody>
      </p:sp>
      <p:sp>
        <p:nvSpPr>
          <p:cNvPr id="5" name="바닥글 개체 틀 4">
            <a:extLst>
              <a:ext uri="{FF2B5EF4-FFF2-40B4-BE49-F238E27FC236}">
                <a16:creationId xmlns:a16="http://schemas.microsoft.com/office/drawing/2014/main" id="{EF53327E-80B0-3814-BC65-F9E6AE6DEE3C}"/>
              </a:ext>
            </a:extLst>
          </p:cNvPr>
          <p:cNvSpPr>
            <a:spLocks noGrp="1"/>
          </p:cNvSpPr>
          <p:nvPr>
            <p:ph type="ftr" sz="quarter" idx="11"/>
          </p:nvPr>
        </p:nvSpPr>
        <p:spPr/>
        <p:txBody>
          <a:bodyPr/>
          <a:lstStyle/>
          <a:p>
            <a:r>
              <a:rPr lang="en-US"/>
              <a:t>2023 Copyright </a:t>
            </a:r>
            <a:r>
              <a:rPr lang="ko-KR" altLang="en-US"/>
              <a:t>ⓒ </a:t>
            </a:r>
            <a:r>
              <a:rPr lang="en-US" altLang="ko-KR"/>
              <a:t>Autonomous Vehicle Lab</a:t>
            </a:r>
            <a:endParaRPr lang="en-US" dirty="0"/>
          </a:p>
        </p:txBody>
      </p:sp>
      <p:sp>
        <p:nvSpPr>
          <p:cNvPr id="6" name="슬라이드 번호 개체 틀 5">
            <a:extLst>
              <a:ext uri="{FF2B5EF4-FFF2-40B4-BE49-F238E27FC236}">
                <a16:creationId xmlns:a16="http://schemas.microsoft.com/office/drawing/2014/main" id="{946EF6C8-6C2E-7CD0-48F5-6ED4A1466CAE}"/>
              </a:ext>
            </a:extLst>
          </p:cNvPr>
          <p:cNvSpPr>
            <a:spLocks noGrp="1"/>
          </p:cNvSpPr>
          <p:nvPr>
            <p:ph type="sldNum" sz="quarter" idx="12"/>
          </p:nvPr>
        </p:nvSpPr>
        <p:spPr/>
        <p:txBody>
          <a:bodyPr/>
          <a:lstStyle/>
          <a:p>
            <a:fld id="{55635D17-9D19-4B1E-86C2-B9D6296E4AF7}" type="slidenum">
              <a:rPr lang="en-US" smtClean="0"/>
              <a:pPr/>
              <a:t>40</a:t>
            </a:fld>
            <a:endParaRPr lang="en-US" dirty="0"/>
          </a:p>
        </p:txBody>
      </p:sp>
      <p:pic>
        <p:nvPicPr>
          <p:cNvPr id="3" name="Picture 2">
            <a:extLst>
              <a:ext uri="{FF2B5EF4-FFF2-40B4-BE49-F238E27FC236}">
                <a16:creationId xmlns:a16="http://schemas.microsoft.com/office/drawing/2014/main" id="{E9A1FE83-FBE6-08BA-1383-1138190B783C}"/>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25678"/>
          <a:stretch>
            <a:fillRect/>
          </a:stretch>
        </p:blipFill>
        <p:spPr bwMode="auto">
          <a:xfrm>
            <a:off x="2394794" y="2236166"/>
            <a:ext cx="7380820" cy="37462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TextBox 6">
            <a:extLst>
              <a:ext uri="{FF2B5EF4-FFF2-40B4-BE49-F238E27FC236}">
                <a16:creationId xmlns:a16="http://schemas.microsoft.com/office/drawing/2014/main" id="{13C308E5-D5A2-A684-CCFD-2B206DEFD3F0}"/>
              </a:ext>
            </a:extLst>
          </p:cNvPr>
          <p:cNvSpPr txBox="1"/>
          <p:nvPr/>
        </p:nvSpPr>
        <p:spPr>
          <a:xfrm>
            <a:off x="927398" y="1009738"/>
            <a:ext cx="9763715" cy="1602746"/>
          </a:xfrm>
          <a:prstGeom prst="rect">
            <a:avLst/>
          </a:prstGeom>
          <a:noFill/>
        </p:spPr>
        <p:txBody>
          <a:bodyPr wrap="square" rtlCol="0">
            <a:spAutoFit/>
          </a:bodyPr>
          <a:lstStyle/>
          <a:p>
            <a:pPr marL="285750" indent="-285750">
              <a:lnSpc>
                <a:spcPts val="3000"/>
              </a:lnSpc>
              <a:buFont typeface="Arial" panose="020B0604020202020204" pitchFamily="34" charset="0"/>
              <a:buChar char="•"/>
            </a:pPr>
            <a:r>
              <a:rPr lang="en-US" altLang="ko-KR" sz="2000" b="1" dirty="0"/>
              <a:t>Refined Layered Architecture (Basic Software)</a:t>
            </a:r>
          </a:p>
          <a:p>
            <a:pPr marL="285750" indent="-285750">
              <a:lnSpc>
                <a:spcPts val="3000"/>
              </a:lnSpc>
              <a:buFont typeface="Arial" panose="020B0604020202020204" pitchFamily="34" charset="0"/>
              <a:buChar char="•"/>
            </a:pPr>
            <a:r>
              <a:rPr lang="en-US" altLang="ko-KR" sz="2000" dirty="0"/>
              <a:t>The layered architecture has been further refined in the area of Basic Software. Around 80 Basic Software modules have been defined (11 main blocks plus Complex Drivers).</a:t>
            </a:r>
          </a:p>
          <a:p>
            <a:pPr marL="285750" indent="-285750">
              <a:lnSpc>
                <a:spcPts val="3000"/>
              </a:lnSpc>
              <a:buFont typeface="Arial" panose="020B0604020202020204" pitchFamily="34" charset="0"/>
              <a:buChar char="•"/>
            </a:pPr>
            <a:endParaRPr lang="ko-KR" altLang="en-US" sz="2000" dirty="0"/>
          </a:p>
        </p:txBody>
      </p:sp>
    </p:spTree>
    <p:extLst>
      <p:ext uri="{BB962C8B-B14F-4D97-AF65-F5344CB8AC3E}">
        <p14:creationId xmlns:p14="http://schemas.microsoft.com/office/powerpoint/2010/main" val="15769941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9880FAE4-784B-C197-E1FF-D0E51C21E2E6}"/>
              </a:ext>
            </a:extLst>
          </p:cNvPr>
          <p:cNvSpPr>
            <a:spLocks noGrp="1"/>
          </p:cNvSpPr>
          <p:nvPr>
            <p:ph type="title"/>
          </p:nvPr>
        </p:nvSpPr>
        <p:spPr/>
        <p:txBody>
          <a:bodyPr>
            <a:normAutofit fontScale="90000"/>
          </a:bodyPr>
          <a:lstStyle/>
          <a:p>
            <a:r>
              <a:rPr lang="en-US" altLang="ko-KR" dirty="0"/>
              <a:t>Microcontroller Abstraction Layer(MCAL)</a:t>
            </a:r>
            <a:endParaRPr lang="ko-KR" altLang="en-US" dirty="0"/>
          </a:p>
        </p:txBody>
      </p:sp>
      <p:sp>
        <p:nvSpPr>
          <p:cNvPr id="4" name="날짜 개체 틀 3">
            <a:extLst>
              <a:ext uri="{FF2B5EF4-FFF2-40B4-BE49-F238E27FC236}">
                <a16:creationId xmlns:a16="http://schemas.microsoft.com/office/drawing/2014/main" id="{A596A1DD-4FEC-4B01-2088-06D3D621B6B6}"/>
              </a:ext>
            </a:extLst>
          </p:cNvPr>
          <p:cNvSpPr>
            <a:spLocks noGrp="1"/>
          </p:cNvSpPr>
          <p:nvPr>
            <p:ph type="dt" sz="half" idx="10"/>
          </p:nvPr>
        </p:nvSpPr>
        <p:spPr/>
        <p:txBody>
          <a:bodyPr/>
          <a:lstStyle/>
          <a:p>
            <a:fld id="{9539328B-81D7-470F-B07E-C60C8A68D98A}" type="datetime1">
              <a:rPr lang="en-US" altLang="ko-KR" smtClean="0"/>
              <a:t>4/12/2026</a:t>
            </a:fld>
            <a:endParaRPr lang="en-US"/>
          </a:p>
        </p:txBody>
      </p:sp>
      <p:sp>
        <p:nvSpPr>
          <p:cNvPr id="5" name="바닥글 개체 틀 4">
            <a:extLst>
              <a:ext uri="{FF2B5EF4-FFF2-40B4-BE49-F238E27FC236}">
                <a16:creationId xmlns:a16="http://schemas.microsoft.com/office/drawing/2014/main" id="{EF53327E-80B0-3814-BC65-F9E6AE6DEE3C}"/>
              </a:ext>
            </a:extLst>
          </p:cNvPr>
          <p:cNvSpPr>
            <a:spLocks noGrp="1"/>
          </p:cNvSpPr>
          <p:nvPr>
            <p:ph type="ftr" sz="quarter" idx="11"/>
          </p:nvPr>
        </p:nvSpPr>
        <p:spPr/>
        <p:txBody>
          <a:bodyPr/>
          <a:lstStyle/>
          <a:p>
            <a:r>
              <a:rPr lang="en-US"/>
              <a:t>2023 Copyright </a:t>
            </a:r>
            <a:r>
              <a:rPr lang="ko-KR" altLang="en-US"/>
              <a:t>ⓒ </a:t>
            </a:r>
            <a:r>
              <a:rPr lang="en-US" altLang="ko-KR"/>
              <a:t>Autonomous Vehicle Lab</a:t>
            </a:r>
            <a:endParaRPr lang="en-US" dirty="0"/>
          </a:p>
        </p:txBody>
      </p:sp>
      <p:sp>
        <p:nvSpPr>
          <p:cNvPr id="6" name="슬라이드 번호 개체 틀 5">
            <a:extLst>
              <a:ext uri="{FF2B5EF4-FFF2-40B4-BE49-F238E27FC236}">
                <a16:creationId xmlns:a16="http://schemas.microsoft.com/office/drawing/2014/main" id="{946EF6C8-6C2E-7CD0-48F5-6ED4A1466CAE}"/>
              </a:ext>
            </a:extLst>
          </p:cNvPr>
          <p:cNvSpPr>
            <a:spLocks noGrp="1"/>
          </p:cNvSpPr>
          <p:nvPr>
            <p:ph type="sldNum" sz="quarter" idx="12"/>
          </p:nvPr>
        </p:nvSpPr>
        <p:spPr/>
        <p:txBody>
          <a:bodyPr/>
          <a:lstStyle/>
          <a:p>
            <a:fld id="{55635D17-9D19-4B1E-86C2-B9D6296E4AF7}" type="slidenum">
              <a:rPr lang="en-US" smtClean="0"/>
              <a:pPr/>
              <a:t>41</a:t>
            </a:fld>
            <a:endParaRPr lang="en-US" dirty="0"/>
          </a:p>
        </p:txBody>
      </p:sp>
      <p:sp>
        <p:nvSpPr>
          <p:cNvPr id="7" name="TextBox 6">
            <a:extLst>
              <a:ext uri="{FF2B5EF4-FFF2-40B4-BE49-F238E27FC236}">
                <a16:creationId xmlns:a16="http://schemas.microsoft.com/office/drawing/2014/main" id="{EFE12F5A-B768-D04F-8C87-F9BF3941C396}"/>
              </a:ext>
            </a:extLst>
          </p:cNvPr>
          <p:cNvSpPr txBox="1"/>
          <p:nvPr/>
        </p:nvSpPr>
        <p:spPr>
          <a:xfrm>
            <a:off x="927700" y="1025887"/>
            <a:ext cx="10353421" cy="4739759"/>
          </a:xfrm>
          <a:prstGeom prst="rect">
            <a:avLst/>
          </a:prstGeom>
          <a:noFill/>
        </p:spPr>
        <p:txBody>
          <a:bodyPr wrap="square" rtlCol="0">
            <a:spAutoFit/>
          </a:bodyPr>
          <a:lstStyle/>
          <a:p>
            <a:pPr marL="342900" indent="-342900">
              <a:buFont typeface="Arial" panose="020B0604020202020204" pitchFamily="34" charset="0"/>
              <a:buChar char="•"/>
            </a:pPr>
            <a:r>
              <a:rPr lang="en-US" altLang="ko-KR" sz="2000" dirty="0"/>
              <a:t>Access to the microcontroller registers is routed through the </a:t>
            </a:r>
            <a:r>
              <a:rPr lang="en-US" altLang="ko-KR" sz="2000" b="1" dirty="0"/>
              <a:t>Microcontroller Abstraction Layer (MCAL)</a:t>
            </a:r>
            <a:r>
              <a:rPr lang="en-US" altLang="ko-KR" sz="2000" dirty="0"/>
              <a:t>.</a:t>
            </a:r>
          </a:p>
          <a:p>
            <a:pPr marL="342900" indent="-342900">
              <a:buFont typeface="Arial" panose="020B0604020202020204" pitchFamily="34" charset="0"/>
              <a:buChar char="•"/>
            </a:pPr>
            <a:r>
              <a:rPr lang="en-US" altLang="ko-KR" sz="2000" dirty="0"/>
              <a:t>MCAL is a hardware specific layer that ensures a standard interface to the Basic Software. It manages the microcontroller peripherals and provides the components of the Basic Software with microcontroller independent values. MCAL implements notification mechanisms to support the distribution of commands, responses and information to processes.</a:t>
            </a:r>
          </a:p>
          <a:p>
            <a:pPr marL="342900" indent="-342900">
              <a:buFont typeface="Arial" panose="020B0604020202020204" pitchFamily="34" charset="0"/>
              <a:buChar char="•"/>
            </a:pPr>
            <a:r>
              <a:rPr lang="en-US" altLang="ko-KR" sz="2000" b="1" dirty="0"/>
              <a:t>It can include:</a:t>
            </a:r>
          </a:p>
          <a:p>
            <a:pPr marL="800100" lvl="1" indent="-342900">
              <a:buFont typeface="Arial" panose="020B0604020202020204" pitchFamily="34" charset="0"/>
              <a:buChar char="•"/>
            </a:pPr>
            <a:r>
              <a:rPr lang="en-US" altLang="ko-KR" dirty="0"/>
              <a:t>Digital I/O (DIO)</a:t>
            </a:r>
          </a:p>
          <a:p>
            <a:pPr marL="800100" lvl="1" indent="-342900">
              <a:buFont typeface="Arial" panose="020B0604020202020204" pitchFamily="34" charset="0"/>
              <a:buChar char="•"/>
            </a:pPr>
            <a:r>
              <a:rPr lang="en-US" altLang="ko-KR" dirty="0"/>
              <a:t>Analog/Digital Converter (ADC)</a:t>
            </a:r>
          </a:p>
          <a:p>
            <a:pPr marL="800100" lvl="1" indent="-342900">
              <a:buFont typeface="Arial" panose="020B0604020202020204" pitchFamily="34" charset="0"/>
              <a:buChar char="•"/>
            </a:pPr>
            <a:r>
              <a:rPr lang="en-US" altLang="ko-KR" dirty="0"/>
              <a:t>Pulse Width (De)Modulator (PWM, PWD)</a:t>
            </a:r>
          </a:p>
          <a:p>
            <a:pPr marL="800100" lvl="1" indent="-342900">
              <a:buFont typeface="Arial" panose="020B0604020202020204" pitchFamily="34" charset="0"/>
              <a:buChar char="•"/>
            </a:pPr>
            <a:r>
              <a:rPr lang="en-US" altLang="ko-KR" dirty="0"/>
              <a:t>EEPROM (EEP)</a:t>
            </a:r>
          </a:p>
          <a:p>
            <a:pPr marL="800100" lvl="1" indent="-342900">
              <a:buFont typeface="Arial" panose="020B0604020202020204" pitchFamily="34" charset="0"/>
              <a:buChar char="•"/>
            </a:pPr>
            <a:r>
              <a:rPr lang="en-US" altLang="ko-KR" dirty="0"/>
              <a:t>Flash (FLS)</a:t>
            </a:r>
          </a:p>
          <a:p>
            <a:pPr marL="800100" lvl="1" indent="-342900">
              <a:buFont typeface="Arial" panose="020B0604020202020204" pitchFamily="34" charset="0"/>
              <a:buChar char="•"/>
            </a:pPr>
            <a:r>
              <a:rPr lang="en-US" altLang="ko-KR" dirty="0"/>
              <a:t>Capture Compare Unit (CCU)</a:t>
            </a:r>
          </a:p>
          <a:p>
            <a:pPr marL="800100" lvl="1" indent="-342900">
              <a:buFont typeface="Arial" panose="020B0604020202020204" pitchFamily="34" charset="0"/>
              <a:buChar char="•"/>
            </a:pPr>
            <a:r>
              <a:rPr lang="en-US" altLang="ko-KR" dirty="0"/>
              <a:t>Watchdog Timer (WDT)</a:t>
            </a:r>
          </a:p>
          <a:p>
            <a:pPr marL="800100" lvl="1" indent="-342900">
              <a:buFont typeface="Arial" panose="020B0604020202020204" pitchFamily="34" charset="0"/>
              <a:buChar char="•"/>
            </a:pPr>
            <a:r>
              <a:rPr lang="en-US" altLang="ko-KR" dirty="0"/>
              <a:t>Serial Peripheral Interface (SPI)</a:t>
            </a:r>
          </a:p>
          <a:p>
            <a:pPr marL="800100" lvl="1" indent="-342900">
              <a:buFont typeface="Arial" panose="020B0604020202020204" pitchFamily="34" charset="0"/>
              <a:buChar char="•"/>
            </a:pPr>
            <a:r>
              <a:rPr lang="en-US" altLang="ko-KR" dirty="0"/>
              <a:t>I2C Bus (IIC)</a:t>
            </a:r>
          </a:p>
        </p:txBody>
      </p:sp>
    </p:spTree>
    <p:extLst>
      <p:ext uri="{BB962C8B-B14F-4D97-AF65-F5344CB8AC3E}">
        <p14:creationId xmlns:p14="http://schemas.microsoft.com/office/powerpoint/2010/main" val="182752291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9880FAE4-784B-C197-E1FF-D0E51C21E2E6}"/>
              </a:ext>
            </a:extLst>
          </p:cNvPr>
          <p:cNvSpPr>
            <a:spLocks noGrp="1"/>
          </p:cNvSpPr>
          <p:nvPr>
            <p:ph type="title"/>
          </p:nvPr>
        </p:nvSpPr>
        <p:spPr/>
        <p:txBody>
          <a:bodyPr>
            <a:normAutofit fontScale="90000"/>
          </a:bodyPr>
          <a:lstStyle/>
          <a:p>
            <a:r>
              <a:rPr lang="en-US" altLang="ko-KR" dirty="0"/>
              <a:t>Microcontroller Abstraction Layer(MCAL)</a:t>
            </a:r>
            <a:endParaRPr lang="ko-KR" altLang="en-US" dirty="0"/>
          </a:p>
        </p:txBody>
      </p:sp>
      <p:sp>
        <p:nvSpPr>
          <p:cNvPr id="4" name="날짜 개체 틀 3">
            <a:extLst>
              <a:ext uri="{FF2B5EF4-FFF2-40B4-BE49-F238E27FC236}">
                <a16:creationId xmlns:a16="http://schemas.microsoft.com/office/drawing/2014/main" id="{A596A1DD-4FEC-4B01-2088-06D3D621B6B6}"/>
              </a:ext>
            </a:extLst>
          </p:cNvPr>
          <p:cNvSpPr>
            <a:spLocks noGrp="1"/>
          </p:cNvSpPr>
          <p:nvPr>
            <p:ph type="dt" sz="half" idx="10"/>
          </p:nvPr>
        </p:nvSpPr>
        <p:spPr/>
        <p:txBody>
          <a:bodyPr/>
          <a:lstStyle/>
          <a:p>
            <a:fld id="{9539328B-81D7-470F-B07E-C60C8A68D98A}" type="datetime1">
              <a:rPr lang="en-US" altLang="ko-KR" smtClean="0"/>
              <a:t>4/12/2026</a:t>
            </a:fld>
            <a:endParaRPr lang="en-US"/>
          </a:p>
        </p:txBody>
      </p:sp>
      <p:sp>
        <p:nvSpPr>
          <p:cNvPr id="5" name="바닥글 개체 틀 4">
            <a:extLst>
              <a:ext uri="{FF2B5EF4-FFF2-40B4-BE49-F238E27FC236}">
                <a16:creationId xmlns:a16="http://schemas.microsoft.com/office/drawing/2014/main" id="{EF53327E-80B0-3814-BC65-F9E6AE6DEE3C}"/>
              </a:ext>
            </a:extLst>
          </p:cNvPr>
          <p:cNvSpPr>
            <a:spLocks noGrp="1"/>
          </p:cNvSpPr>
          <p:nvPr>
            <p:ph type="ftr" sz="quarter" idx="11"/>
          </p:nvPr>
        </p:nvSpPr>
        <p:spPr/>
        <p:txBody>
          <a:bodyPr/>
          <a:lstStyle/>
          <a:p>
            <a:r>
              <a:rPr lang="en-US"/>
              <a:t>2023 Copyright </a:t>
            </a:r>
            <a:r>
              <a:rPr lang="ko-KR" altLang="en-US"/>
              <a:t>ⓒ </a:t>
            </a:r>
            <a:r>
              <a:rPr lang="en-US" altLang="ko-KR"/>
              <a:t>Autonomous Vehicle Lab</a:t>
            </a:r>
            <a:endParaRPr lang="en-US" dirty="0"/>
          </a:p>
        </p:txBody>
      </p:sp>
      <p:sp>
        <p:nvSpPr>
          <p:cNvPr id="6" name="슬라이드 번호 개체 틀 5">
            <a:extLst>
              <a:ext uri="{FF2B5EF4-FFF2-40B4-BE49-F238E27FC236}">
                <a16:creationId xmlns:a16="http://schemas.microsoft.com/office/drawing/2014/main" id="{946EF6C8-6C2E-7CD0-48F5-6ED4A1466CAE}"/>
              </a:ext>
            </a:extLst>
          </p:cNvPr>
          <p:cNvSpPr>
            <a:spLocks noGrp="1"/>
          </p:cNvSpPr>
          <p:nvPr>
            <p:ph type="sldNum" sz="quarter" idx="12"/>
          </p:nvPr>
        </p:nvSpPr>
        <p:spPr/>
        <p:txBody>
          <a:bodyPr/>
          <a:lstStyle/>
          <a:p>
            <a:fld id="{55635D17-9D19-4B1E-86C2-B9D6296E4AF7}" type="slidenum">
              <a:rPr lang="en-US" smtClean="0"/>
              <a:pPr/>
              <a:t>42</a:t>
            </a:fld>
            <a:endParaRPr lang="en-US" dirty="0"/>
          </a:p>
        </p:txBody>
      </p:sp>
      <p:pic>
        <p:nvPicPr>
          <p:cNvPr id="7" name="Picture 2">
            <a:extLst>
              <a:ext uri="{FF2B5EF4-FFF2-40B4-BE49-F238E27FC236}">
                <a16:creationId xmlns:a16="http://schemas.microsoft.com/office/drawing/2014/main" id="{D0C9190C-03DA-5DB4-20CC-4C5B6C72BC6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32441"/>
          <a:stretch>
            <a:fillRect/>
          </a:stretch>
        </p:blipFill>
        <p:spPr bwMode="auto">
          <a:xfrm>
            <a:off x="2064354" y="2164487"/>
            <a:ext cx="8051990" cy="340534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2" name="TextBox 11">
            <a:extLst>
              <a:ext uri="{FF2B5EF4-FFF2-40B4-BE49-F238E27FC236}">
                <a16:creationId xmlns:a16="http://schemas.microsoft.com/office/drawing/2014/main" id="{2DD9A72D-D25C-AB8B-9F21-78A7E50911B2}"/>
              </a:ext>
            </a:extLst>
          </p:cNvPr>
          <p:cNvSpPr txBox="1"/>
          <p:nvPr/>
        </p:nvSpPr>
        <p:spPr>
          <a:xfrm>
            <a:off x="923068" y="966220"/>
            <a:ext cx="10101736" cy="1218026"/>
          </a:xfrm>
          <a:prstGeom prst="rect">
            <a:avLst/>
          </a:prstGeom>
          <a:noFill/>
        </p:spPr>
        <p:txBody>
          <a:bodyPr wrap="square" rtlCol="0">
            <a:spAutoFit/>
          </a:bodyPr>
          <a:lstStyle/>
          <a:p>
            <a:pPr marL="342900" indent="-342900">
              <a:lnSpc>
                <a:spcPts val="3000"/>
              </a:lnSpc>
              <a:buFont typeface="Arial" panose="020B0604020202020204" pitchFamily="34" charset="0"/>
              <a:buChar char="•"/>
            </a:pPr>
            <a:r>
              <a:rPr lang="en-US" altLang="ko-KR" sz="2000" dirty="0"/>
              <a:t>The Microcontroller Abstraction Layer is the lowest layer of the Basic Software. It contains drivers, with direct access to the micro-Computer internal peripherals and memory mapped micro-Computer external devices.</a:t>
            </a:r>
            <a:endParaRPr lang="ko-KR" altLang="en-US" sz="2000" dirty="0"/>
          </a:p>
        </p:txBody>
      </p:sp>
    </p:spTree>
    <p:extLst>
      <p:ext uri="{BB962C8B-B14F-4D97-AF65-F5344CB8AC3E}">
        <p14:creationId xmlns:p14="http://schemas.microsoft.com/office/powerpoint/2010/main" val="227241420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9880FAE4-784B-C197-E1FF-D0E51C21E2E6}"/>
              </a:ext>
            </a:extLst>
          </p:cNvPr>
          <p:cNvSpPr>
            <a:spLocks noGrp="1"/>
          </p:cNvSpPr>
          <p:nvPr>
            <p:ph type="title"/>
          </p:nvPr>
        </p:nvSpPr>
        <p:spPr/>
        <p:txBody>
          <a:bodyPr>
            <a:normAutofit fontScale="90000"/>
          </a:bodyPr>
          <a:lstStyle/>
          <a:p>
            <a:r>
              <a:rPr lang="en-US" altLang="ko-KR" dirty="0"/>
              <a:t>ECU Abstraction Layer</a:t>
            </a:r>
            <a:endParaRPr lang="ko-KR" altLang="en-US" dirty="0"/>
          </a:p>
        </p:txBody>
      </p:sp>
      <p:sp>
        <p:nvSpPr>
          <p:cNvPr id="4" name="날짜 개체 틀 3">
            <a:extLst>
              <a:ext uri="{FF2B5EF4-FFF2-40B4-BE49-F238E27FC236}">
                <a16:creationId xmlns:a16="http://schemas.microsoft.com/office/drawing/2014/main" id="{A596A1DD-4FEC-4B01-2088-06D3D621B6B6}"/>
              </a:ext>
            </a:extLst>
          </p:cNvPr>
          <p:cNvSpPr>
            <a:spLocks noGrp="1"/>
          </p:cNvSpPr>
          <p:nvPr>
            <p:ph type="dt" sz="half" idx="10"/>
          </p:nvPr>
        </p:nvSpPr>
        <p:spPr/>
        <p:txBody>
          <a:bodyPr/>
          <a:lstStyle/>
          <a:p>
            <a:fld id="{9539328B-81D7-470F-B07E-C60C8A68D98A}" type="datetime1">
              <a:rPr lang="en-US" altLang="ko-KR" smtClean="0"/>
              <a:t>4/12/2026</a:t>
            </a:fld>
            <a:endParaRPr lang="en-US"/>
          </a:p>
        </p:txBody>
      </p:sp>
      <p:sp>
        <p:nvSpPr>
          <p:cNvPr id="5" name="바닥글 개체 틀 4">
            <a:extLst>
              <a:ext uri="{FF2B5EF4-FFF2-40B4-BE49-F238E27FC236}">
                <a16:creationId xmlns:a16="http://schemas.microsoft.com/office/drawing/2014/main" id="{EF53327E-80B0-3814-BC65-F9E6AE6DEE3C}"/>
              </a:ext>
            </a:extLst>
          </p:cNvPr>
          <p:cNvSpPr>
            <a:spLocks noGrp="1"/>
          </p:cNvSpPr>
          <p:nvPr>
            <p:ph type="ftr" sz="quarter" idx="11"/>
          </p:nvPr>
        </p:nvSpPr>
        <p:spPr/>
        <p:txBody>
          <a:bodyPr/>
          <a:lstStyle/>
          <a:p>
            <a:r>
              <a:rPr lang="en-US"/>
              <a:t>2023 Copyright </a:t>
            </a:r>
            <a:r>
              <a:rPr lang="ko-KR" altLang="en-US"/>
              <a:t>ⓒ </a:t>
            </a:r>
            <a:r>
              <a:rPr lang="en-US" altLang="ko-KR"/>
              <a:t>Autonomous Vehicle Lab</a:t>
            </a:r>
            <a:endParaRPr lang="en-US" dirty="0"/>
          </a:p>
        </p:txBody>
      </p:sp>
      <p:sp>
        <p:nvSpPr>
          <p:cNvPr id="6" name="슬라이드 번호 개체 틀 5">
            <a:extLst>
              <a:ext uri="{FF2B5EF4-FFF2-40B4-BE49-F238E27FC236}">
                <a16:creationId xmlns:a16="http://schemas.microsoft.com/office/drawing/2014/main" id="{946EF6C8-6C2E-7CD0-48F5-6ED4A1466CAE}"/>
              </a:ext>
            </a:extLst>
          </p:cNvPr>
          <p:cNvSpPr>
            <a:spLocks noGrp="1"/>
          </p:cNvSpPr>
          <p:nvPr>
            <p:ph type="sldNum" sz="quarter" idx="12"/>
          </p:nvPr>
        </p:nvSpPr>
        <p:spPr/>
        <p:txBody>
          <a:bodyPr/>
          <a:lstStyle/>
          <a:p>
            <a:fld id="{55635D17-9D19-4B1E-86C2-B9D6296E4AF7}" type="slidenum">
              <a:rPr lang="en-US" smtClean="0"/>
              <a:pPr/>
              <a:t>43</a:t>
            </a:fld>
            <a:endParaRPr lang="en-US" dirty="0"/>
          </a:p>
        </p:txBody>
      </p:sp>
      <p:pic>
        <p:nvPicPr>
          <p:cNvPr id="3" name="Picture 2">
            <a:extLst>
              <a:ext uri="{FF2B5EF4-FFF2-40B4-BE49-F238E27FC236}">
                <a16:creationId xmlns:a16="http://schemas.microsoft.com/office/drawing/2014/main" id="{7CE28CFD-8DE5-353C-8124-8E3D6546EDE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26609"/>
          <a:stretch>
            <a:fillRect/>
          </a:stretch>
        </p:blipFill>
        <p:spPr bwMode="auto">
          <a:xfrm>
            <a:off x="2292975" y="2136489"/>
            <a:ext cx="7603058" cy="380501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TextBox 6">
            <a:extLst>
              <a:ext uri="{FF2B5EF4-FFF2-40B4-BE49-F238E27FC236}">
                <a16:creationId xmlns:a16="http://schemas.microsoft.com/office/drawing/2014/main" id="{F086C066-5226-EA7E-42D4-6FAE7CA4C8A6}"/>
              </a:ext>
            </a:extLst>
          </p:cNvPr>
          <p:cNvSpPr txBox="1"/>
          <p:nvPr/>
        </p:nvSpPr>
        <p:spPr>
          <a:xfrm>
            <a:off x="914400" y="1059515"/>
            <a:ext cx="10474430" cy="967957"/>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en-US" altLang="ko-KR" sz="2000" dirty="0"/>
              <a:t>The </a:t>
            </a:r>
            <a:r>
              <a:rPr lang="en-US" altLang="ko-KR" sz="2000" b="1" dirty="0"/>
              <a:t>ECU Abstraction Layer</a:t>
            </a:r>
            <a:r>
              <a:rPr lang="en-US" altLang="ko-KR" sz="2000" dirty="0"/>
              <a:t> provides a software interface to the electrical values of any specific ECU in order to decouple higher-level software from all underlying hardware dependencies.</a:t>
            </a:r>
            <a:endParaRPr lang="ko-KR" altLang="en-US" sz="2000" dirty="0"/>
          </a:p>
        </p:txBody>
      </p:sp>
    </p:spTree>
    <p:extLst>
      <p:ext uri="{BB962C8B-B14F-4D97-AF65-F5344CB8AC3E}">
        <p14:creationId xmlns:p14="http://schemas.microsoft.com/office/powerpoint/2010/main" val="33606259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9880FAE4-784B-C197-E1FF-D0E51C21E2E6}"/>
              </a:ext>
            </a:extLst>
          </p:cNvPr>
          <p:cNvSpPr>
            <a:spLocks noGrp="1"/>
          </p:cNvSpPr>
          <p:nvPr>
            <p:ph type="title"/>
          </p:nvPr>
        </p:nvSpPr>
        <p:spPr/>
        <p:txBody>
          <a:bodyPr>
            <a:normAutofit fontScale="90000"/>
          </a:bodyPr>
          <a:lstStyle/>
          <a:p>
            <a:r>
              <a:rPr lang="en-US" altLang="ko-KR" dirty="0"/>
              <a:t>ECU Abstraction Layer</a:t>
            </a:r>
            <a:endParaRPr lang="ko-KR" altLang="en-US" dirty="0"/>
          </a:p>
        </p:txBody>
      </p:sp>
      <p:sp>
        <p:nvSpPr>
          <p:cNvPr id="4" name="날짜 개체 틀 3">
            <a:extLst>
              <a:ext uri="{FF2B5EF4-FFF2-40B4-BE49-F238E27FC236}">
                <a16:creationId xmlns:a16="http://schemas.microsoft.com/office/drawing/2014/main" id="{A596A1DD-4FEC-4B01-2088-06D3D621B6B6}"/>
              </a:ext>
            </a:extLst>
          </p:cNvPr>
          <p:cNvSpPr>
            <a:spLocks noGrp="1"/>
          </p:cNvSpPr>
          <p:nvPr>
            <p:ph type="dt" sz="half" idx="10"/>
          </p:nvPr>
        </p:nvSpPr>
        <p:spPr/>
        <p:txBody>
          <a:bodyPr/>
          <a:lstStyle/>
          <a:p>
            <a:fld id="{9539328B-81D7-470F-B07E-C60C8A68D98A}" type="datetime1">
              <a:rPr lang="en-US" altLang="ko-KR" smtClean="0"/>
              <a:t>4/12/2026</a:t>
            </a:fld>
            <a:endParaRPr lang="en-US"/>
          </a:p>
        </p:txBody>
      </p:sp>
      <p:sp>
        <p:nvSpPr>
          <p:cNvPr id="5" name="바닥글 개체 틀 4">
            <a:extLst>
              <a:ext uri="{FF2B5EF4-FFF2-40B4-BE49-F238E27FC236}">
                <a16:creationId xmlns:a16="http://schemas.microsoft.com/office/drawing/2014/main" id="{EF53327E-80B0-3814-BC65-F9E6AE6DEE3C}"/>
              </a:ext>
            </a:extLst>
          </p:cNvPr>
          <p:cNvSpPr>
            <a:spLocks noGrp="1"/>
          </p:cNvSpPr>
          <p:nvPr>
            <p:ph type="ftr" sz="quarter" idx="11"/>
          </p:nvPr>
        </p:nvSpPr>
        <p:spPr/>
        <p:txBody>
          <a:bodyPr/>
          <a:lstStyle/>
          <a:p>
            <a:r>
              <a:rPr lang="en-US"/>
              <a:t>2023 Copyright </a:t>
            </a:r>
            <a:r>
              <a:rPr lang="ko-KR" altLang="en-US"/>
              <a:t>ⓒ </a:t>
            </a:r>
            <a:r>
              <a:rPr lang="en-US" altLang="ko-KR"/>
              <a:t>Autonomous Vehicle Lab</a:t>
            </a:r>
            <a:endParaRPr lang="en-US" dirty="0"/>
          </a:p>
        </p:txBody>
      </p:sp>
      <p:sp>
        <p:nvSpPr>
          <p:cNvPr id="6" name="슬라이드 번호 개체 틀 5">
            <a:extLst>
              <a:ext uri="{FF2B5EF4-FFF2-40B4-BE49-F238E27FC236}">
                <a16:creationId xmlns:a16="http://schemas.microsoft.com/office/drawing/2014/main" id="{946EF6C8-6C2E-7CD0-48F5-6ED4A1466CAE}"/>
              </a:ext>
            </a:extLst>
          </p:cNvPr>
          <p:cNvSpPr>
            <a:spLocks noGrp="1"/>
          </p:cNvSpPr>
          <p:nvPr>
            <p:ph type="sldNum" sz="quarter" idx="12"/>
          </p:nvPr>
        </p:nvSpPr>
        <p:spPr/>
        <p:txBody>
          <a:bodyPr/>
          <a:lstStyle/>
          <a:p>
            <a:fld id="{55635D17-9D19-4B1E-86C2-B9D6296E4AF7}" type="slidenum">
              <a:rPr lang="en-US" smtClean="0"/>
              <a:pPr/>
              <a:t>44</a:t>
            </a:fld>
            <a:endParaRPr lang="en-US" dirty="0"/>
          </a:p>
        </p:txBody>
      </p:sp>
      <p:grpSp>
        <p:nvGrpSpPr>
          <p:cNvPr id="7" name="그룹 6">
            <a:extLst>
              <a:ext uri="{FF2B5EF4-FFF2-40B4-BE49-F238E27FC236}">
                <a16:creationId xmlns:a16="http://schemas.microsoft.com/office/drawing/2014/main" id="{97E9A473-5B39-DE27-F8F6-D1A7E40D81E7}"/>
              </a:ext>
            </a:extLst>
          </p:cNvPr>
          <p:cNvGrpSpPr/>
          <p:nvPr/>
        </p:nvGrpSpPr>
        <p:grpSpPr>
          <a:xfrm>
            <a:off x="603218" y="916942"/>
            <a:ext cx="7331724" cy="4529967"/>
            <a:chOff x="611560" y="1340768"/>
            <a:chExt cx="8064896" cy="4982964"/>
          </a:xfrm>
        </p:grpSpPr>
        <p:pic>
          <p:nvPicPr>
            <p:cNvPr id="8" name="Picture 2">
              <a:extLst>
                <a:ext uri="{FF2B5EF4-FFF2-40B4-BE49-F238E27FC236}">
                  <a16:creationId xmlns:a16="http://schemas.microsoft.com/office/drawing/2014/main" id="{C3EBECEF-925C-E167-C006-6F1CD1C6326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4724" y="1484784"/>
              <a:ext cx="7941732" cy="483894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9" name="직사각형 8">
              <a:extLst>
                <a:ext uri="{FF2B5EF4-FFF2-40B4-BE49-F238E27FC236}">
                  <a16:creationId xmlns:a16="http://schemas.microsoft.com/office/drawing/2014/main" id="{24724CB4-12D2-BCD8-92D0-4FC8F2E6BDAC}"/>
                </a:ext>
              </a:extLst>
            </p:cNvPr>
            <p:cNvSpPr/>
            <p:nvPr/>
          </p:nvSpPr>
          <p:spPr bwMode="auto">
            <a:xfrm>
              <a:off x="611560" y="1340768"/>
              <a:ext cx="3816424" cy="864096"/>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ko-KR" altLang="en-US" sz="1800" b="0" i="0" u="none" strike="noStrike" cap="none" normalizeH="0" baseline="0">
                <a:ln>
                  <a:noFill/>
                </a:ln>
                <a:solidFill>
                  <a:schemeClr val="tx1"/>
                </a:solidFill>
                <a:effectLst/>
                <a:latin typeface="Arial" charset="0"/>
              </a:endParaRPr>
            </a:p>
          </p:txBody>
        </p:sp>
      </p:grpSp>
      <p:pic>
        <p:nvPicPr>
          <p:cNvPr id="10" name="Picture 2">
            <a:extLst>
              <a:ext uri="{FF2B5EF4-FFF2-40B4-BE49-F238E27FC236}">
                <a16:creationId xmlns:a16="http://schemas.microsoft.com/office/drawing/2014/main" id="{2843D514-09D4-A932-A31F-2CAF17DD679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13718" y="1961196"/>
            <a:ext cx="3285568" cy="363345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0954034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9880FAE4-784B-C197-E1FF-D0E51C21E2E6}"/>
              </a:ext>
            </a:extLst>
          </p:cNvPr>
          <p:cNvSpPr>
            <a:spLocks noGrp="1"/>
          </p:cNvSpPr>
          <p:nvPr>
            <p:ph type="title"/>
          </p:nvPr>
        </p:nvSpPr>
        <p:spPr/>
        <p:txBody>
          <a:bodyPr>
            <a:normAutofit fontScale="90000"/>
          </a:bodyPr>
          <a:lstStyle/>
          <a:p>
            <a:r>
              <a:rPr lang="en-US" altLang="ko-KR" dirty="0"/>
              <a:t>ECU Abstraction Layer</a:t>
            </a:r>
            <a:endParaRPr lang="ko-KR" altLang="en-US" dirty="0"/>
          </a:p>
        </p:txBody>
      </p:sp>
      <p:sp>
        <p:nvSpPr>
          <p:cNvPr id="4" name="날짜 개체 틀 3">
            <a:extLst>
              <a:ext uri="{FF2B5EF4-FFF2-40B4-BE49-F238E27FC236}">
                <a16:creationId xmlns:a16="http://schemas.microsoft.com/office/drawing/2014/main" id="{A596A1DD-4FEC-4B01-2088-06D3D621B6B6}"/>
              </a:ext>
            </a:extLst>
          </p:cNvPr>
          <p:cNvSpPr>
            <a:spLocks noGrp="1"/>
          </p:cNvSpPr>
          <p:nvPr>
            <p:ph type="dt" sz="half" idx="10"/>
          </p:nvPr>
        </p:nvSpPr>
        <p:spPr/>
        <p:txBody>
          <a:bodyPr/>
          <a:lstStyle/>
          <a:p>
            <a:fld id="{9539328B-81D7-470F-B07E-C60C8A68D98A}" type="datetime1">
              <a:rPr lang="en-US" altLang="ko-KR" smtClean="0"/>
              <a:t>4/12/2026</a:t>
            </a:fld>
            <a:endParaRPr lang="en-US"/>
          </a:p>
        </p:txBody>
      </p:sp>
      <p:sp>
        <p:nvSpPr>
          <p:cNvPr id="5" name="바닥글 개체 틀 4">
            <a:extLst>
              <a:ext uri="{FF2B5EF4-FFF2-40B4-BE49-F238E27FC236}">
                <a16:creationId xmlns:a16="http://schemas.microsoft.com/office/drawing/2014/main" id="{EF53327E-80B0-3814-BC65-F9E6AE6DEE3C}"/>
              </a:ext>
            </a:extLst>
          </p:cNvPr>
          <p:cNvSpPr>
            <a:spLocks noGrp="1"/>
          </p:cNvSpPr>
          <p:nvPr>
            <p:ph type="ftr" sz="quarter" idx="11"/>
          </p:nvPr>
        </p:nvSpPr>
        <p:spPr/>
        <p:txBody>
          <a:bodyPr/>
          <a:lstStyle/>
          <a:p>
            <a:r>
              <a:rPr lang="en-US"/>
              <a:t>2023 Copyright </a:t>
            </a:r>
            <a:r>
              <a:rPr lang="ko-KR" altLang="en-US"/>
              <a:t>ⓒ </a:t>
            </a:r>
            <a:r>
              <a:rPr lang="en-US" altLang="ko-KR"/>
              <a:t>Autonomous Vehicle Lab</a:t>
            </a:r>
            <a:endParaRPr lang="en-US" dirty="0"/>
          </a:p>
        </p:txBody>
      </p:sp>
      <p:sp>
        <p:nvSpPr>
          <p:cNvPr id="6" name="슬라이드 번호 개체 틀 5">
            <a:extLst>
              <a:ext uri="{FF2B5EF4-FFF2-40B4-BE49-F238E27FC236}">
                <a16:creationId xmlns:a16="http://schemas.microsoft.com/office/drawing/2014/main" id="{946EF6C8-6C2E-7CD0-48F5-6ED4A1466CAE}"/>
              </a:ext>
            </a:extLst>
          </p:cNvPr>
          <p:cNvSpPr>
            <a:spLocks noGrp="1"/>
          </p:cNvSpPr>
          <p:nvPr>
            <p:ph type="sldNum" sz="quarter" idx="12"/>
          </p:nvPr>
        </p:nvSpPr>
        <p:spPr/>
        <p:txBody>
          <a:bodyPr/>
          <a:lstStyle/>
          <a:p>
            <a:fld id="{55635D17-9D19-4B1E-86C2-B9D6296E4AF7}" type="slidenum">
              <a:rPr lang="en-US" smtClean="0"/>
              <a:pPr/>
              <a:t>45</a:t>
            </a:fld>
            <a:endParaRPr lang="en-US" dirty="0"/>
          </a:p>
        </p:txBody>
      </p:sp>
      <p:grpSp>
        <p:nvGrpSpPr>
          <p:cNvPr id="3" name="그룹 2">
            <a:extLst>
              <a:ext uri="{FF2B5EF4-FFF2-40B4-BE49-F238E27FC236}">
                <a16:creationId xmlns:a16="http://schemas.microsoft.com/office/drawing/2014/main" id="{291F3F7C-80CD-BFBD-72BD-21CC2D3BA00A}"/>
              </a:ext>
            </a:extLst>
          </p:cNvPr>
          <p:cNvGrpSpPr/>
          <p:nvPr/>
        </p:nvGrpSpPr>
        <p:grpSpPr>
          <a:xfrm>
            <a:off x="943259" y="866518"/>
            <a:ext cx="6943438" cy="4883365"/>
            <a:chOff x="822650" y="1441674"/>
            <a:chExt cx="7637782" cy="5371702"/>
          </a:xfrm>
        </p:grpSpPr>
        <p:pic>
          <p:nvPicPr>
            <p:cNvPr id="11" name="Picture 2">
              <a:extLst>
                <a:ext uri="{FF2B5EF4-FFF2-40B4-BE49-F238E27FC236}">
                  <a16:creationId xmlns:a16="http://schemas.microsoft.com/office/drawing/2014/main" id="{EB1DDC03-B561-4F11-0C26-FD8BB4779DE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2650" y="1441674"/>
              <a:ext cx="7637782" cy="537170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2" name="직사각형 11">
              <a:extLst>
                <a:ext uri="{FF2B5EF4-FFF2-40B4-BE49-F238E27FC236}">
                  <a16:creationId xmlns:a16="http://schemas.microsoft.com/office/drawing/2014/main" id="{852D2C43-CB12-D460-0207-04B07939524B}"/>
                </a:ext>
              </a:extLst>
            </p:cNvPr>
            <p:cNvSpPr/>
            <p:nvPr/>
          </p:nvSpPr>
          <p:spPr bwMode="auto">
            <a:xfrm>
              <a:off x="822650" y="1441674"/>
              <a:ext cx="3533326" cy="907206"/>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ko-KR" altLang="en-US" sz="1800" b="0" i="0" u="none" strike="noStrike" cap="none" normalizeH="0" baseline="0">
                <a:ln>
                  <a:noFill/>
                </a:ln>
                <a:solidFill>
                  <a:schemeClr val="tx1"/>
                </a:solidFill>
                <a:effectLst/>
                <a:latin typeface="Arial" charset="0"/>
              </a:endParaRPr>
            </a:p>
          </p:txBody>
        </p:sp>
      </p:grpSp>
      <p:pic>
        <p:nvPicPr>
          <p:cNvPr id="13" name="Picture 2">
            <a:extLst>
              <a:ext uri="{FF2B5EF4-FFF2-40B4-BE49-F238E27FC236}">
                <a16:creationId xmlns:a16="http://schemas.microsoft.com/office/drawing/2014/main" id="{0CAD6032-0C8A-20EE-21AA-13480B839F4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883368" y="1967344"/>
            <a:ext cx="3049311" cy="35089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77085271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9880FAE4-784B-C197-E1FF-D0E51C21E2E6}"/>
              </a:ext>
            </a:extLst>
          </p:cNvPr>
          <p:cNvSpPr>
            <a:spLocks noGrp="1"/>
          </p:cNvSpPr>
          <p:nvPr>
            <p:ph type="title"/>
          </p:nvPr>
        </p:nvSpPr>
        <p:spPr/>
        <p:txBody>
          <a:bodyPr>
            <a:normAutofit fontScale="90000"/>
          </a:bodyPr>
          <a:lstStyle/>
          <a:p>
            <a:r>
              <a:rPr lang="en-US" altLang="ko-KR" dirty="0"/>
              <a:t>ECU Abstraction Layer</a:t>
            </a:r>
            <a:endParaRPr lang="ko-KR" altLang="en-US" dirty="0"/>
          </a:p>
        </p:txBody>
      </p:sp>
      <p:sp>
        <p:nvSpPr>
          <p:cNvPr id="4" name="날짜 개체 틀 3">
            <a:extLst>
              <a:ext uri="{FF2B5EF4-FFF2-40B4-BE49-F238E27FC236}">
                <a16:creationId xmlns:a16="http://schemas.microsoft.com/office/drawing/2014/main" id="{A596A1DD-4FEC-4B01-2088-06D3D621B6B6}"/>
              </a:ext>
            </a:extLst>
          </p:cNvPr>
          <p:cNvSpPr>
            <a:spLocks noGrp="1"/>
          </p:cNvSpPr>
          <p:nvPr>
            <p:ph type="dt" sz="half" idx="10"/>
          </p:nvPr>
        </p:nvSpPr>
        <p:spPr/>
        <p:txBody>
          <a:bodyPr/>
          <a:lstStyle/>
          <a:p>
            <a:fld id="{9539328B-81D7-470F-B07E-C60C8A68D98A}" type="datetime1">
              <a:rPr lang="en-US" altLang="ko-KR" smtClean="0"/>
              <a:t>4/12/2026</a:t>
            </a:fld>
            <a:endParaRPr lang="en-US"/>
          </a:p>
        </p:txBody>
      </p:sp>
      <p:sp>
        <p:nvSpPr>
          <p:cNvPr id="5" name="바닥글 개체 틀 4">
            <a:extLst>
              <a:ext uri="{FF2B5EF4-FFF2-40B4-BE49-F238E27FC236}">
                <a16:creationId xmlns:a16="http://schemas.microsoft.com/office/drawing/2014/main" id="{EF53327E-80B0-3814-BC65-F9E6AE6DEE3C}"/>
              </a:ext>
            </a:extLst>
          </p:cNvPr>
          <p:cNvSpPr>
            <a:spLocks noGrp="1"/>
          </p:cNvSpPr>
          <p:nvPr>
            <p:ph type="ftr" sz="quarter" idx="11"/>
          </p:nvPr>
        </p:nvSpPr>
        <p:spPr/>
        <p:txBody>
          <a:bodyPr/>
          <a:lstStyle/>
          <a:p>
            <a:r>
              <a:rPr lang="en-US"/>
              <a:t>2023 Copyright </a:t>
            </a:r>
            <a:r>
              <a:rPr lang="ko-KR" altLang="en-US"/>
              <a:t>ⓒ </a:t>
            </a:r>
            <a:r>
              <a:rPr lang="en-US" altLang="ko-KR"/>
              <a:t>Autonomous Vehicle Lab</a:t>
            </a:r>
            <a:endParaRPr lang="en-US" dirty="0"/>
          </a:p>
        </p:txBody>
      </p:sp>
      <p:sp>
        <p:nvSpPr>
          <p:cNvPr id="6" name="슬라이드 번호 개체 틀 5">
            <a:extLst>
              <a:ext uri="{FF2B5EF4-FFF2-40B4-BE49-F238E27FC236}">
                <a16:creationId xmlns:a16="http://schemas.microsoft.com/office/drawing/2014/main" id="{946EF6C8-6C2E-7CD0-48F5-6ED4A1466CAE}"/>
              </a:ext>
            </a:extLst>
          </p:cNvPr>
          <p:cNvSpPr>
            <a:spLocks noGrp="1"/>
          </p:cNvSpPr>
          <p:nvPr>
            <p:ph type="sldNum" sz="quarter" idx="12"/>
          </p:nvPr>
        </p:nvSpPr>
        <p:spPr/>
        <p:txBody>
          <a:bodyPr/>
          <a:lstStyle/>
          <a:p>
            <a:fld id="{55635D17-9D19-4B1E-86C2-B9D6296E4AF7}" type="slidenum">
              <a:rPr lang="en-US" smtClean="0"/>
              <a:pPr/>
              <a:t>46</a:t>
            </a:fld>
            <a:endParaRPr lang="en-US" dirty="0"/>
          </a:p>
        </p:txBody>
      </p:sp>
      <p:pic>
        <p:nvPicPr>
          <p:cNvPr id="17" name="그림 16">
            <a:extLst>
              <a:ext uri="{FF2B5EF4-FFF2-40B4-BE49-F238E27FC236}">
                <a16:creationId xmlns:a16="http://schemas.microsoft.com/office/drawing/2014/main" id="{64BF8BE7-3C34-ED2B-005E-DA35B1F9D608}"/>
              </a:ext>
            </a:extLst>
          </p:cNvPr>
          <p:cNvPicPr>
            <a:picLocks noChangeAspect="1"/>
          </p:cNvPicPr>
          <p:nvPr/>
        </p:nvPicPr>
        <p:blipFill>
          <a:blip r:embed="rId2"/>
          <a:stretch>
            <a:fillRect/>
          </a:stretch>
        </p:blipFill>
        <p:spPr>
          <a:xfrm>
            <a:off x="820960" y="916726"/>
            <a:ext cx="7053835" cy="3572264"/>
          </a:xfrm>
          <a:prstGeom prst="rect">
            <a:avLst/>
          </a:prstGeom>
        </p:spPr>
      </p:pic>
      <p:pic>
        <p:nvPicPr>
          <p:cNvPr id="18" name="Picture 3">
            <a:extLst>
              <a:ext uri="{FF2B5EF4-FFF2-40B4-BE49-F238E27FC236}">
                <a16:creationId xmlns:a16="http://schemas.microsoft.com/office/drawing/2014/main" id="{1F7F9A5C-46C7-1EC5-3839-263B6ABF6EC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03424" y="1962783"/>
            <a:ext cx="2596832" cy="373777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64054429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9880FAE4-784B-C197-E1FF-D0E51C21E2E6}"/>
              </a:ext>
            </a:extLst>
          </p:cNvPr>
          <p:cNvSpPr>
            <a:spLocks noGrp="1"/>
          </p:cNvSpPr>
          <p:nvPr>
            <p:ph type="title"/>
          </p:nvPr>
        </p:nvSpPr>
        <p:spPr/>
        <p:txBody>
          <a:bodyPr>
            <a:normAutofit fontScale="90000"/>
          </a:bodyPr>
          <a:lstStyle/>
          <a:p>
            <a:r>
              <a:rPr lang="en-US" altLang="ko-KR" dirty="0"/>
              <a:t>ECU Abstraction Layer</a:t>
            </a:r>
            <a:endParaRPr lang="ko-KR" altLang="en-US" dirty="0"/>
          </a:p>
        </p:txBody>
      </p:sp>
      <p:sp>
        <p:nvSpPr>
          <p:cNvPr id="4" name="날짜 개체 틀 3">
            <a:extLst>
              <a:ext uri="{FF2B5EF4-FFF2-40B4-BE49-F238E27FC236}">
                <a16:creationId xmlns:a16="http://schemas.microsoft.com/office/drawing/2014/main" id="{A596A1DD-4FEC-4B01-2088-06D3D621B6B6}"/>
              </a:ext>
            </a:extLst>
          </p:cNvPr>
          <p:cNvSpPr>
            <a:spLocks noGrp="1"/>
          </p:cNvSpPr>
          <p:nvPr>
            <p:ph type="dt" sz="half" idx="10"/>
          </p:nvPr>
        </p:nvSpPr>
        <p:spPr/>
        <p:txBody>
          <a:bodyPr/>
          <a:lstStyle/>
          <a:p>
            <a:fld id="{9539328B-81D7-470F-B07E-C60C8A68D98A}" type="datetime1">
              <a:rPr lang="en-US" altLang="ko-KR" smtClean="0"/>
              <a:t>4/12/2026</a:t>
            </a:fld>
            <a:endParaRPr lang="en-US"/>
          </a:p>
        </p:txBody>
      </p:sp>
      <p:sp>
        <p:nvSpPr>
          <p:cNvPr id="5" name="바닥글 개체 틀 4">
            <a:extLst>
              <a:ext uri="{FF2B5EF4-FFF2-40B4-BE49-F238E27FC236}">
                <a16:creationId xmlns:a16="http://schemas.microsoft.com/office/drawing/2014/main" id="{EF53327E-80B0-3814-BC65-F9E6AE6DEE3C}"/>
              </a:ext>
            </a:extLst>
          </p:cNvPr>
          <p:cNvSpPr>
            <a:spLocks noGrp="1"/>
          </p:cNvSpPr>
          <p:nvPr>
            <p:ph type="ftr" sz="quarter" idx="11"/>
          </p:nvPr>
        </p:nvSpPr>
        <p:spPr/>
        <p:txBody>
          <a:bodyPr/>
          <a:lstStyle/>
          <a:p>
            <a:r>
              <a:rPr lang="en-US"/>
              <a:t>2023 Copyright </a:t>
            </a:r>
            <a:r>
              <a:rPr lang="ko-KR" altLang="en-US"/>
              <a:t>ⓒ </a:t>
            </a:r>
            <a:r>
              <a:rPr lang="en-US" altLang="ko-KR"/>
              <a:t>Autonomous Vehicle Lab</a:t>
            </a:r>
            <a:endParaRPr lang="en-US" dirty="0"/>
          </a:p>
        </p:txBody>
      </p:sp>
      <p:sp>
        <p:nvSpPr>
          <p:cNvPr id="6" name="슬라이드 번호 개체 틀 5">
            <a:extLst>
              <a:ext uri="{FF2B5EF4-FFF2-40B4-BE49-F238E27FC236}">
                <a16:creationId xmlns:a16="http://schemas.microsoft.com/office/drawing/2014/main" id="{946EF6C8-6C2E-7CD0-48F5-6ED4A1466CAE}"/>
              </a:ext>
            </a:extLst>
          </p:cNvPr>
          <p:cNvSpPr>
            <a:spLocks noGrp="1"/>
          </p:cNvSpPr>
          <p:nvPr>
            <p:ph type="sldNum" sz="quarter" idx="12"/>
          </p:nvPr>
        </p:nvSpPr>
        <p:spPr/>
        <p:txBody>
          <a:bodyPr/>
          <a:lstStyle/>
          <a:p>
            <a:fld id="{55635D17-9D19-4B1E-86C2-B9D6296E4AF7}" type="slidenum">
              <a:rPr lang="en-US" smtClean="0"/>
              <a:pPr/>
              <a:t>47</a:t>
            </a:fld>
            <a:endParaRPr lang="en-US" dirty="0"/>
          </a:p>
        </p:txBody>
      </p:sp>
      <p:grpSp>
        <p:nvGrpSpPr>
          <p:cNvPr id="3" name="그룹 2">
            <a:extLst>
              <a:ext uri="{FF2B5EF4-FFF2-40B4-BE49-F238E27FC236}">
                <a16:creationId xmlns:a16="http://schemas.microsoft.com/office/drawing/2014/main" id="{A0F479E1-3A5C-482B-0EC2-19EDD0FD2F9D}"/>
              </a:ext>
            </a:extLst>
          </p:cNvPr>
          <p:cNvGrpSpPr/>
          <p:nvPr/>
        </p:nvGrpSpPr>
        <p:grpSpPr>
          <a:xfrm>
            <a:off x="781473" y="1347921"/>
            <a:ext cx="7724495" cy="3329756"/>
            <a:chOff x="323528" y="2142532"/>
            <a:chExt cx="8496944" cy="3662732"/>
          </a:xfrm>
        </p:grpSpPr>
        <p:pic>
          <p:nvPicPr>
            <p:cNvPr id="7" name="Picture 2">
              <a:extLst>
                <a:ext uri="{FF2B5EF4-FFF2-40B4-BE49-F238E27FC236}">
                  <a16:creationId xmlns:a16="http://schemas.microsoft.com/office/drawing/2014/main" id="{9DD9C1C0-1A8F-66B6-29E6-40FB24ABDCA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528" y="2142532"/>
              <a:ext cx="8496944" cy="366273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 name="직사각형 7">
              <a:extLst>
                <a:ext uri="{FF2B5EF4-FFF2-40B4-BE49-F238E27FC236}">
                  <a16:creationId xmlns:a16="http://schemas.microsoft.com/office/drawing/2014/main" id="{56D824E7-85C1-D555-D43D-3CF285C1513A}"/>
                </a:ext>
              </a:extLst>
            </p:cNvPr>
            <p:cNvSpPr/>
            <p:nvPr/>
          </p:nvSpPr>
          <p:spPr bwMode="auto">
            <a:xfrm>
              <a:off x="467544" y="2204864"/>
              <a:ext cx="3744416" cy="864096"/>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ko-KR" altLang="en-US" sz="1800" b="0" i="0" u="none" strike="noStrike" cap="none" normalizeH="0" baseline="0">
                <a:ln>
                  <a:noFill/>
                </a:ln>
                <a:solidFill>
                  <a:schemeClr val="tx1"/>
                </a:solidFill>
                <a:effectLst/>
                <a:latin typeface="Arial" charset="0"/>
              </a:endParaRPr>
            </a:p>
          </p:txBody>
        </p:sp>
      </p:grpSp>
      <p:pic>
        <p:nvPicPr>
          <p:cNvPr id="9" name="Picture 2">
            <a:extLst>
              <a:ext uri="{FF2B5EF4-FFF2-40B4-BE49-F238E27FC236}">
                <a16:creationId xmlns:a16="http://schemas.microsoft.com/office/drawing/2014/main" id="{A459A0B4-A2BC-D890-07CA-BBE188C36A1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848861" y="1925668"/>
            <a:ext cx="2953385" cy="34427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02068383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9880FAE4-784B-C197-E1FF-D0E51C21E2E6}"/>
              </a:ext>
            </a:extLst>
          </p:cNvPr>
          <p:cNvSpPr>
            <a:spLocks noGrp="1"/>
          </p:cNvSpPr>
          <p:nvPr>
            <p:ph type="title"/>
          </p:nvPr>
        </p:nvSpPr>
        <p:spPr/>
        <p:txBody>
          <a:bodyPr>
            <a:normAutofit fontScale="90000"/>
          </a:bodyPr>
          <a:lstStyle/>
          <a:p>
            <a:r>
              <a:rPr lang="en-US" altLang="ko-KR" dirty="0"/>
              <a:t>Service Layer</a:t>
            </a:r>
            <a:endParaRPr lang="ko-KR" altLang="en-US" dirty="0"/>
          </a:p>
        </p:txBody>
      </p:sp>
      <p:sp>
        <p:nvSpPr>
          <p:cNvPr id="4" name="날짜 개체 틀 3">
            <a:extLst>
              <a:ext uri="{FF2B5EF4-FFF2-40B4-BE49-F238E27FC236}">
                <a16:creationId xmlns:a16="http://schemas.microsoft.com/office/drawing/2014/main" id="{A596A1DD-4FEC-4B01-2088-06D3D621B6B6}"/>
              </a:ext>
            </a:extLst>
          </p:cNvPr>
          <p:cNvSpPr>
            <a:spLocks noGrp="1"/>
          </p:cNvSpPr>
          <p:nvPr>
            <p:ph type="dt" sz="half" idx="10"/>
          </p:nvPr>
        </p:nvSpPr>
        <p:spPr/>
        <p:txBody>
          <a:bodyPr/>
          <a:lstStyle/>
          <a:p>
            <a:fld id="{9539328B-81D7-470F-B07E-C60C8A68D98A}" type="datetime1">
              <a:rPr lang="en-US" altLang="ko-KR" smtClean="0"/>
              <a:t>4/12/2026</a:t>
            </a:fld>
            <a:endParaRPr lang="en-US"/>
          </a:p>
        </p:txBody>
      </p:sp>
      <p:sp>
        <p:nvSpPr>
          <p:cNvPr id="5" name="바닥글 개체 틀 4">
            <a:extLst>
              <a:ext uri="{FF2B5EF4-FFF2-40B4-BE49-F238E27FC236}">
                <a16:creationId xmlns:a16="http://schemas.microsoft.com/office/drawing/2014/main" id="{EF53327E-80B0-3814-BC65-F9E6AE6DEE3C}"/>
              </a:ext>
            </a:extLst>
          </p:cNvPr>
          <p:cNvSpPr>
            <a:spLocks noGrp="1"/>
          </p:cNvSpPr>
          <p:nvPr>
            <p:ph type="ftr" sz="quarter" idx="11"/>
          </p:nvPr>
        </p:nvSpPr>
        <p:spPr/>
        <p:txBody>
          <a:bodyPr/>
          <a:lstStyle/>
          <a:p>
            <a:r>
              <a:rPr lang="en-US"/>
              <a:t>2023 Copyright </a:t>
            </a:r>
            <a:r>
              <a:rPr lang="ko-KR" altLang="en-US"/>
              <a:t>ⓒ </a:t>
            </a:r>
            <a:r>
              <a:rPr lang="en-US" altLang="ko-KR"/>
              <a:t>Autonomous Vehicle Lab</a:t>
            </a:r>
            <a:endParaRPr lang="en-US" dirty="0"/>
          </a:p>
        </p:txBody>
      </p:sp>
      <p:sp>
        <p:nvSpPr>
          <p:cNvPr id="6" name="슬라이드 번호 개체 틀 5">
            <a:extLst>
              <a:ext uri="{FF2B5EF4-FFF2-40B4-BE49-F238E27FC236}">
                <a16:creationId xmlns:a16="http://schemas.microsoft.com/office/drawing/2014/main" id="{946EF6C8-6C2E-7CD0-48F5-6ED4A1466CAE}"/>
              </a:ext>
            </a:extLst>
          </p:cNvPr>
          <p:cNvSpPr>
            <a:spLocks noGrp="1"/>
          </p:cNvSpPr>
          <p:nvPr>
            <p:ph type="sldNum" sz="quarter" idx="12"/>
          </p:nvPr>
        </p:nvSpPr>
        <p:spPr/>
        <p:txBody>
          <a:bodyPr/>
          <a:lstStyle/>
          <a:p>
            <a:fld id="{55635D17-9D19-4B1E-86C2-B9D6296E4AF7}" type="slidenum">
              <a:rPr lang="en-US" smtClean="0"/>
              <a:pPr/>
              <a:t>48</a:t>
            </a:fld>
            <a:endParaRPr lang="en-US" dirty="0"/>
          </a:p>
        </p:txBody>
      </p:sp>
      <p:pic>
        <p:nvPicPr>
          <p:cNvPr id="10" name="Picture 2">
            <a:extLst>
              <a:ext uri="{FF2B5EF4-FFF2-40B4-BE49-F238E27FC236}">
                <a16:creationId xmlns:a16="http://schemas.microsoft.com/office/drawing/2014/main" id="{5BCBB7B8-E6F7-F3CB-6069-EA94BB24082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67610" y="857800"/>
            <a:ext cx="7060432" cy="472537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45785245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9880FAE4-784B-C197-E1FF-D0E51C21E2E6}"/>
              </a:ext>
            </a:extLst>
          </p:cNvPr>
          <p:cNvSpPr>
            <a:spLocks noGrp="1"/>
          </p:cNvSpPr>
          <p:nvPr>
            <p:ph type="title"/>
          </p:nvPr>
        </p:nvSpPr>
        <p:spPr/>
        <p:txBody>
          <a:bodyPr>
            <a:normAutofit fontScale="90000"/>
          </a:bodyPr>
          <a:lstStyle/>
          <a:p>
            <a:r>
              <a:rPr lang="en-US" altLang="ko-KR" dirty="0"/>
              <a:t>Service Layer – Communication </a:t>
            </a:r>
            <a:endParaRPr lang="ko-KR" altLang="en-US" dirty="0"/>
          </a:p>
        </p:txBody>
      </p:sp>
      <p:sp>
        <p:nvSpPr>
          <p:cNvPr id="4" name="날짜 개체 틀 3">
            <a:extLst>
              <a:ext uri="{FF2B5EF4-FFF2-40B4-BE49-F238E27FC236}">
                <a16:creationId xmlns:a16="http://schemas.microsoft.com/office/drawing/2014/main" id="{A596A1DD-4FEC-4B01-2088-06D3D621B6B6}"/>
              </a:ext>
            </a:extLst>
          </p:cNvPr>
          <p:cNvSpPr>
            <a:spLocks noGrp="1"/>
          </p:cNvSpPr>
          <p:nvPr>
            <p:ph type="dt" sz="half" idx="10"/>
          </p:nvPr>
        </p:nvSpPr>
        <p:spPr/>
        <p:txBody>
          <a:bodyPr/>
          <a:lstStyle/>
          <a:p>
            <a:fld id="{9539328B-81D7-470F-B07E-C60C8A68D98A}" type="datetime1">
              <a:rPr lang="en-US" altLang="ko-KR" smtClean="0"/>
              <a:t>4/12/2026</a:t>
            </a:fld>
            <a:endParaRPr lang="en-US"/>
          </a:p>
        </p:txBody>
      </p:sp>
      <p:sp>
        <p:nvSpPr>
          <p:cNvPr id="5" name="바닥글 개체 틀 4">
            <a:extLst>
              <a:ext uri="{FF2B5EF4-FFF2-40B4-BE49-F238E27FC236}">
                <a16:creationId xmlns:a16="http://schemas.microsoft.com/office/drawing/2014/main" id="{EF53327E-80B0-3814-BC65-F9E6AE6DEE3C}"/>
              </a:ext>
            </a:extLst>
          </p:cNvPr>
          <p:cNvSpPr>
            <a:spLocks noGrp="1"/>
          </p:cNvSpPr>
          <p:nvPr>
            <p:ph type="ftr" sz="quarter" idx="11"/>
          </p:nvPr>
        </p:nvSpPr>
        <p:spPr/>
        <p:txBody>
          <a:bodyPr/>
          <a:lstStyle/>
          <a:p>
            <a:r>
              <a:rPr lang="en-US"/>
              <a:t>2023 Copyright </a:t>
            </a:r>
            <a:r>
              <a:rPr lang="ko-KR" altLang="en-US"/>
              <a:t>ⓒ </a:t>
            </a:r>
            <a:r>
              <a:rPr lang="en-US" altLang="ko-KR"/>
              <a:t>Autonomous Vehicle Lab</a:t>
            </a:r>
            <a:endParaRPr lang="en-US" dirty="0"/>
          </a:p>
        </p:txBody>
      </p:sp>
      <p:sp>
        <p:nvSpPr>
          <p:cNvPr id="6" name="슬라이드 번호 개체 틀 5">
            <a:extLst>
              <a:ext uri="{FF2B5EF4-FFF2-40B4-BE49-F238E27FC236}">
                <a16:creationId xmlns:a16="http://schemas.microsoft.com/office/drawing/2014/main" id="{946EF6C8-6C2E-7CD0-48F5-6ED4A1466CAE}"/>
              </a:ext>
            </a:extLst>
          </p:cNvPr>
          <p:cNvSpPr>
            <a:spLocks noGrp="1"/>
          </p:cNvSpPr>
          <p:nvPr>
            <p:ph type="sldNum" sz="quarter" idx="12"/>
          </p:nvPr>
        </p:nvSpPr>
        <p:spPr/>
        <p:txBody>
          <a:bodyPr/>
          <a:lstStyle/>
          <a:p>
            <a:fld id="{55635D17-9D19-4B1E-86C2-B9D6296E4AF7}" type="slidenum">
              <a:rPr lang="en-US" smtClean="0"/>
              <a:pPr/>
              <a:t>49</a:t>
            </a:fld>
            <a:endParaRPr lang="en-US" dirty="0"/>
          </a:p>
        </p:txBody>
      </p:sp>
      <p:sp>
        <p:nvSpPr>
          <p:cNvPr id="3" name="TextBox 2">
            <a:extLst>
              <a:ext uri="{FF2B5EF4-FFF2-40B4-BE49-F238E27FC236}">
                <a16:creationId xmlns:a16="http://schemas.microsoft.com/office/drawing/2014/main" id="{2C21A450-0C54-95DB-E4E0-FE6CD5E442CA}"/>
              </a:ext>
            </a:extLst>
          </p:cNvPr>
          <p:cNvSpPr txBox="1"/>
          <p:nvPr/>
        </p:nvSpPr>
        <p:spPr>
          <a:xfrm>
            <a:off x="923072" y="1083411"/>
            <a:ext cx="6539476" cy="4708981"/>
          </a:xfrm>
          <a:prstGeom prst="rect">
            <a:avLst/>
          </a:prstGeom>
          <a:noFill/>
        </p:spPr>
        <p:txBody>
          <a:bodyPr wrap="square" rtlCol="0">
            <a:spAutoFit/>
          </a:bodyPr>
          <a:lstStyle/>
          <a:p>
            <a:pPr marL="342900" indent="-342900">
              <a:buFont typeface="Arial" panose="020B0604020202020204" pitchFamily="34" charset="0"/>
              <a:buChar char="•"/>
            </a:pPr>
            <a:r>
              <a:rPr lang="en-US" altLang="ko-KR" sz="2000" dirty="0"/>
              <a:t>The communication services are a group of modules for vehicle network communication (</a:t>
            </a:r>
            <a:r>
              <a:rPr lang="en-US" altLang="ko-KR" sz="2000" b="1" dirty="0"/>
              <a:t>CAN, LIN, </a:t>
            </a:r>
            <a:r>
              <a:rPr lang="en-US" altLang="ko-KR" sz="2000" b="1" dirty="0" err="1"/>
              <a:t>FlexRay</a:t>
            </a:r>
            <a:r>
              <a:rPr lang="en-US" altLang="ko-KR" sz="2000" b="1" dirty="0"/>
              <a:t> and MOST</a:t>
            </a:r>
            <a:r>
              <a:rPr lang="en-US" altLang="ko-KR" sz="2000" dirty="0"/>
              <a:t>). They are interfacing with the communication drivers via the communication hardware abstraction.</a:t>
            </a:r>
          </a:p>
          <a:p>
            <a:pPr marL="342900" indent="-342900">
              <a:buFont typeface="Arial" panose="020B0604020202020204" pitchFamily="34" charset="0"/>
              <a:buChar char="•"/>
            </a:pPr>
            <a:endParaRPr lang="en-US" altLang="ko-KR" sz="2000" dirty="0"/>
          </a:p>
          <a:p>
            <a:pPr marL="342900" indent="-342900">
              <a:buFont typeface="Arial" panose="020B0604020202020204" pitchFamily="34" charset="0"/>
              <a:buChar char="•"/>
            </a:pPr>
            <a:r>
              <a:rPr lang="en-US" altLang="ko-KR" sz="2000" b="1" dirty="0"/>
              <a:t>The task of this group of modules is:</a:t>
            </a:r>
          </a:p>
          <a:p>
            <a:pPr marL="800100" lvl="1" indent="-342900">
              <a:buFont typeface="Arial" panose="020B0604020202020204" pitchFamily="34" charset="0"/>
              <a:buChar char="•"/>
            </a:pPr>
            <a:r>
              <a:rPr lang="en-US" altLang="ko-KR" sz="2000" dirty="0"/>
              <a:t>to provide a </a:t>
            </a:r>
            <a:r>
              <a:rPr lang="en-US" altLang="ko-KR" sz="2000" b="1" dirty="0"/>
              <a:t>uniform interface</a:t>
            </a:r>
            <a:r>
              <a:rPr lang="en-US" altLang="ko-KR" sz="2000" dirty="0"/>
              <a:t> to the vehicle network for communication between different applications,</a:t>
            </a:r>
          </a:p>
          <a:p>
            <a:pPr marL="800100" lvl="1" indent="-342900">
              <a:buFont typeface="Arial" panose="020B0604020202020204" pitchFamily="34" charset="0"/>
              <a:buChar char="•"/>
            </a:pPr>
            <a:r>
              <a:rPr lang="en-US" altLang="ko-KR" sz="2000" dirty="0"/>
              <a:t>to provide </a:t>
            </a:r>
            <a:r>
              <a:rPr lang="en-US" altLang="ko-KR" sz="2000" b="1" dirty="0"/>
              <a:t>uniform services</a:t>
            </a:r>
            <a:r>
              <a:rPr lang="en-US" altLang="ko-KR" sz="2000" dirty="0"/>
              <a:t> for network management,</a:t>
            </a:r>
          </a:p>
          <a:p>
            <a:pPr marL="800100" lvl="1" indent="-342900">
              <a:buFont typeface="Arial" panose="020B0604020202020204" pitchFamily="34" charset="0"/>
              <a:buChar char="•"/>
            </a:pPr>
            <a:r>
              <a:rPr lang="en-US" altLang="ko-KR" sz="2000" dirty="0"/>
              <a:t>to provide a </a:t>
            </a:r>
            <a:r>
              <a:rPr lang="en-US" altLang="ko-KR" sz="2000" b="1" dirty="0"/>
              <a:t>uniform interface</a:t>
            </a:r>
            <a:r>
              <a:rPr lang="en-US" altLang="ko-KR" sz="2000" dirty="0"/>
              <a:t> to the vehicle network for </a:t>
            </a:r>
            <a:r>
              <a:rPr lang="en-US" altLang="ko-KR" sz="2000" b="1" dirty="0"/>
              <a:t>diagnostic communication</a:t>
            </a:r>
            <a:r>
              <a:rPr lang="en-US" altLang="ko-KR" sz="2000" dirty="0"/>
              <a:t>, and</a:t>
            </a:r>
          </a:p>
          <a:p>
            <a:pPr marL="800100" lvl="1" indent="-342900">
              <a:buFont typeface="Arial" panose="020B0604020202020204" pitchFamily="34" charset="0"/>
              <a:buChar char="•"/>
            </a:pPr>
            <a:r>
              <a:rPr lang="en-US" altLang="ko-KR" sz="2000" dirty="0"/>
              <a:t>to </a:t>
            </a:r>
            <a:r>
              <a:rPr lang="en-US" altLang="ko-KR" sz="2000" b="1" dirty="0"/>
              <a:t>hide protocol and message properties</a:t>
            </a:r>
            <a:r>
              <a:rPr lang="en-US" altLang="ko-KR" sz="2000" dirty="0"/>
              <a:t> from the application.</a:t>
            </a:r>
          </a:p>
          <a:p>
            <a:pPr marL="342900" indent="-342900">
              <a:buFont typeface="Arial" panose="020B0604020202020204" pitchFamily="34" charset="0"/>
              <a:buChar char="•"/>
            </a:pPr>
            <a:endParaRPr lang="ko-KR" altLang="en-US" sz="2000" dirty="0"/>
          </a:p>
        </p:txBody>
      </p:sp>
      <p:pic>
        <p:nvPicPr>
          <p:cNvPr id="7" name="Picture 2">
            <a:extLst>
              <a:ext uri="{FF2B5EF4-FFF2-40B4-BE49-F238E27FC236}">
                <a16:creationId xmlns:a16="http://schemas.microsoft.com/office/drawing/2014/main" id="{FEE5470A-269E-06BC-C8EE-5E794CE93C4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75857" y="1155625"/>
            <a:ext cx="3516709" cy="459982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8" name="Picture 3">
            <a:extLst>
              <a:ext uri="{FF2B5EF4-FFF2-40B4-BE49-F238E27FC236}">
                <a16:creationId xmlns:a16="http://schemas.microsoft.com/office/drawing/2014/main" id="{DB9A886E-748F-9168-DA44-07D18C6590A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13371" y="681743"/>
            <a:ext cx="1111574" cy="48031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9" name="사각형: 둥근 모서리 8">
            <a:extLst>
              <a:ext uri="{FF2B5EF4-FFF2-40B4-BE49-F238E27FC236}">
                <a16:creationId xmlns:a16="http://schemas.microsoft.com/office/drawing/2014/main" id="{F1E35FF2-EF49-27D4-5499-2624F2185EF9}"/>
              </a:ext>
            </a:extLst>
          </p:cNvPr>
          <p:cNvSpPr/>
          <p:nvPr/>
        </p:nvSpPr>
        <p:spPr>
          <a:xfrm>
            <a:off x="7804744" y="1126751"/>
            <a:ext cx="3800768" cy="2054151"/>
          </a:xfrm>
          <a:prstGeom prst="roundRect">
            <a:avLst/>
          </a:prstGeom>
          <a:noFill/>
          <a:ln>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138550465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9880FAE4-784B-C197-E1FF-D0E51C21E2E6}"/>
              </a:ext>
            </a:extLst>
          </p:cNvPr>
          <p:cNvSpPr>
            <a:spLocks noGrp="1"/>
          </p:cNvSpPr>
          <p:nvPr>
            <p:ph type="title"/>
          </p:nvPr>
        </p:nvSpPr>
        <p:spPr/>
        <p:txBody>
          <a:bodyPr>
            <a:normAutofit fontScale="90000"/>
          </a:bodyPr>
          <a:lstStyle/>
          <a:p>
            <a:r>
              <a:rPr lang="en-US" altLang="ko-KR" dirty="0"/>
              <a:t>Service Layer – Memory </a:t>
            </a:r>
            <a:endParaRPr lang="ko-KR" altLang="en-US" dirty="0"/>
          </a:p>
        </p:txBody>
      </p:sp>
      <p:sp>
        <p:nvSpPr>
          <p:cNvPr id="4" name="날짜 개체 틀 3">
            <a:extLst>
              <a:ext uri="{FF2B5EF4-FFF2-40B4-BE49-F238E27FC236}">
                <a16:creationId xmlns:a16="http://schemas.microsoft.com/office/drawing/2014/main" id="{A596A1DD-4FEC-4B01-2088-06D3D621B6B6}"/>
              </a:ext>
            </a:extLst>
          </p:cNvPr>
          <p:cNvSpPr>
            <a:spLocks noGrp="1"/>
          </p:cNvSpPr>
          <p:nvPr>
            <p:ph type="dt" sz="half" idx="10"/>
          </p:nvPr>
        </p:nvSpPr>
        <p:spPr/>
        <p:txBody>
          <a:bodyPr/>
          <a:lstStyle/>
          <a:p>
            <a:fld id="{9539328B-81D7-470F-B07E-C60C8A68D98A}" type="datetime1">
              <a:rPr lang="en-US" altLang="ko-KR" smtClean="0"/>
              <a:t>4/12/2026</a:t>
            </a:fld>
            <a:endParaRPr lang="en-US"/>
          </a:p>
        </p:txBody>
      </p:sp>
      <p:sp>
        <p:nvSpPr>
          <p:cNvPr id="5" name="바닥글 개체 틀 4">
            <a:extLst>
              <a:ext uri="{FF2B5EF4-FFF2-40B4-BE49-F238E27FC236}">
                <a16:creationId xmlns:a16="http://schemas.microsoft.com/office/drawing/2014/main" id="{EF53327E-80B0-3814-BC65-F9E6AE6DEE3C}"/>
              </a:ext>
            </a:extLst>
          </p:cNvPr>
          <p:cNvSpPr>
            <a:spLocks noGrp="1"/>
          </p:cNvSpPr>
          <p:nvPr>
            <p:ph type="ftr" sz="quarter" idx="11"/>
          </p:nvPr>
        </p:nvSpPr>
        <p:spPr/>
        <p:txBody>
          <a:bodyPr/>
          <a:lstStyle/>
          <a:p>
            <a:r>
              <a:rPr lang="en-US"/>
              <a:t>2023 Copyright </a:t>
            </a:r>
            <a:r>
              <a:rPr lang="ko-KR" altLang="en-US"/>
              <a:t>ⓒ </a:t>
            </a:r>
            <a:r>
              <a:rPr lang="en-US" altLang="ko-KR"/>
              <a:t>Autonomous Vehicle Lab</a:t>
            </a:r>
            <a:endParaRPr lang="en-US" dirty="0"/>
          </a:p>
        </p:txBody>
      </p:sp>
      <p:sp>
        <p:nvSpPr>
          <p:cNvPr id="6" name="슬라이드 번호 개체 틀 5">
            <a:extLst>
              <a:ext uri="{FF2B5EF4-FFF2-40B4-BE49-F238E27FC236}">
                <a16:creationId xmlns:a16="http://schemas.microsoft.com/office/drawing/2014/main" id="{946EF6C8-6C2E-7CD0-48F5-6ED4A1466CAE}"/>
              </a:ext>
            </a:extLst>
          </p:cNvPr>
          <p:cNvSpPr>
            <a:spLocks noGrp="1"/>
          </p:cNvSpPr>
          <p:nvPr>
            <p:ph type="sldNum" sz="quarter" idx="12"/>
          </p:nvPr>
        </p:nvSpPr>
        <p:spPr/>
        <p:txBody>
          <a:bodyPr/>
          <a:lstStyle/>
          <a:p>
            <a:fld id="{55635D17-9D19-4B1E-86C2-B9D6296E4AF7}" type="slidenum">
              <a:rPr lang="en-US" smtClean="0"/>
              <a:pPr/>
              <a:t>50</a:t>
            </a:fld>
            <a:endParaRPr lang="en-US" dirty="0"/>
          </a:p>
        </p:txBody>
      </p:sp>
      <p:pic>
        <p:nvPicPr>
          <p:cNvPr id="7" name="Picture 4">
            <a:extLst>
              <a:ext uri="{FF2B5EF4-FFF2-40B4-BE49-F238E27FC236}">
                <a16:creationId xmlns:a16="http://schemas.microsoft.com/office/drawing/2014/main" id="{21966781-D7D9-3082-2D59-7F825977C83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3808"/>
          <a:stretch/>
        </p:blipFill>
        <p:spPr bwMode="auto">
          <a:xfrm>
            <a:off x="7362829" y="1032730"/>
            <a:ext cx="4359560" cy="4667200"/>
          </a:xfrm>
          <a:prstGeom prst="rect">
            <a:avLst/>
          </a:prstGeom>
          <a:noFill/>
          <a:extLst>
            <a:ext uri="{909E8E84-426E-40DD-AFC4-6F175D3DCCD1}">
              <a14:hiddenFill xmlns:a14="http://schemas.microsoft.com/office/drawing/2010/main">
                <a:solidFill>
                  <a:srgbClr val="FFFFFF"/>
                </a:solidFill>
              </a14:hiddenFill>
            </a:ext>
          </a:extLst>
        </p:spPr>
      </p:pic>
      <p:sp>
        <p:nvSpPr>
          <p:cNvPr id="8" name="사각형: 둥근 모서리 7">
            <a:extLst>
              <a:ext uri="{FF2B5EF4-FFF2-40B4-BE49-F238E27FC236}">
                <a16:creationId xmlns:a16="http://schemas.microsoft.com/office/drawing/2014/main" id="{DCEDC2AA-9FAA-370B-DE08-FD9542AEDAEF}"/>
              </a:ext>
            </a:extLst>
          </p:cNvPr>
          <p:cNvSpPr/>
          <p:nvPr/>
        </p:nvSpPr>
        <p:spPr>
          <a:xfrm>
            <a:off x="7191378" y="1004890"/>
            <a:ext cx="4686300" cy="1543050"/>
          </a:xfrm>
          <a:prstGeom prst="roundRect">
            <a:avLst/>
          </a:prstGeom>
          <a:noFill/>
          <a:ln>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 name="TextBox 8">
            <a:extLst>
              <a:ext uri="{FF2B5EF4-FFF2-40B4-BE49-F238E27FC236}">
                <a16:creationId xmlns:a16="http://schemas.microsoft.com/office/drawing/2014/main" id="{B99A2BA1-FFFB-AEB0-EAAF-09D4D9921823}"/>
              </a:ext>
            </a:extLst>
          </p:cNvPr>
          <p:cNvSpPr txBox="1"/>
          <p:nvPr/>
        </p:nvSpPr>
        <p:spPr>
          <a:xfrm>
            <a:off x="916904" y="1054400"/>
            <a:ext cx="6086275" cy="4574714"/>
          </a:xfrm>
          <a:prstGeom prst="rect">
            <a:avLst/>
          </a:prstGeom>
          <a:noFill/>
        </p:spPr>
        <p:txBody>
          <a:bodyPr wrap="square" rtlCol="0">
            <a:spAutoFit/>
          </a:bodyPr>
          <a:lstStyle/>
          <a:p>
            <a:pPr marL="285750" indent="-285750">
              <a:lnSpc>
                <a:spcPts val="2700"/>
              </a:lnSpc>
              <a:buFont typeface="Arial" panose="020B0604020202020204" pitchFamily="34" charset="0"/>
              <a:buChar char="•"/>
            </a:pPr>
            <a:r>
              <a:rPr lang="en-US" altLang="ko-KR" sz="2000" dirty="0"/>
              <a:t>A group of modules responsible for the management of non-volatile data (read/write from different memory drivers). The </a:t>
            </a:r>
            <a:r>
              <a:rPr lang="en-US" altLang="ko-KR" sz="2000" b="1" dirty="0"/>
              <a:t>NVRAM manager</a:t>
            </a:r>
            <a:r>
              <a:rPr lang="en-US" altLang="ko-KR" sz="2000" dirty="0"/>
              <a:t> provides a RAM mirror as data interface to the application for fast read access.</a:t>
            </a:r>
          </a:p>
          <a:p>
            <a:pPr marL="285750" indent="-285750">
              <a:lnSpc>
                <a:spcPts val="2700"/>
              </a:lnSpc>
              <a:buFont typeface="Arial" panose="020B0604020202020204" pitchFamily="34" charset="0"/>
              <a:buChar char="•"/>
            </a:pPr>
            <a:r>
              <a:rPr lang="en-US" altLang="ko-KR" sz="2000" b="1" dirty="0"/>
              <a:t>The task of this group of modules is:</a:t>
            </a:r>
          </a:p>
          <a:p>
            <a:pPr marL="742950" lvl="1" indent="-285750">
              <a:lnSpc>
                <a:spcPts val="2700"/>
              </a:lnSpc>
              <a:buFont typeface="Arial" panose="020B0604020202020204" pitchFamily="34" charset="0"/>
              <a:buChar char="•"/>
            </a:pPr>
            <a:r>
              <a:rPr lang="en-US" altLang="ko-KR" sz="2000" dirty="0"/>
              <a:t>to provide non-volatile data to the application in a </a:t>
            </a:r>
            <a:r>
              <a:rPr lang="en-US" altLang="ko-KR" sz="2000" b="1" dirty="0"/>
              <a:t>uniform way</a:t>
            </a:r>
            <a:r>
              <a:rPr lang="en-US" altLang="ko-KR" sz="2000" dirty="0"/>
              <a:t>,</a:t>
            </a:r>
          </a:p>
          <a:p>
            <a:pPr marL="742950" lvl="1" indent="-285750">
              <a:lnSpc>
                <a:spcPts val="2700"/>
              </a:lnSpc>
              <a:buFont typeface="Arial" panose="020B0604020202020204" pitchFamily="34" charset="0"/>
              <a:buChar char="•"/>
            </a:pPr>
            <a:r>
              <a:rPr lang="en-US" altLang="ko-KR" sz="2000" dirty="0"/>
              <a:t>to </a:t>
            </a:r>
            <a:r>
              <a:rPr lang="en-US" altLang="ko-KR" sz="2000" b="1" dirty="0"/>
              <a:t>abstract from memory locations and properties</a:t>
            </a:r>
            <a:r>
              <a:rPr lang="en-US" altLang="ko-KR" sz="2000" dirty="0"/>
              <a:t>, and</a:t>
            </a:r>
          </a:p>
          <a:p>
            <a:pPr marL="742950" lvl="1" indent="-285750">
              <a:lnSpc>
                <a:spcPts val="2700"/>
              </a:lnSpc>
              <a:buFont typeface="Arial" panose="020B0604020202020204" pitchFamily="34" charset="0"/>
              <a:buChar char="•"/>
            </a:pPr>
            <a:r>
              <a:rPr lang="en-US" altLang="ko-KR" sz="2000" dirty="0"/>
              <a:t>to provide mechanisms for non-volatile data management like </a:t>
            </a:r>
            <a:r>
              <a:rPr lang="en-US" altLang="ko-KR" sz="2000" b="1" dirty="0"/>
              <a:t>saving, loading, checksum protection and verification, reliable storage</a:t>
            </a:r>
            <a:r>
              <a:rPr lang="en-US" altLang="ko-KR" sz="2000" dirty="0"/>
              <a:t> etc.</a:t>
            </a:r>
          </a:p>
        </p:txBody>
      </p:sp>
    </p:spTree>
    <p:extLst>
      <p:ext uri="{BB962C8B-B14F-4D97-AF65-F5344CB8AC3E}">
        <p14:creationId xmlns:p14="http://schemas.microsoft.com/office/powerpoint/2010/main" val="224713504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BFBAA1-67F0-C593-3B99-090B7948092F}"/>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130DD4F2-9D7F-4226-6685-66EACC0298B9}"/>
              </a:ext>
            </a:extLst>
          </p:cNvPr>
          <p:cNvSpPr>
            <a:spLocks noGrp="1"/>
          </p:cNvSpPr>
          <p:nvPr>
            <p:ph type="title"/>
          </p:nvPr>
        </p:nvSpPr>
        <p:spPr/>
        <p:txBody>
          <a:bodyPr>
            <a:normAutofit fontScale="90000"/>
          </a:bodyPr>
          <a:lstStyle/>
          <a:p>
            <a:r>
              <a:rPr lang="en-US" altLang="ko-KR" dirty="0"/>
              <a:t>Service Layer – System </a:t>
            </a:r>
            <a:endParaRPr lang="ko-KR" altLang="en-US" dirty="0"/>
          </a:p>
        </p:txBody>
      </p:sp>
      <p:sp>
        <p:nvSpPr>
          <p:cNvPr id="4" name="날짜 개체 틀 3">
            <a:extLst>
              <a:ext uri="{FF2B5EF4-FFF2-40B4-BE49-F238E27FC236}">
                <a16:creationId xmlns:a16="http://schemas.microsoft.com/office/drawing/2014/main" id="{F59D0F60-2BB2-D91E-1A7E-12B0063F67E0}"/>
              </a:ext>
            </a:extLst>
          </p:cNvPr>
          <p:cNvSpPr>
            <a:spLocks noGrp="1"/>
          </p:cNvSpPr>
          <p:nvPr>
            <p:ph type="dt" sz="half" idx="10"/>
          </p:nvPr>
        </p:nvSpPr>
        <p:spPr/>
        <p:txBody>
          <a:bodyPr/>
          <a:lstStyle/>
          <a:p>
            <a:fld id="{9539328B-81D7-470F-B07E-C60C8A68D98A}" type="datetime1">
              <a:rPr lang="en-US" altLang="ko-KR" smtClean="0"/>
              <a:t>4/12/2026</a:t>
            </a:fld>
            <a:endParaRPr lang="en-US"/>
          </a:p>
        </p:txBody>
      </p:sp>
      <p:sp>
        <p:nvSpPr>
          <p:cNvPr id="5" name="바닥글 개체 틀 4">
            <a:extLst>
              <a:ext uri="{FF2B5EF4-FFF2-40B4-BE49-F238E27FC236}">
                <a16:creationId xmlns:a16="http://schemas.microsoft.com/office/drawing/2014/main" id="{6B3E1B72-9A5F-9DBA-6398-2801759B51B8}"/>
              </a:ext>
            </a:extLst>
          </p:cNvPr>
          <p:cNvSpPr>
            <a:spLocks noGrp="1"/>
          </p:cNvSpPr>
          <p:nvPr>
            <p:ph type="ftr" sz="quarter" idx="11"/>
          </p:nvPr>
        </p:nvSpPr>
        <p:spPr/>
        <p:txBody>
          <a:bodyPr/>
          <a:lstStyle/>
          <a:p>
            <a:r>
              <a:rPr lang="en-US"/>
              <a:t>2023 Copyright </a:t>
            </a:r>
            <a:r>
              <a:rPr lang="ko-KR" altLang="en-US"/>
              <a:t>ⓒ </a:t>
            </a:r>
            <a:r>
              <a:rPr lang="en-US" altLang="ko-KR"/>
              <a:t>Autonomous Vehicle Lab</a:t>
            </a:r>
            <a:endParaRPr lang="en-US" dirty="0"/>
          </a:p>
        </p:txBody>
      </p:sp>
      <p:sp>
        <p:nvSpPr>
          <p:cNvPr id="6" name="슬라이드 번호 개체 틀 5">
            <a:extLst>
              <a:ext uri="{FF2B5EF4-FFF2-40B4-BE49-F238E27FC236}">
                <a16:creationId xmlns:a16="http://schemas.microsoft.com/office/drawing/2014/main" id="{1DDB5968-0826-3E61-D085-B052C8BC5FF1}"/>
              </a:ext>
            </a:extLst>
          </p:cNvPr>
          <p:cNvSpPr>
            <a:spLocks noGrp="1"/>
          </p:cNvSpPr>
          <p:nvPr>
            <p:ph type="sldNum" sz="quarter" idx="12"/>
          </p:nvPr>
        </p:nvSpPr>
        <p:spPr/>
        <p:txBody>
          <a:bodyPr/>
          <a:lstStyle/>
          <a:p>
            <a:fld id="{55635D17-9D19-4B1E-86C2-B9D6296E4AF7}" type="slidenum">
              <a:rPr lang="en-US" smtClean="0"/>
              <a:pPr/>
              <a:t>51</a:t>
            </a:fld>
            <a:endParaRPr lang="en-US" dirty="0"/>
          </a:p>
        </p:txBody>
      </p:sp>
      <p:pic>
        <p:nvPicPr>
          <p:cNvPr id="3" name="Picture 2">
            <a:extLst>
              <a:ext uri="{FF2B5EF4-FFF2-40B4-BE49-F238E27FC236}">
                <a16:creationId xmlns:a16="http://schemas.microsoft.com/office/drawing/2014/main" id="{6FEBA165-6953-654E-E900-9AD8100B2AA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2860"/>
          <a:stretch/>
        </p:blipFill>
        <p:spPr bwMode="auto">
          <a:xfrm>
            <a:off x="6867088" y="836663"/>
            <a:ext cx="5010378" cy="492440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9" name="Rectangle 1">
            <a:extLst>
              <a:ext uri="{FF2B5EF4-FFF2-40B4-BE49-F238E27FC236}">
                <a16:creationId xmlns:a16="http://schemas.microsoft.com/office/drawing/2014/main" id="{BC45A4F8-A6CC-A4D3-3AD1-F3932B7F1760}"/>
              </a:ext>
            </a:extLst>
          </p:cNvPr>
          <p:cNvSpPr>
            <a:spLocks noChangeArrowheads="1"/>
          </p:cNvSpPr>
          <p:nvPr/>
        </p:nvSpPr>
        <p:spPr bwMode="auto">
          <a:xfrm>
            <a:off x="918735" y="1085504"/>
            <a:ext cx="5989104" cy="38809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342900" lvl="0" indent="-342900" eaLnBrk="0" fontAlgn="base" hangingPunct="0">
              <a:lnSpc>
                <a:spcPts val="2500"/>
              </a:lnSpc>
              <a:spcBef>
                <a:spcPct val="0"/>
              </a:spcBef>
              <a:spcAft>
                <a:spcPct val="0"/>
              </a:spcAft>
              <a:buFont typeface="Arial" panose="020B0604020202020204" pitchFamily="34" charset="0"/>
              <a:buChar char="•"/>
            </a:pPr>
            <a:r>
              <a:rPr lang="en-US" altLang="ko-KR" sz="2000" dirty="0">
                <a:ea typeface="+mj-ea"/>
              </a:rPr>
              <a:t>The system services are a group of modules and functions which can be used by modules of all layers.</a:t>
            </a:r>
          </a:p>
          <a:p>
            <a:pPr marL="342900" lvl="0" indent="-342900" eaLnBrk="0" fontAlgn="base" hangingPunct="0">
              <a:lnSpc>
                <a:spcPts val="2500"/>
              </a:lnSpc>
              <a:spcBef>
                <a:spcPct val="0"/>
              </a:spcBef>
              <a:spcAft>
                <a:spcPct val="0"/>
              </a:spcAft>
              <a:buFont typeface="Arial" panose="020B0604020202020204" pitchFamily="34" charset="0"/>
              <a:buChar char="•"/>
            </a:pPr>
            <a:r>
              <a:rPr lang="en-US" altLang="ko-KR" sz="2000" dirty="0">
                <a:ea typeface="+mj-ea"/>
              </a:rPr>
              <a:t>Examples are real-time operating system, error manager and library functions (like CRC, interpolation etc.).</a:t>
            </a:r>
          </a:p>
          <a:p>
            <a:pPr marL="342900" lvl="0" indent="-342900" eaLnBrk="0" fontAlgn="base" hangingPunct="0">
              <a:lnSpc>
                <a:spcPts val="2500"/>
              </a:lnSpc>
              <a:spcBef>
                <a:spcPct val="0"/>
              </a:spcBef>
              <a:spcAft>
                <a:spcPct val="0"/>
              </a:spcAft>
              <a:buFont typeface="Arial" panose="020B0604020202020204" pitchFamily="34" charset="0"/>
              <a:buChar char="•"/>
            </a:pPr>
            <a:r>
              <a:rPr lang="en-US" altLang="ko-KR" sz="2000" dirty="0">
                <a:ea typeface="+mj-ea"/>
              </a:rPr>
              <a:t>Some of these services are:</a:t>
            </a:r>
          </a:p>
          <a:p>
            <a:pPr marL="800100" lvl="1" indent="-342900" eaLnBrk="0" fontAlgn="base" hangingPunct="0">
              <a:lnSpc>
                <a:spcPts val="2500"/>
              </a:lnSpc>
              <a:spcBef>
                <a:spcPct val="0"/>
              </a:spcBef>
              <a:spcAft>
                <a:spcPct val="0"/>
              </a:spcAft>
              <a:buFont typeface="Arial" panose="020B0604020202020204" pitchFamily="34" charset="0"/>
              <a:buChar char="•"/>
            </a:pPr>
            <a:r>
              <a:rPr lang="en-US" altLang="ko-KR" sz="2000" dirty="0">
                <a:ea typeface="+mj-ea"/>
              </a:rPr>
              <a:t>Micro-Computer dependent (like OS),</a:t>
            </a:r>
          </a:p>
          <a:p>
            <a:pPr marL="800100" lvl="1" indent="-342900" eaLnBrk="0" fontAlgn="base" hangingPunct="0">
              <a:lnSpc>
                <a:spcPts val="2500"/>
              </a:lnSpc>
              <a:spcBef>
                <a:spcPct val="0"/>
              </a:spcBef>
              <a:spcAft>
                <a:spcPct val="0"/>
              </a:spcAft>
              <a:buFont typeface="Arial" panose="020B0604020202020204" pitchFamily="34" charset="0"/>
              <a:buChar char="•"/>
            </a:pPr>
            <a:r>
              <a:rPr lang="en-US" altLang="ko-KR" sz="2000" dirty="0">
                <a:ea typeface="+mj-ea"/>
              </a:rPr>
              <a:t>ECU hardware and/or application dependent (like ECU state manager, DCM),</a:t>
            </a:r>
          </a:p>
          <a:p>
            <a:pPr marL="800100" lvl="1" indent="-342900" eaLnBrk="0" fontAlgn="base" hangingPunct="0">
              <a:lnSpc>
                <a:spcPts val="2500"/>
              </a:lnSpc>
              <a:spcBef>
                <a:spcPct val="0"/>
              </a:spcBef>
              <a:spcAft>
                <a:spcPct val="0"/>
              </a:spcAft>
              <a:buFont typeface="Arial" panose="020B0604020202020204" pitchFamily="34" charset="0"/>
              <a:buChar char="•"/>
            </a:pPr>
            <a:r>
              <a:rPr lang="en-US" altLang="ko-KR" sz="2000" dirty="0">
                <a:ea typeface="+mj-ea"/>
              </a:rPr>
              <a:t>or hardware and Micro-Computer independent.</a:t>
            </a:r>
          </a:p>
          <a:p>
            <a:pPr marL="342900" lvl="0" indent="-342900" eaLnBrk="0" fontAlgn="base" hangingPunct="0">
              <a:lnSpc>
                <a:spcPts val="2500"/>
              </a:lnSpc>
              <a:spcBef>
                <a:spcPct val="0"/>
              </a:spcBef>
              <a:spcAft>
                <a:spcPct val="0"/>
              </a:spcAft>
              <a:buFont typeface="Arial" panose="020B0604020202020204" pitchFamily="34" charset="0"/>
              <a:buChar char="•"/>
            </a:pPr>
            <a:r>
              <a:rPr lang="en-US" altLang="ko-KR" sz="2000" dirty="0">
                <a:ea typeface="+mj-ea"/>
              </a:rPr>
              <a:t>The task of this group of modules is to provide basic services for application and Basic Software modules.</a:t>
            </a:r>
          </a:p>
        </p:txBody>
      </p:sp>
    </p:spTree>
    <p:extLst>
      <p:ext uri="{BB962C8B-B14F-4D97-AF65-F5344CB8AC3E}">
        <p14:creationId xmlns:p14="http://schemas.microsoft.com/office/powerpoint/2010/main" val="18938567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49A291-1DEB-832F-0C8E-BD6E73A1E645}"/>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7CF40A49-FBB1-EF51-0223-0C4C7DE12D51}"/>
              </a:ext>
            </a:extLst>
          </p:cNvPr>
          <p:cNvSpPr>
            <a:spLocks noGrp="1"/>
          </p:cNvSpPr>
          <p:nvPr>
            <p:ph type="title"/>
          </p:nvPr>
        </p:nvSpPr>
        <p:spPr/>
        <p:txBody>
          <a:bodyPr>
            <a:normAutofit fontScale="90000"/>
          </a:bodyPr>
          <a:lstStyle/>
          <a:p>
            <a:r>
              <a:rPr lang="en-US" altLang="ko-KR" dirty="0"/>
              <a:t>Complex Driver</a:t>
            </a:r>
            <a:endParaRPr lang="ko-KR" altLang="en-US" dirty="0"/>
          </a:p>
        </p:txBody>
      </p:sp>
      <p:sp>
        <p:nvSpPr>
          <p:cNvPr id="4" name="날짜 개체 틀 3">
            <a:extLst>
              <a:ext uri="{FF2B5EF4-FFF2-40B4-BE49-F238E27FC236}">
                <a16:creationId xmlns:a16="http://schemas.microsoft.com/office/drawing/2014/main" id="{73270B92-121A-9F4E-A535-BC41E6C0D7C2}"/>
              </a:ext>
            </a:extLst>
          </p:cNvPr>
          <p:cNvSpPr>
            <a:spLocks noGrp="1"/>
          </p:cNvSpPr>
          <p:nvPr>
            <p:ph type="dt" sz="half" idx="10"/>
          </p:nvPr>
        </p:nvSpPr>
        <p:spPr/>
        <p:txBody>
          <a:bodyPr/>
          <a:lstStyle/>
          <a:p>
            <a:fld id="{9539328B-81D7-470F-B07E-C60C8A68D98A}" type="datetime1">
              <a:rPr lang="en-US" altLang="ko-KR" smtClean="0"/>
              <a:t>4/12/2026</a:t>
            </a:fld>
            <a:endParaRPr lang="en-US"/>
          </a:p>
        </p:txBody>
      </p:sp>
      <p:sp>
        <p:nvSpPr>
          <p:cNvPr id="5" name="바닥글 개체 틀 4">
            <a:extLst>
              <a:ext uri="{FF2B5EF4-FFF2-40B4-BE49-F238E27FC236}">
                <a16:creationId xmlns:a16="http://schemas.microsoft.com/office/drawing/2014/main" id="{5AF59CBE-9F6B-D995-6B22-00A898327F48}"/>
              </a:ext>
            </a:extLst>
          </p:cNvPr>
          <p:cNvSpPr>
            <a:spLocks noGrp="1"/>
          </p:cNvSpPr>
          <p:nvPr>
            <p:ph type="ftr" sz="quarter" idx="11"/>
          </p:nvPr>
        </p:nvSpPr>
        <p:spPr/>
        <p:txBody>
          <a:bodyPr/>
          <a:lstStyle/>
          <a:p>
            <a:r>
              <a:rPr lang="en-US"/>
              <a:t>2023 Copyright </a:t>
            </a:r>
            <a:r>
              <a:rPr lang="ko-KR" altLang="en-US"/>
              <a:t>ⓒ </a:t>
            </a:r>
            <a:r>
              <a:rPr lang="en-US" altLang="ko-KR"/>
              <a:t>Autonomous Vehicle Lab</a:t>
            </a:r>
            <a:endParaRPr lang="en-US" dirty="0"/>
          </a:p>
        </p:txBody>
      </p:sp>
      <p:sp>
        <p:nvSpPr>
          <p:cNvPr id="6" name="슬라이드 번호 개체 틀 5">
            <a:extLst>
              <a:ext uri="{FF2B5EF4-FFF2-40B4-BE49-F238E27FC236}">
                <a16:creationId xmlns:a16="http://schemas.microsoft.com/office/drawing/2014/main" id="{58DA1200-BC17-6E52-55FD-268CBF160EED}"/>
              </a:ext>
            </a:extLst>
          </p:cNvPr>
          <p:cNvSpPr>
            <a:spLocks noGrp="1"/>
          </p:cNvSpPr>
          <p:nvPr>
            <p:ph type="sldNum" sz="quarter" idx="12"/>
          </p:nvPr>
        </p:nvSpPr>
        <p:spPr/>
        <p:txBody>
          <a:bodyPr/>
          <a:lstStyle/>
          <a:p>
            <a:fld id="{55635D17-9D19-4B1E-86C2-B9D6296E4AF7}" type="slidenum">
              <a:rPr lang="en-US" smtClean="0"/>
              <a:pPr/>
              <a:t>52</a:t>
            </a:fld>
            <a:endParaRPr lang="en-US" dirty="0"/>
          </a:p>
        </p:txBody>
      </p:sp>
      <p:pic>
        <p:nvPicPr>
          <p:cNvPr id="7" name="Picture 2">
            <a:extLst>
              <a:ext uri="{FF2B5EF4-FFF2-40B4-BE49-F238E27FC236}">
                <a16:creationId xmlns:a16="http://schemas.microsoft.com/office/drawing/2014/main" id="{B1954ACF-400C-E95C-24FF-F69BC064A21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72286" t="13451"/>
          <a:stretch>
            <a:fillRect/>
          </a:stretch>
        </p:blipFill>
        <p:spPr bwMode="auto">
          <a:xfrm>
            <a:off x="8936343" y="927847"/>
            <a:ext cx="2229120" cy="466170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 name="Rectangle 1">
            <a:extLst>
              <a:ext uri="{FF2B5EF4-FFF2-40B4-BE49-F238E27FC236}">
                <a16:creationId xmlns:a16="http://schemas.microsoft.com/office/drawing/2014/main" id="{4BC119A1-1AA9-8D37-4F61-DDE21FFD7E68}"/>
              </a:ext>
            </a:extLst>
          </p:cNvPr>
          <p:cNvSpPr>
            <a:spLocks noChangeArrowheads="1"/>
          </p:cNvSpPr>
          <p:nvPr/>
        </p:nvSpPr>
        <p:spPr bwMode="auto">
          <a:xfrm>
            <a:off x="921761" y="1056825"/>
            <a:ext cx="7533489" cy="45285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342900" lvl="0" indent="-342900" eaLnBrk="0" fontAlgn="base" hangingPunct="0">
              <a:lnSpc>
                <a:spcPts val="2700"/>
              </a:lnSpc>
              <a:spcBef>
                <a:spcPct val="0"/>
              </a:spcBef>
              <a:spcAft>
                <a:spcPct val="0"/>
              </a:spcAft>
              <a:buFont typeface="Arial" panose="020B0604020202020204" pitchFamily="34" charset="0"/>
              <a:buChar char="•"/>
            </a:pPr>
            <a:r>
              <a:rPr lang="en-US" altLang="ko-KR" sz="2000" dirty="0">
                <a:ea typeface="Google Sans Text"/>
              </a:rPr>
              <a:t>The Complex Device Driver is a loosely coupled container, where specific software implementations can be placed. The only requirement to the software parts is that the interface to the AUTOSAR world has to be implemented according to the AUTOSAR port and interface specifications.</a:t>
            </a:r>
          </a:p>
          <a:p>
            <a:pPr marL="342900" lvl="0" indent="-342900" eaLnBrk="0" fontAlgn="base" hangingPunct="0">
              <a:lnSpc>
                <a:spcPts val="2700"/>
              </a:lnSpc>
              <a:spcBef>
                <a:spcPct val="0"/>
              </a:spcBef>
              <a:spcAft>
                <a:spcPct val="0"/>
              </a:spcAft>
              <a:buFont typeface="Arial" panose="020B0604020202020204" pitchFamily="34" charset="0"/>
              <a:buChar char="•"/>
            </a:pPr>
            <a:r>
              <a:rPr lang="en-US" altLang="ko-KR" sz="2000" dirty="0">
                <a:ea typeface="Google Sans Text"/>
              </a:rPr>
              <a:t>Complex Sensor and Actuator Control</a:t>
            </a:r>
          </a:p>
          <a:p>
            <a:pPr marL="342900" lvl="0" indent="-342900" eaLnBrk="0" fontAlgn="base" hangingPunct="0">
              <a:lnSpc>
                <a:spcPts val="2700"/>
              </a:lnSpc>
              <a:spcBef>
                <a:spcPct val="0"/>
              </a:spcBef>
              <a:spcAft>
                <a:spcPct val="0"/>
              </a:spcAft>
              <a:buFont typeface="Arial" panose="020B0604020202020204" pitchFamily="34" charset="0"/>
              <a:buChar char="•"/>
            </a:pPr>
            <a:r>
              <a:rPr lang="en-US" altLang="ko-KR" sz="2000" dirty="0">
                <a:ea typeface="Google Sans Text"/>
              </a:rPr>
              <a:t>The main task of the complex drivers is to implement complex sensor evaluation and actuator control with direct access to the micro-Computer using specific interrupts and/or complex micro-Computer peripherals (like PCP, TPU), e.g.</a:t>
            </a:r>
          </a:p>
          <a:p>
            <a:pPr marL="800100" lvl="1" indent="-342900" eaLnBrk="0" fontAlgn="base" hangingPunct="0">
              <a:lnSpc>
                <a:spcPts val="2700"/>
              </a:lnSpc>
              <a:spcBef>
                <a:spcPct val="0"/>
              </a:spcBef>
              <a:spcAft>
                <a:spcPct val="0"/>
              </a:spcAft>
              <a:buFont typeface="Arial" panose="020B0604020202020204" pitchFamily="34" charset="0"/>
              <a:buChar char="•"/>
            </a:pPr>
            <a:r>
              <a:rPr lang="en-US" altLang="ko-KR" sz="2000" dirty="0">
                <a:ea typeface="Google Sans Text"/>
              </a:rPr>
              <a:t> injection control</a:t>
            </a:r>
          </a:p>
          <a:p>
            <a:pPr marL="800100" lvl="1" indent="-342900" eaLnBrk="0" fontAlgn="base" hangingPunct="0">
              <a:lnSpc>
                <a:spcPts val="2700"/>
              </a:lnSpc>
              <a:spcBef>
                <a:spcPct val="0"/>
              </a:spcBef>
              <a:spcAft>
                <a:spcPct val="0"/>
              </a:spcAft>
              <a:buFont typeface="Arial" panose="020B0604020202020204" pitchFamily="34" charset="0"/>
              <a:buChar char="•"/>
            </a:pPr>
            <a:r>
              <a:rPr lang="en-US" altLang="ko-KR" sz="2000" dirty="0">
                <a:ea typeface="Google Sans Text"/>
              </a:rPr>
              <a:t> electric valve control</a:t>
            </a:r>
          </a:p>
          <a:p>
            <a:pPr marL="800100" lvl="1" indent="-342900" eaLnBrk="0" fontAlgn="base" hangingPunct="0">
              <a:lnSpc>
                <a:spcPts val="2700"/>
              </a:lnSpc>
              <a:spcBef>
                <a:spcPct val="0"/>
              </a:spcBef>
              <a:spcAft>
                <a:spcPct val="0"/>
              </a:spcAft>
              <a:buFont typeface="Arial" panose="020B0604020202020204" pitchFamily="34" charset="0"/>
              <a:buChar char="•"/>
            </a:pPr>
            <a:r>
              <a:rPr lang="en-US" altLang="ko-KR" sz="2000" dirty="0">
                <a:ea typeface="Google Sans Text"/>
              </a:rPr>
              <a:t> incremental position detection</a:t>
            </a:r>
          </a:p>
        </p:txBody>
      </p:sp>
    </p:spTree>
    <p:extLst>
      <p:ext uri="{BB962C8B-B14F-4D97-AF65-F5344CB8AC3E}">
        <p14:creationId xmlns:p14="http://schemas.microsoft.com/office/powerpoint/2010/main" val="151994346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9880FAE4-784B-C197-E1FF-D0E51C21E2E6}"/>
              </a:ext>
            </a:extLst>
          </p:cNvPr>
          <p:cNvSpPr>
            <a:spLocks noGrp="1"/>
          </p:cNvSpPr>
          <p:nvPr>
            <p:ph type="title"/>
          </p:nvPr>
        </p:nvSpPr>
        <p:spPr/>
        <p:txBody>
          <a:bodyPr>
            <a:normAutofit fontScale="90000"/>
          </a:bodyPr>
          <a:lstStyle/>
          <a:p>
            <a:r>
              <a:rPr lang="en-US" altLang="ko-KR" dirty="0"/>
              <a:t>Overall Methodology</a:t>
            </a:r>
            <a:endParaRPr lang="ko-KR" altLang="en-US" dirty="0"/>
          </a:p>
        </p:txBody>
      </p:sp>
      <p:sp>
        <p:nvSpPr>
          <p:cNvPr id="4" name="날짜 개체 틀 3">
            <a:extLst>
              <a:ext uri="{FF2B5EF4-FFF2-40B4-BE49-F238E27FC236}">
                <a16:creationId xmlns:a16="http://schemas.microsoft.com/office/drawing/2014/main" id="{A596A1DD-4FEC-4B01-2088-06D3D621B6B6}"/>
              </a:ext>
            </a:extLst>
          </p:cNvPr>
          <p:cNvSpPr>
            <a:spLocks noGrp="1"/>
          </p:cNvSpPr>
          <p:nvPr>
            <p:ph type="dt" sz="half" idx="10"/>
          </p:nvPr>
        </p:nvSpPr>
        <p:spPr/>
        <p:txBody>
          <a:bodyPr/>
          <a:lstStyle/>
          <a:p>
            <a:fld id="{9539328B-81D7-470F-B07E-C60C8A68D98A}" type="datetime1">
              <a:rPr lang="en-US" altLang="ko-KR" smtClean="0"/>
              <a:t>4/12/2026</a:t>
            </a:fld>
            <a:endParaRPr lang="en-US"/>
          </a:p>
        </p:txBody>
      </p:sp>
      <p:sp>
        <p:nvSpPr>
          <p:cNvPr id="5" name="바닥글 개체 틀 4">
            <a:extLst>
              <a:ext uri="{FF2B5EF4-FFF2-40B4-BE49-F238E27FC236}">
                <a16:creationId xmlns:a16="http://schemas.microsoft.com/office/drawing/2014/main" id="{EF53327E-80B0-3814-BC65-F9E6AE6DEE3C}"/>
              </a:ext>
            </a:extLst>
          </p:cNvPr>
          <p:cNvSpPr>
            <a:spLocks noGrp="1"/>
          </p:cNvSpPr>
          <p:nvPr>
            <p:ph type="ftr" sz="quarter" idx="11"/>
          </p:nvPr>
        </p:nvSpPr>
        <p:spPr/>
        <p:txBody>
          <a:bodyPr/>
          <a:lstStyle/>
          <a:p>
            <a:r>
              <a:rPr lang="en-US"/>
              <a:t>2023 Copyright </a:t>
            </a:r>
            <a:r>
              <a:rPr lang="ko-KR" altLang="en-US"/>
              <a:t>ⓒ </a:t>
            </a:r>
            <a:r>
              <a:rPr lang="en-US" altLang="ko-KR"/>
              <a:t>Autonomous Vehicle Lab</a:t>
            </a:r>
            <a:endParaRPr lang="en-US" dirty="0"/>
          </a:p>
        </p:txBody>
      </p:sp>
      <p:sp>
        <p:nvSpPr>
          <p:cNvPr id="6" name="슬라이드 번호 개체 틀 5">
            <a:extLst>
              <a:ext uri="{FF2B5EF4-FFF2-40B4-BE49-F238E27FC236}">
                <a16:creationId xmlns:a16="http://schemas.microsoft.com/office/drawing/2014/main" id="{946EF6C8-6C2E-7CD0-48F5-6ED4A1466CAE}"/>
              </a:ext>
            </a:extLst>
          </p:cNvPr>
          <p:cNvSpPr>
            <a:spLocks noGrp="1"/>
          </p:cNvSpPr>
          <p:nvPr>
            <p:ph type="sldNum" sz="quarter" idx="12"/>
          </p:nvPr>
        </p:nvSpPr>
        <p:spPr/>
        <p:txBody>
          <a:bodyPr/>
          <a:lstStyle/>
          <a:p>
            <a:fld id="{55635D17-9D19-4B1E-86C2-B9D6296E4AF7}" type="slidenum">
              <a:rPr lang="en-US" smtClean="0"/>
              <a:pPr/>
              <a:t>53</a:t>
            </a:fld>
            <a:endParaRPr lang="en-US" dirty="0"/>
          </a:p>
        </p:txBody>
      </p:sp>
      <p:pic>
        <p:nvPicPr>
          <p:cNvPr id="11" name="그림 10">
            <a:extLst>
              <a:ext uri="{FF2B5EF4-FFF2-40B4-BE49-F238E27FC236}">
                <a16:creationId xmlns:a16="http://schemas.microsoft.com/office/drawing/2014/main" id="{041DC0DC-040D-7E62-C25D-D74D2B81C943}"/>
              </a:ext>
            </a:extLst>
          </p:cNvPr>
          <p:cNvPicPr>
            <a:picLocks noChangeAspect="1"/>
          </p:cNvPicPr>
          <p:nvPr/>
        </p:nvPicPr>
        <p:blipFill>
          <a:blip r:embed="rId2"/>
          <a:stretch>
            <a:fillRect/>
          </a:stretch>
        </p:blipFill>
        <p:spPr>
          <a:xfrm>
            <a:off x="2101340" y="477937"/>
            <a:ext cx="8016935" cy="5395428"/>
          </a:xfrm>
          <a:prstGeom prst="rect">
            <a:avLst/>
          </a:prstGeom>
        </p:spPr>
      </p:pic>
    </p:spTree>
    <p:extLst>
      <p:ext uri="{BB962C8B-B14F-4D97-AF65-F5344CB8AC3E}">
        <p14:creationId xmlns:p14="http://schemas.microsoft.com/office/powerpoint/2010/main" val="172387156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9880FAE4-784B-C197-E1FF-D0E51C21E2E6}"/>
              </a:ext>
            </a:extLst>
          </p:cNvPr>
          <p:cNvSpPr>
            <a:spLocks noGrp="1"/>
          </p:cNvSpPr>
          <p:nvPr>
            <p:ph type="title"/>
          </p:nvPr>
        </p:nvSpPr>
        <p:spPr/>
        <p:txBody>
          <a:bodyPr>
            <a:normAutofit fontScale="90000"/>
          </a:bodyPr>
          <a:lstStyle/>
          <a:p>
            <a:r>
              <a:rPr lang="en-US" altLang="ko-KR" dirty="0"/>
              <a:t>Overall Methodology</a:t>
            </a:r>
            <a:endParaRPr lang="ko-KR" altLang="en-US" dirty="0"/>
          </a:p>
        </p:txBody>
      </p:sp>
      <p:sp>
        <p:nvSpPr>
          <p:cNvPr id="4" name="날짜 개체 틀 3">
            <a:extLst>
              <a:ext uri="{FF2B5EF4-FFF2-40B4-BE49-F238E27FC236}">
                <a16:creationId xmlns:a16="http://schemas.microsoft.com/office/drawing/2014/main" id="{A596A1DD-4FEC-4B01-2088-06D3D621B6B6}"/>
              </a:ext>
            </a:extLst>
          </p:cNvPr>
          <p:cNvSpPr>
            <a:spLocks noGrp="1"/>
          </p:cNvSpPr>
          <p:nvPr>
            <p:ph type="dt" sz="half" idx="10"/>
          </p:nvPr>
        </p:nvSpPr>
        <p:spPr/>
        <p:txBody>
          <a:bodyPr/>
          <a:lstStyle/>
          <a:p>
            <a:fld id="{9539328B-81D7-470F-B07E-C60C8A68D98A}" type="datetime1">
              <a:rPr lang="en-US" altLang="ko-KR" smtClean="0"/>
              <a:t>4/12/2026</a:t>
            </a:fld>
            <a:endParaRPr lang="en-US"/>
          </a:p>
        </p:txBody>
      </p:sp>
      <p:sp>
        <p:nvSpPr>
          <p:cNvPr id="5" name="바닥글 개체 틀 4">
            <a:extLst>
              <a:ext uri="{FF2B5EF4-FFF2-40B4-BE49-F238E27FC236}">
                <a16:creationId xmlns:a16="http://schemas.microsoft.com/office/drawing/2014/main" id="{EF53327E-80B0-3814-BC65-F9E6AE6DEE3C}"/>
              </a:ext>
            </a:extLst>
          </p:cNvPr>
          <p:cNvSpPr>
            <a:spLocks noGrp="1"/>
          </p:cNvSpPr>
          <p:nvPr>
            <p:ph type="ftr" sz="quarter" idx="11"/>
          </p:nvPr>
        </p:nvSpPr>
        <p:spPr/>
        <p:txBody>
          <a:bodyPr/>
          <a:lstStyle/>
          <a:p>
            <a:r>
              <a:rPr lang="en-US"/>
              <a:t>2023 Copyright </a:t>
            </a:r>
            <a:r>
              <a:rPr lang="ko-KR" altLang="en-US"/>
              <a:t>ⓒ </a:t>
            </a:r>
            <a:r>
              <a:rPr lang="en-US" altLang="ko-KR"/>
              <a:t>Autonomous Vehicle Lab</a:t>
            </a:r>
            <a:endParaRPr lang="en-US" dirty="0"/>
          </a:p>
        </p:txBody>
      </p:sp>
      <p:sp>
        <p:nvSpPr>
          <p:cNvPr id="6" name="슬라이드 번호 개체 틀 5">
            <a:extLst>
              <a:ext uri="{FF2B5EF4-FFF2-40B4-BE49-F238E27FC236}">
                <a16:creationId xmlns:a16="http://schemas.microsoft.com/office/drawing/2014/main" id="{946EF6C8-6C2E-7CD0-48F5-6ED4A1466CAE}"/>
              </a:ext>
            </a:extLst>
          </p:cNvPr>
          <p:cNvSpPr>
            <a:spLocks noGrp="1"/>
          </p:cNvSpPr>
          <p:nvPr>
            <p:ph type="sldNum" sz="quarter" idx="12"/>
          </p:nvPr>
        </p:nvSpPr>
        <p:spPr/>
        <p:txBody>
          <a:bodyPr/>
          <a:lstStyle/>
          <a:p>
            <a:fld id="{55635D17-9D19-4B1E-86C2-B9D6296E4AF7}" type="slidenum">
              <a:rPr lang="en-US" smtClean="0"/>
              <a:pPr/>
              <a:t>54</a:t>
            </a:fld>
            <a:endParaRPr lang="en-US" dirty="0"/>
          </a:p>
        </p:txBody>
      </p:sp>
      <p:pic>
        <p:nvPicPr>
          <p:cNvPr id="3" name="Picture 2">
            <a:extLst>
              <a:ext uri="{FF2B5EF4-FFF2-40B4-BE49-F238E27FC236}">
                <a16:creationId xmlns:a16="http://schemas.microsoft.com/office/drawing/2014/main" id="{8BD0D484-C09B-866A-0ED2-9CDF9A60833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99702" y="630859"/>
            <a:ext cx="7992888" cy="533954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00155600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9880FAE4-784B-C197-E1FF-D0E51C21E2E6}"/>
              </a:ext>
            </a:extLst>
          </p:cNvPr>
          <p:cNvSpPr>
            <a:spLocks noGrp="1"/>
          </p:cNvSpPr>
          <p:nvPr>
            <p:ph type="title"/>
          </p:nvPr>
        </p:nvSpPr>
        <p:spPr/>
        <p:txBody>
          <a:bodyPr>
            <a:normAutofit fontScale="90000"/>
          </a:bodyPr>
          <a:lstStyle/>
          <a:p>
            <a:r>
              <a:rPr lang="en-US" altLang="ko-KR" dirty="0"/>
              <a:t>Game changer for Autosar</a:t>
            </a:r>
            <a:endParaRPr lang="ko-KR" altLang="en-US" dirty="0"/>
          </a:p>
        </p:txBody>
      </p:sp>
      <p:sp>
        <p:nvSpPr>
          <p:cNvPr id="4" name="날짜 개체 틀 3">
            <a:extLst>
              <a:ext uri="{FF2B5EF4-FFF2-40B4-BE49-F238E27FC236}">
                <a16:creationId xmlns:a16="http://schemas.microsoft.com/office/drawing/2014/main" id="{A596A1DD-4FEC-4B01-2088-06D3D621B6B6}"/>
              </a:ext>
            </a:extLst>
          </p:cNvPr>
          <p:cNvSpPr>
            <a:spLocks noGrp="1"/>
          </p:cNvSpPr>
          <p:nvPr>
            <p:ph type="dt" sz="half" idx="10"/>
          </p:nvPr>
        </p:nvSpPr>
        <p:spPr/>
        <p:txBody>
          <a:bodyPr/>
          <a:lstStyle/>
          <a:p>
            <a:fld id="{9539328B-81D7-470F-B07E-C60C8A68D98A}" type="datetime1">
              <a:rPr lang="en-US" altLang="ko-KR" smtClean="0"/>
              <a:t>4/12/2026</a:t>
            </a:fld>
            <a:endParaRPr lang="en-US"/>
          </a:p>
        </p:txBody>
      </p:sp>
      <p:sp>
        <p:nvSpPr>
          <p:cNvPr id="5" name="바닥글 개체 틀 4">
            <a:extLst>
              <a:ext uri="{FF2B5EF4-FFF2-40B4-BE49-F238E27FC236}">
                <a16:creationId xmlns:a16="http://schemas.microsoft.com/office/drawing/2014/main" id="{EF53327E-80B0-3814-BC65-F9E6AE6DEE3C}"/>
              </a:ext>
            </a:extLst>
          </p:cNvPr>
          <p:cNvSpPr>
            <a:spLocks noGrp="1"/>
          </p:cNvSpPr>
          <p:nvPr>
            <p:ph type="ftr" sz="quarter" idx="11"/>
          </p:nvPr>
        </p:nvSpPr>
        <p:spPr/>
        <p:txBody>
          <a:bodyPr/>
          <a:lstStyle/>
          <a:p>
            <a:r>
              <a:rPr lang="en-US"/>
              <a:t>2023 Copyright </a:t>
            </a:r>
            <a:r>
              <a:rPr lang="ko-KR" altLang="en-US"/>
              <a:t>ⓒ </a:t>
            </a:r>
            <a:r>
              <a:rPr lang="en-US" altLang="ko-KR"/>
              <a:t>Autonomous Vehicle Lab</a:t>
            </a:r>
            <a:endParaRPr lang="en-US" dirty="0"/>
          </a:p>
        </p:txBody>
      </p:sp>
      <p:sp>
        <p:nvSpPr>
          <p:cNvPr id="6" name="슬라이드 번호 개체 틀 5">
            <a:extLst>
              <a:ext uri="{FF2B5EF4-FFF2-40B4-BE49-F238E27FC236}">
                <a16:creationId xmlns:a16="http://schemas.microsoft.com/office/drawing/2014/main" id="{946EF6C8-6C2E-7CD0-48F5-6ED4A1466CAE}"/>
              </a:ext>
            </a:extLst>
          </p:cNvPr>
          <p:cNvSpPr>
            <a:spLocks noGrp="1"/>
          </p:cNvSpPr>
          <p:nvPr>
            <p:ph type="sldNum" sz="quarter" idx="12"/>
          </p:nvPr>
        </p:nvSpPr>
        <p:spPr/>
        <p:txBody>
          <a:bodyPr/>
          <a:lstStyle/>
          <a:p>
            <a:fld id="{55635D17-9D19-4B1E-86C2-B9D6296E4AF7}" type="slidenum">
              <a:rPr lang="en-US" smtClean="0"/>
              <a:pPr/>
              <a:t>55</a:t>
            </a:fld>
            <a:endParaRPr lang="en-US" dirty="0"/>
          </a:p>
        </p:txBody>
      </p:sp>
      <p:pic>
        <p:nvPicPr>
          <p:cNvPr id="15" name="그림 14">
            <a:extLst>
              <a:ext uri="{FF2B5EF4-FFF2-40B4-BE49-F238E27FC236}">
                <a16:creationId xmlns:a16="http://schemas.microsoft.com/office/drawing/2014/main" id="{E979F24F-6762-F511-586F-F6E71491FF36}"/>
              </a:ext>
            </a:extLst>
          </p:cNvPr>
          <p:cNvPicPr>
            <a:picLocks noChangeAspect="1"/>
          </p:cNvPicPr>
          <p:nvPr/>
        </p:nvPicPr>
        <p:blipFill>
          <a:blip r:embed="rId2"/>
          <a:stretch>
            <a:fillRect/>
          </a:stretch>
        </p:blipFill>
        <p:spPr>
          <a:xfrm>
            <a:off x="1913601" y="826681"/>
            <a:ext cx="8382727" cy="5114987"/>
          </a:xfrm>
          <a:prstGeom prst="rect">
            <a:avLst/>
          </a:prstGeom>
        </p:spPr>
      </p:pic>
    </p:spTree>
    <p:extLst>
      <p:ext uri="{BB962C8B-B14F-4D97-AF65-F5344CB8AC3E}">
        <p14:creationId xmlns:p14="http://schemas.microsoft.com/office/powerpoint/2010/main" val="341780917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9880FAE4-784B-C197-E1FF-D0E51C21E2E6}"/>
              </a:ext>
            </a:extLst>
          </p:cNvPr>
          <p:cNvSpPr>
            <a:spLocks noGrp="1"/>
          </p:cNvSpPr>
          <p:nvPr>
            <p:ph type="title"/>
          </p:nvPr>
        </p:nvSpPr>
        <p:spPr/>
        <p:txBody>
          <a:bodyPr>
            <a:normAutofit fontScale="90000"/>
          </a:bodyPr>
          <a:lstStyle/>
          <a:p>
            <a:r>
              <a:rPr lang="en-US" altLang="ko-KR" dirty="0"/>
              <a:t>Autosar Adaptive</a:t>
            </a:r>
            <a:endParaRPr lang="ko-KR" altLang="en-US" dirty="0"/>
          </a:p>
        </p:txBody>
      </p:sp>
      <p:sp>
        <p:nvSpPr>
          <p:cNvPr id="3" name="내용 개체 틀 2">
            <a:extLst>
              <a:ext uri="{FF2B5EF4-FFF2-40B4-BE49-F238E27FC236}">
                <a16:creationId xmlns:a16="http://schemas.microsoft.com/office/drawing/2014/main" id="{5F11B105-E941-1790-4E8B-0AC50E090726}"/>
              </a:ext>
            </a:extLst>
          </p:cNvPr>
          <p:cNvSpPr>
            <a:spLocks noGrp="1"/>
          </p:cNvSpPr>
          <p:nvPr>
            <p:ph idx="1"/>
          </p:nvPr>
        </p:nvSpPr>
        <p:spPr>
          <a:xfrm>
            <a:off x="926888" y="1053257"/>
            <a:ext cx="10153490" cy="4648296"/>
          </a:xfrm>
        </p:spPr>
        <p:txBody>
          <a:bodyPr>
            <a:noAutofit/>
          </a:bodyPr>
          <a:lstStyle/>
          <a:p>
            <a:pPr>
              <a:lnSpc>
                <a:spcPts val="2500"/>
              </a:lnSpc>
            </a:pPr>
            <a:r>
              <a:rPr lang="en-US" altLang="ko-KR" sz="2000" dirty="0"/>
              <a:t>The AUTOSAR Adaptive Platform implements the AUTOSAR Runtime for Adaptive Applications (ARA). Two types of interfaces are available, services and APIs. The platform consists of functional clusters which are grouped in Services and the AUTOSAR Adaptive Basis.  </a:t>
            </a:r>
          </a:p>
          <a:p>
            <a:pPr>
              <a:lnSpc>
                <a:spcPts val="2500"/>
              </a:lnSpc>
            </a:pPr>
            <a:r>
              <a:rPr lang="en-US" altLang="ko-KR" sz="2000" dirty="0"/>
              <a:t>Functional clusters...</a:t>
            </a:r>
          </a:p>
          <a:p>
            <a:pPr lvl="1">
              <a:lnSpc>
                <a:spcPts val="2500"/>
              </a:lnSpc>
            </a:pPr>
            <a:r>
              <a:rPr lang="en-US" altLang="ko-KR" sz="1600" dirty="0"/>
              <a:t>Assemble functionalities of the Adaptive Platform</a:t>
            </a:r>
          </a:p>
          <a:p>
            <a:pPr lvl="1">
              <a:lnSpc>
                <a:spcPts val="2500"/>
              </a:lnSpc>
            </a:pPr>
            <a:r>
              <a:rPr lang="en-US" altLang="ko-KR" sz="1600" dirty="0"/>
              <a:t>Define clustering of requirements specification</a:t>
            </a:r>
          </a:p>
          <a:p>
            <a:pPr lvl="1">
              <a:lnSpc>
                <a:spcPts val="2500"/>
              </a:lnSpc>
            </a:pPr>
            <a:r>
              <a:rPr lang="en-US" altLang="ko-KR" sz="1600" dirty="0"/>
              <a:t>Describe behavior of software platform from application and network perspective</a:t>
            </a:r>
          </a:p>
          <a:p>
            <a:pPr lvl="1">
              <a:lnSpc>
                <a:spcPts val="2500"/>
              </a:lnSpc>
            </a:pPr>
            <a:r>
              <a:rPr lang="en-US" altLang="ko-KR" sz="1600" dirty="0"/>
              <a:t>But do not constrain the final SW design of the architecture implementing the Adaptive Platform.</a:t>
            </a:r>
          </a:p>
          <a:p>
            <a:pPr>
              <a:lnSpc>
                <a:spcPts val="2500"/>
              </a:lnSpc>
            </a:pPr>
            <a:r>
              <a:rPr lang="en-US" altLang="ko-KR" sz="2000" dirty="0"/>
              <a:t>Functional clusters in AUTOSAR Adaptive Platform Basis have to have at least one instance per (virtual) machine while services may be distributed in the in-car network</a:t>
            </a:r>
          </a:p>
          <a:p>
            <a:pPr>
              <a:lnSpc>
                <a:spcPts val="2500"/>
              </a:lnSpc>
            </a:pPr>
            <a:r>
              <a:rPr lang="en-US" altLang="ko-KR" sz="2000" dirty="0"/>
              <a:t>In comparison to the AUTOSAR Classic Platform the AUTOSAR Runtime Environment for the Adaptive Platform dynamically links services and clients during runtime.</a:t>
            </a:r>
            <a:endParaRPr lang="ko-KR" altLang="en-US" sz="2000" dirty="0"/>
          </a:p>
        </p:txBody>
      </p:sp>
      <p:sp>
        <p:nvSpPr>
          <p:cNvPr id="4" name="날짜 개체 틀 3">
            <a:extLst>
              <a:ext uri="{FF2B5EF4-FFF2-40B4-BE49-F238E27FC236}">
                <a16:creationId xmlns:a16="http://schemas.microsoft.com/office/drawing/2014/main" id="{A596A1DD-4FEC-4B01-2088-06D3D621B6B6}"/>
              </a:ext>
            </a:extLst>
          </p:cNvPr>
          <p:cNvSpPr>
            <a:spLocks noGrp="1"/>
          </p:cNvSpPr>
          <p:nvPr>
            <p:ph type="dt" sz="half" idx="10"/>
          </p:nvPr>
        </p:nvSpPr>
        <p:spPr/>
        <p:txBody>
          <a:bodyPr/>
          <a:lstStyle/>
          <a:p>
            <a:fld id="{9539328B-81D7-470F-B07E-C60C8A68D98A}" type="datetime1">
              <a:rPr lang="en-US" altLang="ko-KR" smtClean="0"/>
              <a:t>4/12/2026</a:t>
            </a:fld>
            <a:endParaRPr lang="en-US"/>
          </a:p>
        </p:txBody>
      </p:sp>
      <p:sp>
        <p:nvSpPr>
          <p:cNvPr id="5" name="바닥글 개체 틀 4">
            <a:extLst>
              <a:ext uri="{FF2B5EF4-FFF2-40B4-BE49-F238E27FC236}">
                <a16:creationId xmlns:a16="http://schemas.microsoft.com/office/drawing/2014/main" id="{EF53327E-80B0-3814-BC65-F9E6AE6DEE3C}"/>
              </a:ext>
            </a:extLst>
          </p:cNvPr>
          <p:cNvSpPr>
            <a:spLocks noGrp="1"/>
          </p:cNvSpPr>
          <p:nvPr>
            <p:ph type="ftr" sz="quarter" idx="11"/>
          </p:nvPr>
        </p:nvSpPr>
        <p:spPr/>
        <p:txBody>
          <a:bodyPr/>
          <a:lstStyle/>
          <a:p>
            <a:r>
              <a:rPr lang="en-US"/>
              <a:t>2023 Copyright </a:t>
            </a:r>
            <a:r>
              <a:rPr lang="ko-KR" altLang="en-US"/>
              <a:t>ⓒ </a:t>
            </a:r>
            <a:r>
              <a:rPr lang="en-US" altLang="ko-KR"/>
              <a:t>Autonomous Vehicle Lab</a:t>
            </a:r>
            <a:endParaRPr lang="en-US" dirty="0"/>
          </a:p>
        </p:txBody>
      </p:sp>
      <p:sp>
        <p:nvSpPr>
          <p:cNvPr id="6" name="슬라이드 번호 개체 틀 5">
            <a:extLst>
              <a:ext uri="{FF2B5EF4-FFF2-40B4-BE49-F238E27FC236}">
                <a16:creationId xmlns:a16="http://schemas.microsoft.com/office/drawing/2014/main" id="{946EF6C8-6C2E-7CD0-48F5-6ED4A1466CAE}"/>
              </a:ext>
            </a:extLst>
          </p:cNvPr>
          <p:cNvSpPr>
            <a:spLocks noGrp="1"/>
          </p:cNvSpPr>
          <p:nvPr>
            <p:ph type="sldNum" sz="quarter" idx="12"/>
          </p:nvPr>
        </p:nvSpPr>
        <p:spPr/>
        <p:txBody>
          <a:bodyPr/>
          <a:lstStyle/>
          <a:p>
            <a:fld id="{55635D17-9D19-4B1E-86C2-B9D6296E4AF7}" type="slidenum">
              <a:rPr lang="en-US" smtClean="0"/>
              <a:pPr/>
              <a:t>56</a:t>
            </a:fld>
            <a:endParaRPr lang="en-US" dirty="0"/>
          </a:p>
        </p:txBody>
      </p:sp>
    </p:spTree>
    <p:extLst>
      <p:ext uri="{BB962C8B-B14F-4D97-AF65-F5344CB8AC3E}">
        <p14:creationId xmlns:p14="http://schemas.microsoft.com/office/powerpoint/2010/main" val="359052864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9880FAE4-784B-C197-E1FF-D0E51C21E2E6}"/>
              </a:ext>
            </a:extLst>
          </p:cNvPr>
          <p:cNvSpPr>
            <a:spLocks noGrp="1"/>
          </p:cNvSpPr>
          <p:nvPr>
            <p:ph type="title"/>
          </p:nvPr>
        </p:nvSpPr>
        <p:spPr/>
        <p:txBody>
          <a:bodyPr>
            <a:normAutofit fontScale="90000"/>
          </a:bodyPr>
          <a:lstStyle/>
          <a:p>
            <a:r>
              <a:rPr lang="en-US" altLang="ko-KR" dirty="0"/>
              <a:t>Autosar Adaptive</a:t>
            </a:r>
            <a:endParaRPr lang="ko-KR" altLang="en-US" dirty="0"/>
          </a:p>
        </p:txBody>
      </p:sp>
      <p:sp>
        <p:nvSpPr>
          <p:cNvPr id="4" name="날짜 개체 틀 3">
            <a:extLst>
              <a:ext uri="{FF2B5EF4-FFF2-40B4-BE49-F238E27FC236}">
                <a16:creationId xmlns:a16="http://schemas.microsoft.com/office/drawing/2014/main" id="{A596A1DD-4FEC-4B01-2088-06D3D621B6B6}"/>
              </a:ext>
            </a:extLst>
          </p:cNvPr>
          <p:cNvSpPr>
            <a:spLocks noGrp="1"/>
          </p:cNvSpPr>
          <p:nvPr>
            <p:ph type="dt" sz="half" idx="10"/>
          </p:nvPr>
        </p:nvSpPr>
        <p:spPr/>
        <p:txBody>
          <a:bodyPr/>
          <a:lstStyle/>
          <a:p>
            <a:fld id="{9539328B-81D7-470F-B07E-C60C8A68D98A}" type="datetime1">
              <a:rPr lang="en-US" altLang="ko-KR" smtClean="0"/>
              <a:t>4/12/2026</a:t>
            </a:fld>
            <a:endParaRPr lang="en-US"/>
          </a:p>
        </p:txBody>
      </p:sp>
      <p:sp>
        <p:nvSpPr>
          <p:cNvPr id="5" name="바닥글 개체 틀 4">
            <a:extLst>
              <a:ext uri="{FF2B5EF4-FFF2-40B4-BE49-F238E27FC236}">
                <a16:creationId xmlns:a16="http://schemas.microsoft.com/office/drawing/2014/main" id="{EF53327E-80B0-3814-BC65-F9E6AE6DEE3C}"/>
              </a:ext>
            </a:extLst>
          </p:cNvPr>
          <p:cNvSpPr>
            <a:spLocks noGrp="1"/>
          </p:cNvSpPr>
          <p:nvPr>
            <p:ph type="ftr" sz="quarter" idx="11"/>
          </p:nvPr>
        </p:nvSpPr>
        <p:spPr/>
        <p:txBody>
          <a:bodyPr/>
          <a:lstStyle/>
          <a:p>
            <a:r>
              <a:rPr lang="en-US"/>
              <a:t>2023 Copyright </a:t>
            </a:r>
            <a:r>
              <a:rPr lang="ko-KR" altLang="en-US"/>
              <a:t>ⓒ </a:t>
            </a:r>
            <a:r>
              <a:rPr lang="en-US" altLang="ko-KR"/>
              <a:t>Autonomous Vehicle Lab</a:t>
            </a:r>
            <a:endParaRPr lang="en-US" dirty="0"/>
          </a:p>
        </p:txBody>
      </p:sp>
      <p:sp>
        <p:nvSpPr>
          <p:cNvPr id="6" name="슬라이드 번호 개체 틀 5">
            <a:extLst>
              <a:ext uri="{FF2B5EF4-FFF2-40B4-BE49-F238E27FC236}">
                <a16:creationId xmlns:a16="http://schemas.microsoft.com/office/drawing/2014/main" id="{946EF6C8-6C2E-7CD0-48F5-6ED4A1466CAE}"/>
              </a:ext>
            </a:extLst>
          </p:cNvPr>
          <p:cNvSpPr>
            <a:spLocks noGrp="1"/>
          </p:cNvSpPr>
          <p:nvPr>
            <p:ph type="sldNum" sz="quarter" idx="12"/>
          </p:nvPr>
        </p:nvSpPr>
        <p:spPr/>
        <p:txBody>
          <a:bodyPr/>
          <a:lstStyle/>
          <a:p>
            <a:fld id="{55635D17-9D19-4B1E-86C2-B9D6296E4AF7}" type="slidenum">
              <a:rPr lang="en-US" smtClean="0"/>
              <a:pPr/>
              <a:t>57</a:t>
            </a:fld>
            <a:endParaRPr lang="en-US" dirty="0"/>
          </a:p>
        </p:txBody>
      </p:sp>
      <p:pic>
        <p:nvPicPr>
          <p:cNvPr id="3" name="그림 2">
            <a:extLst>
              <a:ext uri="{FF2B5EF4-FFF2-40B4-BE49-F238E27FC236}">
                <a16:creationId xmlns:a16="http://schemas.microsoft.com/office/drawing/2014/main" id="{2EF4665B-433D-6205-9111-831179230398}"/>
              </a:ext>
            </a:extLst>
          </p:cNvPr>
          <p:cNvPicPr>
            <a:picLocks noChangeAspect="1"/>
          </p:cNvPicPr>
          <p:nvPr/>
        </p:nvPicPr>
        <p:blipFill>
          <a:blip r:embed="rId2"/>
          <a:stretch>
            <a:fillRect/>
          </a:stretch>
        </p:blipFill>
        <p:spPr>
          <a:xfrm>
            <a:off x="2317490" y="753060"/>
            <a:ext cx="7557025" cy="5028215"/>
          </a:xfrm>
          <a:prstGeom prst="rect">
            <a:avLst/>
          </a:prstGeom>
        </p:spPr>
      </p:pic>
    </p:spTree>
    <p:extLst>
      <p:ext uri="{BB962C8B-B14F-4D97-AF65-F5344CB8AC3E}">
        <p14:creationId xmlns:p14="http://schemas.microsoft.com/office/powerpoint/2010/main" val="126594660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9880FAE4-784B-C197-E1FF-D0E51C21E2E6}"/>
              </a:ext>
            </a:extLst>
          </p:cNvPr>
          <p:cNvSpPr>
            <a:spLocks noGrp="1"/>
          </p:cNvSpPr>
          <p:nvPr>
            <p:ph type="title"/>
          </p:nvPr>
        </p:nvSpPr>
        <p:spPr/>
        <p:txBody>
          <a:bodyPr>
            <a:normAutofit fontScale="90000"/>
          </a:bodyPr>
          <a:lstStyle/>
          <a:p>
            <a:r>
              <a:rPr lang="en-US" altLang="ko-KR" dirty="0"/>
              <a:t>Autosar Adaptive</a:t>
            </a:r>
            <a:endParaRPr lang="ko-KR" altLang="en-US" dirty="0"/>
          </a:p>
        </p:txBody>
      </p:sp>
      <p:sp>
        <p:nvSpPr>
          <p:cNvPr id="4" name="날짜 개체 틀 3">
            <a:extLst>
              <a:ext uri="{FF2B5EF4-FFF2-40B4-BE49-F238E27FC236}">
                <a16:creationId xmlns:a16="http://schemas.microsoft.com/office/drawing/2014/main" id="{A596A1DD-4FEC-4B01-2088-06D3D621B6B6}"/>
              </a:ext>
            </a:extLst>
          </p:cNvPr>
          <p:cNvSpPr>
            <a:spLocks noGrp="1"/>
          </p:cNvSpPr>
          <p:nvPr>
            <p:ph type="dt" sz="half" idx="10"/>
          </p:nvPr>
        </p:nvSpPr>
        <p:spPr/>
        <p:txBody>
          <a:bodyPr/>
          <a:lstStyle/>
          <a:p>
            <a:fld id="{9539328B-81D7-470F-B07E-C60C8A68D98A}" type="datetime1">
              <a:rPr lang="en-US" altLang="ko-KR" smtClean="0"/>
              <a:t>4/12/2026</a:t>
            </a:fld>
            <a:endParaRPr lang="en-US"/>
          </a:p>
        </p:txBody>
      </p:sp>
      <p:sp>
        <p:nvSpPr>
          <p:cNvPr id="5" name="바닥글 개체 틀 4">
            <a:extLst>
              <a:ext uri="{FF2B5EF4-FFF2-40B4-BE49-F238E27FC236}">
                <a16:creationId xmlns:a16="http://schemas.microsoft.com/office/drawing/2014/main" id="{EF53327E-80B0-3814-BC65-F9E6AE6DEE3C}"/>
              </a:ext>
            </a:extLst>
          </p:cNvPr>
          <p:cNvSpPr>
            <a:spLocks noGrp="1"/>
          </p:cNvSpPr>
          <p:nvPr>
            <p:ph type="ftr" sz="quarter" idx="11"/>
          </p:nvPr>
        </p:nvSpPr>
        <p:spPr/>
        <p:txBody>
          <a:bodyPr/>
          <a:lstStyle/>
          <a:p>
            <a:r>
              <a:rPr lang="en-US"/>
              <a:t>2023 Copyright </a:t>
            </a:r>
            <a:r>
              <a:rPr lang="ko-KR" altLang="en-US"/>
              <a:t>ⓒ </a:t>
            </a:r>
            <a:r>
              <a:rPr lang="en-US" altLang="ko-KR"/>
              <a:t>Autonomous Vehicle Lab</a:t>
            </a:r>
            <a:endParaRPr lang="en-US" dirty="0"/>
          </a:p>
        </p:txBody>
      </p:sp>
      <p:sp>
        <p:nvSpPr>
          <p:cNvPr id="6" name="슬라이드 번호 개체 틀 5">
            <a:extLst>
              <a:ext uri="{FF2B5EF4-FFF2-40B4-BE49-F238E27FC236}">
                <a16:creationId xmlns:a16="http://schemas.microsoft.com/office/drawing/2014/main" id="{946EF6C8-6C2E-7CD0-48F5-6ED4A1466CAE}"/>
              </a:ext>
            </a:extLst>
          </p:cNvPr>
          <p:cNvSpPr>
            <a:spLocks noGrp="1"/>
          </p:cNvSpPr>
          <p:nvPr>
            <p:ph type="sldNum" sz="quarter" idx="12"/>
          </p:nvPr>
        </p:nvSpPr>
        <p:spPr/>
        <p:txBody>
          <a:bodyPr/>
          <a:lstStyle/>
          <a:p>
            <a:fld id="{55635D17-9D19-4B1E-86C2-B9D6296E4AF7}" type="slidenum">
              <a:rPr lang="en-US" smtClean="0"/>
              <a:pPr/>
              <a:t>58</a:t>
            </a:fld>
            <a:endParaRPr lang="en-US" dirty="0"/>
          </a:p>
        </p:txBody>
      </p:sp>
      <p:sp>
        <p:nvSpPr>
          <p:cNvPr id="7" name="TextBox 6">
            <a:extLst>
              <a:ext uri="{FF2B5EF4-FFF2-40B4-BE49-F238E27FC236}">
                <a16:creationId xmlns:a16="http://schemas.microsoft.com/office/drawing/2014/main" id="{A8ED2529-0143-E621-BFB1-5AB0C8D3B833}"/>
              </a:ext>
            </a:extLst>
          </p:cNvPr>
          <p:cNvSpPr txBox="1"/>
          <p:nvPr/>
        </p:nvSpPr>
        <p:spPr>
          <a:xfrm>
            <a:off x="960603" y="695598"/>
            <a:ext cx="7647030" cy="1143070"/>
          </a:xfrm>
          <a:prstGeom prst="rect">
            <a:avLst/>
          </a:prstGeom>
          <a:noFill/>
        </p:spPr>
        <p:txBody>
          <a:bodyPr wrap="none" rtlCol="0">
            <a:spAutoFit/>
          </a:bodyPr>
          <a:lstStyle/>
          <a:p>
            <a:pPr marL="285750" indent="-285750">
              <a:lnSpc>
                <a:spcPct val="150000"/>
              </a:lnSpc>
              <a:buFont typeface="Arial" panose="020B0604020202020204" pitchFamily="34" charset="0"/>
              <a:buChar char="•"/>
            </a:pPr>
            <a:r>
              <a:rPr lang="en-US" altLang="ko-KR" sz="2400" dirty="0">
                <a:hlinkClick r:id="rId2"/>
              </a:rPr>
              <a:t>https://www.autosar.org/standards/adaptive-platform/</a:t>
            </a:r>
            <a:endParaRPr lang="en-US" altLang="ko-KR" sz="2400" dirty="0"/>
          </a:p>
          <a:p>
            <a:pPr marL="285750" indent="-285750">
              <a:lnSpc>
                <a:spcPct val="150000"/>
              </a:lnSpc>
              <a:buFont typeface="Arial" panose="020B0604020202020204" pitchFamily="34" charset="0"/>
              <a:buChar char="•"/>
            </a:pPr>
            <a:r>
              <a:rPr lang="en-US" altLang="ko-KR" sz="2400" dirty="0"/>
              <a:t>Current</a:t>
            </a:r>
            <a:r>
              <a:rPr lang="ko-KR" altLang="en-US" sz="2400" dirty="0"/>
              <a:t> </a:t>
            </a:r>
            <a:r>
              <a:rPr lang="en-US" altLang="ko-KR" sz="2400" dirty="0"/>
              <a:t>Release : AUTOSAR adaptive release R25-11</a:t>
            </a:r>
            <a:endParaRPr lang="ko-KR" altLang="en-US" sz="2400" dirty="0"/>
          </a:p>
        </p:txBody>
      </p:sp>
      <p:pic>
        <p:nvPicPr>
          <p:cNvPr id="8" name="그림 7">
            <a:extLst>
              <a:ext uri="{FF2B5EF4-FFF2-40B4-BE49-F238E27FC236}">
                <a16:creationId xmlns:a16="http://schemas.microsoft.com/office/drawing/2014/main" id="{9CE5372D-CA99-0B36-CEC9-7352F9D66F4B}"/>
              </a:ext>
            </a:extLst>
          </p:cNvPr>
          <p:cNvPicPr>
            <a:picLocks noChangeAspect="1"/>
          </p:cNvPicPr>
          <p:nvPr/>
        </p:nvPicPr>
        <p:blipFill>
          <a:blip r:embed="rId3"/>
          <a:stretch>
            <a:fillRect/>
          </a:stretch>
        </p:blipFill>
        <p:spPr>
          <a:xfrm>
            <a:off x="1217655" y="2063977"/>
            <a:ext cx="9792549" cy="3429297"/>
          </a:xfrm>
          <a:prstGeom prst="rect">
            <a:avLst/>
          </a:prstGeom>
        </p:spPr>
      </p:pic>
    </p:spTree>
    <p:extLst>
      <p:ext uri="{BB962C8B-B14F-4D97-AF65-F5344CB8AC3E}">
        <p14:creationId xmlns:p14="http://schemas.microsoft.com/office/powerpoint/2010/main" val="254890579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9880FAE4-784B-C197-E1FF-D0E51C21E2E6}"/>
              </a:ext>
            </a:extLst>
          </p:cNvPr>
          <p:cNvSpPr>
            <a:spLocks noGrp="1"/>
          </p:cNvSpPr>
          <p:nvPr>
            <p:ph type="title"/>
          </p:nvPr>
        </p:nvSpPr>
        <p:spPr/>
        <p:txBody>
          <a:bodyPr>
            <a:normAutofit fontScale="90000"/>
          </a:bodyPr>
          <a:lstStyle/>
          <a:p>
            <a:r>
              <a:rPr lang="en-US" altLang="ko-KR" dirty="0"/>
              <a:t>Autosar Classic vs. Adaptive</a:t>
            </a:r>
            <a:endParaRPr lang="ko-KR" altLang="en-US" dirty="0"/>
          </a:p>
        </p:txBody>
      </p:sp>
      <p:sp>
        <p:nvSpPr>
          <p:cNvPr id="4" name="날짜 개체 틀 3">
            <a:extLst>
              <a:ext uri="{FF2B5EF4-FFF2-40B4-BE49-F238E27FC236}">
                <a16:creationId xmlns:a16="http://schemas.microsoft.com/office/drawing/2014/main" id="{A596A1DD-4FEC-4B01-2088-06D3D621B6B6}"/>
              </a:ext>
            </a:extLst>
          </p:cNvPr>
          <p:cNvSpPr>
            <a:spLocks noGrp="1"/>
          </p:cNvSpPr>
          <p:nvPr>
            <p:ph type="dt" sz="half" idx="10"/>
          </p:nvPr>
        </p:nvSpPr>
        <p:spPr/>
        <p:txBody>
          <a:bodyPr/>
          <a:lstStyle/>
          <a:p>
            <a:fld id="{9539328B-81D7-470F-B07E-C60C8A68D98A}" type="datetime1">
              <a:rPr lang="en-US" altLang="ko-KR" smtClean="0"/>
              <a:t>4/12/2026</a:t>
            </a:fld>
            <a:endParaRPr lang="en-US"/>
          </a:p>
        </p:txBody>
      </p:sp>
      <p:sp>
        <p:nvSpPr>
          <p:cNvPr id="5" name="바닥글 개체 틀 4">
            <a:extLst>
              <a:ext uri="{FF2B5EF4-FFF2-40B4-BE49-F238E27FC236}">
                <a16:creationId xmlns:a16="http://schemas.microsoft.com/office/drawing/2014/main" id="{EF53327E-80B0-3814-BC65-F9E6AE6DEE3C}"/>
              </a:ext>
            </a:extLst>
          </p:cNvPr>
          <p:cNvSpPr>
            <a:spLocks noGrp="1"/>
          </p:cNvSpPr>
          <p:nvPr>
            <p:ph type="ftr" sz="quarter" idx="11"/>
          </p:nvPr>
        </p:nvSpPr>
        <p:spPr/>
        <p:txBody>
          <a:bodyPr/>
          <a:lstStyle/>
          <a:p>
            <a:r>
              <a:rPr lang="en-US"/>
              <a:t>2023 Copyright </a:t>
            </a:r>
            <a:r>
              <a:rPr lang="ko-KR" altLang="en-US"/>
              <a:t>ⓒ </a:t>
            </a:r>
            <a:r>
              <a:rPr lang="en-US" altLang="ko-KR"/>
              <a:t>Autonomous Vehicle Lab</a:t>
            </a:r>
            <a:endParaRPr lang="en-US" dirty="0"/>
          </a:p>
        </p:txBody>
      </p:sp>
      <p:sp>
        <p:nvSpPr>
          <p:cNvPr id="6" name="슬라이드 번호 개체 틀 5">
            <a:extLst>
              <a:ext uri="{FF2B5EF4-FFF2-40B4-BE49-F238E27FC236}">
                <a16:creationId xmlns:a16="http://schemas.microsoft.com/office/drawing/2014/main" id="{946EF6C8-6C2E-7CD0-48F5-6ED4A1466CAE}"/>
              </a:ext>
            </a:extLst>
          </p:cNvPr>
          <p:cNvSpPr>
            <a:spLocks noGrp="1"/>
          </p:cNvSpPr>
          <p:nvPr>
            <p:ph type="sldNum" sz="quarter" idx="12"/>
          </p:nvPr>
        </p:nvSpPr>
        <p:spPr/>
        <p:txBody>
          <a:bodyPr/>
          <a:lstStyle/>
          <a:p>
            <a:fld id="{55635D17-9D19-4B1E-86C2-B9D6296E4AF7}" type="slidenum">
              <a:rPr lang="en-US" smtClean="0"/>
              <a:pPr/>
              <a:t>59</a:t>
            </a:fld>
            <a:endParaRPr lang="en-US" dirty="0"/>
          </a:p>
        </p:txBody>
      </p:sp>
      <p:graphicFrame>
        <p:nvGraphicFramePr>
          <p:cNvPr id="3" name="표 2">
            <a:extLst>
              <a:ext uri="{FF2B5EF4-FFF2-40B4-BE49-F238E27FC236}">
                <a16:creationId xmlns:a16="http://schemas.microsoft.com/office/drawing/2014/main" id="{84CC5DBE-616F-5D3B-6A8B-9E37B64B3485}"/>
              </a:ext>
            </a:extLst>
          </p:cNvPr>
          <p:cNvGraphicFramePr>
            <a:graphicFrameLocks noGrp="1"/>
          </p:cNvGraphicFramePr>
          <p:nvPr>
            <p:extLst>
              <p:ext uri="{D42A27DB-BD31-4B8C-83A1-F6EECF244321}">
                <p14:modId xmlns:p14="http://schemas.microsoft.com/office/powerpoint/2010/main" val="1075985643"/>
              </p:ext>
            </p:extLst>
          </p:nvPr>
        </p:nvGraphicFramePr>
        <p:xfrm>
          <a:off x="1471514" y="1009494"/>
          <a:ext cx="9241313" cy="4571127"/>
        </p:xfrm>
        <a:graphic>
          <a:graphicData uri="http://schemas.openxmlformats.org/drawingml/2006/table">
            <a:tbl>
              <a:tblPr/>
              <a:tblGrid>
                <a:gridCol w="1307547">
                  <a:extLst>
                    <a:ext uri="{9D8B030D-6E8A-4147-A177-3AD203B41FA5}">
                      <a16:colId xmlns:a16="http://schemas.microsoft.com/office/drawing/2014/main" val="3633584758"/>
                    </a:ext>
                  </a:extLst>
                </a:gridCol>
                <a:gridCol w="3966883">
                  <a:extLst>
                    <a:ext uri="{9D8B030D-6E8A-4147-A177-3AD203B41FA5}">
                      <a16:colId xmlns:a16="http://schemas.microsoft.com/office/drawing/2014/main" val="4127837030"/>
                    </a:ext>
                  </a:extLst>
                </a:gridCol>
                <a:gridCol w="3966883">
                  <a:extLst>
                    <a:ext uri="{9D8B030D-6E8A-4147-A177-3AD203B41FA5}">
                      <a16:colId xmlns:a16="http://schemas.microsoft.com/office/drawing/2014/main" val="652199358"/>
                    </a:ext>
                  </a:extLst>
                </a:gridCol>
              </a:tblGrid>
              <a:tr h="415557">
                <a:tc>
                  <a:txBody>
                    <a:bodyPr/>
                    <a:lstStyle/>
                    <a:p>
                      <a:pPr algn="ctr" rtl="0">
                        <a:buNone/>
                      </a:pPr>
                      <a:r>
                        <a:rPr lang="ko-KR" altLang="en-US" sz="1400" b="1" dirty="0">
                          <a:solidFill>
                            <a:srgbClr val="1F1F1F"/>
                          </a:solidFill>
                          <a:effectLst/>
                          <a:latin typeface="+mn-lt"/>
                        </a:rPr>
                        <a:t>구분</a:t>
                      </a:r>
                      <a:endParaRPr lang="ko-KR" altLang="en-US" sz="1400" dirty="0">
                        <a:solidFill>
                          <a:srgbClr val="1F1F1F"/>
                        </a:solidFill>
                        <a:effectLst/>
                        <a:latin typeface="+mn-lt"/>
                      </a:endParaRPr>
                    </a:p>
                  </a:txBody>
                  <a:tcPr marL="72122" marR="45076" marT="60101" marB="601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algn="ctr" rtl="0">
                        <a:buNone/>
                      </a:pPr>
                      <a:r>
                        <a:rPr lang="en-US" sz="1400" b="1" dirty="0">
                          <a:solidFill>
                            <a:srgbClr val="1F1F1F"/>
                          </a:solidFill>
                          <a:effectLst/>
                          <a:latin typeface="+mn-lt"/>
                        </a:rPr>
                        <a:t>Classic Platform (CP)</a:t>
                      </a:r>
                      <a:endParaRPr lang="en-US" sz="1400" dirty="0">
                        <a:solidFill>
                          <a:srgbClr val="1F1F1F"/>
                        </a:solidFill>
                        <a:effectLst/>
                        <a:latin typeface="+mn-lt"/>
                      </a:endParaRPr>
                    </a:p>
                  </a:txBody>
                  <a:tcPr marL="72122" marR="45076" marT="60101" marB="601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algn="ctr" rtl="0">
                        <a:buNone/>
                      </a:pPr>
                      <a:r>
                        <a:rPr lang="en-US" sz="1400" b="1" dirty="0">
                          <a:solidFill>
                            <a:srgbClr val="1F1F1F"/>
                          </a:solidFill>
                          <a:effectLst/>
                          <a:latin typeface="+mn-lt"/>
                        </a:rPr>
                        <a:t>Adaptive Platform (AP)</a:t>
                      </a:r>
                      <a:endParaRPr lang="en-US" sz="1400" dirty="0">
                        <a:solidFill>
                          <a:srgbClr val="1F1F1F"/>
                        </a:solidFill>
                        <a:effectLst/>
                        <a:latin typeface="+mn-lt"/>
                      </a:endParaRPr>
                    </a:p>
                  </a:txBody>
                  <a:tcPr marL="72122" marR="72122" marT="60101" marB="601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extLst>
                  <a:ext uri="{0D108BD9-81ED-4DB2-BD59-A6C34878D82A}">
                    <a16:rowId xmlns:a16="http://schemas.microsoft.com/office/drawing/2014/main" val="1394172385"/>
                  </a:ext>
                </a:extLst>
              </a:tr>
              <a:tr h="415557">
                <a:tc>
                  <a:txBody>
                    <a:bodyPr/>
                    <a:lstStyle/>
                    <a:p>
                      <a:pPr algn="ctr" rtl="0">
                        <a:buNone/>
                      </a:pPr>
                      <a:r>
                        <a:rPr lang="ko-KR" altLang="en-US" sz="1400" b="1" dirty="0">
                          <a:solidFill>
                            <a:srgbClr val="1F1F1F"/>
                          </a:solidFill>
                          <a:effectLst/>
                          <a:latin typeface="+mn-lt"/>
                        </a:rPr>
                        <a:t>기반 </a:t>
                      </a:r>
                      <a:r>
                        <a:rPr lang="en-US" sz="1400" b="1" dirty="0">
                          <a:solidFill>
                            <a:srgbClr val="1F1F1F"/>
                          </a:solidFill>
                          <a:effectLst/>
                          <a:latin typeface="+mn-lt"/>
                        </a:rPr>
                        <a:t>OS</a:t>
                      </a:r>
                    </a:p>
                  </a:txBody>
                  <a:tcPr marL="72122" marR="45076" marT="60101" marB="601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rtl="0">
                        <a:buNone/>
                      </a:pPr>
                      <a:r>
                        <a:rPr lang="en-US" sz="1400" dirty="0">
                          <a:solidFill>
                            <a:srgbClr val="1F1F1F"/>
                          </a:solidFill>
                          <a:effectLst/>
                          <a:latin typeface="+mn-lt"/>
                        </a:rPr>
                        <a:t>OSEK </a:t>
                      </a:r>
                      <a:r>
                        <a:rPr lang="ko-KR" altLang="en-US" sz="1400" dirty="0">
                          <a:solidFill>
                            <a:srgbClr val="1F1F1F"/>
                          </a:solidFill>
                          <a:effectLst/>
                          <a:latin typeface="+mn-lt"/>
                        </a:rPr>
                        <a:t>기반</a:t>
                      </a:r>
                    </a:p>
                  </a:txBody>
                  <a:tcPr marL="72122" marR="45076" marT="60101" marB="601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rtl="0">
                        <a:buNone/>
                      </a:pPr>
                      <a:r>
                        <a:rPr lang="en-US" sz="1400" dirty="0">
                          <a:solidFill>
                            <a:srgbClr val="1F1F1F"/>
                          </a:solidFill>
                          <a:effectLst/>
                          <a:latin typeface="+mn-lt"/>
                        </a:rPr>
                        <a:t>POSIX 51 </a:t>
                      </a:r>
                      <a:r>
                        <a:rPr lang="ko-KR" altLang="en-US" sz="1400" dirty="0">
                          <a:solidFill>
                            <a:srgbClr val="1F1F1F"/>
                          </a:solidFill>
                          <a:effectLst/>
                          <a:latin typeface="+mn-lt"/>
                        </a:rPr>
                        <a:t>기반</a:t>
                      </a:r>
                    </a:p>
                  </a:txBody>
                  <a:tcPr marL="72122" marR="72122" marT="60101" marB="601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01519084"/>
                  </a:ext>
                </a:extLst>
              </a:tr>
              <a:tr h="415557">
                <a:tc>
                  <a:txBody>
                    <a:bodyPr/>
                    <a:lstStyle/>
                    <a:p>
                      <a:pPr algn="ctr" rtl="0">
                        <a:buNone/>
                      </a:pPr>
                      <a:r>
                        <a:rPr lang="ko-KR" altLang="en-US" sz="1400" b="1" dirty="0">
                          <a:solidFill>
                            <a:srgbClr val="1F1F1F"/>
                          </a:solidFill>
                          <a:effectLst/>
                          <a:latin typeface="+mn-lt"/>
                        </a:rPr>
                        <a:t>실행 방식</a:t>
                      </a:r>
                    </a:p>
                  </a:txBody>
                  <a:tcPr marL="72122" marR="45076" marT="60101" marB="601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rtl="0">
                        <a:buNone/>
                      </a:pPr>
                      <a:r>
                        <a:rPr lang="en-US" altLang="ko-KR" sz="1400" dirty="0">
                          <a:solidFill>
                            <a:srgbClr val="1F1F1F"/>
                          </a:solidFill>
                          <a:effectLst/>
                          <a:latin typeface="+mn-lt"/>
                        </a:rPr>
                        <a:t>ROM </a:t>
                      </a:r>
                      <a:r>
                        <a:rPr lang="ko-KR" altLang="en-US" sz="1400" dirty="0">
                          <a:solidFill>
                            <a:srgbClr val="1F1F1F"/>
                          </a:solidFill>
                          <a:effectLst/>
                          <a:latin typeface="+mn-lt"/>
                        </a:rPr>
                        <a:t>기반 실행</a:t>
                      </a:r>
                      <a:r>
                        <a:rPr lang="en-US" altLang="ko-KR" sz="1400" dirty="0">
                          <a:solidFill>
                            <a:srgbClr val="1F1F1F"/>
                          </a:solidFill>
                          <a:effectLst/>
                          <a:latin typeface="+mn-lt"/>
                        </a:rPr>
                        <a:t>, </a:t>
                      </a:r>
                      <a:r>
                        <a:rPr lang="ko-KR" altLang="en-US" sz="1400" dirty="0">
                          <a:solidFill>
                            <a:srgbClr val="1F1F1F"/>
                          </a:solidFill>
                          <a:effectLst/>
                          <a:latin typeface="+mn-lt"/>
                        </a:rPr>
                        <a:t>단일 주소 공간</a:t>
                      </a:r>
                      <a:r>
                        <a:rPr lang="en-US" altLang="ko-KR" sz="1400" dirty="0">
                          <a:solidFill>
                            <a:srgbClr val="1F1F1F"/>
                          </a:solidFill>
                          <a:effectLst/>
                          <a:latin typeface="+mn-lt"/>
                        </a:rPr>
                        <a:t>, Early binding</a:t>
                      </a:r>
                    </a:p>
                  </a:txBody>
                  <a:tcPr marL="72122" marR="45076" marT="60101" marB="601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rtl="0">
                        <a:buNone/>
                      </a:pPr>
                      <a:r>
                        <a:rPr lang="en-US" altLang="ko-KR" sz="1400" dirty="0">
                          <a:solidFill>
                            <a:srgbClr val="1F1F1F"/>
                          </a:solidFill>
                          <a:effectLst/>
                          <a:latin typeface="+mn-lt"/>
                        </a:rPr>
                        <a:t>RAM </a:t>
                      </a:r>
                      <a:r>
                        <a:rPr lang="ko-KR" altLang="en-US" sz="1400" dirty="0">
                          <a:solidFill>
                            <a:srgbClr val="1F1F1F"/>
                          </a:solidFill>
                          <a:effectLst/>
                          <a:latin typeface="+mn-lt"/>
                        </a:rPr>
                        <a:t>기반 실행</a:t>
                      </a:r>
                      <a:r>
                        <a:rPr lang="en-US" altLang="ko-KR" sz="1400" dirty="0">
                          <a:solidFill>
                            <a:srgbClr val="1F1F1F"/>
                          </a:solidFill>
                          <a:effectLst/>
                          <a:latin typeface="+mn-lt"/>
                        </a:rPr>
                        <a:t>, </a:t>
                      </a:r>
                      <a:r>
                        <a:rPr lang="ko-KR" altLang="en-US" sz="1400" dirty="0">
                          <a:solidFill>
                            <a:srgbClr val="1F1F1F"/>
                          </a:solidFill>
                          <a:effectLst/>
                          <a:latin typeface="+mn-lt"/>
                        </a:rPr>
                        <a:t>가상 주소 공간 </a:t>
                      </a:r>
                      <a:r>
                        <a:rPr lang="en-US" altLang="ko-KR" sz="1400" dirty="0">
                          <a:solidFill>
                            <a:srgbClr val="1F1F1F"/>
                          </a:solidFill>
                          <a:effectLst/>
                          <a:latin typeface="+mn-lt"/>
                        </a:rPr>
                        <a:t>(MMU </a:t>
                      </a:r>
                      <a:r>
                        <a:rPr lang="ko-KR" altLang="en-US" sz="1400" dirty="0">
                          <a:solidFill>
                            <a:srgbClr val="1F1F1F"/>
                          </a:solidFill>
                          <a:effectLst/>
                          <a:latin typeface="+mn-lt"/>
                        </a:rPr>
                        <a:t>지원</a:t>
                      </a:r>
                      <a:r>
                        <a:rPr lang="en-US" altLang="ko-KR" sz="1400" dirty="0">
                          <a:solidFill>
                            <a:srgbClr val="1F1F1F"/>
                          </a:solidFill>
                          <a:effectLst/>
                          <a:latin typeface="+mn-lt"/>
                        </a:rPr>
                        <a:t>)</a:t>
                      </a:r>
                    </a:p>
                  </a:txBody>
                  <a:tcPr marL="72122" marR="72122" marT="60101" marB="601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5424293"/>
                  </a:ext>
                </a:extLst>
              </a:tr>
              <a:tr h="415557">
                <a:tc>
                  <a:txBody>
                    <a:bodyPr/>
                    <a:lstStyle/>
                    <a:p>
                      <a:pPr algn="ctr" rtl="0">
                        <a:buNone/>
                      </a:pPr>
                      <a:r>
                        <a:rPr lang="ko-KR" altLang="en-US" sz="1400" b="1" dirty="0">
                          <a:solidFill>
                            <a:srgbClr val="1F1F1F"/>
                          </a:solidFill>
                          <a:effectLst/>
                          <a:latin typeface="+mn-lt"/>
                        </a:rPr>
                        <a:t>통신 방식</a:t>
                      </a:r>
                    </a:p>
                  </a:txBody>
                  <a:tcPr marL="72122" marR="45076" marT="60101" marB="601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rtl="0">
                        <a:buNone/>
                      </a:pPr>
                      <a:r>
                        <a:rPr lang="ko-KR" altLang="en-US" sz="1400" dirty="0">
                          <a:solidFill>
                            <a:srgbClr val="1F1F1F"/>
                          </a:solidFill>
                          <a:effectLst/>
                          <a:latin typeface="+mn-lt"/>
                        </a:rPr>
                        <a:t>신호 기반 </a:t>
                      </a:r>
                      <a:r>
                        <a:rPr lang="en-US" altLang="ko-KR" sz="1400" dirty="0">
                          <a:solidFill>
                            <a:srgbClr val="1F1F1F"/>
                          </a:solidFill>
                          <a:effectLst/>
                          <a:latin typeface="+mn-lt"/>
                        </a:rPr>
                        <a:t>(</a:t>
                      </a:r>
                      <a:r>
                        <a:rPr lang="en-US" sz="1400" dirty="0">
                          <a:solidFill>
                            <a:srgbClr val="1F1F1F"/>
                          </a:solidFill>
                          <a:effectLst/>
                          <a:latin typeface="+mn-lt"/>
                        </a:rPr>
                        <a:t>Signal based) </a:t>
                      </a:r>
                      <a:r>
                        <a:rPr lang="ko-KR" altLang="en-US" sz="1400" dirty="0">
                          <a:solidFill>
                            <a:srgbClr val="1F1F1F"/>
                          </a:solidFill>
                          <a:effectLst/>
                          <a:latin typeface="+mn-lt"/>
                        </a:rPr>
                        <a:t>통신</a:t>
                      </a:r>
                    </a:p>
                  </a:txBody>
                  <a:tcPr marL="72122" marR="45076" marT="60101" marB="601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rtl="0">
                        <a:buNone/>
                      </a:pPr>
                      <a:r>
                        <a:rPr lang="ko-KR" altLang="en-US" sz="1400" dirty="0">
                          <a:solidFill>
                            <a:srgbClr val="1F1F1F"/>
                          </a:solidFill>
                          <a:effectLst/>
                          <a:latin typeface="+mn-lt"/>
                        </a:rPr>
                        <a:t>서비스 지향 </a:t>
                      </a:r>
                      <a:r>
                        <a:rPr lang="en-US" altLang="ko-KR" sz="1400" dirty="0">
                          <a:solidFill>
                            <a:srgbClr val="1F1F1F"/>
                          </a:solidFill>
                          <a:effectLst/>
                          <a:latin typeface="+mn-lt"/>
                        </a:rPr>
                        <a:t>(</a:t>
                      </a:r>
                      <a:r>
                        <a:rPr lang="en-US" sz="1400" dirty="0">
                          <a:solidFill>
                            <a:srgbClr val="1F1F1F"/>
                          </a:solidFill>
                          <a:effectLst/>
                          <a:latin typeface="+mn-lt"/>
                        </a:rPr>
                        <a:t>Service Oriented) </a:t>
                      </a:r>
                      <a:r>
                        <a:rPr lang="ko-KR" altLang="en-US" sz="1400" dirty="0">
                          <a:solidFill>
                            <a:srgbClr val="1F1F1F"/>
                          </a:solidFill>
                          <a:effectLst/>
                          <a:latin typeface="+mn-lt"/>
                        </a:rPr>
                        <a:t>통신</a:t>
                      </a:r>
                    </a:p>
                  </a:txBody>
                  <a:tcPr marL="72122" marR="72122" marT="60101" marB="601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60175034"/>
                  </a:ext>
                </a:extLst>
              </a:tr>
              <a:tr h="415557">
                <a:tc>
                  <a:txBody>
                    <a:bodyPr/>
                    <a:lstStyle/>
                    <a:p>
                      <a:pPr algn="ctr" rtl="0">
                        <a:buNone/>
                      </a:pPr>
                      <a:r>
                        <a:rPr lang="ko-KR" altLang="en-US" sz="1400" b="1" dirty="0">
                          <a:solidFill>
                            <a:srgbClr val="1F1F1F"/>
                          </a:solidFill>
                          <a:effectLst/>
                          <a:latin typeface="+mn-lt"/>
                        </a:rPr>
                        <a:t>주요 타겟</a:t>
                      </a:r>
                    </a:p>
                  </a:txBody>
                  <a:tcPr marL="72122" marR="45076" marT="60101" marB="601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rtl="0">
                        <a:buNone/>
                      </a:pPr>
                      <a:r>
                        <a:rPr lang="en-US" sz="1400" dirty="0">
                          <a:solidFill>
                            <a:srgbClr val="1F1F1F"/>
                          </a:solidFill>
                          <a:effectLst/>
                          <a:latin typeface="+mn-lt"/>
                        </a:rPr>
                        <a:t>Deeply embedded (</a:t>
                      </a:r>
                      <a:r>
                        <a:rPr lang="ko-KR" altLang="en-US" sz="1400" dirty="0">
                          <a:solidFill>
                            <a:srgbClr val="1F1F1F"/>
                          </a:solidFill>
                          <a:effectLst/>
                          <a:latin typeface="+mn-lt"/>
                        </a:rPr>
                        <a:t>임베디드 제어</a:t>
                      </a:r>
                      <a:r>
                        <a:rPr lang="en-US" altLang="ko-KR" sz="1400" dirty="0">
                          <a:solidFill>
                            <a:srgbClr val="1F1F1F"/>
                          </a:solidFill>
                          <a:effectLst/>
                          <a:latin typeface="+mn-lt"/>
                        </a:rPr>
                        <a:t>)</a:t>
                      </a:r>
                    </a:p>
                  </a:txBody>
                  <a:tcPr marL="72122" marR="45076" marT="60101" marB="601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rtl="0">
                        <a:buNone/>
                      </a:pPr>
                      <a:r>
                        <a:rPr lang="en-US" sz="1400" dirty="0">
                          <a:solidFill>
                            <a:srgbClr val="1F1F1F"/>
                          </a:solidFill>
                          <a:effectLst/>
                          <a:latin typeface="+mn-lt"/>
                        </a:rPr>
                        <a:t>ADAS </a:t>
                      </a:r>
                      <a:r>
                        <a:rPr lang="ko-KR" altLang="en-US" sz="1400" dirty="0">
                          <a:solidFill>
                            <a:srgbClr val="1F1F1F"/>
                          </a:solidFill>
                          <a:effectLst/>
                          <a:latin typeface="+mn-lt"/>
                        </a:rPr>
                        <a:t>및 자율주행 </a:t>
                      </a:r>
                      <a:r>
                        <a:rPr lang="en-US" altLang="ko-KR" sz="1400" dirty="0">
                          <a:solidFill>
                            <a:srgbClr val="1F1F1F"/>
                          </a:solidFill>
                          <a:effectLst/>
                          <a:latin typeface="+mn-lt"/>
                        </a:rPr>
                        <a:t>(</a:t>
                      </a:r>
                      <a:r>
                        <a:rPr lang="en-US" sz="1400" dirty="0">
                          <a:solidFill>
                            <a:srgbClr val="1F1F1F"/>
                          </a:solidFill>
                          <a:effectLst/>
                          <a:latin typeface="+mn-lt"/>
                        </a:rPr>
                        <a:t>AD)</a:t>
                      </a:r>
                    </a:p>
                  </a:txBody>
                  <a:tcPr marL="72122" marR="72122" marT="60101" marB="601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98732735"/>
                  </a:ext>
                </a:extLst>
              </a:tr>
              <a:tr h="415557">
                <a:tc>
                  <a:txBody>
                    <a:bodyPr/>
                    <a:lstStyle/>
                    <a:p>
                      <a:pPr algn="ctr" rtl="0">
                        <a:buNone/>
                      </a:pPr>
                      <a:r>
                        <a:rPr lang="ko-KR" altLang="en-US" sz="1400" b="1" dirty="0">
                          <a:solidFill>
                            <a:srgbClr val="1F1F1F"/>
                          </a:solidFill>
                          <a:effectLst/>
                          <a:latin typeface="+mn-lt"/>
                        </a:rPr>
                        <a:t>주요 용도</a:t>
                      </a:r>
                    </a:p>
                  </a:txBody>
                  <a:tcPr marL="72122" marR="45076" marT="60101" marB="601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rtl="0">
                        <a:buNone/>
                      </a:pPr>
                      <a:r>
                        <a:rPr lang="en-US" altLang="ko-KR" sz="1400" dirty="0">
                          <a:solidFill>
                            <a:srgbClr val="1F1F1F"/>
                          </a:solidFill>
                          <a:effectLst/>
                          <a:latin typeface="+mn-lt"/>
                        </a:rPr>
                        <a:t>Sensors and Actuators Control</a:t>
                      </a:r>
                      <a:endParaRPr lang="ko-KR" altLang="en-US" sz="1400" dirty="0">
                        <a:solidFill>
                          <a:srgbClr val="1F1F1F"/>
                        </a:solidFill>
                        <a:effectLst/>
                        <a:latin typeface="+mn-lt"/>
                      </a:endParaRPr>
                    </a:p>
                  </a:txBody>
                  <a:tcPr marL="72122" marR="45076" marT="60101" marB="601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rtl="0">
                        <a:buNone/>
                      </a:pPr>
                      <a:r>
                        <a:rPr lang="en-US" altLang="ko-KR" sz="1400" dirty="0">
                          <a:solidFill>
                            <a:srgbClr val="1F1F1F"/>
                          </a:solidFill>
                          <a:effectLst/>
                          <a:latin typeface="+mn-lt"/>
                        </a:rPr>
                        <a:t>High</a:t>
                      </a:r>
                      <a:r>
                        <a:rPr lang="ko-KR" altLang="en-US" sz="1400" dirty="0">
                          <a:solidFill>
                            <a:srgbClr val="1F1F1F"/>
                          </a:solidFill>
                          <a:effectLst/>
                          <a:latin typeface="+mn-lt"/>
                        </a:rPr>
                        <a:t> </a:t>
                      </a:r>
                      <a:r>
                        <a:rPr lang="en-US" altLang="ko-KR" sz="1400" dirty="0">
                          <a:solidFill>
                            <a:srgbClr val="1F1F1F"/>
                          </a:solidFill>
                          <a:effectLst/>
                          <a:latin typeface="+mn-lt"/>
                        </a:rPr>
                        <a:t>Performance</a:t>
                      </a:r>
                      <a:r>
                        <a:rPr lang="ko-KR" altLang="en-US" sz="1400" dirty="0">
                          <a:solidFill>
                            <a:srgbClr val="1F1F1F"/>
                          </a:solidFill>
                          <a:effectLst/>
                          <a:latin typeface="+mn-lt"/>
                        </a:rPr>
                        <a:t> </a:t>
                      </a:r>
                      <a:r>
                        <a:rPr lang="en-US" altLang="ko-KR" sz="1400" dirty="0">
                          <a:solidFill>
                            <a:srgbClr val="1F1F1F"/>
                          </a:solidFill>
                          <a:effectLst/>
                          <a:latin typeface="+mn-lt"/>
                        </a:rPr>
                        <a:t>Computing</a:t>
                      </a:r>
                      <a:endParaRPr lang="ko-KR" altLang="en-US" sz="1400" dirty="0">
                        <a:solidFill>
                          <a:srgbClr val="1F1F1F"/>
                        </a:solidFill>
                        <a:effectLst/>
                        <a:latin typeface="+mn-lt"/>
                      </a:endParaRPr>
                    </a:p>
                  </a:txBody>
                  <a:tcPr marL="72122" marR="72122" marT="60101" marB="601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99273396"/>
                  </a:ext>
                </a:extLst>
              </a:tr>
              <a:tr h="415557">
                <a:tc>
                  <a:txBody>
                    <a:bodyPr/>
                    <a:lstStyle/>
                    <a:p>
                      <a:pPr algn="ctr" rtl="0">
                        <a:buNone/>
                      </a:pPr>
                      <a:r>
                        <a:rPr lang="ko-KR" altLang="en-US" sz="1400" b="1" dirty="0">
                          <a:solidFill>
                            <a:srgbClr val="1F1F1F"/>
                          </a:solidFill>
                          <a:effectLst/>
                          <a:latin typeface="+mn-lt"/>
                        </a:rPr>
                        <a:t>안전 등급</a:t>
                      </a:r>
                    </a:p>
                  </a:txBody>
                  <a:tcPr marL="72122" marR="45076" marT="60101" marB="601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rtl="0">
                        <a:buNone/>
                      </a:pPr>
                      <a:r>
                        <a:rPr lang="ko-KR" altLang="en-US" sz="1400" dirty="0">
                          <a:solidFill>
                            <a:srgbClr val="1F1F1F"/>
                          </a:solidFill>
                          <a:effectLst/>
                          <a:latin typeface="+mn-lt"/>
                        </a:rPr>
                        <a:t>최대 </a:t>
                      </a:r>
                      <a:r>
                        <a:rPr lang="en-US" sz="1400" dirty="0">
                          <a:solidFill>
                            <a:srgbClr val="1F1F1F"/>
                          </a:solidFill>
                          <a:effectLst/>
                          <a:latin typeface="+mn-lt"/>
                        </a:rPr>
                        <a:t>ASIL-D </a:t>
                      </a:r>
                      <a:r>
                        <a:rPr lang="ko-KR" altLang="en-US" sz="1400" dirty="0">
                          <a:solidFill>
                            <a:srgbClr val="1F1F1F"/>
                          </a:solidFill>
                          <a:effectLst/>
                          <a:latin typeface="+mn-lt"/>
                        </a:rPr>
                        <a:t>지원</a:t>
                      </a:r>
                    </a:p>
                  </a:txBody>
                  <a:tcPr marL="72122" marR="45076" marT="60101" marB="601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rtl="0">
                        <a:buNone/>
                      </a:pPr>
                      <a:r>
                        <a:rPr lang="ko-KR" altLang="en-US" sz="1400" dirty="0">
                          <a:solidFill>
                            <a:srgbClr val="1F1F1F"/>
                          </a:solidFill>
                          <a:effectLst/>
                          <a:latin typeface="+mn-lt"/>
                        </a:rPr>
                        <a:t>최대 </a:t>
                      </a:r>
                      <a:r>
                        <a:rPr lang="en-US" sz="1400" dirty="0">
                          <a:solidFill>
                            <a:srgbClr val="1F1F1F"/>
                          </a:solidFill>
                          <a:effectLst/>
                          <a:latin typeface="+mn-lt"/>
                        </a:rPr>
                        <a:t>ASIL-B </a:t>
                      </a:r>
                      <a:r>
                        <a:rPr lang="ko-KR" altLang="en-US" sz="1400" dirty="0">
                          <a:solidFill>
                            <a:srgbClr val="1F1F1F"/>
                          </a:solidFill>
                          <a:effectLst/>
                          <a:latin typeface="+mn-lt"/>
                        </a:rPr>
                        <a:t>지원</a:t>
                      </a:r>
                    </a:p>
                  </a:txBody>
                  <a:tcPr marL="72122" marR="72122" marT="60101" marB="601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24189519"/>
                  </a:ext>
                </a:extLst>
              </a:tr>
              <a:tr h="415557">
                <a:tc>
                  <a:txBody>
                    <a:bodyPr/>
                    <a:lstStyle/>
                    <a:p>
                      <a:pPr algn="ctr" rtl="0">
                        <a:buNone/>
                      </a:pPr>
                      <a:r>
                        <a:rPr lang="ko-KR" altLang="en-US" sz="1400" b="1" dirty="0">
                          <a:solidFill>
                            <a:srgbClr val="1F1F1F"/>
                          </a:solidFill>
                          <a:effectLst/>
                          <a:latin typeface="+mn-lt"/>
                        </a:rPr>
                        <a:t>지원 언어</a:t>
                      </a:r>
                    </a:p>
                  </a:txBody>
                  <a:tcPr marL="72122" marR="45076" marT="60101" marB="601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rtl="0">
                        <a:buNone/>
                      </a:pPr>
                      <a:r>
                        <a:rPr lang="en-US" sz="1400" dirty="0">
                          <a:solidFill>
                            <a:srgbClr val="1F1F1F"/>
                          </a:solidFill>
                          <a:effectLst/>
                          <a:latin typeface="+mn-lt"/>
                        </a:rPr>
                        <a:t>C </a:t>
                      </a:r>
                      <a:r>
                        <a:rPr lang="ko-KR" altLang="en-US" sz="1400" dirty="0">
                          <a:solidFill>
                            <a:srgbClr val="1F1F1F"/>
                          </a:solidFill>
                          <a:effectLst/>
                          <a:latin typeface="+mn-lt"/>
                        </a:rPr>
                        <a:t>언어</a:t>
                      </a:r>
                    </a:p>
                  </a:txBody>
                  <a:tcPr marL="72122" marR="45076" marT="60101" marB="601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rtl="0">
                        <a:buNone/>
                      </a:pPr>
                      <a:r>
                        <a:rPr lang="en-US" sz="1400" dirty="0">
                          <a:solidFill>
                            <a:srgbClr val="1F1F1F"/>
                          </a:solidFill>
                          <a:effectLst/>
                          <a:latin typeface="+mn-lt"/>
                        </a:rPr>
                        <a:t>C++ </a:t>
                      </a:r>
                      <a:r>
                        <a:rPr lang="ko-KR" altLang="en-US" sz="1400" dirty="0">
                          <a:solidFill>
                            <a:srgbClr val="1F1F1F"/>
                          </a:solidFill>
                          <a:effectLst/>
                          <a:latin typeface="+mn-lt"/>
                        </a:rPr>
                        <a:t>언어</a:t>
                      </a:r>
                    </a:p>
                  </a:txBody>
                  <a:tcPr marL="72122" marR="72122" marT="60101" marB="601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42770451"/>
                  </a:ext>
                </a:extLst>
              </a:tr>
              <a:tr h="415557">
                <a:tc>
                  <a:txBody>
                    <a:bodyPr/>
                    <a:lstStyle/>
                    <a:p>
                      <a:pPr algn="ctr" rtl="0">
                        <a:buNone/>
                      </a:pPr>
                      <a:r>
                        <a:rPr lang="ko-KR" altLang="en-US" sz="1400" b="1" dirty="0">
                          <a:solidFill>
                            <a:srgbClr val="1F1F1F"/>
                          </a:solidFill>
                          <a:effectLst/>
                          <a:latin typeface="+mn-lt"/>
                        </a:rPr>
                        <a:t>최초 릴리스</a:t>
                      </a:r>
                    </a:p>
                  </a:txBody>
                  <a:tcPr marL="72122" marR="45076" marT="60101" marB="601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rtl="0">
                        <a:buNone/>
                      </a:pPr>
                      <a:r>
                        <a:rPr lang="en-US" altLang="ko-KR" sz="1400" dirty="0">
                          <a:solidFill>
                            <a:srgbClr val="1F1F1F"/>
                          </a:solidFill>
                          <a:effectLst/>
                          <a:latin typeface="+mn-lt"/>
                        </a:rPr>
                        <a:t>2004</a:t>
                      </a:r>
                      <a:r>
                        <a:rPr lang="ko-KR" altLang="en-US" sz="1400" dirty="0">
                          <a:solidFill>
                            <a:srgbClr val="1F1F1F"/>
                          </a:solidFill>
                          <a:effectLst/>
                          <a:latin typeface="+mn-lt"/>
                        </a:rPr>
                        <a:t>년</a:t>
                      </a:r>
                    </a:p>
                  </a:txBody>
                  <a:tcPr marL="72122" marR="45076" marT="60101" marB="601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rtl="0">
                        <a:buNone/>
                      </a:pPr>
                      <a:r>
                        <a:rPr lang="en-US" altLang="ko-KR" sz="1400" dirty="0">
                          <a:solidFill>
                            <a:srgbClr val="1F1F1F"/>
                          </a:solidFill>
                          <a:effectLst/>
                          <a:latin typeface="+mn-lt"/>
                        </a:rPr>
                        <a:t>2017</a:t>
                      </a:r>
                      <a:r>
                        <a:rPr lang="ko-KR" altLang="en-US" sz="1400" dirty="0">
                          <a:solidFill>
                            <a:srgbClr val="1F1F1F"/>
                          </a:solidFill>
                          <a:effectLst/>
                          <a:latin typeface="+mn-lt"/>
                        </a:rPr>
                        <a:t>년 </a:t>
                      </a:r>
                      <a:r>
                        <a:rPr lang="en-US" altLang="ko-KR" sz="1400" dirty="0">
                          <a:solidFill>
                            <a:srgbClr val="1F1F1F"/>
                          </a:solidFill>
                          <a:effectLst/>
                          <a:latin typeface="+mn-lt"/>
                        </a:rPr>
                        <a:t>3</a:t>
                      </a:r>
                      <a:r>
                        <a:rPr lang="ko-KR" altLang="en-US" sz="1400" dirty="0">
                          <a:solidFill>
                            <a:srgbClr val="1F1F1F"/>
                          </a:solidFill>
                          <a:effectLst/>
                          <a:latin typeface="+mn-lt"/>
                        </a:rPr>
                        <a:t>월</a:t>
                      </a:r>
                    </a:p>
                  </a:txBody>
                  <a:tcPr marL="72122" marR="72122" marT="60101" marB="601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25342821"/>
                  </a:ext>
                </a:extLst>
              </a:tr>
              <a:tr h="415557">
                <a:tc>
                  <a:txBody>
                    <a:bodyPr/>
                    <a:lstStyle/>
                    <a:p>
                      <a:pPr algn="ctr" rtl="0">
                        <a:buNone/>
                      </a:pPr>
                      <a:r>
                        <a:rPr lang="ko-KR" altLang="en-US" sz="1400" b="1" dirty="0">
                          <a:solidFill>
                            <a:srgbClr val="1F1F1F"/>
                          </a:solidFill>
                          <a:effectLst/>
                          <a:latin typeface="+mn-lt"/>
                        </a:rPr>
                        <a:t>표준 범위</a:t>
                      </a:r>
                    </a:p>
                  </a:txBody>
                  <a:tcPr marL="72122" marR="45076" marT="60101" marB="601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rtl="0">
                        <a:buNone/>
                      </a:pPr>
                      <a:r>
                        <a:rPr lang="en-US" sz="1400" dirty="0">
                          <a:solidFill>
                            <a:srgbClr val="1F1F1F"/>
                          </a:solidFill>
                          <a:effectLst/>
                          <a:latin typeface="+mn-lt"/>
                        </a:rPr>
                        <a:t>Specification Only</a:t>
                      </a:r>
                      <a:endParaRPr lang="ko-KR" altLang="en-US" sz="1400" dirty="0">
                        <a:solidFill>
                          <a:srgbClr val="1F1F1F"/>
                        </a:solidFill>
                        <a:effectLst/>
                        <a:latin typeface="+mn-lt"/>
                      </a:endParaRPr>
                    </a:p>
                  </a:txBody>
                  <a:tcPr marL="72122" marR="45076" marT="60101" marB="601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1400" dirty="0">
                          <a:solidFill>
                            <a:srgbClr val="1F1F1F"/>
                          </a:solidFill>
                          <a:effectLst/>
                          <a:latin typeface="+mn-lt"/>
                        </a:rPr>
                        <a:t>Specification and Code base</a:t>
                      </a:r>
                      <a:endParaRPr lang="ko-KR" altLang="en-US" sz="1400" dirty="0">
                        <a:solidFill>
                          <a:srgbClr val="1F1F1F"/>
                        </a:solidFill>
                        <a:effectLst/>
                        <a:latin typeface="+mn-lt"/>
                      </a:endParaRPr>
                    </a:p>
                  </a:txBody>
                  <a:tcPr marL="72122" marR="72122" marT="60101" marB="601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43394858"/>
                  </a:ext>
                </a:extLst>
              </a:tr>
              <a:tr h="415557">
                <a:tc>
                  <a:txBody>
                    <a:bodyPr/>
                    <a:lstStyle/>
                    <a:p>
                      <a:pPr algn="ctr" rtl="0">
                        <a:buNone/>
                      </a:pPr>
                      <a:r>
                        <a:rPr lang="ko-KR" altLang="en-US" sz="1400" b="1" dirty="0">
                          <a:solidFill>
                            <a:srgbClr val="1F1F1F"/>
                          </a:solidFill>
                          <a:effectLst/>
                          <a:latin typeface="+mn-lt"/>
                        </a:rPr>
                        <a:t>구현체</a:t>
                      </a:r>
                    </a:p>
                  </a:txBody>
                  <a:tcPr marL="72122" marR="45076" marT="60101" marB="601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rtl="0">
                        <a:buNone/>
                      </a:pPr>
                      <a:r>
                        <a:rPr lang="ko-KR" altLang="en-US" sz="1400" dirty="0">
                          <a:solidFill>
                            <a:srgbClr val="1F1F1F"/>
                          </a:solidFill>
                          <a:effectLst/>
                          <a:latin typeface="+mn-lt"/>
                        </a:rPr>
                        <a:t>독자적인</a:t>
                      </a:r>
                      <a:r>
                        <a:rPr lang="en-US" altLang="ko-KR" sz="1400" dirty="0">
                          <a:solidFill>
                            <a:srgbClr val="1F1F1F"/>
                          </a:solidFill>
                          <a:effectLst/>
                          <a:latin typeface="+mn-lt"/>
                        </a:rPr>
                        <a:t>(</a:t>
                      </a:r>
                      <a:r>
                        <a:rPr lang="en-US" sz="1400" dirty="0">
                          <a:solidFill>
                            <a:srgbClr val="1F1F1F"/>
                          </a:solidFill>
                          <a:effectLst/>
                          <a:latin typeface="+mn-lt"/>
                        </a:rPr>
                        <a:t>Proprietary) AUTOSAR </a:t>
                      </a:r>
                      <a:r>
                        <a:rPr lang="ko-KR" altLang="en-US" sz="1400" dirty="0">
                          <a:solidFill>
                            <a:srgbClr val="1F1F1F"/>
                          </a:solidFill>
                          <a:effectLst/>
                          <a:latin typeface="+mn-lt"/>
                        </a:rPr>
                        <a:t>구현</a:t>
                      </a:r>
                    </a:p>
                  </a:txBody>
                  <a:tcPr marL="72122" marR="45076" marT="60101" marB="601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rtl="0">
                        <a:buNone/>
                      </a:pPr>
                      <a:r>
                        <a:rPr lang="en-US" altLang="ko-KR" sz="1400" dirty="0">
                          <a:solidFill>
                            <a:srgbClr val="1F1F1F"/>
                          </a:solidFill>
                          <a:effectLst/>
                          <a:latin typeface="+mn-lt"/>
                        </a:rPr>
                        <a:t>Vector, EB </a:t>
                      </a:r>
                      <a:r>
                        <a:rPr lang="ko-KR" altLang="en-US" sz="1400" dirty="0">
                          <a:solidFill>
                            <a:srgbClr val="1F1F1F"/>
                          </a:solidFill>
                          <a:effectLst/>
                          <a:latin typeface="+mn-lt"/>
                        </a:rPr>
                        <a:t>등에서 독자 제품 준비</a:t>
                      </a:r>
                    </a:p>
                  </a:txBody>
                  <a:tcPr marL="72122" marR="72122" marT="60101" marB="601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40745501"/>
                  </a:ext>
                </a:extLst>
              </a:tr>
            </a:tbl>
          </a:graphicData>
        </a:graphic>
      </p:graphicFrame>
    </p:spTree>
    <p:extLst>
      <p:ext uri="{BB962C8B-B14F-4D97-AF65-F5344CB8AC3E}">
        <p14:creationId xmlns:p14="http://schemas.microsoft.com/office/powerpoint/2010/main" val="194051295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CEF3C119-FD72-381C-7B45-A5864829DED1}"/>
              </a:ext>
            </a:extLst>
          </p:cNvPr>
          <p:cNvSpPr>
            <a:spLocks noGrp="1"/>
          </p:cNvSpPr>
          <p:nvPr>
            <p:ph type="ctrTitle"/>
          </p:nvPr>
        </p:nvSpPr>
        <p:spPr/>
        <p:txBody>
          <a:bodyPr>
            <a:normAutofit fontScale="90000"/>
          </a:bodyPr>
          <a:lstStyle/>
          <a:p>
            <a:r>
              <a:rPr lang="en-US" altLang="ko-KR" dirty="0"/>
              <a:t>Thank you for Attention</a:t>
            </a:r>
            <a:endParaRPr lang="ko-KR" altLang="en-US" dirty="0"/>
          </a:p>
        </p:txBody>
      </p:sp>
      <p:sp>
        <p:nvSpPr>
          <p:cNvPr id="3" name="부제목 2">
            <a:extLst>
              <a:ext uri="{FF2B5EF4-FFF2-40B4-BE49-F238E27FC236}">
                <a16:creationId xmlns:a16="http://schemas.microsoft.com/office/drawing/2014/main" id="{B239DF30-6CE6-5B24-A93C-DB87D43D3472}"/>
              </a:ext>
            </a:extLst>
          </p:cNvPr>
          <p:cNvSpPr>
            <a:spLocks noGrp="1"/>
          </p:cNvSpPr>
          <p:nvPr>
            <p:ph type="subTitle" idx="1"/>
          </p:nvPr>
        </p:nvSpPr>
        <p:spPr/>
        <p:txBody>
          <a:bodyPr>
            <a:normAutofit/>
          </a:bodyPr>
          <a:lstStyle/>
          <a:p>
            <a:r>
              <a:rPr lang="en-US" altLang="ko-KR" sz="6000" dirty="0"/>
              <a:t>Q &amp; A</a:t>
            </a:r>
            <a:endParaRPr lang="ko-KR" altLang="en-US" sz="6000" dirty="0"/>
          </a:p>
        </p:txBody>
      </p:sp>
      <p:sp>
        <p:nvSpPr>
          <p:cNvPr id="4" name="날짜 개체 틀 3">
            <a:extLst>
              <a:ext uri="{FF2B5EF4-FFF2-40B4-BE49-F238E27FC236}">
                <a16:creationId xmlns:a16="http://schemas.microsoft.com/office/drawing/2014/main" id="{D3FBEE31-68DA-2D9B-BF3B-467F273600EF}"/>
              </a:ext>
            </a:extLst>
          </p:cNvPr>
          <p:cNvSpPr>
            <a:spLocks noGrp="1"/>
          </p:cNvSpPr>
          <p:nvPr>
            <p:ph type="dt" sz="half" idx="10"/>
          </p:nvPr>
        </p:nvSpPr>
        <p:spPr/>
        <p:txBody>
          <a:bodyPr/>
          <a:lstStyle/>
          <a:p>
            <a:fld id="{403539CC-A984-43CF-A1AB-B2D79FDF199E}" type="datetime1">
              <a:rPr lang="en-US" altLang="ko-KR" smtClean="0"/>
              <a:t>4/12/2026</a:t>
            </a:fld>
            <a:endParaRPr lang="en-US" dirty="0"/>
          </a:p>
        </p:txBody>
      </p:sp>
      <p:sp>
        <p:nvSpPr>
          <p:cNvPr id="5" name="바닥글 개체 틀 4">
            <a:extLst>
              <a:ext uri="{FF2B5EF4-FFF2-40B4-BE49-F238E27FC236}">
                <a16:creationId xmlns:a16="http://schemas.microsoft.com/office/drawing/2014/main" id="{2AC62E0C-4F92-40A3-B653-FBE11E73BA24}"/>
              </a:ext>
            </a:extLst>
          </p:cNvPr>
          <p:cNvSpPr>
            <a:spLocks noGrp="1"/>
          </p:cNvSpPr>
          <p:nvPr>
            <p:ph type="ftr" sz="quarter" idx="11"/>
          </p:nvPr>
        </p:nvSpPr>
        <p:spPr/>
        <p:txBody>
          <a:bodyPr/>
          <a:lstStyle/>
          <a:p>
            <a:r>
              <a:rPr lang="en-US"/>
              <a:t>2023 Copyright ⓒ Autonomous Vehicle Lab</a:t>
            </a:r>
            <a:endParaRPr lang="en-US" dirty="0"/>
          </a:p>
        </p:txBody>
      </p:sp>
    </p:spTree>
    <p:extLst>
      <p:ext uri="{BB962C8B-B14F-4D97-AF65-F5344CB8AC3E}">
        <p14:creationId xmlns:p14="http://schemas.microsoft.com/office/powerpoint/2010/main" val="4270694248"/>
      </p:ext>
    </p:extLst>
  </p:cSld>
  <p:clrMapOvr>
    <a:masterClrMapping/>
  </p:clrMapOvr>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VL PPT Template 20230825" id="{4D6343C7-50D9-6B4B-85E6-E597BE3B7908}" vid="{4EF1CB53-9F52-CF4D-8F1D-B194FC3BEBD5}"/>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ToD 기술동향_인하대 강연</Template>
  <TotalTime>1635</TotalTime>
  <Words>3699</Words>
  <Application>Microsoft Office PowerPoint</Application>
  <PresentationFormat>와이드스크린</PresentationFormat>
  <Paragraphs>479</Paragraphs>
  <Slides>60</Slides>
  <Notes>0</Notes>
  <HiddenSlides>0</HiddenSlides>
  <MMClips>0</MMClips>
  <ScaleCrop>false</ScaleCrop>
  <HeadingPairs>
    <vt:vector size="6" baseType="variant">
      <vt:variant>
        <vt:lpstr>사용한 글꼴</vt:lpstr>
      </vt:variant>
      <vt:variant>
        <vt:i4>5</vt:i4>
      </vt:variant>
      <vt:variant>
        <vt:lpstr>테마</vt:lpstr>
      </vt:variant>
      <vt:variant>
        <vt:i4>1</vt:i4>
      </vt:variant>
      <vt:variant>
        <vt:lpstr>슬라이드 제목</vt:lpstr>
      </vt:variant>
      <vt:variant>
        <vt:i4>60</vt:i4>
      </vt:variant>
    </vt:vector>
  </HeadingPairs>
  <TitlesOfParts>
    <vt:vector size="66" baseType="lpstr">
      <vt:lpstr>Chungbuk National University</vt:lpstr>
      <vt:lpstr>Google Sans Text</vt:lpstr>
      <vt:lpstr>Arial</vt:lpstr>
      <vt:lpstr>Calibri</vt:lpstr>
      <vt:lpstr>Calibri Light</vt:lpstr>
      <vt:lpstr>Office 테마</vt:lpstr>
      <vt:lpstr>자율주행이동체 실제 (6. AUTOSAR)</vt:lpstr>
      <vt:lpstr>Contents</vt:lpstr>
      <vt:lpstr>What is Autosar</vt:lpstr>
      <vt:lpstr>Standard of Components and Interface</vt:lpstr>
      <vt:lpstr>Functional Domains</vt:lpstr>
      <vt:lpstr>Industrial Background</vt:lpstr>
      <vt:lpstr>Main Topic</vt:lpstr>
      <vt:lpstr>Main Topic</vt:lpstr>
      <vt:lpstr>Benefits for industry</vt:lpstr>
      <vt:lpstr>Partnership Structure</vt:lpstr>
      <vt:lpstr>Core partners and members</vt:lpstr>
      <vt:lpstr>PowerPoint 프레젠테이션</vt:lpstr>
      <vt:lpstr>Architecture</vt:lpstr>
      <vt:lpstr>Software Component</vt:lpstr>
      <vt:lpstr>Virtual Functional Bus(VFB)</vt:lpstr>
      <vt:lpstr>ECU Descriptions</vt:lpstr>
      <vt:lpstr>Mapping on EUCs</vt:lpstr>
      <vt:lpstr>Architecture</vt:lpstr>
      <vt:lpstr>Architecture</vt:lpstr>
      <vt:lpstr>Software Component</vt:lpstr>
      <vt:lpstr>Software Component</vt:lpstr>
      <vt:lpstr>SWC - Description</vt:lpstr>
      <vt:lpstr>SWC - Implementation</vt:lpstr>
      <vt:lpstr>SWC – Description level</vt:lpstr>
      <vt:lpstr>SWC – Description level</vt:lpstr>
      <vt:lpstr>SWC – Description level</vt:lpstr>
      <vt:lpstr>Components, Ports, Interfaces</vt:lpstr>
      <vt:lpstr>Components, Ports, Interfaces</vt:lpstr>
      <vt:lpstr>Communication Patterns</vt:lpstr>
      <vt:lpstr>Client - Server</vt:lpstr>
      <vt:lpstr>Client - Server</vt:lpstr>
      <vt:lpstr>Sender - Receiver</vt:lpstr>
      <vt:lpstr>Sender - Receiver</vt:lpstr>
      <vt:lpstr>Component Model</vt:lpstr>
      <vt:lpstr>Communication via the Virtual Functional Bus</vt:lpstr>
      <vt:lpstr>Sensor/Actuator Components</vt:lpstr>
      <vt:lpstr>Sensor/Actuator Components</vt:lpstr>
      <vt:lpstr>ECU SW Architecture</vt:lpstr>
      <vt:lpstr>Layered SW Architecture</vt:lpstr>
      <vt:lpstr>Basic SW Architecture</vt:lpstr>
      <vt:lpstr>Microcontroller Abstraction Layer(MCAL)</vt:lpstr>
      <vt:lpstr>Microcontroller Abstraction Layer(MCAL)</vt:lpstr>
      <vt:lpstr>ECU Abstraction Layer</vt:lpstr>
      <vt:lpstr>ECU Abstraction Layer</vt:lpstr>
      <vt:lpstr>ECU Abstraction Layer</vt:lpstr>
      <vt:lpstr>ECU Abstraction Layer</vt:lpstr>
      <vt:lpstr>ECU Abstraction Layer</vt:lpstr>
      <vt:lpstr>Service Layer</vt:lpstr>
      <vt:lpstr>Service Layer – Communication </vt:lpstr>
      <vt:lpstr>Service Layer – Memory </vt:lpstr>
      <vt:lpstr>Service Layer – System </vt:lpstr>
      <vt:lpstr>Complex Driver</vt:lpstr>
      <vt:lpstr>Overall Methodology</vt:lpstr>
      <vt:lpstr>Overall Methodology</vt:lpstr>
      <vt:lpstr>Game changer for Autosar</vt:lpstr>
      <vt:lpstr>Autosar Adaptive</vt:lpstr>
      <vt:lpstr>Autosar Adaptive</vt:lpstr>
      <vt:lpstr>Autosar Adaptive</vt:lpstr>
      <vt:lpstr>Autosar Classic vs. Adaptive</vt:lpstr>
      <vt:lpstr>Thank you for Attention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Teleoperated Driving(ToD)</dc:title>
  <dc:creator>Seok-Cheol Kee</dc:creator>
  <cp:lastModifiedBy>기석철</cp:lastModifiedBy>
  <cp:revision>127</cp:revision>
  <dcterms:created xsi:type="dcterms:W3CDTF">2023-09-28T08:32:26Z</dcterms:created>
  <dcterms:modified xsi:type="dcterms:W3CDTF">2026-04-12T04:55:15Z</dcterms:modified>
</cp:coreProperties>
</file>