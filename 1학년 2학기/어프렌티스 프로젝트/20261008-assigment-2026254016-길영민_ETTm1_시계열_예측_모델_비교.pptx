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727" autoAdjust="0"/>
  </p:normalViewPr>
  <p:slideViewPr>
    <p:cSldViewPr snapToGrid="0" snapToObjects="1">
      <p:cViewPr varScale="1">
        <p:scale>
          <a:sx n="183" d="100"/>
          <a:sy n="183" d="100"/>
        </p:scale>
        <p:origin x="16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403EC-0155-4274-AF2C-E2568D0570D8}" type="datetimeFigureOut">
              <a:rPr lang="ko-KR" altLang="en-US" smtClean="0"/>
              <a:t>2026-10-12(Mon)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2E9BD-8D5D-4FAD-8FB8-95ADB5FB4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15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E9BD-8D5D-4FAD-8FB8-95ADB5FB4FC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186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E9BD-8D5D-4FAD-8FB8-95ADB5FB4FC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117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E9BD-8D5D-4FAD-8FB8-95ADB5FB4FC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764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E9BD-8D5D-4FAD-8FB8-95ADB5FB4FC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331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E9BD-8D5D-4FAD-8FB8-95ADB5FB4FC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36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0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66928" cy="27432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216444"/>
            <a:ext cx="219456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>
                <a:solidFill>
                  <a:srgbClr val="606C79"/>
                </a:solidFill>
                <a:latin typeface="Aptos"/>
              </a:rPr>
              <a:t>Apprentice Project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2440" y="216444"/>
            <a:ext cx="292608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ko-KR" altLang="en-US" sz="1400" b="0">
                <a:solidFill>
                  <a:srgbClr val="606C79"/>
                </a:solidFill>
                <a:latin typeface="Aptos"/>
              </a:rPr>
              <a:t>충북대학교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228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600" b="1">
                <a:solidFill>
                  <a:srgbClr val="0B2A60"/>
                </a:solidFill>
                <a:latin typeface="Aptos"/>
              </a:rPr>
              <a:t>01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6036"/>
            <a:ext cx="1120140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783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B2A60"/>
                </a:solidFill>
                <a:latin typeface="Malgun Gothic"/>
              </a:rPr>
              <a:t>산업인공지능학과 대학원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8410" y="6552002"/>
            <a:ext cx="2945910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ko-KR" altLang="en-US" sz="1300" b="0">
                <a:solidFill>
                  <a:srgbClr val="606C79"/>
                </a:solidFill>
                <a:latin typeface="Malgun Gothic"/>
              </a:rPr>
              <a:t> </a:t>
            </a:r>
            <a:r>
              <a:rPr lang="en-US" altLang="ko-KR" sz="1300" b="0">
                <a:solidFill>
                  <a:srgbClr val="606C79"/>
                </a:solidFill>
                <a:latin typeface="Malgun Gothic"/>
              </a:rPr>
              <a:t>2026.10.08 Time Series Forecasting</a:t>
            </a:r>
            <a:endParaRPr sz="1300" b="0">
              <a:solidFill>
                <a:srgbClr val="606C79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4137" y="631450"/>
            <a:ext cx="10607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B2A60"/>
                </a:solidFill>
                <a:latin typeface="Malgun Gothic"/>
              </a:rPr>
              <a:t>ETTm1 </a:t>
            </a:r>
            <a:r>
              <a:rPr sz="3800" b="1">
                <a:solidFill>
                  <a:srgbClr val="148192"/>
                </a:solidFill>
                <a:latin typeface="Malgun Gothic"/>
              </a:rPr>
              <a:t>시계열 예측 모델 비교 및 성능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115" y="1436622"/>
            <a:ext cx="6217920" cy="5232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altLang="ko-KR" sz="2800" b="1">
                <a:solidFill>
                  <a:srgbClr val="0B2A60"/>
                </a:solidFill>
                <a:latin typeface="Malgun Gothic"/>
              </a:rPr>
              <a:t>2026254016 </a:t>
            </a:r>
            <a:r>
              <a:rPr lang="ko-KR" altLang="en-US" sz="2800" b="1">
                <a:solidFill>
                  <a:srgbClr val="0B2A60"/>
                </a:solidFill>
                <a:latin typeface="Malgun Gothic"/>
              </a:rPr>
              <a:t>길영민</a:t>
            </a:r>
            <a:endParaRPr sz="2800" b="1">
              <a:solidFill>
                <a:srgbClr val="0B2A60"/>
              </a:solidFill>
              <a:latin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02920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199" y="2433641"/>
            <a:ext cx="8130449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606C79"/>
                </a:solidFill>
                <a:latin typeface="Malgun Gothic"/>
              </a:rPr>
              <a:t>ETT-small-m1 데이터셋 기반 · RNN / LSTM / GRU 비교 및 개선 LSTM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0B2A60"/>
                </a:solidFill>
                <a:latin typeface="Malgun Gothic"/>
              </a:rPr>
              <a:t>Agenda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218688"/>
            <a:ext cx="4480560" cy="18288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3456432"/>
            <a:ext cx="557784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2648" y="3544344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02769"/>
            <a:ext cx="42976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B2A60"/>
                </a:solidFill>
                <a:latin typeface="Malgun Gothic"/>
              </a:rPr>
              <a:t>데이터셋과 예측 </a:t>
            </a:r>
            <a:r>
              <a:rPr lang="ko-KR" altLang="en-US" sz="1700" b="1">
                <a:solidFill>
                  <a:srgbClr val="0B2A60"/>
                </a:solidFill>
                <a:latin typeface="Malgun Gothic"/>
              </a:rPr>
              <a:t>목표</a:t>
            </a:r>
            <a:endParaRPr sz="1700" b="1">
              <a:solidFill>
                <a:srgbClr val="0B2A60"/>
              </a:solidFill>
              <a:latin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3520" y="3502151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606C79"/>
                </a:solidFill>
                <a:latin typeface="Malgun Gothic"/>
              </a:rPr>
              <a:t>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59"/>
            <a:ext cx="557784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2648" y="4111271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127795"/>
            <a:ext cx="429768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B2A60"/>
                </a:solidFill>
                <a:latin typeface="Malgun Gothic"/>
              </a:rPr>
              <a:t>동일 조건의 3개 모델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069079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606C79"/>
                </a:solidFill>
                <a:latin typeface="Malgun Gothic"/>
              </a:rPr>
              <a:t>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90288"/>
            <a:ext cx="557784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2648" y="4678199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694723"/>
            <a:ext cx="429768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B2A60"/>
                </a:solidFill>
                <a:latin typeface="Malgun Gothic"/>
              </a:rPr>
              <a:t>최종 모델 x에서 모델 y로의 개선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636007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606C79"/>
                </a:solidFill>
                <a:latin typeface="Malgun Gothic"/>
              </a:rPr>
              <a:t>개선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57216"/>
            <a:ext cx="557784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2648" y="5245127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203552"/>
            <a:ext cx="42976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B2A60"/>
                </a:solidFill>
                <a:latin typeface="Malgun Gothic"/>
              </a:rPr>
              <a:t>최종 </a:t>
            </a:r>
            <a:r>
              <a:rPr lang="ko-KR" altLang="en-US" sz="1700" b="1">
                <a:solidFill>
                  <a:srgbClr val="0B2A60"/>
                </a:solidFill>
                <a:latin typeface="Malgun Gothic"/>
              </a:rPr>
              <a:t>모델 </a:t>
            </a:r>
            <a:r>
              <a:rPr sz="1700" b="1">
                <a:solidFill>
                  <a:srgbClr val="0B2A60"/>
                </a:solidFill>
                <a:latin typeface="Malgun Gothic"/>
              </a:rPr>
              <a:t>성능 비교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2029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606C79"/>
                </a:solidFill>
                <a:latin typeface="Malgun Gothic"/>
              </a:rPr>
              <a:t>분석</a:t>
            </a:r>
          </a:p>
        </p:txBody>
      </p:sp>
      <p:sp>
        <p:nvSpPr>
          <p:cNvPr id="31" name="Right Triangle 30"/>
          <p:cNvSpPr/>
          <p:nvPr/>
        </p:nvSpPr>
        <p:spPr>
          <a:xfrm rot="10800000">
            <a:off x="9418320" y="5303520"/>
            <a:ext cx="2651760" cy="1097280"/>
          </a:xfrm>
          <a:prstGeom prst="rtTriangle">
            <a:avLst/>
          </a:prstGeom>
          <a:solidFill>
            <a:srgbClr val="E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Triangle 31"/>
          <p:cNvSpPr/>
          <p:nvPr/>
        </p:nvSpPr>
        <p:spPr>
          <a:xfrm rot="10800000">
            <a:off x="9966960" y="5486400"/>
            <a:ext cx="2194560" cy="914400"/>
          </a:xfrm>
          <a:prstGeom prst="rtTriangle">
            <a:avLst/>
          </a:prstGeom>
          <a:solidFill>
            <a:srgbClr val="E2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V="1">
            <a:off x="6492240" y="4754880"/>
            <a:ext cx="640080" cy="640080"/>
          </a:xfrm>
          <a:prstGeom prst="line">
            <a:avLst/>
          </a:prstGeom>
          <a:ln w="25400">
            <a:solidFill>
              <a:srgbClr val="12A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32320" y="4754880"/>
            <a:ext cx="548640" cy="274320"/>
          </a:xfrm>
          <a:prstGeom prst="line">
            <a:avLst/>
          </a:prstGeom>
          <a:ln w="25400">
            <a:solidFill>
              <a:srgbClr val="0B2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680960" y="4389120"/>
            <a:ext cx="548640" cy="640080"/>
          </a:xfrm>
          <a:prstGeom prst="line">
            <a:avLst/>
          </a:prstGeom>
          <a:ln w="25400">
            <a:solidFill>
              <a:srgbClr val="12A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29600" y="4389120"/>
            <a:ext cx="640080" cy="182880"/>
          </a:xfrm>
          <a:prstGeom prst="line">
            <a:avLst/>
          </a:prstGeom>
          <a:ln w="25400">
            <a:solidFill>
              <a:srgbClr val="0B2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869680" y="3840480"/>
            <a:ext cx="640080" cy="731520"/>
          </a:xfrm>
          <a:prstGeom prst="line">
            <a:avLst/>
          </a:prstGeom>
          <a:ln w="25400">
            <a:solidFill>
              <a:srgbClr val="12A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09760" y="3840480"/>
            <a:ext cx="548640" cy="274320"/>
          </a:xfrm>
          <a:prstGeom prst="line">
            <a:avLst/>
          </a:prstGeom>
          <a:ln w="25400">
            <a:solidFill>
              <a:srgbClr val="0B2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058400" y="3474720"/>
            <a:ext cx="640080" cy="640080"/>
          </a:xfrm>
          <a:prstGeom prst="line">
            <a:avLst/>
          </a:prstGeom>
          <a:ln w="25400">
            <a:solidFill>
              <a:srgbClr val="12A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698480" y="3474720"/>
            <a:ext cx="731520" cy="274319"/>
          </a:xfrm>
          <a:prstGeom prst="line">
            <a:avLst/>
          </a:prstGeom>
          <a:ln w="25400">
            <a:solidFill>
              <a:srgbClr val="0B2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D03FAC0D-84D3-4E3C-B85E-398E07412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399" y="3463338"/>
            <a:ext cx="454619" cy="45461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84A096A-D3EC-4269-9463-C921D786A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951" y="4027683"/>
            <a:ext cx="318429" cy="45172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0CCAF32-43FD-4531-A61E-6FC82BA73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742" y="4605671"/>
            <a:ext cx="346453" cy="414385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C613999-5698-45B8-8551-1A1CC1D2C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3492" y="5202936"/>
            <a:ext cx="367434" cy="374932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9C215F4-3F6A-4EDD-BEBE-C0835ADDC1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7849" y="3091700"/>
            <a:ext cx="6093671" cy="334464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AA379B1-1978-402B-93D7-DC0275262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355" y="6501599"/>
            <a:ext cx="317565" cy="317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66928" cy="27432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216444"/>
            <a:ext cx="219456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>
                <a:solidFill>
                  <a:srgbClr val="606C79"/>
                </a:solidFill>
                <a:latin typeface="Aptos"/>
              </a:rPr>
              <a:t>Apprentice Project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2440" y="216444"/>
            <a:ext cx="292608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ko-KR" altLang="en-US" sz="1400" b="0">
                <a:solidFill>
                  <a:srgbClr val="606C79"/>
                </a:solidFill>
                <a:latin typeface="Aptos"/>
              </a:rPr>
              <a:t>충북대학교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228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600" b="1">
                <a:solidFill>
                  <a:srgbClr val="0B2A60"/>
                </a:solidFill>
                <a:latin typeface="Aptos"/>
              </a:rPr>
              <a:t>02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0140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1694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B2A60"/>
                </a:solidFill>
                <a:latin typeface="Malgun Gothic"/>
              </a:rPr>
              <a:t>산업인공지능학과 대학원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1249" y="6595037"/>
            <a:ext cx="2907351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en-US" sz="1300" b="0">
                <a:solidFill>
                  <a:srgbClr val="606C79"/>
                </a:solidFill>
                <a:latin typeface="Malgun Gothic"/>
              </a:rPr>
              <a:t>2026.10.08 Time Series Forecasting</a:t>
            </a:r>
            <a:endParaRPr sz="1300" b="0">
              <a:solidFill>
                <a:srgbClr val="606C79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15988"/>
            <a:ext cx="472513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60"/>
                </a:solidFill>
                <a:latin typeface="Malgun Gothic"/>
              </a:rPr>
              <a:t>데이터셋과 </a:t>
            </a:r>
            <a:r>
              <a:rPr sz="3400" b="1">
                <a:solidFill>
                  <a:srgbClr val="148192"/>
                </a:solidFill>
                <a:latin typeface="Malgun Gothic"/>
              </a:rPr>
              <a:t>예측 </a:t>
            </a:r>
            <a:r>
              <a:rPr lang="ko-KR" altLang="en-US" sz="3400" b="1">
                <a:solidFill>
                  <a:srgbClr val="148192"/>
                </a:solidFill>
                <a:latin typeface="Malgun Gothic"/>
              </a:rPr>
              <a:t>목표</a:t>
            </a:r>
            <a:endParaRPr sz="3400" b="1">
              <a:solidFill>
                <a:srgbClr val="148192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9479" y="1231541"/>
            <a:ext cx="5257800" cy="43088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B2A60"/>
                </a:solidFill>
                <a:latin typeface="Malgun Gothic"/>
              </a:rPr>
              <a:t>ETT-small-m1 기반 다변량 시계열 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484632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84632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072" y="2392200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41423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데이터셋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4543" y="2302964"/>
            <a:ext cx="2907791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ETT-small-m1</a:t>
            </a:r>
            <a:r>
              <a:rPr lang="en-US" altLang="ko-KR" sz="1200">
                <a:solidFill>
                  <a:srgbClr val="0B2A60"/>
                </a:solidFill>
                <a:latin typeface="Malgun Gothic"/>
              </a:rPr>
              <a:t> (</a:t>
            </a:r>
            <a:r>
              <a:rPr lang="en-US" altLang="ko-KR" sz="1000">
                <a:solidFill>
                  <a:srgbClr val="0B2A60"/>
                </a:solidFill>
                <a:latin typeface="Malgun Gothic"/>
              </a:rPr>
              <a:t>69,680 </a:t>
            </a:r>
            <a:r>
              <a:rPr lang="ko-KR" altLang="en-US" sz="1000">
                <a:solidFill>
                  <a:srgbClr val="0B2A60"/>
                </a:solidFill>
                <a:latin typeface="Malgun Gothic"/>
              </a:rPr>
              <a:t>개</a:t>
            </a:r>
            <a:r>
              <a:rPr lang="en-US" altLang="ko-KR" sz="1200">
                <a:solidFill>
                  <a:srgbClr val="0B2A60"/>
                </a:solidFill>
                <a:latin typeface="Malgun Gothic"/>
              </a:rPr>
              <a:t>)</a:t>
            </a:r>
            <a:r>
              <a:rPr sz="1200" b="0">
                <a:solidFill>
                  <a:srgbClr val="0B2A60"/>
                </a:solidFill>
                <a:latin typeface="Malgun Gothic"/>
              </a:rPr>
              <a:t>
(Electricity Transformer Temperature)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64852"/>
            <a:ext cx="484632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" y="3052764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074796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입력 특성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8653" y="2953583"/>
            <a:ext cx="3337560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전력 부하, 변압기 관련 센서값 등
다변량 시계열</a:t>
            </a:r>
            <a:r>
              <a:rPr lang="en-US" altLang="ko-KR" sz="1200" b="0">
                <a:solidFill>
                  <a:srgbClr val="0B2A60"/>
                </a:solidFill>
                <a:latin typeface="Malgun Gothic"/>
              </a:rPr>
              <a:t> (</a:t>
            </a:r>
            <a:r>
              <a:rPr lang="en-US" altLang="ko-KR" sz="1000" b="0">
                <a:solidFill>
                  <a:srgbClr val="0B2A60"/>
                </a:solidFill>
                <a:latin typeface="Malgun Gothic"/>
              </a:rPr>
              <a:t>OT</a:t>
            </a:r>
            <a:r>
              <a:rPr lang="ko-KR" altLang="en-US" sz="1000" b="0">
                <a:solidFill>
                  <a:srgbClr val="0B2A60"/>
                </a:solidFill>
                <a:latin typeface="Malgun Gothic"/>
              </a:rPr>
              <a:t>포함 </a:t>
            </a:r>
            <a:r>
              <a:rPr lang="en-US" altLang="ko-KR" sz="1000" b="0">
                <a:solidFill>
                  <a:srgbClr val="0B2A60"/>
                </a:solidFill>
                <a:latin typeface="Malgun Gothic"/>
              </a:rPr>
              <a:t>7</a:t>
            </a:r>
            <a:r>
              <a:rPr lang="ko-KR" altLang="en-US" sz="1000" b="0">
                <a:solidFill>
                  <a:srgbClr val="0B2A60"/>
                </a:solidFill>
                <a:latin typeface="Malgun Gothic"/>
              </a:rPr>
              <a:t>개</a:t>
            </a:r>
            <a:r>
              <a:rPr lang="en-US" altLang="ko-KR" sz="1200" b="0">
                <a:solidFill>
                  <a:srgbClr val="0B2A60"/>
                </a:solidFill>
                <a:latin typeface="Malgun Gothic"/>
              </a:rPr>
              <a:t>)</a:t>
            </a:r>
            <a:endParaRPr sz="1200" b="0">
              <a:solidFill>
                <a:srgbClr val="0B2A60"/>
              </a:solidFill>
              <a:latin typeface="Malgun Gothi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3603384"/>
            <a:ext cx="484632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6072" y="3691296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713328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목표 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0195" y="3661479"/>
            <a:ext cx="3337560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OT (Oil Temperature)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14376"/>
            <a:ext cx="484632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76072" y="4302287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24319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예측 과제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1465" y="4226578"/>
            <a:ext cx="3337560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과거 시계열 구간</a:t>
            </a:r>
            <a:r>
              <a:rPr lang="en-US" altLang="ko-KR" sz="1200" b="0">
                <a:solidFill>
                  <a:srgbClr val="0B2A60"/>
                </a:solidFill>
                <a:latin typeface="Malgun Gothic"/>
              </a:rPr>
              <a:t>(</a:t>
            </a:r>
            <a:r>
              <a:rPr lang="en-US" altLang="ko-KR" sz="1000" b="0">
                <a:solidFill>
                  <a:srgbClr val="0B2A60"/>
                </a:solidFill>
                <a:latin typeface="Malgun Gothic"/>
              </a:rPr>
              <a:t>96</a:t>
            </a:r>
            <a:r>
              <a:rPr lang="ko-KR" altLang="en-US" sz="1000" b="0">
                <a:solidFill>
                  <a:srgbClr val="0B2A60"/>
                </a:solidFill>
                <a:latin typeface="Malgun Gothic"/>
              </a:rPr>
              <a:t>개</a:t>
            </a:r>
            <a:r>
              <a:rPr lang="en-US" altLang="ko-KR" sz="1200">
                <a:solidFill>
                  <a:srgbClr val="0B2A60"/>
                </a:solidFill>
                <a:latin typeface="Malgun Gothic"/>
              </a:rPr>
              <a:t>)</a:t>
            </a:r>
            <a:r>
              <a:rPr sz="1200" b="0">
                <a:solidFill>
                  <a:srgbClr val="0B2A60"/>
                </a:solidFill>
                <a:latin typeface="Malgun Gothic"/>
              </a:rPr>
              <a:t>을 이용해
다음 시점의 OT 예측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25368"/>
            <a:ext cx="484632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76072" y="4913280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3531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분할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8653" y="4883464"/>
            <a:ext cx="3337560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Train 60% / </a:t>
            </a:r>
            <a:r>
              <a:rPr lang="en-US" altLang="ko-KR" sz="1200" b="0">
                <a:solidFill>
                  <a:srgbClr val="0B2A60"/>
                </a:solidFill>
                <a:latin typeface="Malgun Gothic"/>
              </a:rPr>
              <a:t>3</a:t>
            </a:r>
            <a:r>
              <a:rPr lang="ko-KR" altLang="en-US" sz="1200" b="0">
                <a:solidFill>
                  <a:srgbClr val="0B2A60"/>
                </a:solidFill>
                <a:latin typeface="Malgun Gothic"/>
              </a:rPr>
              <a:t>개비교</a:t>
            </a:r>
            <a:r>
              <a:rPr sz="1200" b="0">
                <a:solidFill>
                  <a:srgbClr val="0B2A60"/>
                </a:solidFill>
                <a:latin typeface="Malgun Gothic"/>
              </a:rPr>
              <a:t> 20% / </a:t>
            </a:r>
            <a:r>
              <a:rPr lang="ko-KR" altLang="en-US" sz="1200">
                <a:solidFill>
                  <a:srgbClr val="0B2A60"/>
                </a:solidFill>
                <a:latin typeface="Malgun Gothic"/>
              </a:rPr>
              <a:t>최종비교</a:t>
            </a:r>
            <a:r>
              <a:rPr sz="1200" b="0">
                <a:solidFill>
                  <a:srgbClr val="0B2A60"/>
                </a:solidFill>
                <a:latin typeface="Malgun Gothic"/>
              </a:rPr>
              <a:t> 20%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36360"/>
            <a:ext cx="4846320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6072" y="5524272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5463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전처리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4543" y="5529903"/>
            <a:ext cx="3337560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nearest 결측치 보간, RobustScaler 적용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39" y="2176272"/>
            <a:ext cx="6614161" cy="2891607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852160" y="2331720"/>
            <a:ext cx="1691640" cy="347472"/>
          </a:xfrm>
          <a:prstGeom prst="roundRect">
            <a:avLst/>
          </a:prstGeom>
          <a:solidFill>
            <a:srgbClr val="E9F1F6"/>
          </a:solidFill>
          <a:ln w="1270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97880" y="235915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B2A60"/>
                </a:solidFill>
                <a:latin typeface="Malgun Gothic"/>
              </a:rPr>
              <a:t>입력 시계열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8462" y="2331720"/>
            <a:ext cx="1691640" cy="347472"/>
          </a:xfrm>
          <a:prstGeom prst="roundRect">
            <a:avLst/>
          </a:prstGeom>
          <a:solidFill>
            <a:srgbClr val="E9F1F6"/>
          </a:solidFill>
          <a:ln w="1270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4182" y="235915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B2A60"/>
                </a:solidFill>
                <a:latin typeface="Malgun Gothic"/>
              </a:rPr>
              <a:t>예측 모델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2331720"/>
            <a:ext cx="1691640" cy="347472"/>
          </a:xfrm>
          <a:prstGeom prst="roundRect">
            <a:avLst/>
          </a:prstGeom>
          <a:solidFill>
            <a:srgbClr val="E9F1F6"/>
          </a:solidFill>
          <a:ln w="1270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87000" y="235915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B2A60"/>
                </a:solidFill>
                <a:latin typeface="Malgun Gothic"/>
              </a:rPr>
              <a:t>다음 시점 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0654" y="276170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0B2A60"/>
                </a:solidFill>
                <a:latin typeface="Malgun Gothic"/>
              </a:rPr>
              <a:t>과거 다변량 시계열 구간
(길이 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63240" y="3453943"/>
            <a:ext cx="667512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0B2A60"/>
                </a:solidFill>
                <a:latin typeface="Malgun Gothic"/>
              </a:rPr>
              <a:t>전력 부하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5944" y="3705325"/>
            <a:ext cx="905256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0B2A60"/>
                </a:solidFill>
                <a:latin typeface="Malgun Gothic"/>
              </a:rPr>
              <a:t>변압기 센서 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78774" y="3456432"/>
            <a:ext cx="1325880" cy="1078992"/>
          </a:xfrm>
          <a:prstGeom prst="roundRect">
            <a:avLst/>
          </a:prstGeom>
          <a:solidFill>
            <a:srgbClr val="E9F8F6"/>
          </a:solidFill>
          <a:ln w="12700">
            <a:solidFill>
              <a:srgbClr val="D0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49640" y="4249112"/>
            <a:ext cx="1005840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0B2A60"/>
                </a:solidFill>
                <a:latin typeface="Malgun Gothic"/>
              </a:rPr>
              <a:t>예측모델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42293" y="27600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0B2A60"/>
                </a:solidFill>
                <a:latin typeface="Malgun Gothic"/>
              </a:rPr>
              <a:t>RNN / LSTM / GRU 등
시계열 예측 모델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87000" y="2763993"/>
            <a:ext cx="1645920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0B2A60"/>
                </a:solidFill>
                <a:latin typeface="Malgun Gothic"/>
              </a:rPr>
              <a:t>다음 시점의
Oil Temperature 예측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715000" y="5422061"/>
            <a:ext cx="5989320" cy="566928"/>
          </a:xfrm>
          <a:prstGeom prst="roundRect">
            <a:avLst/>
          </a:prstGeom>
          <a:solidFill>
            <a:srgbClr val="ECF8F8"/>
          </a:solidFill>
          <a:ln w="12700">
            <a:solidFill>
              <a:srgbClr val="DC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2299A1D2-5152-4B86-8962-1048D6D0C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47" y="4154253"/>
            <a:ext cx="181000" cy="381053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553821" y="3992447"/>
            <a:ext cx="864108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0B2A60"/>
                </a:solidFill>
                <a:latin typeface="Malgun Gothic"/>
              </a:rPr>
              <a:t>변압기 센서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6521" y="4424231"/>
            <a:ext cx="850392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0B2A60"/>
                </a:solidFill>
                <a:latin typeface="Malgun Gothic"/>
              </a:rPr>
              <a:t>기타 센서값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7EDF072-881C-42CE-981F-B7D340AC5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828" y="3536052"/>
            <a:ext cx="785771" cy="690526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B10A0B1E-E2C2-4E6B-8724-F61790F47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651" y="2297097"/>
            <a:ext cx="196365" cy="418342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AB4D5291-8ACA-4E99-BC97-0625817C2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6016" y="2992861"/>
            <a:ext cx="196365" cy="418342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44F0CCA8-B5BC-491B-A59F-09CC53B29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8297" y="3590121"/>
            <a:ext cx="196365" cy="418342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558C71C5-7D70-4781-8149-66E6DD455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203" y="4218160"/>
            <a:ext cx="196365" cy="418342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35F5EF77-133E-47FB-8D2F-666302171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8296" y="4853882"/>
            <a:ext cx="196365" cy="418342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DB1BDD80-04F2-4594-9D98-639D5D3C6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996" y="5464933"/>
            <a:ext cx="196365" cy="418342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9B8C8309-450F-488C-8A83-292359EBF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910" y="3350306"/>
            <a:ext cx="1362626" cy="1564938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16891E32-A5E7-4BF8-981C-BB969AD7FE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0161" y="3438144"/>
            <a:ext cx="1274159" cy="1315072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EFCE3DF1-68C0-4603-B430-25B062AEF7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2045" y="3755787"/>
            <a:ext cx="423858" cy="549445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41582B03-7790-4B1C-ABEC-23B246DECF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7348" y="3781756"/>
            <a:ext cx="423858" cy="549445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9D534E7A-4247-4B53-B308-A08245E0CD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355" y="6501599"/>
            <a:ext cx="317565" cy="317565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B04B486B-D9B2-4762-A4A5-197181BE23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4950" y="5454501"/>
            <a:ext cx="644229" cy="478191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391984" y="5719476"/>
            <a:ext cx="5669280" cy="26161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606C79"/>
                </a:solidFill>
                <a:latin typeface="Malgun Gothic"/>
              </a:rPr>
              <a:t>미래 정보가 학습에 포함되지 않도록 시간 순서를 준수하여 데이터를 분</a:t>
            </a:r>
            <a:r>
              <a:rPr lang="ko-KR" altLang="en-US" sz="1100" b="0">
                <a:solidFill>
                  <a:srgbClr val="606C79"/>
                </a:solidFill>
                <a:latin typeface="Malgun Gothic"/>
              </a:rPr>
              <a:t>할</a:t>
            </a:r>
            <a:r>
              <a:rPr lang="en-US" altLang="ko-KR" sz="1100" b="0">
                <a:solidFill>
                  <a:srgbClr val="606C79"/>
                </a:solidFill>
                <a:latin typeface="Malgun Gothic"/>
              </a:rPr>
              <a:t>.</a:t>
            </a:r>
            <a:endParaRPr sz="1100" b="0">
              <a:solidFill>
                <a:srgbClr val="606C79"/>
              </a:solidFill>
              <a:latin typeface="Malgun Gothic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391984" y="5522753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시계열 특성상 시간 순서를 유지한 분할이 중요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66928" cy="27432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216444"/>
            <a:ext cx="219456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>
                <a:solidFill>
                  <a:srgbClr val="606C79"/>
                </a:solidFill>
                <a:latin typeface="Aptos"/>
              </a:rPr>
              <a:t>Apprentice Project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2440" y="216444"/>
            <a:ext cx="292608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ko-KR" altLang="en-US" sz="1400" b="0">
                <a:solidFill>
                  <a:srgbClr val="606C79"/>
                </a:solidFill>
                <a:latin typeface="Aptos"/>
              </a:rPr>
              <a:t>충북대학교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228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600" b="1">
                <a:solidFill>
                  <a:srgbClr val="0B2A60"/>
                </a:solidFill>
                <a:latin typeface="Aptos"/>
              </a:rPr>
              <a:t>03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0140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72151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B2A60"/>
                </a:solidFill>
                <a:latin typeface="Malgun Gothic"/>
              </a:rPr>
              <a:t>산업인공지능학과 대학원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3157" y="6540257"/>
            <a:ext cx="3111163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en-US" sz="1300" b="0">
                <a:solidFill>
                  <a:srgbClr val="606C79"/>
                </a:solidFill>
                <a:latin typeface="Malgun Gothic"/>
              </a:rPr>
              <a:t>2026.10.08 Time Series Forecasting</a:t>
            </a:r>
            <a:endParaRPr sz="1300" b="0">
              <a:solidFill>
                <a:srgbClr val="606C79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2116" y="618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2A60"/>
                </a:solidFill>
                <a:latin typeface="Malgun Gothic"/>
              </a:rPr>
              <a:t>동일 조건의 </a:t>
            </a:r>
            <a:r>
              <a:rPr sz="3400" b="1">
                <a:solidFill>
                  <a:srgbClr val="148192"/>
                </a:solidFill>
                <a:latin typeface="Malgun Gothic"/>
              </a:rPr>
              <a:t>3개 모델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59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B2A60"/>
                </a:solidFill>
                <a:latin typeface="Malgun Gothic"/>
              </a:rPr>
              <a:t>RNN, LSTM, GRU의 기본 성능 비교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39696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B2A60"/>
                </a:solidFill>
                <a:latin typeface="Malgun Gothic"/>
              </a:rPr>
              <a:t>동일한 학습 조건으로 3개 모델을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4144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606C79"/>
                </a:solidFill>
                <a:latin typeface="Malgun Gothic"/>
              </a:rPr>
              <a:t>Train 60% 데이터만 사용하여 3개 모델을 동일 조건으로 학습하고, </a:t>
            </a:r>
            <a:r>
              <a:rPr lang="ko-KR" altLang="en-US" sz="1300" b="0">
                <a:solidFill>
                  <a:srgbClr val="606C79"/>
                </a:solidFill>
                <a:latin typeface="Malgun Gothic"/>
              </a:rPr>
              <a:t>다음</a:t>
            </a:r>
            <a:r>
              <a:rPr sz="1300" b="0">
                <a:solidFill>
                  <a:srgbClr val="606C79"/>
                </a:solidFill>
                <a:latin typeface="Malgun Gothic"/>
              </a:rPr>
              <a:t> 20%에서 성능 비교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4160520"/>
            <a:ext cx="320040" cy="320040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1605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B2A60"/>
                </a:solidFill>
                <a:latin typeface="Malgun Gothic"/>
              </a:rPr>
              <a:t>모델별 특징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2541" y="4620294"/>
            <a:ext cx="5118857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92541" y="4620294"/>
            <a:ext cx="1325880" cy="384048"/>
          </a:xfrm>
          <a:prstGeom prst="roundRect">
            <a:avLst/>
          </a:prstGeom>
          <a:solidFill>
            <a:srgbClr val="EBF1FA"/>
          </a:solidFill>
          <a:ln w="12700"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261" y="467515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B2A60"/>
                </a:solidFill>
                <a:latin typeface="Malgun Gothic"/>
              </a:rPr>
              <a:t>RNN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9860" y="4584831"/>
            <a:ext cx="3566160" cy="40011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0B2A60"/>
                </a:solidFill>
                <a:latin typeface="Malgun Gothic"/>
              </a:rPr>
              <a:t>• 구조 단순
• 장기 의존성 한계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541" y="5132358"/>
            <a:ext cx="5118857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92541" y="5132358"/>
            <a:ext cx="1325880" cy="384048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E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8261" y="518722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48192"/>
                </a:solidFill>
                <a:latin typeface="Malgun Gothic"/>
              </a:rPr>
              <a:t>LSTM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9860" y="5173840"/>
            <a:ext cx="3566160" cy="246221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0B2A60"/>
                </a:solidFill>
                <a:latin typeface="Malgun Gothic"/>
              </a:rPr>
              <a:t>• 게이트 구조로 장기 의존성에 강함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2541" y="5644422"/>
            <a:ext cx="5118857" cy="384048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2541" y="5644422"/>
            <a:ext cx="1325880" cy="384048"/>
          </a:xfrm>
          <a:prstGeom prst="roundRect">
            <a:avLst/>
          </a:prstGeom>
          <a:solidFill>
            <a:srgbClr val="F8ECEC"/>
          </a:solidFill>
          <a:ln w="12700">
            <a:solidFill>
              <a:srgbClr val="F8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8261" y="5699286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B2A60"/>
                </a:solidFill>
                <a:latin typeface="Malgun Gothic"/>
              </a:rPr>
              <a:t>GRU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9860" y="5685904"/>
            <a:ext cx="3566160" cy="246221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0B2A60"/>
                </a:solidFill>
                <a:latin typeface="Malgun Gothic"/>
              </a:rPr>
              <a:t>• LSTM보다 단순하고 효율적</a:t>
            </a:r>
          </a:p>
        </p:txBody>
      </p:sp>
      <p:sp>
        <p:nvSpPr>
          <p:cNvPr id="46" name="Oval 45"/>
          <p:cNvSpPr/>
          <p:nvPr/>
        </p:nvSpPr>
        <p:spPr>
          <a:xfrm>
            <a:off x="6126480" y="2148840"/>
            <a:ext cx="320040" cy="320040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2138431"/>
            <a:ext cx="3421288" cy="3693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altLang="ko-KR" sz="1800" b="1">
                <a:solidFill>
                  <a:srgbClr val="0B2A60"/>
                </a:solidFill>
                <a:latin typeface="Malgun Gothic"/>
              </a:rPr>
              <a:t>3</a:t>
            </a:r>
            <a:r>
              <a:rPr lang="ko-KR" altLang="en-US" sz="1800" b="1">
                <a:solidFill>
                  <a:srgbClr val="0B2A60"/>
                </a:solidFill>
                <a:latin typeface="Malgun Gothic"/>
              </a:rPr>
              <a:t>개모델</a:t>
            </a:r>
            <a:r>
              <a:rPr sz="1800" b="1">
                <a:solidFill>
                  <a:srgbClr val="0B2A60"/>
                </a:solidFill>
                <a:latin typeface="Malgun Gothic"/>
              </a:rPr>
              <a:t> 세트 성능 비교 (MSE)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97405" y="5313988"/>
            <a:ext cx="4258019" cy="694944"/>
          </a:xfrm>
          <a:prstGeom prst="roundRect">
            <a:avLst/>
          </a:prstGeom>
          <a:solidFill>
            <a:srgbClr val="EBF8F8"/>
          </a:solidFill>
          <a:ln w="12700">
            <a:solidFill>
              <a:srgbClr val="DC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04854" y="5319543"/>
            <a:ext cx="173736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altLang="ko-KR" sz="1400" b="0">
                <a:solidFill>
                  <a:srgbClr val="0B2A60"/>
                </a:solidFill>
                <a:latin typeface="Malgun Gothic"/>
              </a:rPr>
              <a:t>3</a:t>
            </a:r>
            <a:r>
              <a:rPr lang="ko-KR" altLang="en-US" sz="1400" b="0">
                <a:solidFill>
                  <a:srgbClr val="0B2A60"/>
                </a:solidFill>
                <a:latin typeface="Malgun Gothic"/>
              </a:rPr>
              <a:t>개 모델</a:t>
            </a:r>
            <a:r>
              <a:rPr sz="1400" b="0">
                <a:solidFill>
                  <a:srgbClr val="0B2A60"/>
                </a:solidFill>
                <a:latin typeface="Malgun Gothic"/>
              </a:rPr>
              <a:t> MSE 기준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4854" y="5544568"/>
            <a:ext cx="2971800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8192"/>
                </a:solidFill>
                <a:latin typeface="Malgun Gothic"/>
              </a:rPr>
              <a:t>최적 모델 x = LSTM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A4CD3205-16D0-4203-AB14-0C24B830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582" y="2161149"/>
            <a:ext cx="1223741" cy="32389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91B3E7F-FF97-4476-AB8B-29F6E6E5F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360" y="5347058"/>
            <a:ext cx="866894" cy="628803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08681A15-7587-42BD-88F9-7304BB66D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41" y="3064661"/>
            <a:ext cx="5162021" cy="892117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43265637-B947-452E-82F4-F5BA257CA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7405" y="2613168"/>
            <a:ext cx="4312918" cy="224508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5517341C-086A-4FCE-A4C5-A1A1F9FD0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355" y="6501599"/>
            <a:ext cx="317565" cy="317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림 80">
            <a:extLst>
              <a:ext uri="{FF2B5EF4-FFF2-40B4-BE49-F238E27FC236}">
                <a16:creationId xmlns:a16="http://schemas.microsoft.com/office/drawing/2014/main" id="{FBB28073-2176-44BF-AD85-428CE8702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470" y="2439165"/>
            <a:ext cx="666843" cy="72400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200" y="347472"/>
            <a:ext cx="566928" cy="27432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216444"/>
            <a:ext cx="219456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>
                <a:solidFill>
                  <a:srgbClr val="606C79"/>
                </a:solidFill>
                <a:latin typeface="Aptos"/>
              </a:rPr>
              <a:t>Apprentice Project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2440" y="216444"/>
            <a:ext cx="292608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ko-KR" altLang="en-US" sz="1400" b="0">
                <a:solidFill>
                  <a:srgbClr val="606C79"/>
                </a:solidFill>
                <a:latin typeface="Aptos"/>
              </a:rPr>
              <a:t>충북대학교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228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600" b="1">
                <a:solidFill>
                  <a:srgbClr val="0B2A60"/>
                </a:solidFill>
                <a:latin typeface="Aptos"/>
              </a:rPr>
              <a:t>04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653" y="6441776"/>
            <a:ext cx="1120140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7741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B2A60"/>
                </a:solidFill>
                <a:latin typeface="Malgun Gothic"/>
              </a:rPr>
              <a:t>산업인공지능학과 대학원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5952" y="6535481"/>
            <a:ext cx="2918368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en-US" sz="1300" b="0">
                <a:solidFill>
                  <a:srgbClr val="606C79"/>
                </a:solidFill>
                <a:latin typeface="Malgun Gothic"/>
              </a:rPr>
              <a:t>2026.10.08 Time Series Forecasting</a:t>
            </a:r>
            <a:endParaRPr sz="1300" b="0">
              <a:solidFill>
                <a:srgbClr val="606C79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9445" y="550171"/>
            <a:ext cx="704694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60"/>
                </a:solidFill>
                <a:latin typeface="Malgun Gothic"/>
              </a:rPr>
              <a:t>모델 x에서 </a:t>
            </a:r>
            <a:r>
              <a:rPr sz="3400" b="1">
                <a:solidFill>
                  <a:srgbClr val="148192"/>
                </a:solidFill>
                <a:latin typeface="Malgun Gothic"/>
              </a:rPr>
              <a:t>모델 y로의 성능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2986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B2A60"/>
                </a:solidFill>
                <a:latin typeface="Malgun Gothic"/>
              </a:rPr>
              <a:t>선택된 LSTM 기반 구조 개선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7586" y="1678664"/>
            <a:ext cx="2514600" cy="2157985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466" y="1742560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모델 x : 기본 LSTM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407" y="2128269"/>
            <a:ext cx="200606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922" y="2186691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0">
                <a:solidFill>
                  <a:srgbClr val="0B2A60"/>
                </a:solidFill>
                <a:latin typeface="Malgun Gothic"/>
              </a:rPr>
              <a:t>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407" y="2535337"/>
            <a:ext cx="2011680" cy="926407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기본 LSTM 구조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Hidden dimension: 64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선형 예측 Head (Linear)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직접 OT 예측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8198" y="1678665"/>
            <a:ext cx="3610227" cy="2157984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DCF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88510" y="1763983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8192"/>
                </a:solidFill>
                <a:latin typeface="Malgun Gothic"/>
              </a:rPr>
              <a:t>모델 y : 개선된 LSTM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3704" y="2122150"/>
            <a:ext cx="3111164" cy="347472"/>
          </a:xfrm>
          <a:prstGeom prst="roundRect">
            <a:avLst/>
          </a:prstGeom>
          <a:solidFill>
            <a:srgbClr val="12A4B5"/>
          </a:solidFill>
          <a:ln w="12700"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05907" y="2117578"/>
            <a:ext cx="2540784" cy="33855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510" y="2538236"/>
            <a:ext cx="3354196" cy="1136721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개선된 LSTM 구조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Hidden dimension: </a:t>
            </a:r>
            <a:r>
              <a:rPr sz="1200">
                <a:solidFill>
                  <a:srgbClr val="FF0000"/>
                </a:solidFill>
                <a:latin typeface="Malgun Gothic"/>
              </a:rPr>
              <a:t>96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비선형 예측 Head (Linear → </a:t>
            </a:r>
            <a:r>
              <a:rPr sz="1200">
                <a:solidFill>
                  <a:srgbClr val="FF0000"/>
                </a:solidFill>
                <a:latin typeface="Malgun Gothic"/>
              </a:rPr>
              <a:t>SiLU</a:t>
            </a:r>
            <a:r>
              <a:rPr sz="1200">
                <a:solidFill>
                  <a:srgbClr val="0B2A60"/>
                </a:solidFill>
                <a:latin typeface="Malgun Gothic"/>
              </a:rPr>
              <a:t> → Linear)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Residual Delta Prediction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  (이전 OT + </a:t>
            </a:r>
            <a:r>
              <a:rPr sz="1200">
                <a:solidFill>
                  <a:srgbClr val="FF0000"/>
                </a:solidFill>
                <a:latin typeface="Malgun Gothic"/>
              </a:rPr>
              <a:t>변화량</a:t>
            </a:r>
            <a:r>
              <a:rPr sz="1200">
                <a:solidFill>
                  <a:srgbClr val="0B2A60"/>
                </a:solidFill>
                <a:latin typeface="Malgun Gothic"/>
              </a:rPr>
              <a:t> 예측)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4186" y="1623688"/>
            <a:ext cx="2011680" cy="33855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주요 개선 방법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8466" y="2016993"/>
            <a:ext cx="3977639" cy="5029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691345" y="2116749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7106" y="2036793"/>
            <a:ext cx="1888842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Hidden dimension 확대
64 → 96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8466" y="2675361"/>
            <a:ext cx="3977639" cy="5029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91345" y="2780625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7106" y="2700668"/>
            <a:ext cx="2054095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비선형 예측 Head 추가</a:t>
            </a:r>
            <a:r>
              <a:rPr sz="1200" b="0">
                <a:solidFill>
                  <a:srgbClr val="0B2A60"/>
                </a:solidFill>
                <a:latin typeface="Malgun Gothic"/>
              </a:rPr>
              <a:t>
Linear → SiLU → Linear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08466" y="3333729"/>
            <a:ext cx="3977639" cy="5029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91345" y="3427977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7106" y="3348021"/>
            <a:ext cx="2054095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Residual Delta Prediction</a:t>
            </a:r>
            <a:r>
              <a:rPr sz="1200" b="0">
                <a:solidFill>
                  <a:srgbClr val="0B2A60"/>
                </a:solidFill>
                <a:latin typeface="Malgun Gothic"/>
              </a:rPr>
              <a:t>
이전 OT + 변화량(Δy) 예측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9147" y="3888162"/>
            <a:ext cx="1828800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모델 y 구조도</a:t>
            </a:r>
          </a:p>
        </p:txBody>
      </p:sp>
      <p:sp>
        <p:nvSpPr>
          <p:cNvPr id="33" name="Rectangle 32"/>
          <p:cNvSpPr/>
          <p:nvPr/>
        </p:nvSpPr>
        <p:spPr>
          <a:xfrm flipV="1">
            <a:off x="1673437" y="4014306"/>
            <a:ext cx="9875519" cy="45719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1866" y="5321426"/>
            <a:ext cx="1828800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개선 효과 및 근거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0466" y="5645727"/>
            <a:ext cx="3337560" cy="6400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335366" y="5679360"/>
            <a:ext cx="973781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표현력 증가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5366" y="5877046"/>
            <a:ext cx="2736480" cy="40011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06C79"/>
                </a:solidFill>
                <a:latin typeface="Malgun Gothic"/>
              </a:rPr>
              <a:t>Hidden dimension 확대(64 → 96)를 통해
시계열의 복잡한 패턴을 더 잘 학습할 수 있음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216625" y="5651731"/>
            <a:ext cx="3520440" cy="6400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673604" y="5688084"/>
            <a:ext cx="3246120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비선형 관계 학습 강화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01257" y="6007432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06C79"/>
                </a:solidFill>
                <a:latin typeface="Malgun Gothic"/>
              </a:rPr>
              <a:t>Linear → SiLU → Linear 구조의 비선형 예측 Head로
복잡한 비선형 관계를 효과적으로 모델링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65666" y="5651731"/>
            <a:ext cx="3520440" cy="6400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407626" y="5685886"/>
            <a:ext cx="3246120" cy="276999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B2A60"/>
                </a:solidFill>
                <a:latin typeface="Malgun Gothic"/>
              </a:rPr>
              <a:t>시계열 변화량 예측 안정화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42960" y="6022192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06C79"/>
                </a:solidFill>
                <a:latin typeface="Malgun Gothic"/>
              </a:rPr>
              <a:t>직접 예측 대신 이전 OT + 변화량(Δy) 예측 방식으로
시계열의 변화 패턴을 더 안정적으로 학습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525497B9-8AC6-4F2B-BA36-F9897194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186" y="2036793"/>
            <a:ext cx="389380" cy="459469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23E27D78-FB71-41FC-8EAE-923B344E2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0626" y="2699597"/>
            <a:ext cx="420446" cy="461666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9595D52B-7348-4840-B3E0-A9D73338E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8906" y="3375050"/>
            <a:ext cx="392769" cy="388403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9BC3F6A5-B0C3-45F6-B907-EE2C6A5C9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149" y="1633809"/>
            <a:ext cx="2439957" cy="257211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99EA95C0-8C08-419D-B93B-8D2E7D96F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5560" y="1586045"/>
            <a:ext cx="257211" cy="2364455"/>
          </a:xfrm>
          <a:prstGeom prst="rect">
            <a:avLst/>
          </a:prstGeom>
        </p:spPr>
      </p:pic>
      <p:sp>
        <p:nvSpPr>
          <p:cNvPr id="82" name="Rectangle 32">
            <a:extLst>
              <a:ext uri="{FF2B5EF4-FFF2-40B4-BE49-F238E27FC236}">
                <a16:creationId xmlns:a16="http://schemas.microsoft.com/office/drawing/2014/main" id="{A1B06A88-22D6-4652-8F3E-7EE7BD97EED5}"/>
              </a:ext>
            </a:extLst>
          </p:cNvPr>
          <p:cNvSpPr/>
          <p:nvPr/>
        </p:nvSpPr>
        <p:spPr>
          <a:xfrm flipV="1">
            <a:off x="1793467" y="5450568"/>
            <a:ext cx="9755489" cy="49890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8F7D9E4C-B519-4965-9FE7-2953113FFB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586" y="4215753"/>
            <a:ext cx="3153259" cy="1112117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F6D94D88-32E7-449E-AC03-1CADC01A85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8198" y="4111938"/>
            <a:ext cx="4136789" cy="1314214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3F85ADA2-E380-4CF0-A08B-71AADC98AB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7312" y="4194241"/>
            <a:ext cx="3855954" cy="1234733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E371619D-F859-4AF7-BBC3-447F5A4B4A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997" y="5674530"/>
            <a:ext cx="381053" cy="581106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8FB4BF66-8E47-4CAB-B218-AD7B7D29E3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9263" y="5734794"/>
            <a:ext cx="434341" cy="531847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E9C23379-556C-4EF9-BBDF-DA09827CD4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4616" y="5792759"/>
            <a:ext cx="465378" cy="370848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6A808140-7CA1-4523-B536-394EB84EDA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355" y="6501599"/>
            <a:ext cx="317565" cy="317565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45580C2E-29B1-49F3-A015-27DBC5BAEB9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6696" y="5090880"/>
            <a:ext cx="1674500" cy="3404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566928" cy="27432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216444"/>
            <a:ext cx="219456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>
                <a:solidFill>
                  <a:srgbClr val="606C79"/>
                </a:solidFill>
                <a:latin typeface="Aptos"/>
              </a:rPr>
              <a:t>Apprentice Project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2440" y="216444"/>
            <a:ext cx="292608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ko-KR" altLang="en-US" sz="1400" b="0">
                <a:solidFill>
                  <a:srgbClr val="606C79"/>
                </a:solidFill>
                <a:latin typeface="Aptos"/>
              </a:rPr>
              <a:t>충북대학교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228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600" b="1">
                <a:solidFill>
                  <a:srgbClr val="0B2A60"/>
                </a:solidFill>
                <a:latin typeface="Aptos"/>
              </a:rPr>
              <a:t>05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6040"/>
            <a:ext cx="1120140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7952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B2A60"/>
                </a:solidFill>
                <a:latin typeface="Malgun Gothic"/>
              </a:rPr>
              <a:t>산업인공지능학과 대학원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0374" y="6550678"/>
            <a:ext cx="3138706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en-US" sz="1300" b="0">
                <a:solidFill>
                  <a:srgbClr val="606C79"/>
                </a:solidFill>
                <a:latin typeface="Malgun Gothic"/>
              </a:rPr>
              <a:t>2026.10.08 Time Series Forecasting</a:t>
            </a:r>
            <a:endParaRPr sz="1300" b="0">
              <a:solidFill>
                <a:srgbClr val="606C79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24915"/>
            <a:ext cx="448386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60"/>
                </a:solidFill>
                <a:latin typeface="Malgun Gothic"/>
              </a:rPr>
              <a:t>최종 모델 </a:t>
            </a:r>
            <a:r>
              <a:rPr sz="3400" b="1">
                <a:solidFill>
                  <a:srgbClr val="148192"/>
                </a:solidFill>
                <a:latin typeface="Malgun Gothic"/>
              </a:rPr>
              <a:t>성능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5401"/>
            <a:ext cx="4934722" cy="43088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B2A60"/>
                </a:solidFill>
                <a:latin typeface="Malgun Gothic"/>
              </a:rPr>
              <a:t>Test 데이터에서 모델 x와 모델 y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050207"/>
            <a:ext cx="11155680" cy="310896"/>
          </a:xfrm>
          <a:prstGeom prst="roundRect">
            <a:avLst/>
          </a:prstGeom>
          <a:solidFill>
            <a:srgbClr val="ECF8F8"/>
          </a:solidFill>
          <a:ln w="12700">
            <a:solidFill>
              <a:srgbClr val="DC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89322" y="6050207"/>
            <a:ext cx="5250456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ko-KR" altLang="en-US" sz="1400" b="1">
                <a:solidFill>
                  <a:srgbClr val="148192"/>
                </a:solidFill>
                <a:latin typeface="Malgun Gothic"/>
              </a:rPr>
              <a:t>최종적으로 모델 </a:t>
            </a:r>
            <a:r>
              <a:rPr lang="en-US" altLang="ko-KR" sz="1400" b="1">
                <a:solidFill>
                  <a:srgbClr val="148192"/>
                </a:solidFill>
                <a:latin typeface="Malgun Gothic"/>
              </a:rPr>
              <a:t>y</a:t>
            </a:r>
            <a:r>
              <a:rPr lang="ko-KR" altLang="en-US" sz="1400" b="1">
                <a:solidFill>
                  <a:srgbClr val="148192"/>
                </a:solidFill>
                <a:latin typeface="Malgun Gothic"/>
              </a:rPr>
              <a:t>가 모델 </a:t>
            </a:r>
            <a:r>
              <a:rPr lang="en-US" altLang="ko-KR" sz="1400" b="1">
                <a:solidFill>
                  <a:srgbClr val="148192"/>
                </a:solidFill>
                <a:latin typeface="Malgun Gothic"/>
              </a:rPr>
              <a:t>x</a:t>
            </a:r>
            <a:r>
              <a:rPr lang="ko-KR" altLang="en-US" sz="1400" b="1">
                <a:solidFill>
                  <a:srgbClr val="148192"/>
                </a:solidFill>
                <a:latin typeface="Malgun Gothic"/>
              </a:rPr>
              <a:t>보다 모든 핵심 지표에서 우수</a:t>
            </a:r>
            <a:endParaRPr sz="1400" b="1">
              <a:solidFill>
                <a:srgbClr val="148192"/>
              </a:solidFill>
              <a:latin typeface="Malgun Gothic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045E20-0DB0-4EBD-AB6A-FEFF8E829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90" y="6071508"/>
            <a:ext cx="1179722" cy="25907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DAC045E-99BA-4FA5-8868-F3BDC7EE0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32" y="4377578"/>
            <a:ext cx="11155680" cy="162495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DABF4C2-D1E2-4099-A042-10F9FEEB8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704113"/>
            <a:ext cx="4650397" cy="242940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25E5415-66F0-4FAE-94CB-33D3A97C1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7642" y="1550864"/>
            <a:ext cx="6164195" cy="282671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D2FD94D-F636-4D1E-B638-BABB12BDA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355" y="6501599"/>
            <a:ext cx="317565" cy="317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693CC7C-D7C2-4DFA-B6F6-78E118172D98}"/>
              </a:ext>
            </a:extLst>
          </p:cNvPr>
          <p:cNvSpPr/>
          <p:nvPr/>
        </p:nvSpPr>
        <p:spPr>
          <a:xfrm>
            <a:off x="576354" y="1975682"/>
            <a:ext cx="6513000" cy="289700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/>
        </p:nvSpPr>
        <p:spPr>
          <a:xfrm>
            <a:off x="457200" y="347472"/>
            <a:ext cx="566928" cy="27432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216444"/>
            <a:ext cx="219456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1400" b="0">
                <a:solidFill>
                  <a:srgbClr val="606C79"/>
                </a:solidFill>
                <a:latin typeface="Aptos"/>
              </a:rPr>
              <a:t>Apprentice Project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2440" y="216444"/>
            <a:ext cx="2926080" cy="30777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ko-KR" altLang="en-US" sz="1400" b="0">
                <a:solidFill>
                  <a:srgbClr val="606C79"/>
                </a:solidFill>
                <a:latin typeface="Aptos"/>
              </a:rPr>
              <a:t>충북대학교</a:t>
            </a:r>
            <a:endParaRPr sz="1400" b="0">
              <a:solidFill>
                <a:srgbClr val="606C7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228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sz="1600" b="1">
                <a:solidFill>
                  <a:srgbClr val="0B2A60"/>
                </a:solidFill>
                <a:latin typeface="Aptos"/>
              </a:rPr>
              <a:t>06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3056"/>
            <a:ext cx="11201400" cy="13716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94629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B2A60"/>
                </a:solidFill>
                <a:latin typeface="Malgun Gothic"/>
              </a:rPr>
              <a:t>산업인공지능학과 대학원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2950" y="6530971"/>
            <a:ext cx="3149722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r"/>
            <a:r>
              <a:rPr lang="en-US" sz="1300" b="0">
                <a:solidFill>
                  <a:srgbClr val="606C79"/>
                </a:solidFill>
                <a:latin typeface="Malgun Gothic"/>
              </a:rPr>
              <a:t>2026.10.08 Time Series Forecasting</a:t>
            </a:r>
            <a:endParaRPr sz="1300" b="0">
              <a:solidFill>
                <a:srgbClr val="606C79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361904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A60"/>
                </a:solidFill>
                <a:latin typeface="Malgun Gothic"/>
              </a:rPr>
              <a:t>결론 및 </a:t>
            </a:r>
            <a:r>
              <a:rPr sz="3400" b="1">
                <a:solidFill>
                  <a:srgbClr val="148192"/>
                </a:solidFill>
                <a:latin typeface="Malgun Gothic"/>
              </a:rPr>
              <a:t>질의응답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54" y="1454214"/>
            <a:ext cx="3569844" cy="430887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0B2A60"/>
                </a:solidFill>
                <a:latin typeface="Malgun Gothic"/>
              </a:rPr>
              <a:t>실험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958" y="21465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0B2A60"/>
                </a:solidFill>
                <a:latin typeface="Malgun Gothic"/>
              </a:rPr>
              <a:t>주요 결론 요약</a:t>
            </a:r>
          </a:p>
        </p:txBody>
      </p:sp>
      <p:sp>
        <p:nvSpPr>
          <p:cNvPr id="12" name="Rectangle 11"/>
          <p:cNvSpPr/>
          <p:nvPr/>
        </p:nvSpPr>
        <p:spPr>
          <a:xfrm flipV="1">
            <a:off x="2888833" y="2232574"/>
            <a:ext cx="3531965" cy="45719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64398" y="2539704"/>
            <a:ext cx="5356401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47278" y="2622108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1326" y="2612856"/>
            <a:ext cx="322507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ETT-small-m1 기반 OT 예측 문제를 설정함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4398" y="3106632"/>
            <a:ext cx="5356401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47278" y="3189036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3038" y="3191941"/>
            <a:ext cx="380173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동일 조건 비교에서 LSTM이 최적 모델 x로 선정됨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4398" y="3673559"/>
            <a:ext cx="5356401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38134" y="3766979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326" y="3671436"/>
            <a:ext cx="3785061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개선 LSTM(모델 y)에 hidden 확장 + nonlinear head + residual delta prediction을 적용함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4398" y="4240488"/>
            <a:ext cx="5356401" cy="4572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47278" y="4339415"/>
            <a:ext cx="256032" cy="256032"/>
          </a:xfrm>
          <a:prstGeom prst="ellipse">
            <a:avLst/>
          </a:prstGeom>
          <a:solidFill>
            <a:srgbClr val="12A4B5"/>
          </a:solidFill>
          <a:ln>
            <a:solidFill>
              <a:srgbClr val="12A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1326" y="4315855"/>
            <a:ext cx="4126581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0B2A60"/>
                </a:solidFill>
                <a:latin typeface="Malgun Gothic"/>
              </a:rPr>
              <a:t>Test 기준 모델 y가 MSE 14.5% 개선 등 전반적으로 우수함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02352"/>
            <a:ext cx="4069080" cy="1005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125099"/>
            <a:ext cx="1097280" cy="33855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의의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3383280" cy="505779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동일 조건 비교를 통해 모델 선택 근거 확보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구조 개선이 실제 예측 성능 향상으로 연결됨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02352"/>
            <a:ext cx="3108960" cy="1005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79358" y="5125099"/>
            <a:ext cx="1280160" cy="33855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B2A60"/>
                </a:solidFill>
                <a:latin typeface="Malgun Gothic"/>
              </a:rPr>
              <a:t>향후 과제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8852" y="5476223"/>
            <a:ext cx="2735653" cy="505779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다중 시점 예측으로 확장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0B2A60"/>
                </a:solidFill>
                <a:latin typeface="Malgun Gothic"/>
              </a:rPr>
              <a:t>• attention 기반 모델과 추가 비교</a:t>
            </a:r>
          </a:p>
        </p:txBody>
      </p:sp>
      <p:sp>
        <p:nvSpPr>
          <p:cNvPr id="31" name="Right Triangle 30"/>
          <p:cNvSpPr/>
          <p:nvPr/>
        </p:nvSpPr>
        <p:spPr>
          <a:xfrm rot="10800000">
            <a:off x="9418320" y="5303520"/>
            <a:ext cx="2651760" cy="1097280"/>
          </a:xfrm>
          <a:prstGeom prst="rtTriangle">
            <a:avLst/>
          </a:prstGeom>
          <a:solidFill>
            <a:srgbClr val="E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Triangle 31"/>
          <p:cNvSpPr/>
          <p:nvPr/>
        </p:nvSpPr>
        <p:spPr>
          <a:xfrm rot="10800000">
            <a:off x="9966960" y="5486400"/>
            <a:ext cx="2194560" cy="914400"/>
          </a:xfrm>
          <a:prstGeom prst="rtTriangle">
            <a:avLst/>
          </a:prstGeom>
          <a:solidFill>
            <a:srgbClr val="E2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V="1">
            <a:off x="7315200" y="3840480"/>
            <a:ext cx="548640" cy="548640"/>
          </a:xfrm>
          <a:prstGeom prst="line">
            <a:avLst/>
          </a:prstGeom>
          <a:ln w="25400">
            <a:solidFill>
              <a:srgbClr val="12A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63840" y="3840480"/>
            <a:ext cx="548640" cy="457200"/>
          </a:xfrm>
          <a:prstGeom prst="line">
            <a:avLst/>
          </a:prstGeom>
          <a:ln w="25400">
            <a:solidFill>
              <a:srgbClr val="0B2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412480" y="3566160"/>
            <a:ext cx="548640" cy="731520"/>
          </a:xfrm>
          <a:prstGeom prst="line">
            <a:avLst/>
          </a:prstGeom>
          <a:ln w="25400">
            <a:solidFill>
              <a:srgbClr val="12A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961120" y="3566160"/>
            <a:ext cx="548640" cy="365760"/>
          </a:xfrm>
          <a:prstGeom prst="line">
            <a:avLst/>
          </a:prstGeom>
          <a:ln w="25400">
            <a:solidFill>
              <a:srgbClr val="0B2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149840" y="3017520"/>
            <a:ext cx="548640" cy="365760"/>
          </a:xfrm>
          <a:prstGeom prst="line">
            <a:avLst/>
          </a:prstGeom>
          <a:ln w="25400">
            <a:solidFill>
              <a:srgbClr val="0B2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698480" y="2651760"/>
            <a:ext cx="731520" cy="731520"/>
          </a:xfrm>
          <a:prstGeom prst="line">
            <a:avLst/>
          </a:prstGeom>
          <a:ln w="25400">
            <a:solidFill>
              <a:srgbClr val="12A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863840" y="47091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4200" b="1">
                <a:solidFill>
                  <a:srgbClr val="0B2A60"/>
                </a:solidFill>
                <a:latin typeface="Malgun Gothic"/>
              </a:rPr>
              <a:t>감사합니다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39496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0">
                <a:solidFill>
                  <a:srgbClr val="0B2A60"/>
                </a:solidFill>
                <a:latin typeface="Aptos"/>
              </a:rPr>
              <a:t>Questions?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5806440"/>
            <a:ext cx="731520" cy="18288"/>
          </a:xfrm>
          <a:prstGeom prst="rect">
            <a:avLst/>
          </a:prstGeom>
          <a:solidFill>
            <a:srgbClr val="12A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C3E4331-55F2-41D2-818A-9BFABD51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181" y="1175092"/>
            <a:ext cx="4893339" cy="357978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4A6B4C5-0B48-49FA-9B04-888F6D401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02" y="5554046"/>
            <a:ext cx="195509" cy="19036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279F7FE-E048-4724-96AD-573F56339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14" y="5735937"/>
            <a:ext cx="195509" cy="19036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E65FCFED-5765-42B6-ADFD-FF951977B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746" y="5547655"/>
            <a:ext cx="195509" cy="19036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6F8D6B38-64E8-4F20-8D89-4EA917A34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358" y="5729546"/>
            <a:ext cx="195509" cy="19036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FAE344F-B649-4564-B97C-02F53F1D8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044" y="5141607"/>
            <a:ext cx="540592" cy="699997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7795437-8B85-47F6-A066-686951331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789" y="5189204"/>
            <a:ext cx="2720411" cy="228632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8DC233C0-9890-4CA5-B24C-A359285EB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592" y="5180060"/>
            <a:ext cx="1222903" cy="228632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BE848728-D12F-4451-88BE-9856DDC7E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5194025"/>
            <a:ext cx="440916" cy="516699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372BB8C5-DA75-447F-9451-D31F42953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0938" y="2573991"/>
            <a:ext cx="264266" cy="388626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D64D892-502D-47A6-9069-99F6FC6DAB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2428" y="3111039"/>
            <a:ext cx="281286" cy="403897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6C03D72F-4E15-4FA1-827C-F979214161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7900" y="3726262"/>
            <a:ext cx="296067" cy="37008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4B8690C-C14A-44A5-A657-93F66B3C9E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3481" y="4260954"/>
            <a:ext cx="320100" cy="384121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DCCBF3B-FC2B-4DC9-BDAC-9679A43813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355" y="6501599"/>
            <a:ext cx="317565" cy="317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666</Words>
  <Application>Microsoft Office PowerPoint</Application>
  <PresentationFormat>와이드스크린</PresentationFormat>
  <Paragraphs>153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Aptos</vt:lpstr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YoungMin Kil</cp:lastModifiedBy>
  <cp:revision>46</cp:revision>
  <dcterms:created xsi:type="dcterms:W3CDTF">2013-01-27T09:14:16Z</dcterms:created>
  <dcterms:modified xsi:type="dcterms:W3CDTF">2026-10-12T04:37:40Z</dcterms:modified>
  <cp:category/>
</cp:coreProperties>
</file>