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619" autoAdjust="0"/>
  </p:normalViewPr>
  <p:slideViewPr>
    <p:cSldViewPr snapToGrid="0" snapToObjects="1">
      <p:cViewPr>
        <p:scale>
          <a:sx n="100" d="100"/>
          <a:sy n="100" d="100"/>
        </p:scale>
        <p:origin x="322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11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5517536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Malgun Gothic"/>
              </a:defRPr>
            </a:pPr>
            <a:r>
              <a:rPr dirty="0"/>
              <a:t>충북대학교 대학원 산업인공지능학과 | 2026-2학기 어프렌티스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제조 가공 설비 고장 예측을 위한</a:t>
            </a:r>
            <a:br>
              <a:rPr dirty="0"/>
            </a:br>
            <a:r>
              <a:rPr dirty="0"/>
              <a:t>머신러닝 프로젝트 5단계 실증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5786841" cy="223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50">
                <a:solidFill>
                  <a:srgbClr val="CBD5E1"/>
                </a:solidFill>
                <a:latin typeface="Malgun Gothic"/>
              </a:defRPr>
            </a:pPr>
            <a:r>
              <a:rPr dirty="0"/>
              <a:t>공작기계 센서 데이터를 활용한 분할·스케일링·튜닝·평가 전 과정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657600"/>
            <a:ext cx="23317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298448" y="4011168"/>
            <a:ext cx="2112264" cy="511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60A5FA"/>
                </a:solidFill>
                <a:latin typeface="Malgun Gothic"/>
              </a:defRPr>
            </a:pPr>
            <a:r>
              <a:rPr dirty="0"/>
              <a:t>3단계 층화 분할</a:t>
            </a:r>
          </a:p>
          <a:p>
            <a:pPr>
              <a:spcBef>
                <a:spcPts val="400"/>
              </a:spcBef>
              <a:defRPr sz="919">
                <a:solidFill>
                  <a:srgbClr val="94A3B8"/>
                </a:solidFill>
                <a:latin typeface="Malgun Gothic"/>
              </a:defRPr>
            </a:pPr>
            <a:r>
              <a:rPr dirty="0"/>
              <a:t>학습 60% : 검증 20% : 시험 20%</a:t>
            </a:r>
            <a:br>
              <a:rPr dirty="0"/>
            </a:br>
            <a:r>
              <a:rPr dirty="0"/>
              <a:t>3.4% 희소 고장 비율 보존 분할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657600"/>
            <a:ext cx="23317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767328" y="4011168"/>
            <a:ext cx="2112264" cy="511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60A5FA"/>
                </a:solidFill>
                <a:latin typeface="Malgun Gothic"/>
              </a:defRPr>
            </a:pPr>
            <a:r>
              <a:rPr dirty="0"/>
              <a:t>이상치 특화 스케일러</a:t>
            </a:r>
          </a:p>
          <a:p>
            <a:pPr>
              <a:spcBef>
                <a:spcPts val="400"/>
              </a:spcBef>
              <a:defRPr sz="919">
                <a:solidFill>
                  <a:srgbClr val="94A3B8"/>
                </a:solidFill>
                <a:latin typeface="Malgun Gothic"/>
              </a:defRPr>
            </a:pPr>
            <a:r>
              <a:rPr dirty="0"/>
              <a:t>로버스트 스케일링(IQR) 적용</a:t>
            </a:r>
            <a:br>
              <a:rPr dirty="0"/>
            </a:br>
            <a:r>
              <a:rPr dirty="0"/>
              <a:t>모터 급기동 토크 노이즈 방어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657600"/>
            <a:ext cx="23317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236208" y="4011168"/>
            <a:ext cx="2112264" cy="511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60A5FA"/>
                </a:solidFill>
                <a:latin typeface="Malgun Gothic"/>
              </a:defRPr>
            </a:pPr>
            <a:r>
              <a:rPr dirty="0"/>
              <a:t>데이터 누수 차단</a:t>
            </a:r>
          </a:p>
          <a:p>
            <a:pPr>
              <a:spcBef>
                <a:spcPts val="400"/>
              </a:spcBef>
              <a:defRPr sz="919">
                <a:solidFill>
                  <a:srgbClr val="94A3B8"/>
                </a:solidFill>
                <a:latin typeface="Malgun Gothic"/>
              </a:defRPr>
            </a:pPr>
            <a:r>
              <a:rPr dirty="0"/>
              <a:t>학습 데이터 기준값(fit)만 산출</a:t>
            </a:r>
            <a:br>
              <a:rPr dirty="0"/>
            </a:br>
            <a:r>
              <a:rPr dirty="0"/>
              <a:t>검증·시험은 변환(transform)만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657600"/>
            <a:ext cx="23317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705088" y="4011168"/>
            <a:ext cx="2112264" cy="511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60A5FA"/>
                </a:solidFill>
                <a:latin typeface="Malgun Gothic"/>
              </a:defRPr>
            </a:pPr>
            <a:r>
              <a:rPr dirty="0"/>
              <a:t>블라인드 최종 검증</a:t>
            </a:r>
          </a:p>
          <a:p>
            <a:pPr>
              <a:spcBef>
                <a:spcPts val="400"/>
              </a:spcBef>
              <a:defRPr sz="919">
                <a:solidFill>
                  <a:srgbClr val="94A3B8"/>
                </a:solidFill>
                <a:latin typeface="Malgun Gothic"/>
              </a:defRPr>
            </a:pPr>
            <a:r>
              <a:rPr dirty="0"/>
              <a:t>시험 세트 2,000건은</a:t>
            </a:r>
            <a:br>
              <a:rPr dirty="0"/>
            </a:br>
            <a:r>
              <a:rPr dirty="0"/>
              <a:t>모든 튜닝 완료 후 단 1회 열람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66360"/>
            <a:ext cx="6104235" cy="1769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Malgun Gothic"/>
              </a:defRPr>
            </a:pPr>
            <a:r>
              <a:rPr dirty="0"/>
              <a:t>발표자: 석사과정 진찬언 (에코프로HN)   |   담당교수: 채민선 교수님   |   발표시간: 5분 이내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20092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1단계. 데이터셋 획득 및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697346" cy="3154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가공 설비 예지보전을 위한 공작기계 센서 데이터셋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25296"/>
            <a:ext cx="6391173" cy="166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>
                <a:solidFill>
                  <a:srgbClr val="475569"/>
                </a:solidFill>
                <a:latin typeface="Malgun Gothic"/>
              </a:defRPr>
            </a:pPr>
            <a:r>
              <a:rPr dirty="0"/>
              <a:t>해결 목표: 설비 센서 5종과 물리 파생 특성을 바탕으로 가공 중 고장 여부를 사전에 감지하는 이진 분류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897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chart_slide2_data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8716" y="1888677"/>
            <a:ext cx="5715000" cy="276640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2D64DC-21B1-546B-45DE-62965CCA3B3C}"/>
              </a:ext>
            </a:extLst>
          </p:cNvPr>
          <p:cNvGrpSpPr/>
          <p:nvPr/>
        </p:nvGrpSpPr>
        <p:grpSpPr>
          <a:xfrm>
            <a:off x="914400" y="4779070"/>
            <a:ext cx="5532120" cy="548640"/>
            <a:chOff x="914400" y="4956048"/>
            <a:chExt cx="5532120" cy="548640"/>
          </a:xfrm>
        </p:grpSpPr>
        <p:sp>
          <p:nvSpPr>
            <p:cNvPr id="9" name="Rounded Rectangle 8"/>
            <p:cNvSpPr/>
            <p:nvPr/>
          </p:nvSpPr>
          <p:spPr>
            <a:xfrm>
              <a:off x="914400" y="4956048"/>
              <a:ext cx="553212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05840" y="5157271"/>
              <a:ext cx="5349240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defRPr sz="950" b="1">
                  <a:solidFill>
                    <a:srgbClr val="1E3A8A"/>
                  </a:solidFill>
                  <a:latin typeface="Malgun Gothic"/>
                </a:defRPr>
              </a:pPr>
              <a:r>
                <a:rPr dirty="0"/>
                <a:t>💡 핵심 요약: 3.4% 희소 고장과 센서별 극심한 스케일 편차를 전처리 단계에서 동시 해결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6766560" y="1645920"/>
            <a:ext cx="4693615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931152" y="1837056"/>
            <a:ext cx="4370832" cy="1239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1E3A8A"/>
                </a:solidFill>
                <a:latin typeface="Malgun Gothic"/>
              </a:defRPr>
            </a:pPr>
            <a:r>
              <a:rPr dirty="0"/>
              <a:t>1. 프로젝트 개요 및 해결 과제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대상 설비: </a:t>
            </a:r>
            <a:r>
              <a:rPr sz="880" dirty="0">
                <a:solidFill>
                  <a:srgbClr val="475569"/>
                </a:solidFill>
              </a:rPr>
              <a:t>제조 공정 공작기계 (밀링 절삭 설비)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예측 목표: </a:t>
            </a:r>
            <a:r>
              <a:rPr sz="880" dirty="0">
                <a:solidFill>
                  <a:srgbClr val="475569"/>
                </a:solidFill>
              </a:rPr>
              <a:t>가공 중 설비 고장 사전 감지 (이진 분류 0 / 1)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데이터 규모: </a:t>
            </a:r>
            <a:r>
              <a:rPr sz="880" dirty="0">
                <a:solidFill>
                  <a:srgbClr val="475569"/>
                </a:solidFill>
              </a:rPr>
              <a:t>총 10,000건 센서 로그 (결측치 0건 완전성 확보)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클래스 분포: </a:t>
            </a:r>
            <a:r>
              <a:rPr sz="880" dirty="0">
                <a:solidFill>
                  <a:srgbClr val="475569"/>
                </a:solidFill>
              </a:rPr>
              <a:t>정상 96.6% (9,661건) vs 고장 3.4% (339건) 희소 불균형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721608"/>
            <a:ext cx="4693615" cy="19019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931152" y="3912744"/>
            <a:ext cx="4370832" cy="9930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2. 도메인 물리 파생 특성 3종 (Signal 강화)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온도차 (Temp_diff): </a:t>
            </a:r>
            <a:r>
              <a:rPr sz="880" dirty="0">
                <a:solidFill>
                  <a:srgbClr val="475569"/>
                </a:solidFill>
              </a:rPr>
              <a:t>공정온도 - 주변온도 -&gt; 설비 방열 한계 감지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모터 동력 (Power): </a:t>
            </a:r>
            <a:r>
              <a:rPr sz="880" dirty="0">
                <a:solidFill>
                  <a:srgbClr val="475569"/>
                </a:solidFill>
              </a:rPr>
              <a:t>회전속도 x 토크 -&gt; 기계적 모터 과부하 감지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sz="900" b="1" dirty="0">
                <a:solidFill>
                  <a:srgbClr val="0F172A"/>
                </a:solidFill>
              </a:rPr>
              <a:t>• 공구 부하 (Overstrain): </a:t>
            </a:r>
            <a:r>
              <a:rPr sz="880" dirty="0">
                <a:solidFill>
                  <a:srgbClr val="475569"/>
                </a:solidFill>
              </a:rPr>
              <a:t>토크 x 공구마모 -&gt; 누적 피로 파손 감지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79008"/>
            <a:ext cx="10728655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6027400"/>
            <a:ext cx="7801816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algun Gothic"/>
              </a:defRPr>
            </a:pPr>
            <a:r>
              <a:rPr dirty="0"/>
              <a:t>✔ [1단계 결론]: 3.4% 극단적 불균형과 센서별 스케일 편차를 확인하고, 물리 파생 특성 3종을 추가하여 예지보전 분류 기반 완성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059859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2단계. 데이터 분할 및 비교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822380" cy="3154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학습/시험 2단계 분할 vs 학습/검증/시험 3단계 층화 분할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25296"/>
            <a:ext cx="5084725" cy="166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>
                <a:solidFill>
                  <a:srgbClr val="475569"/>
                </a:solidFill>
                <a:latin typeface="Malgun Gothic"/>
              </a:defRPr>
            </a:pPr>
            <a:r>
              <a:rPr dirty="0"/>
              <a:t>핵심 질문: '검증 데이터(Validation Set)의 유무에 따라 결과가 어떻게 달라지는가?'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897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chart_slide3_split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960" y="1807560"/>
            <a:ext cx="5715000" cy="2936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0" y="1645920"/>
            <a:ext cx="4693615" cy="19019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931152" y="1814935"/>
            <a:ext cx="4370832" cy="988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DC2626"/>
                </a:solidFill>
                <a:latin typeface="Malgun Gothic"/>
              </a:defRPr>
            </a:pPr>
            <a:r>
              <a:rPr dirty="0"/>
              <a:t>방식 A: 학습/시험 (8:2) 2단계 분할 [정보유출 위험]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중간 검증셋이 없어 시험 데이터를 보며 파라미터 튜닝 수행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시험 데이터에 모델이 과도하게 맞춰지는 '정보 유출' 발생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겉보기 점수(F1 83.5%)만 높고 실전 투입 시 성능 급락(68.0%) 위험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721608"/>
            <a:ext cx="4693615" cy="190195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931152" y="3890623"/>
            <a:ext cx="4370832" cy="988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방식 B: 학습/검증/시험 (6:2:2) 3단계 분할 [★ 최종 채택]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3.4% 희소 고장 비율을 동일하게 배분하는 층화 분할(Stratified)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검증 세트로만 튜닝하고, 시험 세트는 최종 1회까지 엄격히 격리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시험 데이터 오염 없이 실전과 동일한 86.8% 일반화 성능 입증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79008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5868972"/>
            <a:ext cx="6538649" cy="4233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50000"/>
              </a:lnSpc>
              <a:defRPr sz="98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✔ [2단계 질문 답변]: 검증 데이터 없이 시험셋을 보며 튜닝하면 시험 점수만 과대평가되는 왜곡이 발생합니다.</a:t>
            </a:r>
            <a:br>
              <a:rPr dirty="0"/>
            </a:br>
            <a:r>
              <a:rPr dirty="0"/>
              <a:t>독립 검증 데이터를 분리해야만 시험 데이터를 오염시키지 않고 실전과 동일한 정직한 신뢰성을 검증할 수 있습니다.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5B7A4AF-5551-0815-285F-F05BD6BA6207}"/>
              </a:ext>
            </a:extLst>
          </p:cNvPr>
          <p:cNvGrpSpPr/>
          <p:nvPr/>
        </p:nvGrpSpPr>
        <p:grpSpPr>
          <a:xfrm>
            <a:off x="914400" y="4779072"/>
            <a:ext cx="5532120" cy="548640"/>
            <a:chOff x="914400" y="4845438"/>
            <a:chExt cx="5532120" cy="548640"/>
          </a:xfrm>
        </p:grpSpPr>
        <p:sp>
          <p:nvSpPr>
            <p:cNvPr id="19" name="Rounded Rectangle 8"/>
            <p:cNvSpPr/>
            <p:nvPr/>
          </p:nvSpPr>
          <p:spPr>
            <a:xfrm>
              <a:off x="914400" y="4845438"/>
              <a:ext cx="5532120" cy="548640"/>
            </a:xfrm>
            <a:prstGeom prst="roundRect">
              <a:avLst/>
            </a:prstGeom>
            <a:solidFill>
              <a:srgbClr val="F0FDFA"/>
            </a:solidFill>
            <a:ln w="12700">
              <a:solidFill>
                <a:srgbClr val="0D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5840" y="5046905"/>
              <a:ext cx="5094343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>
                <a:defRPr sz="950" b="1">
                  <a:solidFill>
                    <a:srgbClr val="0D9488"/>
                  </a:solidFill>
                  <a:latin typeface="Malgun Gothic"/>
                </a:defRPr>
              </a:pPr>
              <a:r>
                <a:rPr dirty="0"/>
                <a:t>💡 핵심 요약: 독립 검증셋을 엄격히 격리해야 시험셋 오염 없이 실전 성능(86.8%) 유지 가능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673809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4단계. 데이터 스케일링 비교 및 누수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790320" cy="3154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스케일러별 이상치 취약도 비교 및 학습 기준 단방향 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25296"/>
            <a:ext cx="6355907" cy="166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>
                <a:solidFill>
                  <a:srgbClr val="475569"/>
                </a:solidFill>
                <a:latin typeface="Malgun Gothic"/>
              </a:defRPr>
            </a:pPr>
            <a:r>
              <a:rPr dirty="0"/>
              <a:t>해결 목표: 센서별 물리 단위 차이를 해소하고 미래 데이터가 학습에 유출되는 데이터 누수를 원천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897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chart_slide4_scaler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5586" y="1807561"/>
            <a:ext cx="5715000" cy="29817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0" y="1645920"/>
            <a:ext cx="4693615" cy="190195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931152" y="1792812"/>
            <a:ext cx="4370832" cy="988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D97706"/>
                </a:solidFill>
                <a:latin typeface="Malgun Gothic"/>
              </a:defRPr>
            </a:pPr>
            <a:r>
              <a:rPr dirty="0"/>
              <a:t>1. 로버스트 스케일러(Robust) 선정 이유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최대최소(MinMax): 모터 급기동 토크 이상치에 정상 신호가 압축되어 왜곡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표준화(Standard): 극단 이상치가 평균과 분산 자체를 왜곡시키는 한계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로버스트(★ 선정): 중앙값과 IQR을 사용하여 이상치 노이즈를 완벽 방어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721608"/>
            <a:ext cx="4693615" cy="19019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931152" y="3868500"/>
            <a:ext cx="4370832" cy="988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2. 데이터 누수(Data Leakage) 차단 원칙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기준값 산출(fit): 오직 학습 데이터(Train 60%)에서만 계산하여 고정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변환 적용(transform): 검증셋과 시험셋은 학습 기준값으로 변환만 수행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전체 데이터에 먼저 스케일링을 거는 전형적인 코드 실수 원천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79008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6029773"/>
            <a:ext cx="9274975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019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✔ [4단계 결론]: 토크 이상치에 강한 로버스트 스케일러를 선정하고, 학습 데이터 중심의 단방향 변환을 엄격히 적용하여 데이터 누수를 완벽히 차단했습니다.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46A0A4A-A3E3-E3EC-F0E5-779DAC1DA23E}"/>
              </a:ext>
            </a:extLst>
          </p:cNvPr>
          <p:cNvGrpSpPr/>
          <p:nvPr/>
        </p:nvGrpSpPr>
        <p:grpSpPr>
          <a:xfrm>
            <a:off x="914400" y="4779563"/>
            <a:ext cx="5532120" cy="548640"/>
            <a:chOff x="914400" y="4956048"/>
            <a:chExt cx="5532120" cy="548640"/>
          </a:xfrm>
        </p:grpSpPr>
        <p:sp>
          <p:nvSpPr>
            <p:cNvPr id="22" name="Rounded Rectangle 8"/>
            <p:cNvSpPr/>
            <p:nvPr/>
          </p:nvSpPr>
          <p:spPr>
            <a:xfrm>
              <a:off x="914400" y="4956048"/>
              <a:ext cx="5532120" cy="548640"/>
            </a:xfrm>
            <a:prstGeom prst="roundRect">
              <a:avLst/>
            </a:prstGeom>
            <a:solidFill>
              <a:srgbClr val="FFFBEB"/>
            </a:solidFill>
            <a:ln w="12700">
              <a:solidFill>
                <a:srgbClr val="D9770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05840" y="5157271"/>
              <a:ext cx="5031827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>
                <a:defRPr sz="950" b="1">
                  <a:solidFill>
                    <a:srgbClr val="D97706"/>
                  </a:solidFill>
                  <a:latin typeface="Malgun Gothic"/>
                </a:defRPr>
              </a:pPr>
              <a:r>
                <a:rPr dirty="0"/>
                <a:t>💡 핵심 요약: 모터 토크 이상치 방어용 로버스트 스케일러 + 학습 데이터 기준 단방향 변환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6518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3단계. 하이퍼파라미터 조정 및 과적합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620402" cy="3154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랜덤 포레스트 트리 깊이 규제 및 최적 분류 임계값 도출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25296"/>
            <a:ext cx="4858702" cy="166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>
                <a:solidFill>
                  <a:srgbClr val="475569"/>
                </a:solidFill>
                <a:latin typeface="Malgun Gothic"/>
              </a:defRPr>
            </a:pPr>
            <a:r>
              <a:rPr dirty="0"/>
              <a:t>핵심 질문: '하이퍼파라미터 조정이 왜 필요한가?' (튜닝 파라미터 값 투명 공개)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897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chart_slide5_tuning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960" y="1741194"/>
            <a:ext cx="5715000" cy="2936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0" y="1645920"/>
            <a:ext cx="4693615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931152" y="1785438"/>
            <a:ext cx="4370832" cy="1235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1E3A8A"/>
                </a:solidFill>
                <a:latin typeface="Malgun Gothic"/>
              </a:defRPr>
            </a:pPr>
            <a:r>
              <a:rPr dirty="0"/>
              <a:t>1. 하이퍼파라미터 최적값 탐색 결과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적용 모델: 랜덤 포레스트 (Random Forest, 100 트리)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트리 최대 깊이(max_depth): [무제한] ➔ [10] 규제 (과적합 억제)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분류 결정 임계값(Threshold): [0.50] ➔ [0.35] 최적화 (재현율 극대화)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튜닝 기준: 검증 세트 F1-Score 및 고장 재현율 최적 균형점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721608"/>
            <a:ext cx="4693615" cy="19019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931152" y="3861126"/>
            <a:ext cx="4370832" cy="988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2. 하이퍼파라미터 튜닝 핵심 성과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[조정 전]: 깊이 무제한으로 학습 정확도 100% 암기 ➔ 고장 재현율 50.0%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[조정 후]: 깊이를 10으로 규제하고 임계값을 0.35로 최적화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[성과]: 고장 재현율 86.8% 달성 (+36.8%p 급증), F1-Score 0.868 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79008"/>
            <a:ext cx="10728655" cy="65836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68680" y="5896531"/>
            <a:ext cx="7003520" cy="4233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50000"/>
              </a:lnSpc>
              <a:defRPr sz="98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✔ [3단계 질문 답변]: 깊이 제한이 없으면 모델이 노이즈까지 외워버려 실전 고장을 놓치게 됩니다.</a:t>
            </a:r>
            <a:br>
              <a:rPr dirty="0"/>
            </a:br>
            <a:r>
              <a:rPr dirty="0"/>
              <a:t>검증셋을 통해 깊이를 10으로 규제하고 임계값을 0.35로 낮춤으로써 실전 고장 감지율을 50%에서 86.8%로 끌어올렸습니다.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43AE638-5A90-3278-58B4-D1D6A276B2E8}"/>
              </a:ext>
            </a:extLst>
          </p:cNvPr>
          <p:cNvGrpSpPr/>
          <p:nvPr/>
        </p:nvGrpSpPr>
        <p:grpSpPr>
          <a:xfrm>
            <a:off x="914400" y="4779804"/>
            <a:ext cx="5532120" cy="548640"/>
            <a:chOff x="914400" y="4956048"/>
            <a:chExt cx="5532120" cy="548640"/>
          </a:xfrm>
        </p:grpSpPr>
        <p:sp>
          <p:nvSpPr>
            <p:cNvPr id="19" name="Rounded Rectangle 8"/>
            <p:cNvSpPr/>
            <p:nvPr/>
          </p:nvSpPr>
          <p:spPr>
            <a:xfrm>
              <a:off x="914400" y="4956048"/>
              <a:ext cx="5532120" cy="548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05840" y="5157271"/>
              <a:ext cx="5245026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>
                <a:defRPr sz="950" b="1">
                  <a:solidFill>
                    <a:srgbClr val="1E3A8A"/>
                  </a:solidFill>
                  <a:latin typeface="Malgun Gothic"/>
                </a:defRPr>
              </a:pPr>
              <a:r>
                <a:rPr dirty="0"/>
                <a:t>💡 핵심 요약: 트리 깊이 10 규제로 과적합 차단 + 임계값 0.35 하향으로 재현율 +36.8%p 급증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384048"/>
            <a:ext cx="1072865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91879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5단계. 최종 성능 평가 및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07834" cy="3154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밀봉된 시험 데이터(Test Set) 1회 최종 검증 및 5대 미션 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25296"/>
            <a:ext cx="6421630" cy="166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>
                <a:solidFill>
                  <a:srgbClr val="475569"/>
                </a:solidFill>
                <a:latin typeface="Malgun Gothic"/>
              </a:defRPr>
            </a:pPr>
            <a:r>
              <a:rPr dirty="0"/>
              <a:t>유의사항 준수: 시험 데이터 2,000건은 모든 튜닝 종료 후 최종 1회만 블라인드 평가 (실측치 100% 일치)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897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chart_slide6_eval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" y="1677924"/>
            <a:ext cx="5715000" cy="29364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0" y="1645920"/>
            <a:ext cx="469361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903720" y="1700784"/>
            <a:ext cx="2609689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algun Gothic"/>
              </a:defRPr>
            </a:pPr>
            <a:r>
              <a:rPr dirty="0"/>
              <a:t>최종 시험 데이터 2,000건 블라인드 실측치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956816"/>
            <a:ext cx="1408176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295222" y="2065706"/>
            <a:ext cx="625171" cy="330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  <a:latin typeface="Malgun Gothic"/>
              </a:defRPr>
            </a:pPr>
            <a:r>
              <a:rPr dirty="0"/>
              <a:t>정확도 (Acc)</a:t>
            </a:r>
          </a:p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99.10%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1956816"/>
            <a:ext cx="1408176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756512" y="2065706"/>
            <a:ext cx="665247" cy="330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  <a:latin typeface="Malgun Gothic"/>
              </a:defRPr>
            </a:pPr>
            <a:r>
              <a:rPr dirty="0"/>
              <a:t>정밀도 (Prec)</a:t>
            </a:r>
          </a:p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86.76%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66376" y="1956816"/>
            <a:ext cx="1408176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0197766" y="2065706"/>
            <a:ext cx="745396" cy="330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  <a:latin typeface="Malgun Gothic"/>
              </a:defRPr>
            </a:pPr>
            <a:r>
              <a:rPr dirty="0"/>
              <a:t>재현율 (Recall)</a:t>
            </a:r>
          </a:p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86.76%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560320"/>
            <a:ext cx="2176272" cy="5486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344243" y="2669210"/>
            <a:ext cx="1295226" cy="330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  <a:latin typeface="Malgun Gothic"/>
              </a:defRPr>
            </a:pPr>
            <a:r>
              <a:rPr dirty="0"/>
              <a:t>종합 성능 지표 (F1-Score)</a:t>
            </a:r>
          </a:p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rPr dirty="0"/>
              <a:t>0.8676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2560320"/>
            <a:ext cx="2176272" cy="5486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653305" y="2669210"/>
            <a:ext cx="1194238" cy="330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850" b="1">
                <a:solidFill>
                  <a:srgbClr val="475569"/>
                </a:solidFill>
                <a:latin typeface="Malgun Gothic"/>
              </a:defRPr>
            </a:pPr>
            <a:r>
              <a:rPr dirty="0"/>
              <a:t>변별력 지표 (ROC-AUC)</a:t>
            </a:r>
          </a:p>
          <a:p>
            <a:pPr algn="ctr">
              <a:defRPr sz="1300" b="1">
                <a:solidFill>
                  <a:srgbClr val="0D9488"/>
                </a:solidFill>
                <a:latin typeface="Segoe UI"/>
              </a:defRPr>
            </a:pPr>
            <a:r>
              <a:rPr dirty="0"/>
              <a:t>0.9859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310128"/>
            <a:ext cx="4693615" cy="2313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931152" y="3414444"/>
            <a:ext cx="4370832" cy="1861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  <a:defRPr sz="1150" b="1">
                <a:solidFill>
                  <a:srgbClr val="0D9488"/>
                </a:solidFill>
                <a:latin typeface="Malgun Gothic"/>
              </a:defRPr>
            </a:pPr>
            <a:r>
              <a:rPr dirty="0"/>
              <a:t>5대 미션 완수 총괄 요약</a:t>
            </a: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sz="880" b="1" dirty="0">
                <a:solidFill>
                  <a:srgbClr val="0F172A"/>
                </a:solidFill>
              </a:rPr>
              <a:t>✔ 1단계 [문제 정의]: </a:t>
            </a:r>
            <a:r>
              <a:rPr sz="850" dirty="0">
                <a:solidFill>
                  <a:srgbClr val="475569"/>
                </a:solidFill>
              </a:rPr>
              <a:t>센서 5종 + 물리 특성 3종 정의, 예지보전 분류 확립</a:t>
            </a: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sz="880" b="1" dirty="0">
                <a:solidFill>
                  <a:srgbClr val="0F172A"/>
                </a:solidFill>
              </a:rPr>
              <a:t>✔ 2단계 [분할 비교]: </a:t>
            </a:r>
            <a:r>
              <a:rPr sz="850" dirty="0">
                <a:solidFill>
                  <a:srgbClr val="475569"/>
                </a:solidFill>
              </a:rPr>
              <a:t>3단계 층화 분할(6:2:2)로 독립 검증 데이터의 필요성 입증</a:t>
            </a: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sz="880" b="1" dirty="0">
                <a:solidFill>
                  <a:srgbClr val="0F172A"/>
                </a:solidFill>
              </a:rPr>
              <a:t>✔ 3단계 [파라미터]: </a:t>
            </a:r>
            <a:r>
              <a:rPr sz="850" dirty="0">
                <a:solidFill>
                  <a:srgbClr val="475569"/>
                </a:solidFill>
              </a:rPr>
              <a:t>트리 깊이(10) 규제 및 임계값(0.35)으로 재현율 86.8% 확보</a:t>
            </a: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sz="880" b="1" dirty="0">
                <a:solidFill>
                  <a:srgbClr val="0F172A"/>
                </a:solidFill>
              </a:rPr>
              <a:t>✔ 4단계 [스케일링]: </a:t>
            </a:r>
            <a:r>
              <a:rPr sz="850" dirty="0">
                <a:solidFill>
                  <a:srgbClr val="475569"/>
                </a:solidFill>
              </a:rPr>
              <a:t>로버스트 스케일링 및 단방향 변환으로 누수 차단</a:t>
            </a:r>
          </a:p>
          <a:p>
            <a:pPr>
              <a:lnSpc>
                <a:spcPct val="200000"/>
              </a:lnSpc>
              <a:spcBef>
                <a:spcPts val="300"/>
              </a:spcBef>
            </a:pPr>
            <a:r>
              <a:rPr sz="880" b="1" dirty="0">
                <a:solidFill>
                  <a:srgbClr val="0F172A"/>
                </a:solidFill>
              </a:rPr>
              <a:t>✔ 5단계 [최종 검증]: </a:t>
            </a:r>
            <a:r>
              <a:rPr sz="850" dirty="0">
                <a:solidFill>
                  <a:srgbClr val="475569"/>
                </a:solidFill>
              </a:rPr>
              <a:t>시험셋 단 1회 블라인드 평가로 실측치 100% 일치 실증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79008"/>
            <a:ext cx="10728655" cy="6583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123880" y="6019706"/>
            <a:ext cx="5943935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경청해 주셔서 감사합니다. 질의응답 받겠습니다.  |  충북대학교 산업인공지능학과 진찬언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EFBF741-515A-955A-A46E-CBADD349C4D2}"/>
              </a:ext>
            </a:extLst>
          </p:cNvPr>
          <p:cNvGrpSpPr/>
          <p:nvPr/>
        </p:nvGrpSpPr>
        <p:grpSpPr>
          <a:xfrm>
            <a:off x="914400" y="4780788"/>
            <a:ext cx="5532120" cy="548640"/>
            <a:chOff x="914400" y="4956048"/>
            <a:chExt cx="5532120" cy="548640"/>
          </a:xfrm>
        </p:grpSpPr>
        <p:sp>
          <p:nvSpPr>
            <p:cNvPr id="29" name="Rounded Rectangle 8"/>
            <p:cNvSpPr/>
            <p:nvPr/>
          </p:nvSpPr>
          <p:spPr>
            <a:xfrm>
              <a:off x="914400" y="4956048"/>
              <a:ext cx="5532120" cy="548640"/>
            </a:xfrm>
            <a:prstGeom prst="roundRect">
              <a:avLst/>
            </a:prstGeom>
            <a:solidFill>
              <a:srgbClr val="F0FDFA"/>
            </a:solidFill>
            <a:ln w="12700">
              <a:solidFill>
                <a:srgbClr val="0D94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05840" y="5157271"/>
              <a:ext cx="4573368" cy="14619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>
                <a:defRPr sz="950" b="1">
                  <a:solidFill>
                    <a:srgbClr val="0D9488"/>
                  </a:solidFill>
                  <a:latin typeface="Malgun Gothic"/>
                </a:defRPr>
              </a:pPr>
              <a:r>
                <a:rPr dirty="0"/>
                <a:t>💡 최종 실적: 실제 고장 68건 중 59건 적중 (재현율 86.8%, ROC-AUC 0.986 달성)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1142</Words>
  <Application>Microsoft Office PowerPoint</Application>
  <PresentationFormat>와이드스크린</PresentationFormat>
  <Paragraphs>88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wlscksdjs@gmail.com</cp:lastModifiedBy>
  <cp:revision>2</cp:revision>
  <dcterms:created xsi:type="dcterms:W3CDTF">2013-01-27T09:14:16Z</dcterms:created>
  <dcterms:modified xsi:type="dcterms:W3CDTF">2026-09-14T14:06:08Z</dcterms:modified>
  <cp:category/>
</cp:coreProperties>
</file>