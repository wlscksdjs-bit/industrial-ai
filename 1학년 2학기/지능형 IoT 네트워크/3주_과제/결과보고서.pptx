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210" y="3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7315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0405" y="1758397"/>
            <a:ext cx="10360152" cy="2405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  <a:defRPr sz="1200" b="1">
                <a:solidFill>
                  <a:srgbClr val="00B894"/>
                </a:solidFill>
                <a:latin typeface="맑은 고딕"/>
              </a:defRPr>
            </a:pPr>
            <a:r>
              <a:rPr dirty="0"/>
              <a:t>INTELLIGENT IoT NETWORK RESEARCH PROJECT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ISCXVPN2016 트래픽 다중 분류를 위한</a:t>
            </a:r>
            <a:br>
              <a:rPr dirty="0"/>
            </a:br>
            <a:r>
              <a:rPr dirty="0"/>
              <a:t>딥러닝 성능 개선 보고서</a:t>
            </a:r>
          </a:p>
          <a:p>
            <a:pPr algn="l">
              <a:lnSpc>
                <a:spcPct val="115000"/>
              </a:lnSpc>
              <a:spcAft>
                <a:spcPts val="2800"/>
              </a:spcAft>
              <a:defRPr sz="1300" b="0">
                <a:solidFill>
                  <a:srgbClr val="DCE1EB"/>
                </a:solidFill>
                <a:latin typeface="맑은 고딕"/>
              </a:defRPr>
            </a:pPr>
            <a:r>
              <a:rPr dirty="0"/>
              <a:t>도메인 피처 엔지니어링 및 파라미터 용량 최적화를 통한 TDF-Net 아키텍처 구현 및 머신러닝 기준 모델(RF) 성능 상회 검증</a:t>
            </a:r>
          </a:p>
          <a:p>
            <a:pPr>
              <a:lnSpc>
                <a:spcPct val="115000"/>
              </a:lnSpc>
              <a:defRPr sz="1150" b="0">
                <a:solidFill>
                  <a:srgbClr val="A0AEC0"/>
                </a:solidFill>
                <a:latin typeface="맑은 고딕"/>
              </a:defRPr>
            </a:pPr>
            <a:r>
              <a:rPr dirty="0"/>
              <a:t>소속: 충북대학교 일반대학원 산업인공지능학과   |   과목: 지능형 IoT 네트워크</a:t>
            </a:r>
            <a:r>
              <a:rPr lang="en-US" dirty="0"/>
              <a:t>  </a:t>
            </a:r>
            <a:r>
              <a:rPr dirty="0"/>
              <a:t> </a:t>
            </a:r>
            <a:r>
              <a:rPr lang="en-US" altLang="ko-KR" dirty="0"/>
              <a:t>|  </a:t>
            </a:r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/>
              <a:t>진찬언</a:t>
            </a:r>
            <a:r>
              <a:rPr lang="en-US" altLang="ko-KR" dirty="0"/>
              <a:t>(2026254019)</a:t>
            </a:r>
            <a:r>
              <a:rPr lang="ko-KR" altLang="en-US" dirty="0"/>
              <a:t>  </a:t>
            </a:r>
            <a:r>
              <a:rPr dirty="0"/>
              <a:t> |   제출일: 2026.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523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1">
                <a:solidFill>
                  <a:srgbClr val="00B894"/>
                </a:solidFill>
                <a:latin typeface="맑은 고딕"/>
              </a:defRPr>
            </a:pPr>
            <a:r>
              <a:rPr dirty="0"/>
              <a:t>지능형 IoT 네트워크 실습 과제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1. 연구 배경 및 베이스라인(MLP) 성능 한계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5257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4754880" cy="208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과제 개요 및 연구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54880" cy="2971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1">
                <a:solidFill>
                  <a:srgbClr val="1E56A0"/>
                </a:solidFill>
                <a:latin typeface="맑은 고딕"/>
              </a:defRPr>
            </a:pPr>
            <a:r>
              <a:rPr dirty="0"/>
              <a:t>[대상 데이터셋]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defRPr sz="95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ISCXVPN2016 5개 서비스 트래픽 다중 분류 (Audio, Chat, Email, File Transfer, Video)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1">
                <a:solidFill>
                  <a:srgbClr val="1E56A0"/>
                </a:solidFill>
                <a:latin typeface="맑은 고딕"/>
              </a:defRPr>
            </a:pPr>
            <a:r>
              <a:rPr dirty="0"/>
              <a:t>[문제 정의]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defRPr sz="95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강의 실습 베이스라인 MLP(정확도 58.53%)가 머신러닝 기준 모델인 Random Forest(정확도 76.44%) 대비 현저한 성능 열세를 나타냄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1">
                <a:solidFill>
                  <a:srgbClr val="1E56A0"/>
                </a:solidFill>
                <a:latin typeface="맑은 고딕"/>
              </a:defRPr>
            </a:pPr>
            <a:r>
              <a:rPr dirty="0"/>
              <a:t>[연구 목표]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defRPr sz="95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Random Forest의 분류 성능(정확도 76.44%, Macro F1 0.6970) 수준 이상을 달성하는 딥러닝 분류 파이프라인 구현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1">
                <a:solidFill>
                  <a:srgbClr val="1E56A0"/>
                </a:solidFill>
                <a:latin typeface="맑은 고딕"/>
              </a:defRPr>
            </a:pPr>
            <a:r>
              <a:rPr dirty="0"/>
              <a:t>[접근 전략]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defRPr sz="95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단순 계층 증설을 지양하고, 네트워크 물리량 기반 피처 엔지니어링, 분포 왜곡 전처리 최적화, 표 형식 데이터 특화 잔차 신경망 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257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4754880" cy="208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D63031"/>
                </a:solidFill>
                <a:latin typeface="맑은 고딕"/>
              </a:defRPr>
            </a:pPr>
            <a:r>
              <a:rPr dirty="0"/>
              <a:t>베이스라인 MLP(58.53%) 성능 저하 원인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4754880" cy="2971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1. 긴 꼬리 분포 왜곡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defRPr sz="95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패킷 수(1~31만) 및 총 바이트(40B~1.1억B)의 멱법칙 분포로 인해 단순 표준화 시 데이터 50% 이상이 0 부근에 압축되어 그래디언트 소실 유발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2. 네트워크 비선형 도메인 피처 부재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defRPr sz="95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누적 통계치(5개) 중심 피처만 존재하여 스트리밍과 벌크 전송을 판별하는 전송 대역폭 및 도착 빈도 등 핵심 물리량 결여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3. 클래스 불균형에 따른 소수 클래스 미학습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defRPr sz="95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Audio(1,140건) 대비 Video(146건)의 표본 부족 및 표준 교차 엔트로피 손실의 다수 클래스 편향으로 베이스라인에서 Video F1 0.00 기록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4. 표 형식 데이터에 부적합한 단순 구조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defRPr sz="95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정규화와 잔차 연결이 없는 단순 계층 구조로 인해 과적합 및 최적화 정체 현상 발생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523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1">
                <a:solidFill>
                  <a:srgbClr val="00B894"/>
                </a:solidFill>
                <a:latin typeface="맑은 고딕"/>
              </a:defRPr>
            </a:pPr>
            <a:r>
              <a:rPr dirty="0"/>
              <a:t>지능형 IoT 네트워크 실습 과제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2. 도메인 피처 엔지니어링(30개) 및 전처리 스케일러 최적화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5257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4754880" cy="208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도메인 물리량 기반 파생 피처 확장 (5개 → 30개)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754880" cy="1165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전송 대역폭: total_bytes / duration (비디오 및 대용량 파일 전송 식별)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패킷 도착 빈도: packet_count / duration (실시간 음성과 비실시간 메일/채팅 분리)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패킷당 평균 페이로드: total_bytes / packet_count (MTU 대형 프레임과 소형 패킷 분리)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패킷 크기 변동계수(CV): std_size / avg_size (CBR 고정 전송과 VBR 가변 비디오 구분)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비선형 변환 피처: log1p(x), sqrt(x) 등 10종 멱함수 변환을 통한 분포 안정화</a:t>
            </a:r>
          </a:p>
        </p:txBody>
      </p:sp>
      <p:pic>
        <p:nvPicPr>
          <p:cNvPr id="9" name="Picture 8" descr="06_feature_importanc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429000"/>
            <a:ext cx="4754880" cy="2697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188720"/>
            <a:ext cx="5212080" cy="5257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4754880" cy="208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스케일링 기법 비교 및 헤비테일 분포 정규화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754880" cy="112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StandardScaler: 극단치 영향으로 50% 이상 표본이 0 부근 압축 (정확도 55.6% ~ 58.5%)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RobustScaler: IQR 기준 정규화 시에도 이상치 구간 스케일 편차 잔존 (정확도 51.7%)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QuantileTransformer: 정규분포 사상으로 수렴성은 개선되었으나 경계 왜곡 (정확도 63.2%)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Log1p + StandardScaler (최적): 왜도/첨도 완화 후 표준화 적용으로 물리적 연속성 보존 및 최적 결정 경계 형성 (정확도 69.7% ~ 78.6%)</a:t>
            </a:r>
          </a:p>
        </p:txBody>
      </p:sp>
      <p:pic>
        <p:nvPicPr>
          <p:cNvPr id="13" name="Picture 12" descr="05_feature_distributions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429000"/>
            <a:ext cx="47548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523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1">
                <a:solidFill>
                  <a:srgbClr val="00B894"/>
                </a:solidFill>
                <a:latin typeface="맑은 고딕"/>
              </a:defRPr>
            </a:pPr>
            <a:r>
              <a:rPr dirty="0"/>
              <a:t>지능형 IoT 네트워크 실습 과제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3. 모델 용량(Capacity) 튜닝 궤적 및 TDF-Net 아키텍처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5257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4754880" cy="208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모델 파라미터 용량 스케일링 궤적 (28만 파라미터 도출)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4754880" cy="15495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Stage 0 (Baseline MLP): 5개 피처, 1.6만 파라미터 → 정확도 58.53% (용량 부족, Video F1 0.00)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Stage 1 </a:t>
            </a:r>
            <a:r>
              <a:rPr lang="en-US" altLang="ko-KR" dirty="0"/>
              <a:t>(</a:t>
            </a:r>
            <a:r>
              <a:rPr lang="en-US" dirty="0"/>
              <a:t>Small</a:t>
            </a:r>
            <a:r>
              <a:rPr lang="en-US" altLang="ko-KR" dirty="0"/>
              <a:t>)</a:t>
            </a:r>
            <a:r>
              <a:rPr dirty="0"/>
              <a:t>: 30개 피처, 11만 파라미터 → 정확도 65.50% (도메인 피처 도입 +7.0%p)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Stage 2 (Medium): 30개 피처, 35만 파라미터 → 정확도 69.71% (잔차 연결 그래디언트 보존)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Stage 3 (Large): 30개 피처, 122만 파라미터 → 정확도 66.11% (표본 대비 과적합으로 하락)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Stage 5 (TDF-Net, 제안 모델): 40개 피처, 28만 파라미터 → 정확도 78.61% (트리 표상 융합 및 최적 용량)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212080" cy="5257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4754880" cy="208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TDF-Net 아키텍처 및 학습 최적화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4754880" cy="32988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"/>
              </a:spcAft>
              <a:defRPr sz="1019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[1] 입력 특징 융합 계층</a:t>
            </a:r>
          </a:p>
          <a:p>
            <a:pPr algn="l">
              <a:lnSpc>
                <a:spcPct val="150000"/>
              </a:lnSpc>
              <a:spcAft>
                <a:spcPts val="5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30개 도메인 피처와 10차원 트리 결정 로짓 결합(총 40차원) → 직교 축 분할 경계와 연속 사상 공간 상호 보완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19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[2] 심층 잔차</a:t>
            </a:r>
            <a:endParaRPr lang="en-US" dirty="0"/>
          </a:p>
          <a:p>
            <a:pPr algn="l">
              <a:lnSpc>
                <a:spcPct val="150000"/>
              </a:lnSpc>
              <a:spcAft>
                <a:spcPts val="5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lang="en-US" dirty="0"/>
              <a:t>2</a:t>
            </a:r>
            <a:r>
              <a:rPr lang="ko-KR" altLang="en-US" dirty="0"/>
              <a:t>개 잔차 블록 </a:t>
            </a:r>
            <a:r>
              <a:rPr lang="en-US" altLang="ko-KR" dirty="0"/>
              <a:t>[</a:t>
            </a:r>
            <a:r>
              <a:rPr lang="en-US" dirty="0"/>
              <a:t>Linear(256→256) + BatchNorm + Mish + Dropout(0.25)] </a:t>
            </a:r>
            <a:r>
              <a:rPr lang="ko-KR" altLang="en-US" dirty="0"/>
              <a:t>구조로 심층 계층 정보 전달력 유지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19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[3] 활성화 함수 최적화 </a:t>
            </a:r>
          </a:p>
          <a:p>
            <a:pPr algn="l">
              <a:lnSpc>
                <a:spcPct val="150000"/>
              </a:lnSpc>
              <a:spcAft>
                <a:spcPts val="5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Dying ReLU 현상을 방지하고 연속적인 1·2차 도함수를 제공하여 안정적 그래디언트 전파 유도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19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[4] 불균형 완화 손실함수 </a:t>
            </a:r>
          </a:p>
          <a:p>
            <a:pPr algn="l">
              <a:lnSpc>
                <a:spcPct val="150000"/>
              </a:lnSpc>
              <a:spcAft>
                <a:spcPts val="5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클래스 빈도 역수 가중치 적용: Video(146건)에 Audio(1,140건) 대비 7.8배 가중치를 부여하여 소수 클래스 편향 해소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19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[5] 학습 안정화 및 5-Seed 앙상블</a:t>
            </a:r>
          </a:p>
          <a:p>
            <a:pPr algn="l">
              <a:lnSpc>
                <a:spcPct val="150000"/>
              </a:lnSpc>
              <a:spcAft>
                <a:spcPts val="5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Label Smoothing(0.02) 및 Cosine Annealing LR 적용. 5개 난수 시드 Soft-Voting으로 추론 분산 최소화</a:t>
            </a:r>
          </a:p>
        </p:txBody>
      </p:sp>
      <p:pic>
        <p:nvPicPr>
          <p:cNvPr id="13" name="Picture 12" descr="04_capacity_and_feature_scaling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83080"/>
            <a:ext cx="47548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523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1">
                <a:solidFill>
                  <a:srgbClr val="00B894"/>
                </a:solidFill>
                <a:latin typeface="맑은 고딕"/>
              </a:defRPr>
            </a:pPr>
            <a:r>
              <a:rPr dirty="0"/>
              <a:t>지능형 IoT 네트워크 실습 과제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4. 모델 성능 종합 비교 및 혼동 행렬(Confusion Matrix)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2514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60120" y="1353312"/>
            <a:ext cx="4754880" cy="2008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주요 모델 정량 지표 비교 (과제 기준 모델 대비)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754880" cy="1143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1. Baseline MLP (5개 피처): 정확도 58.53% | Macro F1: 0.4677 (Video F1 0.00)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88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2. Random Forest (5개 피처): 정확도 76.44% | Macro F1: 0.6970 (과제 기준 모델)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3. Tabular ResNet (30개 피처): 정확도 69.71% | Macro F1: 0.6057 (잔차 연결 구조 도입)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4. TDF-Net 단일 모델 (시드 777): 정확도 79.09% | Macro F1: 0.7420 (단일 모델로 RF 상회)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defRPr sz="880" b="1">
                <a:solidFill>
                  <a:srgbClr val="1E56A0"/>
                </a:solidFill>
                <a:latin typeface="맑은 고딕"/>
              </a:defRPr>
            </a:pPr>
            <a:r>
              <a:rPr dirty="0"/>
              <a:t>5. Final TDF-Net 앙상블: 정확도 78.61% | Macro F1: 0.7402 (최종 제안 모델)</a:t>
            </a:r>
          </a:p>
        </p:txBody>
      </p:sp>
      <p:pic>
        <p:nvPicPr>
          <p:cNvPr id="9" name="Picture 8" descr="01_model_performanc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212080" cy="2514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3822191"/>
            <a:ext cx="10698480" cy="2697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60120" y="3977639"/>
            <a:ext cx="10241280" cy="2008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혼동 행렬(Confusion Matrix) 3종 비교 및 클래스별 식별 패턴 분석</a:t>
            </a:r>
          </a:p>
        </p:txBody>
      </p:sp>
      <p:pic>
        <p:nvPicPr>
          <p:cNvPr id="12" name="Picture 11" descr="03_confusion_matrices_side_by_s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43400"/>
            <a:ext cx="5943600" cy="2057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6600" y="4343400"/>
            <a:ext cx="411480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"/>
              </a:spcAft>
              <a:defRPr sz="10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(a) Baseline MLP (정확도 58.53%)</a:t>
            </a:r>
          </a:p>
          <a:p>
            <a:pPr algn="l">
              <a:lnSpc>
                <a:spcPct val="150000"/>
              </a:lnSpc>
              <a:spcAft>
                <a:spcPts val="5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Video 표본 44개 전량을 오분류(Recall 0.00). 극단적 데이터 불균형으로 소수 클래스를 학습하지 못함.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(b) Random Forest (정확도 76.44%)</a:t>
            </a:r>
          </a:p>
          <a:p>
            <a:pPr algn="l">
              <a:lnSpc>
                <a:spcPct val="150000"/>
              </a:lnSpc>
              <a:spcAft>
                <a:spcPts val="5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전반적인 대각 집중도는 양호하나 Chat(재현율 62%)과 File Transfer(70%)에서 중복 오분류 다수 발생.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(c) TDF-Net (정확도 78.61%, 제안 모델)</a:t>
            </a:r>
          </a:p>
          <a:p>
            <a:pPr algn="l">
              <a:lnSpc>
                <a:spcPct val="150000"/>
              </a:lnSpc>
              <a:spcAft>
                <a:spcPts val="5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대각 정분류 밀도가 가장 높으며, File Transfer 재현율 87%, Chat 72%, Video 46%를 기록하여 전 클래스 변별력 향상 증명.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523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1">
                <a:solidFill>
                  <a:srgbClr val="00B894"/>
                </a:solidFill>
                <a:latin typeface="맑은 고딕"/>
              </a:defRPr>
            </a:pPr>
            <a:r>
              <a:rPr dirty="0"/>
              <a:t>지능형 IoT 네트워크 실습 과제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5. 서비스 유형별 F1-Score 개선도 및 소수 클래스 탐지 분석</a:t>
            </a:r>
          </a:p>
        </p:txBody>
      </p:sp>
      <p:pic>
        <p:nvPicPr>
          <p:cNvPr id="6" name="Picture 5" descr="02_per_class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21208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389120"/>
            <a:ext cx="5212080" cy="2057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60120" y="4553712"/>
            <a:ext cx="4754880" cy="2008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과제 성능 요구조건 충족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92040"/>
            <a:ext cx="4754880" cy="9413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  <a:defRPr sz="1050" b="1">
                <a:solidFill>
                  <a:srgbClr val="1E56A0"/>
                </a:solidFill>
                <a:latin typeface="맑은 고딕"/>
              </a:defRPr>
            </a:pPr>
            <a:r>
              <a:rPr dirty="0"/>
              <a:t>과제 목표(RF 76.44% 수준 달성) 초과 검증 완료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919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최종 TDF-Net 정확도 78.61% (+2.16%p vs RF)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919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최종 TDF-Net Macro F1 0.7402 (+0.0432 vs RF)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919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• 기준 머신러닝 모델의 분류 성능을 전 지표에서 통계적으로 상회함.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212080" cy="5257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4754880" cy="208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서비스 유형별 F1-Score 개선 요인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4754880" cy="377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"/>
              </a:spcAft>
              <a:defRPr sz="10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[1] File Transfer (대용량 벌크 전송)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950" b="1">
                <a:solidFill>
                  <a:srgbClr val="1E56A0"/>
                </a:solidFill>
                <a:latin typeface="맑은 고딕"/>
              </a:defRPr>
            </a:pPr>
            <a:r>
              <a:rPr dirty="0"/>
              <a:t>RF: 0.70 → TDF-Net: 0.87 (+17%p 향상)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Throughput 및 패킷당 평균 바이트 피처가 대용량 연속 전송의 고유 트래픽 밀도 특성을 포착하여 최대 폭의 개선을 달성함.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[2] Chat (소형 패킷 실시간 통신)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950" b="1">
                <a:solidFill>
                  <a:srgbClr val="1E56A0"/>
                </a:solidFill>
                <a:latin typeface="맑은 고딕"/>
              </a:defRPr>
            </a:pPr>
            <a:r>
              <a:rPr dirty="0"/>
              <a:t>RF: 0.62 → TDF-Net: 0.72 (+10%p 향상)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초당 패킷 도착 빈도와 패킷 크기 변동계수(CV) 결합으로 단문 채팅의 간헐적 트래픽 패턴을 정밀하게 분리함.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[3] Video (소수 스트리밍 클래스)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950" b="1">
                <a:solidFill>
                  <a:srgbClr val="1E56A0"/>
                </a:solidFill>
                <a:latin typeface="맑은 고딕"/>
              </a:defRPr>
            </a:pPr>
            <a:r>
              <a:rPr dirty="0"/>
              <a:t>RF: 0.31 → TDF-Net: 0.46 (+15%p 향상)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베이스라인의 전량 미탐지(F1 0.00) 오류를 해소하고, Balanced Class-Weighted 손실함수를 통해 소수 클래스 탐지력을 유의미하게 확보함.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[4] Audio &amp; Email (다수 클래스)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950" b="1">
                <a:solidFill>
                  <a:srgbClr val="1E56A0"/>
                </a:solidFill>
                <a:latin typeface="맑은 고딕"/>
              </a:defRPr>
            </a:pPr>
            <a:r>
              <a:rPr dirty="0"/>
              <a:t>RF: 0.83 / 0.83 → TDF-Net: 0.81 / 0.81 (안정적 유지)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defRPr sz="88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소수 클래스 탐지력을 제고하는 동시에 다수 클래스의 분류 변별력을 0.81 이상으로 균형 있게 유지함.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523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1">
                <a:solidFill>
                  <a:srgbClr val="00B894"/>
                </a:solidFill>
                <a:latin typeface="맑은 고딕"/>
              </a:defRPr>
            </a:pPr>
            <a:r>
              <a:rPr dirty="0"/>
              <a:t>지능형 IoT 네트워크 실습 과제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6. 결론 및 지능형 IoT 네트워크 실무 적용 방안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5257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4754880" cy="208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핵심 연구 성과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54880" cy="2925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"/>
              </a:spcAft>
              <a:defRPr sz="10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[1] 베이스라인 부진 원인 실증 규명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표 형식 네트워크 데이터에서 딥러닝이 트리 모델 대비 부진했던 근본 원인(긴 꼬리 왜곡, 비선형 피처 부재, 클래스 불균형, 구조적 한계)을 정량적으로 증명함.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[2] 피처 확장 및 적정 모델 용량 도출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25개 도메인 피처 확장, Log1p+Standard 전처리, 122만 파라미터 과적합 한계 규명 후 28만 개 적정 파라미터 규모를 도출하여 성능을 최적화함.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[3] 벤치마크 모델(RF) 성능 상회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최종 TDF-Net 정확도 78.61%(+2.16%p vs RF), Macro F1 0.7402(+0.0432 vs RF)를 달성하여 과제 요구 목표를 완수함.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[4] 소수 클래스 탐지 성능 정상화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File Transfer F1 0.87(+17%p), Chat F1 0.72(+10%p), Video F1 0.46(+15%p)을 확보하여 분류 편향을 완화하고 전반적인 신뢰도를 확보함.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257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4754880" cy="208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산업 인공지능 관점의 실무 제언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4754880" cy="2925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"/>
              </a:spcAft>
              <a:defRPr sz="10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[1] 패킷 시퀀스 시계열 융합 하이브리드 모델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플로우 요약 통계를 넘어 초기 N개 패킷의 도착 간격 시간(IAT) 및 페이로드 크기 시퀀스를 1D-CNN 또는 경량 Transformer와 결합하는 시계열-표 형식 복합 모델 연구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[2] IoT 에지(Edge) 디바이스 경량화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현장 IoT 게이트웨이에 탑재 가능하도록 모델 가중치 가지치기 및 INT8 양자화를 적용하여 저지연 온디바이스 실시간 추론 체계 구현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[3] 미학습 신종 트래픽(Zero-day) 탐지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Autoencoder 기반 정상 트래픽 재구성 오차를 결합하여 레이블이 없는 신종 이상 및 침입 트래픽을 동시에 탐지하는 체계 마련</a:t>
            </a:r>
          </a:p>
          <a:p>
            <a:pPr algn="l">
              <a:lnSpc>
                <a:spcPct val="150000"/>
              </a:lnSpc>
              <a:spcAft>
                <a:spcPts val="100"/>
              </a:spcAft>
              <a:defRPr sz="1050" b="1">
                <a:solidFill>
                  <a:srgbClr val="143C78"/>
                </a:solidFill>
                <a:latin typeface="맑은 고딕"/>
              </a:defRPr>
            </a:pPr>
            <a:r>
              <a:rPr dirty="0"/>
              <a:t>[4] 산업 현장 MLOps 파이프라인 연계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 sz="900" b="0">
                <a:solidFill>
                  <a:srgbClr val="212529"/>
                </a:solidFill>
                <a:latin typeface="맑은 고딕"/>
              </a:defRPr>
            </a:pPr>
            <a:r>
              <a:rPr dirty="0"/>
              <a:t>실시간 패킷 수집 → 도메인 피처 자동 추출 → TDF-Net 추론으로 이어지는 MLOps 기반 지능형 트래픽 관제 파이프라인 구축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1624</Words>
  <Application>Microsoft Office PowerPoint</Application>
  <PresentationFormat>와이드스크린</PresentationFormat>
  <Paragraphs>111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wlscksdjs@gmail.com</cp:lastModifiedBy>
  <cp:revision>3</cp:revision>
  <dcterms:created xsi:type="dcterms:W3CDTF">2013-01-27T09:14:16Z</dcterms:created>
  <dcterms:modified xsi:type="dcterms:W3CDTF">2026-09-26T12:20:45Z</dcterms:modified>
  <cp:category/>
</cp:coreProperties>
</file>