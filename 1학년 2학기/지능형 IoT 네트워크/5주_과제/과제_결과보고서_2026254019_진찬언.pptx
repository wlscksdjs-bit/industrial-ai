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645920" cy="365760"/>
          </a:xfrm>
          <a:prstGeom prst="roundRect">
            <a:avLst/>
          </a:prstGeom>
          <a:solidFill>
            <a:srgbClr val="1E3A8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MQTT IoT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Malgun Gothic"/>
              </a:defRPr>
            </a:pPr>
            <a:r>
              <a:t>MQTT 기반 실시간 설비 이상 알람 서비스</a:t>
            </a:r>
            <a:br/>
            <a:r>
              <a:t>구현 및 검증 결과보고서</a:t>
            </a:r>
          </a:p>
          <a:p>
            <a:pPr>
              <a:defRPr sz="1600">
                <a:solidFill>
                  <a:srgbClr val="94A3B8"/>
                </a:solidFill>
                <a:latin typeface="Malgun Gothic"/>
              </a:defRPr>
            </a:pPr>
            <a:r>
              <a:t>Pub/Sub 텔레메트리 수집 · 선형회귀 잔차 이상탐지 · 상태 전이 제어 · Retained Health · LWT Will 메시지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38912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6B6D4"/>
                </a:solidFill>
                <a:latin typeface="Malgun Gothic"/>
              </a:defRPr>
            </a:pPr>
            <a:r>
              <a:t>과제 수행자 정보</a:t>
            </a:r>
          </a:p>
          <a:p>
            <a:pPr>
              <a:defRPr sz="1300">
                <a:solidFill>
                  <a:srgbClr val="F8FAFC"/>
                </a:solidFill>
                <a:latin typeface="Malgun Gothic"/>
              </a:defRPr>
            </a:pPr>
            <a:r>
              <a:t>소속: 충북대학교 일반대학원 산업인공지능학과 (2학기)   |   과목: 지능형 IoT 네트워크 (5주차 과제)</a:t>
            </a:r>
          </a:p>
          <a:p>
            <a:pPr>
              <a:defRPr sz="1300">
                <a:solidFill>
                  <a:srgbClr val="94A3B8"/>
                </a:solidFill>
                <a:latin typeface="Malgun Gothic"/>
              </a:defRPr>
            </a:pPr>
            <a:r>
              <a:t>성명: 진찬언   |   학번: 2026254019   |   제출일자: 2026년 9월 30일   |   MQTT USER_ID: 2026254019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Malgun Gothic"/>
              </a:defRPr>
            </a:pPr>
            <a:r>
              <a:t>지능형 IOT 네트워크 5주차 과제 결과보고서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Malgun Gothic"/>
              </a:defRPr>
            </a:pPr>
            <a:r>
              <a:t>1. 시스템 아키텍처 및 프로세스 구성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28416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B82F6"/>
                </a:solidFill>
                <a:latin typeface="Malgun Gothic"/>
              </a:defRPr>
            </a:pPr>
            <a:r>
              <a:t>센서 시뮬레이터 (Simulator)</a:t>
            </a:r>
          </a:p>
          <a:p>
            <a:pPr>
              <a:defRPr sz="1200">
                <a:solidFill>
                  <a:srgbClr val="F8FAFC"/>
                </a:solidFill>
                <a:latin typeface="Malgun Gothic"/>
              </a:defRPr>
            </a:pPr>
            <a:r>
              <a:t>파일: sensor_simulator.py</a:t>
            </a:r>
          </a:p>
          <a:p>
            <a:pPr>
              <a:defRPr sz="1200">
                <a:solidFill>
                  <a:srgbClr val="F8FAFC"/>
                </a:solidFill>
                <a:latin typeface="Malgun Gothic"/>
              </a:defRPr>
            </a:pPr>
            <a:r>
              <a:t>역할: 프레스 1호기(press01)의 3채널 센서 텔레메트리 데이터 실시간 생성 및 발행</a:t>
            </a:r>
          </a:p>
          <a:p>
            <a:pPr>
              <a:defRPr sz="1200">
                <a:solidFill>
                  <a:srgbClr val="F8FAFC"/>
                </a:solidFill>
                <a:latin typeface="Malgun Gothic"/>
              </a:defRPr>
            </a:pPr>
            <a:r>
              <a:t>채널 구성: 전류(current), 온도(temp), 진동(vib_rms)</a:t>
            </a:r>
          </a:p>
          <a:p>
            <a:pPr>
              <a:defRPr sz="1200">
                <a:solidFill>
                  <a:srgbClr val="F8FAFC"/>
                </a:solidFill>
                <a:latin typeface="Malgun Gothic"/>
              </a:defRPr>
            </a:pPr>
            <a:r>
              <a:t>동작 모드:</a:t>
            </a:r>
          </a:p>
          <a:p>
            <a:pPr>
              <a:defRPr sz="1200">
                <a:solidFill>
                  <a:srgbClr val="F8FAFC"/>
                </a:solidFill>
                <a:latin typeface="Malgun Gothic"/>
              </a:defRPr>
            </a:pPr>
            <a:r>
              <a:t> - quick 모드: 10 Hz, 900개 샘플 (학습 300, 이상 4건, 약 1.5분)</a:t>
            </a:r>
          </a:p>
          <a:p>
            <a:pPr>
              <a:defRPr sz="1200">
                <a:solidFill>
                  <a:srgbClr val="F8FAFC"/>
                </a:solidFill>
                <a:latin typeface="Malgun Gothic"/>
              </a:defRPr>
            </a:pPr>
            <a:r>
              <a:t> - full 모드: 5 Hz, 3,000개 샘플 (학습 600, 이상 12건, 약 10분)</a:t>
            </a:r>
          </a:p>
          <a:p>
            <a:pPr>
              <a:defRPr sz="1200">
                <a:solidFill>
                  <a:srgbClr val="F8FAFC"/>
                </a:solidFill>
                <a:latin typeface="Malgun Gothic"/>
              </a:defRPr>
            </a:pPr>
            <a:r>
              <a:t>신호 프로토콜:</a:t>
            </a:r>
          </a:p>
          <a:p>
            <a:pPr>
              <a:defRPr sz="1200">
                <a:solidFill>
                  <a:srgbClr val="F8FAFC"/>
                </a:solidFill>
                <a:latin typeface="Malgun Gothic"/>
              </a:defRPr>
            </a:pPr>
            <a:r>
              <a:t> - START / END 이벤트 토픽 발행 (sim)</a:t>
            </a:r>
          </a:p>
          <a:p>
            <a:pPr>
              <a:defRPr sz="1200">
                <a:solidFill>
                  <a:srgbClr val="F8FAFC"/>
                </a:solidFill>
                <a:latin typeface="Malgun Gothic"/>
              </a:defRPr>
            </a:pPr>
            <a:r>
              <a:t> - ground_truth.json 정답 파일 자동 생성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  <a:latin typeface="Malgun Gothic"/>
              </a:defRPr>
            </a:pPr>
            <a:r>
              <a:t>알람 서비스 (Alarm Service)</a:t>
            </a:r>
          </a:p>
          <a:p>
            <a:pPr>
              <a:defRPr sz="1200">
                <a:solidFill>
                  <a:srgbClr val="F8FAFC"/>
                </a:solidFill>
                <a:latin typeface="Malgun Gothic"/>
              </a:defRPr>
            </a:pPr>
            <a:r>
              <a:t>파일: alarm_service.py (과제 핵심 구현)</a:t>
            </a:r>
          </a:p>
          <a:p>
            <a:pPr>
              <a:defRPr sz="1200">
                <a:solidFill>
                  <a:srgbClr val="F8FAFC"/>
                </a:solidFill>
                <a:latin typeface="Malgun Gothic"/>
              </a:defRPr>
            </a:pPr>
            <a:r>
              <a:t>역할: 텔레메트리 수신, 이상 판정, 상태 전이 관리, 알람 및 생명주기 관리</a:t>
            </a:r>
          </a:p>
          <a:p>
            <a:pPr>
              <a:defRPr sz="1200">
                <a:solidFill>
                  <a:srgbClr val="F8FAFC"/>
                </a:solidFill>
                <a:latin typeface="Malgun Gothic"/>
              </a:defRPr>
            </a:pPr>
            <a:r>
              <a:t>TODO 1: telemetry, sim 신호 QoS 1 구독</a:t>
            </a:r>
          </a:p>
          <a:p>
            <a:pPr>
              <a:defRPr sz="1200">
                <a:solidFill>
                  <a:srgbClr val="F8FAFC"/>
                </a:solidFill>
                <a:latin typeface="Malgun Gothic"/>
              </a:defRPr>
            </a:pPr>
            <a:r>
              <a:t>TODO 2: NORMAL ↔ ALARM 2상태 전이 머신 (CLEAR_COUNT=10 회복 필터링)</a:t>
            </a:r>
          </a:p>
          <a:p>
            <a:pPr>
              <a:defRPr sz="1200">
                <a:solidFill>
                  <a:srgbClr val="F8FAFC"/>
                </a:solidFill>
                <a:latin typeface="Malgun Gothic"/>
              </a:defRPr>
            </a:pPr>
            <a:r>
              <a:t>TODO 3: 유형별 알람 발행 (alarm/{type}, QoS 1)</a:t>
            </a:r>
          </a:p>
          <a:p>
            <a:pPr>
              <a:defRPr sz="1200">
                <a:solidFill>
                  <a:srgbClr val="F8FAFC"/>
                </a:solidFill>
                <a:latin typeface="Malgun Gothic"/>
              </a:defRPr>
            </a:pPr>
            <a:r>
              <a:t>TODO 4: 설비 건강도 Retained 발행 (health)</a:t>
            </a:r>
          </a:p>
          <a:p>
            <a:pPr>
              <a:defRPr sz="1200">
                <a:solidFill>
                  <a:srgbClr val="F8FAFC"/>
                </a:solidFill>
                <a:latin typeface="Malgun Gothic"/>
              </a:defRPr>
            </a:pPr>
            <a:r>
              <a:t>TODO 5: 서비스 ONLINE 발행 및 비정상 종료 대비 LWT OFFLINE Will 등록</a:t>
            </a:r>
          </a:p>
          <a:p>
            <a:pPr>
              <a:defRPr sz="1200">
                <a:solidFill>
                  <a:srgbClr val="F8FAFC"/>
                </a:solidFill>
                <a:latin typeface="Malgun Gothic"/>
              </a:defRPr>
            </a:pPr>
            <a:r>
              <a:t>연동: anomaly_model.py (선형회귀 모델)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645920"/>
            <a:ext cx="3328416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  <a:latin typeface="Malgun Gothic"/>
              </a:defRPr>
            </a:pPr>
            <a:r>
              <a:t>검사기 및 모니터 (Inspector)</a:t>
            </a:r>
          </a:p>
          <a:p>
            <a:pPr>
              <a:defRPr sz="1200">
                <a:solidFill>
                  <a:srgbClr val="F8FAFC"/>
                </a:solidFill>
                <a:latin typeface="Malgun Gothic"/>
              </a:defRPr>
            </a:pPr>
            <a:r>
              <a:t>파일: check_alarms.py / watch_alarms.py</a:t>
            </a:r>
          </a:p>
          <a:p>
            <a:pPr>
              <a:defRPr sz="1200">
                <a:solidFill>
                  <a:srgbClr val="F8FAFC"/>
                </a:solidFill>
                <a:latin typeface="Malgun Gothic"/>
              </a:defRPr>
            </a:pPr>
            <a:r>
              <a:t>역할: 브로커를 통한 알람 서비스 무결성 자동 검증 및 실시간 관제 모니터링</a:t>
            </a:r>
          </a:p>
          <a:p>
            <a:pPr>
              <a:defRPr sz="1200">
                <a:solidFill>
                  <a:srgbClr val="F8FAFC"/>
                </a:solidFill>
                <a:latin typeface="Malgun Gothic"/>
              </a:defRPr>
            </a:pPr>
            <a:r>
              <a:t>검사 항목 8대 평가:</a:t>
            </a:r>
          </a:p>
          <a:p>
            <a:pPr>
              <a:defRPr sz="1200">
                <a:solidFill>
                  <a:srgbClr val="F8FAFC"/>
                </a:solidFill>
                <a:latin typeface="Malgun Gothic"/>
              </a:defRPr>
            </a:pPr>
            <a:r>
              <a:t> [1] 알람 토픽 계층 및 type 일치</a:t>
            </a:r>
          </a:p>
          <a:p>
            <a:pPr>
              <a:defRPr sz="1200">
                <a:solidFill>
                  <a:srgbClr val="F8FAFC"/>
                </a:solidFill>
                <a:latin typeface="Malgun Gothic"/>
              </a:defRPr>
            </a:pPr>
            <a:r>
              <a:t> [2] 페이로드 필수 필드 (seq, ts, type, score)</a:t>
            </a:r>
          </a:p>
          <a:p>
            <a:pPr>
              <a:defRPr sz="1200">
                <a:solidFill>
                  <a:srgbClr val="F8FAFC"/>
                </a:solidFill>
                <a:latin typeface="Malgun Gothic"/>
              </a:defRPr>
            </a:pPr>
            <a:r>
              <a:t> [3] 알람 QoS 1 보장 여부</a:t>
            </a:r>
          </a:p>
          <a:p>
            <a:pPr>
              <a:defRPr sz="1200">
                <a:solidFill>
                  <a:srgbClr val="F8FAFC"/>
                </a:solidFill>
                <a:latin typeface="Malgun Gothic"/>
              </a:defRPr>
            </a:pPr>
            <a:r>
              <a:t> [4] 12개 이상 이벤트 탐지율 (11건 이상)</a:t>
            </a:r>
          </a:p>
          <a:p>
            <a:pPr>
              <a:defRPr sz="1200">
                <a:solidFill>
                  <a:srgbClr val="F8FAFC"/>
                </a:solidFill>
                <a:latin typeface="Malgun Gothic"/>
              </a:defRPr>
            </a:pPr>
            <a:r>
              <a:t> [5] 이벤트당 알람 1건 (중복 방지)</a:t>
            </a:r>
          </a:p>
          <a:p>
            <a:pPr>
              <a:defRPr sz="1200">
                <a:solidFill>
                  <a:srgbClr val="F8FAFC"/>
                </a:solidFill>
                <a:latin typeface="Malgun Gothic"/>
              </a:defRPr>
            </a:pPr>
            <a:r>
              <a:t> [6] Retained health 상태 보관</a:t>
            </a:r>
          </a:p>
          <a:p>
            <a:pPr>
              <a:defRPr sz="1200">
                <a:solidFill>
                  <a:srgbClr val="F8FAFC"/>
                </a:solidFill>
                <a:latin typeface="Malgun Gothic"/>
              </a:defRPr>
            </a:pPr>
            <a:r>
              <a:t> [7] Retained status ONLINE 보관</a:t>
            </a:r>
          </a:p>
          <a:p>
            <a:pPr>
              <a:defRPr sz="1200">
                <a:solidFill>
                  <a:srgbClr val="F8FAFC"/>
                </a:solidFill>
                <a:latin typeface="Malgun Gothic"/>
              </a:defRPr>
            </a:pPr>
            <a:r>
              <a:t> [8] LWT OFFLINE 대리 발행 검증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Malgun Gothic"/>
              </a:defRPr>
            </a:pPr>
            <a:r>
              <a:t>지능형 IOT 네트워크 5주차 과제 결과보고서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Malgun Gothic"/>
              </a:defRPr>
            </a:pPr>
            <a:r>
              <a:t>2. MQTT 토픽 설계 및 4대 설비 이상 사양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621792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6B6D4"/>
                </a:solidFill>
              </a:defRPr>
            </a:pPr>
            <a:r>
              <a:t>MQTT 토픽 계층 및 메시지 통신 명세</a:t>
            </a:r>
          </a:p>
          <a:p>
            <a:pPr>
              <a:defRPr sz="1100">
                <a:solidFill>
                  <a:srgbClr val="F8FAFC"/>
                </a:solidFill>
                <a:latin typeface="Malgun Gothic"/>
              </a:defRPr>
            </a:pPr>
            <a:r>
              <a:t>• Root Prefix: 2026254019/factory/line1/</a:t>
            </a:r>
          </a:p>
          <a:p>
            <a:pPr>
              <a:defRPr sz="1100">
                <a:solidFill>
                  <a:srgbClr val="F8FAFC"/>
                </a:solidFill>
                <a:latin typeface="Malgun Gothic"/>
              </a:defRPr>
            </a:pPr>
            <a:r>
              <a:t>-------------------------------------------------------------------</a:t>
            </a:r>
          </a:p>
          <a:p>
            <a:pPr>
              <a:defRPr sz="1100">
                <a:solidFill>
                  <a:srgbClr val="F8FAFC"/>
                </a:solidFill>
                <a:latin typeface="Malgun Gothic"/>
              </a:defRPr>
            </a:pPr>
            <a:r>
              <a:t>1. 센서 텔레메트리 (Sub)</a:t>
            </a: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r>
              <a:t>   - 토픽: .../press01/telemetry</a:t>
            </a: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r>
              <a:t>   - 주기: 5Hz (0.2s), QoS 1</a:t>
            </a: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r>
              <a:t>   - 필드: {seq, ts, temp, vib_rms, current}</a:t>
            </a:r>
          </a:p>
          <a:p>
            <a:pPr>
              <a:defRPr sz="1100">
                <a:solidFill>
                  <a:srgbClr val="F8FAFC"/>
                </a:solidFill>
                <a:latin typeface="Malgun Gothic"/>
              </a:defRPr>
            </a:pPr>
            <a:r>
              <a:t>2. 시뮬레이터 제어 (Sub)</a:t>
            </a: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r>
              <a:t>   - 토픽: .../press01/sim</a:t>
            </a: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r>
              <a:t>   - 필드: {event: 'START'|'END', n_warmup, ...}</a:t>
            </a:r>
          </a:p>
          <a:p>
            <a:pPr>
              <a:defRPr sz="1100">
                <a:solidFill>
                  <a:srgbClr val="F8FAFC"/>
                </a:solidFill>
                <a:latin typeface="Malgun Gothic"/>
              </a:defRPr>
            </a:pPr>
            <a:r>
              <a:t>3. 이상 알람 (Pub)</a:t>
            </a: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r>
              <a:t>   - 토픽: .../press01/alarm/{유형} (spike|drift|vib_noise|stuck)</a:t>
            </a: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r>
              <a:t>   - 조건: NORMAL → ALARM 전이 시 1회, QoS 1, retain=False</a:t>
            </a: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r>
              <a:t>   - 필드: {seq, ts, type, score}</a:t>
            </a:r>
          </a:p>
          <a:p>
            <a:pPr>
              <a:defRPr sz="1100">
                <a:solidFill>
                  <a:srgbClr val="F8FAFC"/>
                </a:solidFill>
                <a:latin typeface="Malgun Gothic"/>
              </a:defRPr>
            </a:pPr>
            <a:r>
              <a:t>4. 설비 상태 (Pub)</a:t>
            </a: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r>
              <a:t>   - 토픽: .../press01/health, QoS 1, retain=True</a:t>
            </a: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r>
              <a:t>   - 필드: {state: 'NORMAL'|'ALARM', type, seq}</a:t>
            </a:r>
          </a:p>
          <a:p>
            <a:pPr>
              <a:defRPr sz="1100">
                <a:solidFill>
                  <a:srgbClr val="F8FAFC"/>
                </a:solidFill>
                <a:latin typeface="Malgun Gothic"/>
              </a:defRPr>
            </a:pPr>
            <a:r>
              <a:t>5. 알람 서비스 생명주기 (Pub)</a:t>
            </a: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r>
              <a:t>   - 토픽: .../alarm_service/status, QoS 1, retain=True</a:t>
            </a:r>
          </a:p>
          <a:p>
            <a:pPr>
              <a:defRPr sz="1100">
                <a:solidFill>
                  <a:srgbClr val="F8FAFC"/>
                </a:solidFill>
                <a:latin typeface="Consolas"/>
              </a:defRPr>
            </a:pPr>
            <a:r>
              <a:t>   - 메시지: {service: 'alarm_service', status: 'ONLINE'|'OFFLINE'}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1645920"/>
            <a:ext cx="4236415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4대 설비 이상 유형 및 판정 메커니즘</a:t>
            </a:r>
          </a:p>
          <a:p>
            <a:pPr>
              <a:defRPr sz="1300" b="1">
                <a:solidFill>
                  <a:srgbClr val="06B6D4"/>
                </a:solidFill>
                <a:latin typeface="Malgun Gothic"/>
              </a:defRPr>
            </a:pPr>
            <a:r>
              <a:t>■ spike (순간 충격)</a:t>
            </a:r>
          </a:p>
          <a:p>
            <a:pPr>
              <a:defRPr sz="1100">
                <a:solidFill>
                  <a:srgbClr val="F8FAFC"/>
                </a:solidFill>
                <a:latin typeface="Malgun Gothic"/>
              </a:defRPr>
            </a:pPr>
            <a:r>
              <a:t>이물 충격 또는 순간 과부하 발생 시 진동 잔차(vib_res)가 16 표준편차를 초과하는 순간 이상 감지</a:t>
            </a:r>
          </a:p>
          <a:p>
            <a:pPr>
              <a:defRPr sz="1300" b="1">
                <a:solidFill>
                  <a:srgbClr val="06B6D4"/>
                </a:solidFill>
                <a:latin typeface="Malgun Gothic"/>
              </a:defRPr>
            </a:pPr>
            <a:r>
              <a:t>■ drift (온도 점진 상승)</a:t>
            </a:r>
          </a:p>
          <a:p>
            <a:pPr>
              <a:defRPr sz="1100">
                <a:solidFill>
                  <a:srgbClr val="F8FAFC"/>
                </a:solidFill>
                <a:latin typeface="Malgun Gothic"/>
              </a:defRPr>
            </a:pPr>
            <a:r>
              <a:t>베어링 과열 진행 등으로 인해 온도 잔차(temp_res)가 5 표준편차를 초과하여 지속 상승할 때 감지</a:t>
            </a:r>
          </a:p>
          <a:p>
            <a:pPr>
              <a:defRPr sz="1300" b="1">
                <a:solidFill>
                  <a:srgbClr val="06B6D4"/>
                </a:solidFill>
                <a:latin typeface="Malgun Gothic"/>
              </a:defRPr>
            </a:pPr>
            <a:r>
              <a:t>■ vib_noise (체결부 풀림)</a:t>
            </a:r>
          </a:p>
          <a:p>
            <a:pPr>
              <a:defRPr sz="1100">
                <a:solidFill>
                  <a:srgbClr val="F8FAFC"/>
                </a:solidFill>
                <a:latin typeface="Malgun Gothic"/>
              </a:defRPr>
            </a:pPr>
            <a:r>
              <a:t>볼트/너트 등 체결부 풀림으로 최근 15개 윈도우의 진동 잔차 산포(vib_spread)가 정상 대비 2.5배 초과 시 감지</a:t>
            </a:r>
          </a:p>
          <a:p>
            <a:pPr>
              <a:defRPr sz="1300" b="1">
                <a:solidFill>
                  <a:srgbClr val="06B6D4"/>
                </a:solidFill>
                <a:latin typeface="Malgun Gothic"/>
              </a:defRPr>
            </a:pPr>
            <a:r>
              <a:t>■ stuck (센서 고착)</a:t>
            </a:r>
          </a:p>
          <a:p>
            <a:pPr>
              <a:defRPr sz="1100">
                <a:solidFill>
                  <a:srgbClr val="F8FAFC"/>
                </a:solidFill>
                <a:latin typeface="Malgun Gothic"/>
              </a:defRPr>
            </a:pPr>
            <a:r>
              <a:t>온도 센서 하드웨어 고착으로 최근 15개 윈도우의 온도 표준편차 비율이 0.15 미만으로 극도로 고정될 때 감지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Malgun Gothic"/>
              </a:defRPr>
            </a:pPr>
            <a:r>
              <a:t>지능형 IOT 네트워크 5주차 과제 결과보고서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Malgun Gothic"/>
              </a:defRPr>
            </a:pPr>
            <a:r>
              <a:t>3. 알람 서비스(alarm_service.py) 핵심 구현 상세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75504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  <a:latin typeface="Malgun Gothic"/>
              </a:defRPr>
            </a:pPr>
            <a:r>
              <a:t>TODO 1: 신호 구독 (Step 1 Pub/Sub)</a:t>
            </a:r>
          </a:p>
          <a:p>
            <a:pPr>
              <a:defRPr sz="1000">
                <a:solidFill>
                  <a:srgbClr val="F8FAFC"/>
                </a:solidFill>
                <a:latin typeface="Consolas"/>
              </a:defRPr>
            </a:pPr>
            <a:r>
              <a:t>client.subscribe([(TOPIC_TELEMETRY, 1), (TOPIC_SIM, 1)])</a:t>
            </a:r>
            <a:br/>
            <a:r>
              <a:t>- on_connect 콜백에서 센서 텔레메트리와 시뮬레이터 제어 신호를 QoS 1로 동시 구독</a:t>
            </a:r>
            <a:br/>
            <a:r>
              <a:t>- 브로커 재연결 시에도 구독 관계가 자동으로 안전하게 갱신되도록 처리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4" y="1645920"/>
            <a:ext cx="5175504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  <a:latin typeface="Malgun Gothic"/>
              </a:defRPr>
            </a:pPr>
            <a:r>
              <a:t>TODO 2: 상태 전이 머신 (State Machine)</a:t>
            </a:r>
          </a:p>
          <a:p>
            <a:pPr>
              <a:defRPr sz="1000">
                <a:solidFill>
                  <a:srgbClr val="F8FAFC"/>
                </a:solidFill>
                <a:latin typeface="Consolas"/>
              </a:defRPr>
            </a:pPr>
            <a:r>
              <a:t>if result['anomaly']:</a:t>
            </a:r>
            <a:br/>
            <a:r>
              <a:t>    normal_run = 0</a:t>
            </a:r>
            <a:br/>
            <a:r>
              <a:t>    if state == 'NORMAL': state = 'ALARM'; 알람 및 health 발행</a:t>
            </a:r>
            <a:br/>
            <a:r>
              <a:t>else:</a:t>
            </a:r>
            <a:br/>
            <a:r>
              <a:t>    normal_run += 1</a:t>
            </a:r>
            <a:br/>
            <a:r>
              <a:t>    if state == 'ALARM' and normal_run &gt;= 10: state = 'NORMAL'; health 복귀</a:t>
            </a:r>
            <a:br/>
            <a:r>
              <a:t>- ALARM 지속 중 중복 알람 차단 및 CLEAR_COUNT=10 히스테리시스 복귀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175504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  <a:latin typeface="Malgun Gothic"/>
              </a:defRPr>
            </a:pPr>
            <a:r>
              <a:t>TODO 3: 토픽 계층 알람 발행 (Step 2)</a:t>
            </a:r>
          </a:p>
          <a:p>
            <a:pPr>
              <a:defRPr sz="1000">
                <a:solidFill>
                  <a:srgbClr val="F8FAFC"/>
                </a:solidFill>
                <a:latin typeface="Consolas"/>
              </a:defRPr>
            </a:pPr>
            <a:r>
              <a:t>topic = f"{TOPIC_ALARM}/{result['type']}"</a:t>
            </a:r>
            <a:br/>
            <a:r>
              <a:t>payload = {'seq': sample['seq'], 'ts': sample['ts'],</a:t>
            </a:r>
            <a:br/>
            <a:r>
              <a:t>           'type': result['type'], 'score': result['score']}</a:t>
            </a:r>
            <a:br/>
            <a:r>
              <a:t>client.publish(topic, json.dumps(payload), qos=1)</a:t>
            </a:r>
            <a:br/>
            <a:r>
              <a:t>- 이상 유형별 서브 토픽에 페이로드와 일치하는 type 및 메타데이터를 QoS 1로 발행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4023360"/>
            <a:ext cx="5175504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  <a:latin typeface="Malgun Gothic"/>
              </a:defRPr>
            </a:pPr>
            <a:r>
              <a:t>TODO 4: Retained 상태 동기화 (Step 3)</a:t>
            </a:r>
          </a:p>
          <a:p>
            <a:pPr>
              <a:defRPr sz="1000">
                <a:solidFill>
                  <a:srgbClr val="F8FAFC"/>
                </a:solidFill>
                <a:latin typeface="Consolas"/>
              </a:defRPr>
            </a:pPr>
            <a:r>
              <a:t>payload = {'state': state_value, 'type': anomaly_type, 'seq': seq}</a:t>
            </a:r>
            <a:br/>
            <a:r>
              <a:t>client.publish(TOPIC_HEALTH, json.dumps(payload), qos=1, retain=True)</a:t>
            </a:r>
            <a:br/>
            <a:r>
              <a:t>- 설비의 최신 건강 상태를 브로커에 보관(retain=True)하여 신규/지연 접속 관제 화면이 즉시 최신 상태를 파악할 수 있도록 보장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6217920"/>
            <a:ext cx="10716768" cy="50292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6B6D4"/>
                </a:solidFill>
                <a:latin typeface="Consolas"/>
              </a:defRPr>
            </a:pPr>
            <a:r>
              <a:t>TODO 5 (LWT 생명주기): client.will_set(TOPIC_STATUS, OFFLINE, qos=1, retain=True) → connect() → publish(ONLINE, retain=True) 등록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Malgun Gothic"/>
              </a:defRPr>
            </a:pPr>
            <a:r>
              <a:t>지능형 IOT 네트워크 5주차 과제 결과보고서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Malgun Gothic"/>
              </a:defRPr>
            </a:pPr>
            <a:r>
              <a:t>4. 과제 분석 질문 답변 (Q1 &amp; Q2)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Q1. 관제 화면에서 stuck 알람만 받으려면, 그리고 모든 유형의 알람을 받으려면 각각 어떤 토픽 필터를 구독해야 하는가?</a:t>
            </a:r>
          </a:p>
          <a:p>
            <a:pPr>
              <a:defRPr sz="1050">
                <a:solidFill>
                  <a:srgbClr val="F8FAFC"/>
                </a:solidFill>
                <a:latin typeface="Malgun Gothic"/>
              </a:defRPr>
            </a:pPr>
            <a:r>
              <a:t>1. stuck 알람만 선별 수신하는 경우 (특정 단일 토픽 직접 지정):</a:t>
            </a:r>
          </a:p>
          <a:p>
            <a:pPr>
              <a:defRPr sz="1050">
                <a:solidFill>
                  <a:srgbClr val="F8FAFC"/>
                </a:solidFill>
                <a:latin typeface="Malgun Gothic"/>
              </a:defRPr>
            </a:pPr>
            <a:r>
              <a:t>   - 구독 토픽: 2026254019/factory/line1/press01/alarm/stuck</a:t>
            </a:r>
          </a:p>
          <a:p>
            <a:pPr>
              <a:defRPr sz="1050">
                <a:solidFill>
                  <a:srgbClr val="F8FAFC"/>
                </a:solidFill>
                <a:latin typeface="Malgun Gothic"/>
              </a:defRPr>
            </a:pPr>
            <a:r>
              <a:t>   - 원리: 토픽 계층의 마지막 리프 레벨을 'stuck'으로 명시함으로써, 브로커가 다른 이상 유형(spike, drift, vib_noise)은 배제하고 온도 센서 고착 알람만 정확히 라우팅하여 전달합니다.</a:t>
            </a:r>
          </a:p>
          <a:p>
            <a:pPr>
              <a:defRPr sz="1050">
                <a:solidFill>
                  <a:srgbClr val="F8FAFC"/>
                </a:solidFill>
                <a:latin typeface="Malgun Gothic"/>
              </a:defRPr>
            </a:pPr>
            <a:r>
              <a:t>2. 모든 유형의 알람을 수신하는 경우 (와일드카드 활용):</a:t>
            </a:r>
          </a:p>
          <a:p>
            <a:pPr>
              <a:defRPr sz="1050">
                <a:solidFill>
                  <a:srgbClr val="F8FAFC"/>
                </a:solidFill>
                <a:latin typeface="Malgun Gothic"/>
              </a:defRPr>
            </a:pPr>
            <a:r>
              <a:t>   - 단일 레벨 와일드카드 (+): 2026254019/factory/line1/press01/alarm/+</a:t>
            </a:r>
          </a:p>
          <a:p>
            <a:pPr>
              <a:defRPr sz="1050">
                <a:solidFill>
                  <a:srgbClr val="F8FAFC"/>
                </a:solidFill>
                <a:latin typeface="Malgun Gothic"/>
              </a:defRPr>
            </a:pPr>
            <a:r>
              <a:t>   - 다중 레벨 와일드카드 (#): 2026254019/factory/line1/press01/alarm/# (또는 라인 전체 2026254019/factory/line1/#)</a:t>
            </a:r>
          </a:p>
          <a:p>
            <a:pPr>
              <a:defRPr sz="1050">
                <a:solidFill>
                  <a:srgbClr val="F8FAFC"/>
                </a:solidFill>
                <a:latin typeface="Malgun Gothic"/>
              </a:defRPr>
            </a:pPr>
            <a:r>
              <a:t>   - 원리: '+'는 단일 계층의 모든 토픽에 매칭되므로 alarm 바로 하위에 위치한 4대 이상 유형(spike, drift, vib_noise, stuck)을 모두 빠짐없이 수신합니다.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10728655" cy="237744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Q2. health를 retain 없이 발행하면, 이상 발생 후 늦게 켜진 관제 화면에서 어떤 문제가 생기는가?</a:t>
            </a:r>
          </a:p>
          <a:p>
            <a:pPr>
              <a:defRPr sz="1050">
                <a:solidFill>
                  <a:srgbClr val="F8FAFC"/>
                </a:solidFill>
                <a:latin typeface="Malgun Gothic"/>
              </a:defRPr>
            </a:pPr>
            <a:r>
              <a:t>1. 설비 상태 '암전(Blind Spot)' 발생 (가장 치명적인 문제):</a:t>
            </a:r>
          </a:p>
          <a:p>
            <a:pPr>
              <a:defRPr sz="1050">
                <a:solidFill>
                  <a:srgbClr val="F8FAFC"/>
                </a:solidFill>
                <a:latin typeface="Malgun Gothic"/>
              </a:defRPr>
            </a:pPr>
            <a:r>
              <a:t>   - retain=False로 발행된 메시지는 발행 순간 접속 중이던 클라이언트에게만 전달되고 브로커에 저장되지 않습니다.</a:t>
            </a:r>
          </a:p>
          <a:p>
            <a:pPr>
              <a:defRPr sz="1050">
                <a:solidFill>
                  <a:srgbClr val="F8FAFC"/>
                </a:solidFill>
                <a:latin typeface="Malgun Gothic"/>
              </a:defRPr>
            </a:pPr>
            <a:r>
              <a:t>   - 따라서 설비에 이상(ALARM)이 이미 발생한 뒤 늦게 가동되거나 재부팅된 관제 화면은 다음 상태 변화가 발생할 때까지 현재 설비 상태를 전혀 수신하지 못하는 정보 공백 상태에 빠집니다.</a:t>
            </a:r>
          </a:p>
          <a:p>
            <a:pPr>
              <a:defRPr sz="1050">
                <a:solidFill>
                  <a:srgbClr val="F8FAFC"/>
                </a:solidFill>
                <a:latin typeface="Malgun Gothic"/>
              </a:defRPr>
            </a:pPr>
            <a:r>
              <a:t>2. 안전사고 및 긴급 대응 골든타임 상실:</a:t>
            </a:r>
          </a:p>
          <a:p>
            <a:pPr>
              <a:defRPr sz="1050">
                <a:solidFill>
                  <a:srgbClr val="F8FAFC"/>
                </a:solidFill>
                <a:latin typeface="Malgun Gothic"/>
              </a:defRPr>
            </a:pPr>
            <a:r>
              <a:t>   - 현장 관제사는 설비가 정상(NORMAL) 가동 중인 것으로 잘못 인지하여 설비 파손이나 안전사고에 대한 긴급 조치 시점을 놓치게 됩니다.</a:t>
            </a:r>
          </a:p>
          <a:p>
            <a:pPr>
              <a:defRPr sz="1050">
                <a:solidFill>
                  <a:srgbClr val="F8FAFC"/>
                </a:solidFill>
                <a:latin typeface="Malgun Gothic"/>
              </a:defRPr>
            </a:pPr>
            <a:r>
              <a:t>3. 불필요한 Polling 오버헤드 유발:</a:t>
            </a:r>
          </a:p>
          <a:p>
            <a:pPr>
              <a:defRPr sz="1050">
                <a:solidFill>
                  <a:srgbClr val="F8FAFC"/>
                </a:solidFill>
                <a:latin typeface="Malgun Gothic"/>
              </a:defRPr>
            </a:pPr>
            <a:r>
              <a:t>   - Retained 메시지가 없다면 클라이언트는 현재 상태를 알기 위해 별도의 Request-Response API를 호출하거나 주기적으로 브로커에 상태를 질의해야 하므로 네트워크 및 시스템 리소스가 낭비됩니다.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Malgun Gothic"/>
              </a:defRPr>
            </a:pPr>
            <a:r>
              <a:t>지능형 IOT 네트워크 5주차 과제 결과보고서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Malgun Gothic"/>
              </a:defRPr>
            </a:pPr>
            <a:r>
              <a:t>5. 과제 분석 질문 답변 (Q3 &amp; Q4)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Q3. 알람에 QoS 0 대신 QoS 1을 사용하는 이유는 무엇인가?</a:t>
            </a:r>
          </a:p>
          <a:p>
            <a:pPr>
              <a:defRPr sz="1050">
                <a:solidFill>
                  <a:srgbClr val="F8FAFC"/>
                </a:solidFill>
                <a:latin typeface="Malgun Gothic"/>
              </a:defRPr>
            </a:pPr>
            <a:r>
              <a:t>1. 알람 메시지의 치명성과 무손실 보장 (Zero Loss Tolerance):</a:t>
            </a:r>
          </a:p>
          <a:p>
            <a:pPr>
              <a:defRPr sz="1050">
                <a:solidFill>
                  <a:srgbClr val="F8FAFC"/>
                </a:solidFill>
                <a:latin typeface="Malgun Gothic"/>
              </a:defRPr>
            </a:pPr>
            <a:r>
              <a:t>   - 주기적으로 연속 발행되는 센서 텔레메트리(5Hz)는 1~2개 패킷이 유실되어도 다음 샘플이 즉시 들어오므로 치명적이지 않습니다.</a:t>
            </a:r>
          </a:p>
          <a:p>
            <a:pPr>
              <a:defRPr sz="1050">
                <a:solidFill>
                  <a:srgbClr val="F8FAFC"/>
                </a:solidFill>
                <a:latin typeface="Malgun Gothic"/>
              </a:defRPr>
            </a:pPr>
            <a:r>
              <a:t>   - 반면 설비 이상 알람은 이상 발생 시 단 1회 발행되는 이벤트성 핵심 신호입니다. 이 알람 1건이 유실되면 설비 과열 전소나 대형 화재로 직결됩니다.</a:t>
            </a:r>
          </a:p>
          <a:p>
            <a:pPr>
              <a:defRPr sz="1050">
                <a:solidFill>
                  <a:srgbClr val="F8FAFC"/>
                </a:solidFill>
                <a:latin typeface="Malgun Gothic"/>
              </a:defRPr>
            </a:pPr>
            <a:r>
              <a:t>2. 산업용 무선 환경의 패킷 드롭 극복 (PUBACK 핸드셰이크):</a:t>
            </a:r>
          </a:p>
          <a:p>
            <a:pPr>
              <a:defRPr sz="1050">
                <a:solidFill>
                  <a:srgbClr val="F8FAFC"/>
                </a:solidFill>
                <a:latin typeface="Malgun Gothic"/>
              </a:defRPr>
            </a:pPr>
            <a:r>
              <a:t>   - 공장 환경은 대형 모터 기동 시의 EMI 노이즈, 금속 차폐물 등으로 Wi-Fi/LTE 통신에 순간 패킷 드롭이 빈번합니다.</a:t>
            </a:r>
          </a:p>
          <a:p>
            <a:pPr>
              <a:defRPr sz="1050">
                <a:solidFill>
                  <a:srgbClr val="F8FAFC"/>
                </a:solidFill>
                <a:latin typeface="Malgun Gothic"/>
              </a:defRPr>
            </a:pPr>
            <a:r>
              <a:t>   - QoS 0은 확인 없이 버려지는(Fire-and-Forget) 반면, QoS 1은 브로커로부터 PUBACK을 수신할 때까지 송신자가 재전송(Retry)하므로 최소 1회 전달을 100% 보장합니다.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10728655" cy="237744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Q4. 상태 전이(TODO 2) 없이 이상 판정마다 알람을 보내면 현장 운영에서 어떤 문제가 생기는가?</a:t>
            </a:r>
          </a:p>
          <a:p>
            <a:pPr>
              <a:defRPr sz="1050">
                <a:solidFill>
                  <a:srgbClr val="F8FAFC"/>
                </a:solidFill>
                <a:latin typeface="Malgun Gothic"/>
              </a:defRPr>
            </a:pPr>
            <a:r>
              <a:t>1. 알람 홍수(Alarm Flood) 및 경보 피로(Alarm Fatigue) 발생:</a:t>
            </a:r>
          </a:p>
          <a:p>
            <a:pPr>
              <a:defRPr sz="1050">
                <a:solidFill>
                  <a:srgbClr val="F8FAFC"/>
                </a:solidFill>
                <a:latin typeface="Malgun Gothic"/>
              </a:defRPr>
            </a:pPr>
            <a:r>
              <a:t>   - drift나 vib_noise와 같은 이상은 100~150개 샘플(20~30초) 동안 지속됩니다. 상태 전이가 없다면 매 샘플마다 알람이 발행되어 1회 이상에 수백 건의 동일 알람이 쏟아집니다.</a:t>
            </a:r>
          </a:p>
          <a:p>
            <a:pPr>
              <a:defRPr sz="1050">
                <a:solidFill>
                  <a:srgbClr val="F8FAFC"/>
                </a:solidFill>
                <a:latin typeface="Malgun Gothic"/>
              </a:defRPr>
            </a:pPr>
            <a:r>
              <a:t>   - 관제사는 알람 폭주로 다른 긴급 설비 알람을 식별하지 못하며, 알람을 무시하게 되는 치명적인 '경보 피로'를 초래합니다.</a:t>
            </a:r>
          </a:p>
          <a:p>
            <a:pPr>
              <a:defRPr sz="1050">
                <a:solidFill>
                  <a:srgbClr val="F8FAFC"/>
                </a:solidFill>
                <a:latin typeface="Malgun Gothic"/>
              </a:defRPr>
            </a:pPr>
            <a:r>
              <a:t>2. 센서 노이즈에 의한 채터링(Chattering / Hunting) 현상 방지:</a:t>
            </a:r>
          </a:p>
          <a:p>
            <a:pPr>
              <a:defRPr sz="1050">
                <a:solidFill>
                  <a:srgbClr val="F8FAFC"/>
                </a:solidFill>
                <a:latin typeface="Malgun Gothic"/>
              </a:defRPr>
            </a:pPr>
            <a:r>
              <a:t>   - 임계치 경계선에서 측정 노이즈로 인해 정상과 비정상이 초 단위로 교차할 때, 히스테리시스(CLEAR_COUNT=10)가 없다면 알람 발생과 해제가 수십 번 반복되어 시스템이 극도로 불안정해집니다.</a:t>
            </a:r>
          </a:p>
          <a:p>
            <a:pPr>
              <a:defRPr sz="1050">
                <a:solidFill>
                  <a:srgbClr val="F8FAFC"/>
                </a:solidFill>
                <a:latin typeface="Malgun Gothic"/>
              </a:defRPr>
            </a:pPr>
            <a:r>
              <a:t>3. 브로커 및 네트워크 트래픽 과부하 방지: 이벤트 단위로 1건만 발행하여 IoT 네트워크의 대역폭과 DB 부하를 대폭 절감합니다.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Malgun Gothic"/>
              </a:defRPr>
            </a:pPr>
            <a:r>
              <a:t>지능형 IOT 네트워크 5주차 과제 결과보고서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Malgun Gothic"/>
              </a:defRPr>
            </a:pPr>
            <a:r>
              <a:t>6. Full 모드 자동 검사(check_alarms.py) 결과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5303520"/>
                <a:gridCol w="2926080"/>
                <a:gridCol w="1401775"/>
              </a:tblGrid>
              <a:tr h="4876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검사항목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검사 상세 내용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관련 구현 (TODO)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판정 결과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8FAFC"/>
                          </a:solidFill>
                          <a:latin typeface="Malgun Gothic"/>
                        </a:defRPr>
                      </a:pPr>
                      <a:r>
                        <a:t>[1]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  <a:latin typeface="Malgun Gothic"/>
                        </a:defRPr>
                      </a:pPr>
                      <a:r>
                        <a:t>알람 토픽이 .../alarm/{유형}이고 payload의 type과 일치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  <a:latin typeface="Malgun Gothic"/>
                        </a:defRPr>
                      </a:pPr>
                      <a:r>
                        <a:t>TODO 3 (토픽 계층)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  <a:latin typeface="Malgun Gothic"/>
                        </a:defRPr>
                      </a:pPr>
                      <a:r>
                        <a:t>PASS (100%)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8FAFC"/>
                          </a:solidFill>
                          <a:latin typeface="Malgun Gothic"/>
                        </a:defRPr>
                      </a:pPr>
                      <a:r>
                        <a:t>[2]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  <a:latin typeface="Malgun Gothic"/>
                        </a:defRPr>
                      </a:pPr>
                      <a:r>
                        <a:t>알람 payload에 seq, ts, type, score 필수 필드 포함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  <a:latin typeface="Malgun Gothic"/>
                        </a:defRPr>
                      </a:pPr>
                      <a:r>
                        <a:t>TODO 3 (페이로드 사양)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  <a:latin typeface="Malgun Gothic"/>
                        </a:defRPr>
                      </a:pPr>
                      <a:r>
                        <a:t>PASS (100%)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8FAFC"/>
                          </a:solidFill>
                          <a:latin typeface="Malgun Gothic"/>
                        </a:defRPr>
                      </a:pPr>
                      <a:r>
                        <a:t>[3]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  <a:latin typeface="Malgun Gothic"/>
                        </a:defRPr>
                      </a:pPr>
                      <a:r>
                        <a:t>알람 메시지를 신뢰성 높은 QoS 1로 발행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  <a:latin typeface="Malgun Gothic"/>
                        </a:defRPr>
                      </a:pPr>
                      <a:r>
                        <a:t>TODO 3 (QoS 보장)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  <a:latin typeface="Malgun Gothic"/>
                        </a:defRPr>
                      </a:pPr>
                      <a:r>
                        <a:t>PASS (100%)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8FAFC"/>
                          </a:solidFill>
                          <a:latin typeface="Malgun Gothic"/>
                        </a:defRPr>
                      </a:pPr>
                      <a:r>
                        <a:t>[4]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  <a:latin typeface="Malgun Gothic"/>
                        </a:defRPr>
                      </a:pPr>
                      <a:r>
                        <a:t>이상 이벤트 12건 중 11건 이상 알람 탐지 (12/12건 완벽 탐지)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  <a:latin typeface="Malgun Gothic"/>
                        </a:defRPr>
                      </a:pPr>
                      <a:r>
                        <a:t>TODO 1, 2 (모델 연동/전이)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  <a:latin typeface="Malgun Gothic"/>
                        </a:defRPr>
                      </a:pPr>
                      <a:r>
                        <a:t>PASS (12/12)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8FAFC"/>
                          </a:solidFill>
                          <a:latin typeface="Malgun Gothic"/>
                        </a:defRPr>
                      </a:pPr>
                      <a:r>
                        <a:t>[5]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  <a:latin typeface="Malgun Gothic"/>
                        </a:defRPr>
                      </a:pPr>
                      <a:r>
                        <a:t>이벤트당 알람 1건 (중복 알람 0건, 허용 한도 2건 이하)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  <a:latin typeface="Malgun Gothic"/>
                        </a:defRPr>
                      </a:pPr>
                      <a:r>
                        <a:t>TODO 2 (중복 알람 방지)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  <a:latin typeface="Malgun Gothic"/>
                        </a:defRPr>
                      </a:pPr>
                      <a:r>
                        <a:t>PASS (초과 0건)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8FAFC"/>
                          </a:solidFill>
                          <a:latin typeface="Malgun Gothic"/>
                        </a:defRPr>
                      </a:pPr>
                      <a:r>
                        <a:t>[6]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  <a:latin typeface="Malgun Gothic"/>
                        </a:defRPr>
                      </a:pPr>
                      <a:r>
                        <a:t>설비 health가 retain으로 보관되고 종료 시점 상태 NORMAL 복귀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  <a:latin typeface="Malgun Gothic"/>
                        </a:defRPr>
                      </a:pPr>
                      <a:r>
                        <a:t>TODO 4 (Retained Health)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  <a:latin typeface="Malgun Gothic"/>
                        </a:defRPr>
                      </a:pPr>
                      <a:r>
                        <a:t>PASS (NORMAL)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8FAFC"/>
                          </a:solidFill>
                          <a:latin typeface="Malgun Gothic"/>
                        </a:defRPr>
                      </a:pPr>
                      <a:r>
                        <a:t>[7]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  <a:latin typeface="Malgun Gothic"/>
                        </a:defRPr>
                      </a:pPr>
                      <a:r>
                        <a:t>서비스 상태 ONLINE이 retain으로 보관됨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  <a:latin typeface="Malgun Gothic"/>
                        </a:defRPr>
                      </a:pPr>
                      <a:r>
                        <a:t>TODO 5 (Retained Status)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  <a:latin typeface="Malgun Gothic"/>
                        </a:defRPr>
                      </a:pPr>
                      <a:r>
                        <a:t>PASS (ONLINE)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8FAFC"/>
                          </a:solidFill>
                          <a:latin typeface="Malgun Gothic"/>
                        </a:defRPr>
                      </a:pPr>
                      <a:r>
                        <a:t>[8]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  <a:latin typeface="Malgun Gothic"/>
                        </a:defRPr>
                      </a:pPr>
                      <a:r>
                        <a:t>서비스 비정상 종료 시 OFFLINE Will 메시지 브로커 대리 발행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  <a:latin typeface="Malgun Gothic"/>
                        </a:defRPr>
                      </a:pPr>
                      <a:r>
                        <a:t>TODO 5 (LWT Will Set)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  <a:latin typeface="Malgun Gothic"/>
                        </a:defRPr>
                      </a:pPr>
                      <a:r>
                        <a:t>PASS (OFFLINE)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6217920"/>
            <a:ext cx="10728655" cy="457200"/>
          </a:xfrm>
          <a:prstGeom prst="roundRect">
            <a:avLst/>
          </a:prstGeom>
          <a:solidFill>
            <a:srgbClr val="064E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최종 평가 결과: 8개 항목 전체 통과 (8 / 8 PASS) · 실행 모드: full (3,000 샘플) · check_result.json 저장 완료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Malgun Gothic"/>
              </a:defRPr>
            </a:pPr>
            <a:r>
              <a:t>지능형 IOT 네트워크 5주차 과제 결과보고서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Malgun Gothic"/>
              </a:defRPr>
            </a:pPr>
            <a:r>
              <a:t>7. MQTT 4단계 실습 수행 요약 및 산업 IoT 시사점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46888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B82F6"/>
                </a:solidFill>
                <a:latin typeface="Malgun Gothic"/>
              </a:defRPr>
            </a:pPr>
            <a:r>
              <a:t>Step 1. Pub/Sub 기본</a:t>
            </a:r>
          </a:p>
          <a:p>
            <a:pPr>
              <a:defRPr sz="1050">
                <a:solidFill>
                  <a:srgbClr val="F8FAFC"/>
                </a:solidFill>
                <a:latin typeface="Malgun Gothic"/>
              </a:defRPr>
            </a:pPr>
            <a:r>
              <a:t>• pub_step1_basic.py</a:t>
            </a:r>
            <a:br/>
            <a:r>
              <a:t>• sub_console.py</a:t>
            </a:r>
            <a:br/>
            <a:br/>
            <a:r>
              <a:t>- 1초 주기로 프레스 가상 온도(25~28°C) 발행</a:t>
            </a:r>
            <a:br/>
            <a:r>
              <a:t>- 단일 Pub/Sub 간 JSON 페이로드 안정적 수신 검증</a:t>
            </a:r>
            <a:br/>
            <a:r>
              <a:t>- 브로커 중계 구조 확인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83864" y="1645920"/>
            <a:ext cx="246888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  <a:latin typeface="Malgun Gothic"/>
              </a:defRPr>
            </a:pPr>
            <a:r>
              <a:t>Step 2. 와일드카드 검증</a:t>
            </a:r>
          </a:p>
          <a:p>
            <a:pPr>
              <a:defRPr sz="1050">
                <a:solidFill>
                  <a:srgbClr val="F8FAFC"/>
                </a:solidFill>
                <a:latin typeface="Malgun Gothic"/>
              </a:defRPr>
            </a:pPr>
            <a:r>
              <a:t>• pub_step2_wildcard.py</a:t>
            </a:r>
            <a:br/>
            <a:br/>
            <a:r>
              <a:t>- 단일 레벨(+): 특정 공정만 선별 구독</a:t>
            </a:r>
            <a:br/>
            <a:r>
              <a:t>- 다중 레벨(#): factory 하위 전체 토픽 수신</a:t>
            </a:r>
            <a:br/>
            <a:r>
              <a:t>- 설비별(press01/02), 센서별(temp/vib) 수신 범위 비교 검증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645920"/>
            <a:ext cx="246888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  <a:latin typeface="Malgun Gothic"/>
              </a:defRPr>
            </a:pPr>
            <a:r>
              <a:t>Step 3. Retained 상태 보관</a:t>
            </a:r>
          </a:p>
          <a:p>
            <a:pPr>
              <a:defRPr sz="1050">
                <a:solidFill>
                  <a:srgbClr val="F8FAFC"/>
                </a:solidFill>
                <a:latin typeface="Malgun Gothic"/>
              </a:defRPr>
            </a:pPr>
            <a:r>
              <a:t>• pub_step3_retained.py</a:t>
            </a:r>
            <a:br/>
            <a:br/>
            <a:r>
              <a:t>- 최신 운전 상태(RUNNING) retain=True 발행</a:t>
            </a:r>
            <a:br/>
            <a:r>
              <a:t>- 관제 콘솔 재기동 시 브로커에 보관된 최신 상태를 [RETAINED]로 즉시 수신 확인</a:t>
            </a:r>
            <a:br/>
            <a:r>
              <a:t>- 상태 동기화 검증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88552" y="1645920"/>
            <a:ext cx="246888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  <a:latin typeface="Malgun Gothic"/>
              </a:defRPr>
            </a:pPr>
            <a:r>
              <a:t>Step 4. LWT 장애 감지</a:t>
            </a:r>
          </a:p>
          <a:p>
            <a:pPr>
              <a:defRPr sz="1050">
                <a:solidFill>
                  <a:srgbClr val="F8FAFC"/>
                </a:solidFill>
                <a:latin typeface="Malgun Gothic"/>
              </a:defRPr>
            </a:pPr>
            <a:r>
              <a:t>• pub_step4_lwt.py</a:t>
            </a:r>
            <a:br/>
            <a:br/>
            <a:r>
              <a:t>- CONNECT 시 Will 메시지(CRITICAL_OFFLINE) 사전 등록</a:t>
            </a:r>
            <a:br/>
            <a:r>
              <a:t>- os._exit(1)로 비정상 강제 종료 재현</a:t>
            </a:r>
            <a:br/>
            <a:r>
              <a:t>- 브로커가 장애를 감지하고 Will 메시지 대리 발행 완벽 확인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943600"/>
            <a:ext cx="10728655" cy="7315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6B6D4"/>
                </a:solidFill>
                <a:latin typeface="Malgun Gothic"/>
              </a:defRPr>
            </a:pPr>
            <a:r>
              <a:t>■ 산업용 IoT 종합 결론</a:t>
            </a:r>
          </a:p>
          <a:p>
            <a:pPr>
              <a:defRPr sz="1000">
                <a:solidFill>
                  <a:srgbClr val="F8FAFC"/>
                </a:solidFill>
                <a:latin typeface="Malgun Gothic"/>
              </a:defRPr>
            </a:pPr>
            <a:r>
              <a:t>MQTT 프로토콜의 경량 Pub/Sub, 계층형 와일드카드, QoS 1 무손실 전송, Retained 상태 보존, LWT 이상 감지 메커니즘을 유기적으로 결합함으로써 불안정한 현장 무선 통신 환경에서도 고신뢰성 실시간 설비 예지보전 시스템을 완벽히 구축할 수 있음을 검증함.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